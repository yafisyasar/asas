
<file path=[Content_Types].xml><?xml version="1.0" encoding="utf-8"?>
<Types xmlns="http://schemas.openxmlformats.org/package/2006/content-types">
  <Override PartName="/customXml/itemProps2.xml" ContentType="application/vnd.openxmlformats-officedocument.customXmlProperties+xml"/>
  <Override PartName="/customXml/itemProps3.xml" ContentType="application/vnd.openxmlformats-officedocument.customXmlProperties+xml"/>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customXml/itemProps1.xml" ContentType="application/vnd.openxmlformats-officedocument.customXmlProperties+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1" r:id="rId4"/>
  </p:sldMasterIdLst>
  <p:sldIdLst>
    <p:sldId id="256" r:id="rId5"/>
    <p:sldId id="257" r:id="rId6"/>
    <p:sldId id="258" r:id="rId7"/>
    <p:sldId id="276" r:id="rId8"/>
    <p:sldId id="261" r:id="rId9"/>
    <p:sldId id="262" r:id="rId10"/>
    <p:sldId id="263" r:id="rId11"/>
    <p:sldId id="264" r:id="rId12"/>
    <p:sldId id="265" r:id="rId13"/>
    <p:sldId id="266" r:id="rId14"/>
    <p:sldId id="267" r:id="rId15"/>
    <p:sldId id="278" r:id="rId16"/>
    <p:sldId id="279" r:id="rId17"/>
    <p:sldId id="270" r:id="rId18"/>
    <p:sldId id="277" r:id="rId19"/>
    <p:sldId id="272" r:id="rId20"/>
    <p:sldId id="273"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6332" autoAdjust="0"/>
    <p:restoredTop sz="94660"/>
  </p:normalViewPr>
  <p:slideViewPr>
    <p:cSldViewPr snapToGrid="0">
      <p:cViewPr varScale="1">
        <p:scale>
          <a:sx n="115" d="100"/>
          <a:sy n="115" d="100"/>
        </p:scale>
        <p:origin x="-354" y="-114"/>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562707" y="1371600"/>
            <a:ext cx="10972800" cy="1828800"/>
          </a:xfrm>
        </p:spPr>
        <p:txBody>
          <a:bodyPr vert="horz" lIns="45720" tIns="0" rIns="45720" bIns="0" anchor="b">
            <a:normAutofit/>
            <a:scene3d>
              <a:camera prst="orthographicFront"/>
              <a:lightRig rig="soft" dir="t">
                <a:rot lat="0" lon="0" rev="17220000"/>
              </a:lightRig>
            </a:scene3d>
            <a:sp3d prstMaterial="softEdge">
              <a:bevelT w="38100" h="38100"/>
            </a:sp3d>
          </a:bodyPr>
          <a:lstStyle>
            <a:lvl1pPr>
              <a:defRPr sz="4800" b="1" cap="all"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27000" dist="200000" dir="2700000" algn="tl" rotWithShape="0">
                    <a:srgbClr val="000000">
                      <a:alpha val="30000"/>
                    </a:srgbClr>
                  </a:outerShdw>
                </a:effectLst>
              </a:defRPr>
            </a:lvl1pPr>
          </a:lstStyle>
          <a:p>
            <a:r>
              <a:rPr kumimoji="0" lang="en-US"/>
              <a:t>Click to edit Master title style</a:t>
            </a:r>
          </a:p>
        </p:txBody>
      </p:sp>
      <p:sp>
        <p:nvSpPr>
          <p:cNvPr id="28" name="Date Placeholder 27"/>
          <p:cNvSpPr>
            <a:spLocks noGrp="1"/>
          </p:cNvSpPr>
          <p:nvPr>
            <p:ph type="dt" sz="half" idx="10"/>
          </p:nvPr>
        </p:nvSpPr>
        <p:spPr/>
        <p:txBody>
          <a:bodyPr/>
          <a:lstStyle/>
          <a:p>
            <a:fld id="{48A87A34-81AB-432B-8DAE-1953F412C126}" type="datetimeFigureOut">
              <a:rPr lang="en-US" smtClean="0"/>
              <a:pPr/>
              <a:t>9/8/2025</a:t>
            </a:fld>
            <a:endParaRPr lang="en-US" dirty="0"/>
          </a:p>
        </p:txBody>
      </p:sp>
      <p:sp>
        <p:nvSpPr>
          <p:cNvPr id="17" name="Footer Placeholder 16"/>
          <p:cNvSpPr>
            <a:spLocks noGrp="1"/>
          </p:cNvSpPr>
          <p:nvPr>
            <p:ph type="ftr" sz="quarter" idx="11"/>
          </p:nvPr>
        </p:nvSpPr>
        <p:spPr/>
        <p:txBody>
          <a:bodyPr/>
          <a:lstStyle/>
          <a:p>
            <a:endParaRPr lang="en-US" dirty="0"/>
          </a:p>
        </p:txBody>
      </p:sp>
      <p:sp>
        <p:nvSpPr>
          <p:cNvPr id="29" name="Slide Number Placeholder 28"/>
          <p:cNvSpPr>
            <a:spLocks noGrp="1"/>
          </p:cNvSpPr>
          <p:nvPr>
            <p:ph type="sldNum" sz="quarter" idx="12"/>
          </p:nvPr>
        </p:nvSpPr>
        <p:spPr/>
        <p:txBody>
          <a:bodyPr/>
          <a:lstStyle/>
          <a:p>
            <a:fld id="{6D22F896-40B5-4ADD-8801-0D06FADFA095}" type="slidenum">
              <a:rPr lang="en-US" smtClean="0"/>
              <a:pPr/>
              <a:t>‹#›</a:t>
            </a:fld>
            <a:endParaRPr lang="en-US" dirty="0"/>
          </a:p>
        </p:txBody>
      </p:sp>
      <p:sp>
        <p:nvSpPr>
          <p:cNvPr id="9" name="Subtitle 8"/>
          <p:cNvSpPr>
            <a:spLocks noGrp="1"/>
          </p:cNvSpPr>
          <p:nvPr>
            <p:ph type="subTitle" idx="1"/>
          </p:nvPr>
        </p:nvSpPr>
        <p:spPr>
          <a:xfrm>
            <a:off x="1828800" y="3331698"/>
            <a:ext cx="8534400" cy="1752600"/>
          </a:xfrm>
        </p:spPr>
        <p:txBody>
          <a:bodyPr/>
          <a:lstStyle>
            <a:lvl1pPr marL="0" indent="0" algn="ct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8A87A34-81AB-432B-8DAE-1953F412C126}" type="datetimeFigureOut">
              <a:rPr lang="en-US" smtClean="0"/>
              <a:pPr/>
              <a:t>9/8/2025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3">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133600" y="609600"/>
            <a:ext cx="9448800" cy="1828800"/>
          </a:xfrm>
        </p:spPr>
        <p:txBody>
          <a:bodyPr vert="horz" bIns="0" anchor="b">
            <a:noAutofit/>
            <a:scene3d>
              <a:camera prst="orthographicFront"/>
              <a:lightRig rig="soft" dir="t">
                <a:rot lat="0" lon="0" rev="17220000"/>
              </a:lightRig>
            </a:scene3d>
            <a:sp3d prstMaterial="softEdge">
              <a:bevelT w="38100" h="38100"/>
              <a:contourClr>
                <a:schemeClr val="tx2">
                  <a:shade val="50000"/>
                </a:schemeClr>
              </a:contourClr>
            </a:sp3d>
          </a:bodyPr>
          <a:lstStyle>
            <a:lvl1pPr algn="l" rtl="0">
              <a:spcBef>
                <a:spcPct val="0"/>
              </a:spcBef>
              <a:buNone/>
              <a:defRPr sz="4800" b="1" cap="none" baseline="0">
                <a:ln w="6350">
                  <a:noFill/>
                </a:ln>
                <a:solidFill>
                  <a:schemeClr val="accent1">
                    <a:tint val="90000"/>
                    <a:satMod val="120000"/>
                  </a:schemeClr>
                </a:solidFill>
                <a:effectLst>
                  <a:outerShdw blurRad="114300" dist="101600" dir="2700000" algn="tl" rotWithShape="0">
                    <a:srgbClr val="000000">
                      <a:alpha val="40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2133600" y="2507786"/>
            <a:ext cx="9448800" cy="1509712"/>
          </a:xfrm>
        </p:spPr>
        <p:txBody>
          <a:bodyPr anchor="t"/>
          <a:lstStyle>
            <a:lvl1pPr marL="73152" indent="0" algn="l">
              <a:buNone/>
              <a:defRPr sz="20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9/8/2025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66400" y="6416676"/>
            <a:ext cx="1016000" cy="365125"/>
          </a:xfrm>
        </p:spPr>
        <p:txBody>
          <a:bodyPr/>
          <a:lstStyle/>
          <a:p>
            <a:fld id="{6D22F896-40B5-4ADD-8801-0D06FADFA095}" type="slidenum">
              <a:rPr lang="en-US" smtClean="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6197600" y="1600201"/>
            <a:ext cx="53848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48A87A34-81AB-432B-8DAE-1953F412C126}" type="datetimeFigureOut">
              <a:rPr lang="en-US" smtClean="0"/>
              <a:pPr/>
              <a:t>9/8/2025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10972800" cy="11430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609600" y="1535113"/>
            <a:ext cx="5386917"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193368" y="1535113"/>
            <a:ext cx="5389033"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609600" y="2362201"/>
            <a:ext cx="5386917" cy="37639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6193368" y="2362201"/>
            <a:ext cx="5389033" cy="37639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48A87A34-81AB-432B-8DAE-1953F412C126}" type="datetimeFigureOut">
              <a:rPr lang="en-US" smtClean="0"/>
              <a:pPr/>
              <a:t>9/8/2025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48A87A34-81AB-432B-8DAE-1953F412C126}" type="datetimeFigureOut">
              <a:rPr lang="en-US" smtClean="0"/>
              <a:pPr/>
              <a:t>9/8/2025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pPr/>
              <a:t>9/8/2025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vert="horz" anchor="b">
            <a:normAutofit/>
            <a:sp3d prstMaterial="softEdge"/>
          </a:bodyPr>
          <a:lstStyle>
            <a:lvl1pPr algn="l">
              <a:buNone/>
              <a:defRPr sz="2200" b="0">
                <a:ln w="6350">
                  <a:noFill/>
                </a:ln>
                <a:solidFill>
                  <a:schemeClr val="accent1">
                    <a:tint val="73000"/>
                    <a:satMod val="180000"/>
                  </a:schemeClr>
                </a:solidFill>
              </a:defRPr>
            </a:lvl1pPr>
          </a:lstStyle>
          <a:p>
            <a:r>
              <a:rPr kumimoji="0" lang="en-US"/>
              <a:t>Click to edit Master title style</a:t>
            </a:r>
          </a:p>
        </p:txBody>
      </p:sp>
      <p:sp>
        <p:nvSpPr>
          <p:cNvPr id="3" name="Text Placeholder 2"/>
          <p:cNvSpPr>
            <a:spLocks noGrp="1"/>
          </p:cNvSpPr>
          <p:nvPr>
            <p:ph type="body" idx="2"/>
          </p:nvPr>
        </p:nvSpPr>
        <p:spPr>
          <a:xfrm>
            <a:off x="609601" y="1524001"/>
            <a:ext cx="4011084" cy="4602163"/>
          </a:xfrm>
        </p:spPr>
        <p:txBody>
          <a:bodyPr/>
          <a:lstStyle>
            <a:lvl1pPr marL="0"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4766733" y="273051"/>
            <a:ext cx="6815667" cy="5853113"/>
          </a:xfrm>
        </p:spPr>
        <p:txBody>
          <a:bodyPr/>
          <a:lstStyle>
            <a:lvl1pPr>
              <a:defRPr sz="2600"/>
            </a:lvl1pPr>
            <a:lvl2pPr>
              <a:defRPr sz="2400"/>
            </a:lvl2pPr>
            <a:lvl3pPr>
              <a:defRPr sz="22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48A87A34-81AB-432B-8DAE-1953F412C126}" type="datetimeFigureOut">
              <a:rPr lang="en-US" smtClean="0"/>
              <a:pPr/>
              <a:t>9/8/2025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438400" y="609600"/>
            <a:ext cx="7315200" cy="522288"/>
          </a:xfrm>
        </p:spPr>
        <p:txBody>
          <a:bodyPr lIns="45720" rIns="45720" bIns="0" anchor="b">
            <a:sp3d prstMaterial="softEdge"/>
          </a:bodyPr>
          <a:lstStyle>
            <a:lvl1pPr algn="ctr">
              <a:buNone/>
              <a:defRPr sz="2000" b="1"/>
            </a:lvl1pPr>
          </a:lstStyle>
          <a:p>
            <a:r>
              <a:rPr kumimoji="0" lang="en-US"/>
              <a:t>Click to edit Master title style</a:t>
            </a:r>
          </a:p>
        </p:txBody>
      </p:sp>
      <p:sp>
        <p:nvSpPr>
          <p:cNvPr id="3" name="Picture Placeholder 2"/>
          <p:cNvSpPr>
            <a:spLocks noGrp="1"/>
          </p:cNvSpPr>
          <p:nvPr>
            <p:ph type="pic" idx="1"/>
          </p:nvPr>
        </p:nvSpPr>
        <p:spPr>
          <a:xfrm>
            <a:off x="2438400" y="1831975"/>
            <a:ext cx="7315200" cy="3962400"/>
          </a:xfrm>
          <a:solidFill>
            <a:schemeClr val="bg2"/>
          </a:solidFill>
          <a:ln w="44450" cap="sq" cmpd="sng" algn="ctr">
            <a:solidFill>
              <a:srgbClr val="FFFFFF"/>
            </a:solidFill>
            <a:prstDash val="solid"/>
            <a:miter lim="800000"/>
          </a:ln>
          <a:effectLst>
            <a:outerShdw blurRad="190500" dist="228600" dir="2700000" sy="90000">
              <a:srgbClr val="000000">
                <a:alpha val="25000"/>
              </a:srgbClr>
            </a:outerShdw>
          </a:effectLst>
          <a:scene3d>
            <a:camera prst="orthographicFront">
              <a:rot lat="0" lon="0" rev="0"/>
            </a:camera>
            <a:lightRig rig="balanced" dir="tr">
              <a:rot lat="0" lon="0" rev="2700000"/>
            </a:lightRig>
          </a:scene3d>
          <a:sp3d prstMaterial="matte">
            <a:contourClr>
              <a:schemeClr val="tx2">
                <a:shade val="50000"/>
              </a:schemeClr>
            </a:contourClr>
          </a:sp3d>
        </p:spPr>
        <p:style>
          <a:lnRef idx="3">
            <a:schemeClr val="lt1"/>
          </a:lnRef>
          <a:fillRef idx="1">
            <a:schemeClr val="accent1"/>
          </a:fillRef>
          <a:effectRef idx="1">
            <a:schemeClr val="accent1"/>
          </a:effectRef>
          <a:fontRef idx="minor">
            <a:schemeClr val="lt1"/>
          </a:fontRef>
        </p:style>
        <p:txBody>
          <a:bodyPr anchor="t"/>
          <a:lstStyle>
            <a:lvl1pPr indent="0">
              <a:buNone/>
              <a:defRPr sz="3200"/>
            </a:lvl1pPr>
          </a:lstStyle>
          <a:p>
            <a:pPr marL="0" algn="l" rtl="0" eaLnBrk="1" latinLnBrk="0" hangingPunct="1"/>
            <a:r>
              <a:rPr kumimoji="0" lang="en-US">
                <a:solidFill>
                  <a:schemeClr val="lt1"/>
                </a:solidFill>
                <a:latin typeface="+mn-lt"/>
                <a:ea typeface="+mn-ea"/>
                <a:cs typeface="+mn-cs"/>
              </a:rPr>
              <a:t>Click icon to add picture</a:t>
            </a:r>
            <a:endParaRPr kumimoji="0" lang="en-US" dirty="0">
              <a:solidFill>
                <a:schemeClr val="lt1"/>
              </a:solidFill>
              <a:latin typeface="+mn-lt"/>
              <a:ea typeface="+mn-ea"/>
              <a:cs typeface="+mn-cs"/>
            </a:endParaRPr>
          </a:p>
        </p:txBody>
      </p:sp>
      <p:sp>
        <p:nvSpPr>
          <p:cNvPr id="4" name="Text Placeholder 3"/>
          <p:cNvSpPr>
            <a:spLocks noGrp="1"/>
          </p:cNvSpPr>
          <p:nvPr>
            <p:ph type="body" sz="half" idx="2"/>
          </p:nvPr>
        </p:nvSpPr>
        <p:spPr>
          <a:xfrm>
            <a:off x="2438400" y="1166787"/>
            <a:ext cx="7315200" cy="530352"/>
          </a:xfrm>
        </p:spPr>
        <p:txBody>
          <a:bodyPr lIns="45720" tIns="45720" rIns="45720" anchor="t"/>
          <a:lstStyle>
            <a:lvl1pPr marL="0" indent="0" algn="ctr">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9/8/2025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8A87A34-81AB-432B-8DAE-1953F412C126}" type="datetimeFigureOut">
              <a:rPr lang="en-US" smtClean="0"/>
              <a:pPr/>
              <a:t>9/8/2025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8A87A34-81AB-432B-8DAE-1953F412C126}" type="datetimeFigureOut">
              <a:rPr lang="en-US" smtClean="0"/>
              <a:pPr/>
              <a:t>9/8/2025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74638"/>
            <a:ext cx="10972800" cy="1143000"/>
          </a:xfrm>
          <a:prstGeom prst="rect">
            <a:avLst/>
          </a:prstGeom>
        </p:spPr>
        <p:txBody>
          <a:bodyPr vert="horz" anchor="ctr">
            <a:normAutofit/>
            <a:scene3d>
              <a:camera prst="orthographicFront"/>
              <a:lightRig rig="soft" dir="t">
                <a:rot lat="0" lon="0" rev="16800000"/>
              </a:lightRig>
            </a:scene3d>
            <a:sp3d prstMaterial="softEdge">
              <a:bevelT w="38100" h="38100"/>
            </a:sp3d>
          </a:bodyPr>
          <a:lstStyle/>
          <a:p>
            <a:r>
              <a:rPr kumimoji="0" lang="en-US"/>
              <a:t>Click to edit Master title style</a:t>
            </a:r>
          </a:p>
        </p:txBody>
      </p:sp>
      <p:sp>
        <p:nvSpPr>
          <p:cNvPr id="13" name="Text Placeholder 12"/>
          <p:cNvSpPr>
            <a:spLocks noGrp="1"/>
          </p:cNvSpPr>
          <p:nvPr>
            <p:ph type="body" idx="1"/>
          </p:nvPr>
        </p:nvSpPr>
        <p:spPr>
          <a:xfrm>
            <a:off x="609600" y="1600200"/>
            <a:ext cx="10972800" cy="470916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09600" y="6416676"/>
            <a:ext cx="2844800" cy="365125"/>
          </a:xfrm>
          <a:prstGeom prst="rect">
            <a:avLst/>
          </a:prstGeom>
        </p:spPr>
        <p:txBody>
          <a:bodyPr vert="horz" anchor="b"/>
          <a:lstStyle>
            <a:lvl1pPr algn="l" eaLnBrk="1" latinLnBrk="0" hangingPunct="1">
              <a:defRPr kumimoji="0" sz="1200">
                <a:solidFill>
                  <a:schemeClr val="tx1">
                    <a:shade val="50000"/>
                  </a:schemeClr>
                </a:solidFill>
              </a:defRPr>
            </a:lvl1pPr>
          </a:lstStyle>
          <a:p>
            <a:fld id="{48A87A34-81AB-432B-8DAE-1953F412C126}" type="datetimeFigureOut">
              <a:rPr lang="en-US" smtClean="0"/>
              <a:pPr/>
              <a:t>9/8/2025</a:t>
            </a:fld>
            <a:endParaRPr lang="en-US" dirty="0"/>
          </a:p>
        </p:txBody>
      </p:sp>
      <p:sp>
        <p:nvSpPr>
          <p:cNvPr id="3" name="Footer Placeholder 2"/>
          <p:cNvSpPr>
            <a:spLocks noGrp="1"/>
          </p:cNvSpPr>
          <p:nvPr>
            <p:ph type="ftr" sz="quarter" idx="3"/>
          </p:nvPr>
        </p:nvSpPr>
        <p:spPr>
          <a:xfrm>
            <a:off x="4165600" y="6416676"/>
            <a:ext cx="3860800" cy="365125"/>
          </a:xfrm>
          <a:prstGeom prst="rect">
            <a:avLst/>
          </a:prstGeom>
        </p:spPr>
        <p:txBody>
          <a:bodyPr vert="horz" anchor="b"/>
          <a:lstStyle>
            <a:lvl1pPr algn="ctr" eaLnBrk="1" latinLnBrk="0" hangingPunct="1">
              <a:defRPr kumimoji="0" sz="1200">
                <a:solidFill>
                  <a:schemeClr val="tx1">
                    <a:shade val="50000"/>
                  </a:schemeClr>
                </a:solidFill>
              </a:defRPr>
            </a:lvl1pPr>
          </a:lstStyle>
          <a:p>
            <a:endParaRPr lang="en-US" dirty="0"/>
          </a:p>
        </p:txBody>
      </p:sp>
      <p:sp>
        <p:nvSpPr>
          <p:cNvPr id="23" name="Slide Number Placeholder 22"/>
          <p:cNvSpPr>
            <a:spLocks noGrp="1"/>
          </p:cNvSpPr>
          <p:nvPr>
            <p:ph type="sldNum" sz="quarter" idx="4"/>
          </p:nvPr>
        </p:nvSpPr>
        <p:spPr>
          <a:xfrm>
            <a:off x="10566400" y="6416676"/>
            <a:ext cx="1016000" cy="365125"/>
          </a:xfrm>
          <a:prstGeom prst="rect">
            <a:avLst/>
          </a:prstGeom>
        </p:spPr>
        <p:txBody>
          <a:bodyPr vert="horz" lIns="0" rIns="0" anchor="b"/>
          <a:lstStyle>
            <a:lvl1pPr algn="r" eaLnBrk="1" latinLnBrk="0" hangingPunct="1">
              <a:defRPr kumimoji="0" sz="1200">
                <a:solidFill>
                  <a:schemeClr val="tx1">
                    <a:shade val="50000"/>
                  </a:schemeClr>
                </a:solidFill>
              </a:defRPr>
            </a:lvl1pPr>
          </a:lstStyle>
          <a:p>
            <a:fld id="{6D22F896-40B5-4ADD-8801-0D06FADFA095}" type="slidenum">
              <a:rPr lang="en-US" smtClean="0"/>
              <a:pPr/>
              <a:t>‹#›</a:t>
            </a:fld>
            <a:endParaRPr lang="en-US" dirty="0"/>
          </a:p>
        </p:txBody>
      </p:sp>
    </p:spTree>
  </p:cSld>
  <p:clrMap bg1="dk1" tx1="lt1" bg2="dk2" tx2="lt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txStyles>
    <p:titleStyle>
      <a:lvl1pPr algn="ctr" rtl="0" eaLnBrk="1" latinLnBrk="0" hangingPunct="1">
        <a:spcBef>
          <a:spcPct val="0"/>
        </a:spcBef>
        <a:buNone/>
        <a:defRPr kumimoji="0" sz="4100" b="1" kern="1200" cap="none"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latin typeface="+mj-lt"/>
          <a:ea typeface="+mj-ea"/>
          <a:cs typeface="+mj-cs"/>
        </a:defRPr>
      </a:lvl1pPr>
    </p:titleStyle>
    <p:bodyStyle>
      <a:lvl1pPr marL="548640" indent="-411480" algn="l" rtl="0" eaLnBrk="1" latinLnBrk="0" hangingPunct="1">
        <a:spcBef>
          <a:spcPct val="20000"/>
        </a:spcBef>
        <a:buClr>
          <a:schemeClr val="tx1">
            <a:shade val="95000"/>
          </a:schemeClr>
        </a:buClr>
        <a:buSzPct val="65000"/>
        <a:buFont typeface="Wingdings 2"/>
        <a:buChar char=""/>
        <a:defRPr kumimoji="0" sz="2800" kern="1200">
          <a:solidFill>
            <a:schemeClr val="tx1"/>
          </a:solidFill>
          <a:latin typeface="+mn-lt"/>
          <a:ea typeface="+mn-ea"/>
          <a:cs typeface="+mn-cs"/>
        </a:defRPr>
      </a:lvl1pPr>
      <a:lvl2pPr marL="868680" indent="-283464" algn="l" rtl="0" eaLnBrk="1" latinLnBrk="0" hangingPunct="1">
        <a:spcBef>
          <a:spcPct val="20000"/>
        </a:spcBef>
        <a:buClr>
          <a:schemeClr val="tx1"/>
        </a:buClr>
        <a:buSzPct val="80000"/>
        <a:buFont typeface="Wingdings 2"/>
        <a:buChar char=""/>
        <a:defRPr kumimoji="0" sz="2400" kern="1200">
          <a:solidFill>
            <a:schemeClr val="tx1"/>
          </a:solidFill>
          <a:latin typeface="+mn-lt"/>
          <a:ea typeface="+mn-ea"/>
          <a:cs typeface="+mn-cs"/>
        </a:defRPr>
      </a:lvl2pPr>
      <a:lvl3pPr marL="1133856" indent="-228600" algn="l" rtl="0" eaLnBrk="1" latinLnBrk="0" hangingPunct="1">
        <a:spcBef>
          <a:spcPct val="20000"/>
        </a:spcBef>
        <a:buClr>
          <a:schemeClr val="tx1"/>
        </a:buClr>
        <a:buSzPct val="95000"/>
        <a:buFont typeface="Wingdings"/>
        <a:buChar char=""/>
        <a:defRPr kumimoji="0" sz="2200" kern="1200">
          <a:solidFill>
            <a:schemeClr val="tx1"/>
          </a:solidFill>
          <a:latin typeface="+mn-lt"/>
          <a:ea typeface="+mn-ea"/>
          <a:cs typeface="+mn-cs"/>
        </a:defRPr>
      </a:lvl3pPr>
      <a:lvl4pPr marL="1353312" indent="-182880" algn="l" rtl="0" eaLnBrk="1" latinLnBrk="0" hangingPunct="1">
        <a:spcBef>
          <a:spcPct val="20000"/>
        </a:spcBef>
        <a:buClr>
          <a:schemeClr val="tx1"/>
        </a:buClr>
        <a:buSzPct val="100000"/>
        <a:buFont typeface="Wingdings 3"/>
        <a:buChar char=""/>
        <a:defRPr kumimoji="0" sz="2000" kern="1200">
          <a:solidFill>
            <a:schemeClr val="tx1"/>
          </a:solidFill>
          <a:latin typeface="+mn-lt"/>
          <a:ea typeface="+mn-ea"/>
          <a:cs typeface="+mn-cs"/>
        </a:defRPr>
      </a:lvl4pPr>
      <a:lvl5pPr marL="1545336" indent="-182880" algn="l" rtl="0" eaLnBrk="1" latinLnBrk="0" hangingPunct="1">
        <a:spcBef>
          <a:spcPct val="20000"/>
        </a:spcBef>
        <a:buClr>
          <a:schemeClr val="tx1"/>
        </a:buClr>
        <a:buFont typeface="Wingdings 2"/>
        <a:buChar char=""/>
        <a:defRPr kumimoji="0" sz="2000" kern="1200">
          <a:solidFill>
            <a:schemeClr val="tx1"/>
          </a:solidFill>
          <a:latin typeface="+mn-lt"/>
          <a:ea typeface="+mn-ea"/>
          <a:cs typeface="+mn-cs"/>
        </a:defRPr>
      </a:lvl5pPr>
      <a:lvl6pPr marL="1764792" indent="-182880" algn="l" rtl="0" eaLnBrk="1" latinLnBrk="0" hangingPunct="1">
        <a:spcBef>
          <a:spcPct val="20000"/>
        </a:spcBef>
        <a:buClr>
          <a:schemeClr val="tx1"/>
        </a:buClr>
        <a:buFont typeface="Wingdings 3"/>
        <a:buChar char=""/>
        <a:defRPr kumimoji="0" sz="1800" kern="1200">
          <a:solidFill>
            <a:schemeClr val="tx1"/>
          </a:solidFill>
          <a:latin typeface="+mn-lt"/>
          <a:ea typeface="+mn-ea"/>
          <a:cs typeface="+mn-cs"/>
        </a:defRPr>
      </a:lvl6pPr>
      <a:lvl7pPr marL="1965960" indent="-182880" algn="l" rtl="0" eaLnBrk="1" latinLnBrk="0" hangingPunct="1">
        <a:spcBef>
          <a:spcPct val="20000"/>
        </a:spcBef>
        <a:buClr>
          <a:schemeClr val="tx1"/>
        </a:buClr>
        <a:buFont typeface="Wingdings 2"/>
        <a:buChar char=""/>
        <a:defRPr kumimoji="0" sz="1600" kern="1200">
          <a:solidFill>
            <a:schemeClr val="tx1"/>
          </a:solidFill>
          <a:latin typeface="+mn-lt"/>
          <a:ea typeface="+mn-ea"/>
          <a:cs typeface="+mn-cs"/>
        </a:defRPr>
      </a:lvl7pPr>
      <a:lvl8pPr marL="2167128" indent="-182880" algn="l" rtl="0" eaLnBrk="1" latinLnBrk="0" hangingPunct="1">
        <a:spcBef>
          <a:spcPct val="20000"/>
        </a:spcBef>
        <a:buClr>
          <a:schemeClr val="tx1"/>
        </a:buClr>
        <a:buFont typeface="Wingdings 2"/>
        <a:buChar char=""/>
        <a:defRPr kumimoji="0" sz="1400" kern="1200">
          <a:solidFill>
            <a:schemeClr val="tx1"/>
          </a:solidFill>
          <a:latin typeface="+mn-lt"/>
          <a:ea typeface="+mn-ea"/>
          <a:cs typeface="+mn-cs"/>
        </a:defRPr>
      </a:lvl8pPr>
      <a:lvl9pPr marL="2368296" indent="-182880" algn="l" rtl="0" eaLnBrk="1" latinLnBrk="0" hangingPunct="1">
        <a:spcBef>
          <a:spcPct val="20000"/>
        </a:spcBef>
        <a:buClr>
          <a:schemeClr val="tx1"/>
        </a:buClr>
        <a:buFont typeface="Wingdings 2"/>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0E36258-3DE8-4BC7-A383-1CB07C247684}"/>
              </a:ext>
            </a:extLst>
          </p:cNvPr>
          <p:cNvSpPr>
            <a:spLocks noGrp="1"/>
          </p:cNvSpPr>
          <p:nvPr>
            <p:ph type="ctrTitle"/>
          </p:nvPr>
        </p:nvSpPr>
        <p:spPr/>
        <p:txBody>
          <a:bodyPr>
            <a:normAutofit/>
          </a:bodyPr>
          <a:lstStyle/>
          <a:p>
            <a:pPr algn="ctr"/>
            <a:r>
              <a:rPr lang="en-IN" sz="4400" dirty="0">
                <a:effectLst/>
                <a:latin typeface="Times New Roman" panose="02020603050405020304" pitchFamily="18" charset="0"/>
                <a:ea typeface="Calibri" panose="020F0502020204030204" pitchFamily="34" charset="0"/>
              </a:rPr>
              <a:t>Multiprocessors and </a:t>
            </a:r>
            <a:r>
              <a:rPr lang="en-IN" sz="4400" dirty="0" err="1">
                <a:effectLst/>
                <a:latin typeface="Times New Roman" panose="02020603050405020304" pitchFamily="18" charset="0"/>
                <a:ea typeface="Calibri" panose="020F0502020204030204" pitchFamily="34" charset="0"/>
              </a:rPr>
              <a:t>multicomputers</a:t>
            </a:r>
            <a:endParaRPr lang="en-IN" sz="9600" dirty="0"/>
          </a:p>
        </p:txBody>
      </p:sp>
      <p:sp>
        <p:nvSpPr>
          <p:cNvPr id="3" name="Subtitle 2">
            <a:extLst>
              <a:ext uri="{FF2B5EF4-FFF2-40B4-BE49-F238E27FC236}">
                <a16:creationId xmlns:a16="http://schemas.microsoft.com/office/drawing/2014/main" xmlns="" id="{0D15C23A-C5E6-4B1A-9A42-2F138B1A52C6}"/>
              </a:ext>
            </a:extLst>
          </p:cNvPr>
          <p:cNvSpPr>
            <a:spLocks noGrp="1"/>
          </p:cNvSpPr>
          <p:nvPr>
            <p:ph type="subTitle" idx="1"/>
          </p:nvPr>
        </p:nvSpPr>
        <p:spPr/>
        <p:txBody>
          <a:bodyPr/>
          <a:lstStyle/>
          <a:p>
            <a:r>
              <a:rPr lang="en-IN" dirty="0" err="1"/>
              <a:t>UniT</a:t>
            </a:r>
            <a:r>
              <a:rPr lang="en-IN" dirty="0"/>
              <a:t> 1 </a:t>
            </a:r>
          </a:p>
          <a:p>
            <a:endParaRPr lang="en-IN" dirty="0"/>
          </a:p>
        </p:txBody>
      </p:sp>
    </p:spTree>
    <p:extLst>
      <p:ext uri="{BB962C8B-B14F-4D97-AF65-F5344CB8AC3E}">
        <p14:creationId xmlns:p14="http://schemas.microsoft.com/office/powerpoint/2010/main" xmlns="" val="7545829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899F44D-6883-4709-95B4-06EDBAC192DF}"/>
              </a:ext>
            </a:extLst>
          </p:cNvPr>
          <p:cNvSpPr>
            <a:spLocks noGrp="1"/>
          </p:cNvSpPr>
          <p:nvPr>
            <p:ph type="title"/>
          </p:nvPr>
        </p:nvSpPr>
        <p:spPr/>
        <p:txBody>
          <a:bodyPr/>
          <a:lstStyle/>
          <a:p>
            <a:r>
              <a:rPr lang="en-IN" b="1" i="0" dirty="0">
                <a:solidFill>
                  <a:srgbClr val="273239"/>
                </a:solidFill>
                <a:effectLst/>
                <a:latin typeface="urw-din"/>
              </a:rPr>
              <a:t>Multiprocessor/ </a:t>
            </a:r>
            <a:r>
              <a:rPr lang="en-IN" dirty="0"/>
              <a:t>parallel systems </a:t>
            </a:r>
          </a:p>
        </p:txBody>
      </p:sp>
      <p:sp>
        <p:nvSpPr>
          <p:cNvPr id="3" name="Content Placeholder 2">
            <a:extLst>
              <a:ext uri="{FF2B5EF4-FFF2-40B4-BE49-F238E27FC236}">
                <a16:creationId xmlns:a16="http://schemas.microsoft.com/office/drawing/2014/main" xmlns="" id="{3729FB07-C82D-4A9D-8CC1-509AEA859EBA}"/>
              </a:ext>
            </a:extLst>
          </p:cNvPr>
          <p:cNvSpPr>
            <a:spLocks noGrp="1"/>
          </p:cNvSpPr>
          <p:nvPr>
            <p:ph idx="1"/>
          </p:nvPr>
        </p:nvSpPr>
        <p:spPr/>
        <p:txBody>
          <a:bodyPr>
            <a:normAutofit/>
          </a:bodyPr>
          <a:lstStyle/>
          <a:p>
            <a:r>
              <a:rPr lang="en-US" dirty="0"/>
              <a:t>A Multiprocessor is a computer system with two or more central processing units (CPUs) sharing full access to a common RAM. </a:t>
            </a:r>
          </a:p>
          <a:p>
            <a:r>
              <a:rPr lang="en-US" dirty="0"/>
              <a:t>These systems have multiple processors working in parallel that share the computer clock, memory, bus, peripheral devices etc. </a:t>
            </a:r>
          </a:p>
          <a:p>
            <a:r>
              <a:rPr lang="en-US" dirty="0"/>
              <a:t>An image demonstrating the multiprocessor architecture is:</a:t>
            </a:r>
          </a:p>
          <a:p>
            <a:endParaRPr lang="en-IN" dirty="0"/>
          </a:p>
        </p:txBody>
      </p:sp>
    </p:spTree>
    <p:extLst>
      <p:ext uri="{BB962C8B-B14F-4D97-AF65-F5344CB8AC3E}">
        <p14:creationId xmlns:p14="http://schemas.microsoft.com/office/powerpoint/2010/main" xmlns="" val="8932901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F60E54E-DEEE-4FEE-8B32-BA5BC04D95D8}"/>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xmlns="" id="{FC997018-9122-477F-AD14-A24F50A559AB}"/>
              </a:ext>
            </a:extLst>
          </p:cNvPr>
          <p:cNvPicPr>
            <a:picLocks noGrp="1" noChangeAspect="1"/>
          </p:cNvPicPr>
          <p:nvPr>
            <p:ph idx="1"/>
          </p:nvPr>
        </p:nvPicPr>
        <p:blipFill rotWithShape="1">
          <a:blip r:embed="rId2"/>
          <a:srcRect l="27692" t="59241" r="32207" b="11459"/>
          <a:stretch/>
        </p:blipFill>
        <p:spPr>
          <a:xfrm>
            <a:off x="1141413" y="1684420"/>
            <a:ext cx="9340499" cy="3838976"/>
          </a:xfrm>
        </p:spPr>
      </p:pic>
    </p:spTree>
    <p:extLst>
      <p:ext uri="{BB962C8B-B14F-4D97-AF65-F5344CB8AC3E}">
        <p14:creationId xmlns:p14="http://schemas.microsoft.com/office/powerpoint/2010/main" xmlns="" val="449587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1A8979B3-FE61-DDF5-16D4-FE19FBCEBBFF}"/>
              </a:ext>
            </a:extLst>
          </p:cNvPr>
          <p:cNvSpPr>
            <a:spLocks noGrp="1"/>
          </p:cNvSpPr>
          <p:nvPr>
            <p:ph idx="1"/>
          </p:nvPr>
        </p:nvSpPr>
        <p:spPr>
          <a:xfrm>
            <a:off x="609599" y="333487"/>
            <a:ext cx="11051689" cy="5975873"/>
          </a:xfrm>
        </p:spPr>
        <p:txBody>
          <a:bodyPr>
            <a:normAutofit lnSpcReduction="10000"/>
          </a:bodyPr>
          <a:lstStyle/>
          <a:p>
            <a:r>
              <a:rPr lang="en-IN" b="1" dirty="0"/>
              <a:t>Types of Multiprocessor Systems</a:t>
            </a:r>
          </a:p>
          <a:p>
            <a:r>
              <a:rPr lang="en-IN" b="1" dirty="0"/>
              <a:t>Symmetric Multiprocessing (SMP):</a:t>
            </a:r>
            <a:endParaRPr lang="en-IN" dirty="0"/>
          </a:p>
          <a:p>
            <a:pPr lvl="1"/>
            <a:r>
              <a:rPr lang="en-IN" dirty="0"/>
              <a:t>All processors are treated equally.</a:t>
            </a:r>
          </a:p>
          <a:p>
            <a:pPr lvl="1"/>
            <a:r>
              <a:rPr lang="en-IN" dirty="0"/>
              <a:t>Each CPU runs tasks independently but shares the same memory.</a:t>
            </a:r>
            <a:br>
              <a:rPr lang="en-IN" dirty="0"/>
            </a:br>
            <a:r>
              <a:rPr lang="en-IN" dirty="0"/>
              <a:t> Example: Modern desktops, servers.</a:t>
            </a:r>
          </a:p>
          <a:p>
            <a:pPr lvl="1"/>
            <a:r>
              <a:rPr lang="en-US" dirty="0">
                <a:solidFill>
                  <a:schemeClr val="tx1">
                    <a:lumMod val="95000"/>
                  </a:schemeClr>
                </a:solidFill>
              </a:rPr>
              <a:t>All the processors are in a peer to peer relationship i.e. no master - slave relationship exists between them.</a:t>
            </a:r>
            <a:endParaRPr lang="en-IN" dirty="0"/>
          </a:p>
          <a:p>
            <a:r>
              <a:rPr lang="en-IN" b="1" dirty="0"/>
              <a:t>Asymmetric Multiprocessing (AMP):</a:t>
            </a:r>
            <a:endParaRPr lang="en-IN" dirty="0"/>
          </a:p>
          <a:p>
            <a:pPr lvl="1"/>
            <a:r>
              <a:rPr lang="en-IN" dirty="0"/>
              <a:t>One CPU is the master, others are slaves.</a:t>
            </a:r>
          </a:p>
          <a:p>
            <a:pPr lvl="1"/>
            <a:r>
              <a:rPr lang="en-IN" dirty="0"/>
              <a:t>Master assigns tasks, slaves execute.</a:t>
            </a:r>
            <a:r>
              <a:rPr lang="en-US" dirty="0"/>
              <a:t> Asymmetric multiprocessor system contains a master slave relationship.</a:t>
            </a:r>
          </a:p>
          <a:p>
            <a:pPr lvl="1"/>
            <a:r>
              <a:rPr lang="en-US" dirty="0"/>
              <a:t> each processor is given a predefined task. </a:t>
            </a:r>
          </a:p>
          <a:p>
            <a:pPr lvl="1"/>
            <a:r>
              <a:rPr lang="en-US" dirty="0"/>
              <a:t>There is a master processor that gives instruction to all the other processors. </a:t>
            </a:r>
            <a:r>
              <a:rPr lang="en-IN" dirty="0"/>
              <a:t>Example: Early supercomputers, embedded systems.</a:t>
            </a:r>
          </a:p>
          <a:p>
            <a:endParaRPr lang="en-US" dirty="0"/>
          </a:p>
        </p:txBody>
      </p:sp>
    </p:spTree>
    <p:extLst>
      <p:ext uri="{BB962C8B-B14F-4D97-AF65-F5344CB8AC3E}">
        <p14:creationId xmlns:p14="http://schemas.microsoft.com/office/powerpoint/2010/main" xmlns="" val="33729920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82AF60B-10A3-4A49-83A3-A1AF6C4C894F}"/>
              </a:ext>
            </a:extLst>
          </p:cNvPr>
          <p:cNvSpPr>
            <a:spLocks noGrp="1"/>
          </p:cNvSpPr>
          <p:nvPr>
            <p:ph type="title"/>
          </p:nvPr>
        </p:nvSpPr>
        <p:spPr/>
        <p:txBody>
          <a:bodyPr>
            <a:normAutofit/>
          </a:bodyPr>
          <a:lstStyle/>
          <a:p>
            <a:r>
              <a:rPr lang="en-IN" dirty="0"/>
              <a:t>Advantages of Multiprocessor Systems</a:t>
            </a:r>
          </a:p>
        </p:txBody>
      </p:sp>
      <p:sp>
        <p:nvSpPr>
          <p:cNvPr id="3" name="Content Placeholder 2">
            <a:extLst>
              <a:ext uri="{FF2B5EF4-FFF2-40B4-BE49-F238E27FC236}">
                <a16:creationId xmlns:a16="http://schemas.microsoft.com/office/drawing/2014/main" xmlns="" id="{FF6E17B4-9001-4947-8B5B-56282186200F}"/>
              </a:ext>
            </a:extLst>
          </p:cNvPr>
          <p:cNvSpPr>
            <a:spLocks noGrp="1"/>
          </p:cNvSpPr>
          <p:nvPr>
            <p:ph idx="1"/>
          </p:nvPr>
        </p:nvSpPr>
        <p:spPr/>
        <p:txBody>
          <a:bodyPr/>
          <a:lstStyle/>
          <a:p>
            <a:r>
              <a:rPr lang="en-IN" dirty="0"/>
              <a:t>More reliable Systems </a:t>
            </a:r>
            <a:r>
              <a:rPr lang="en-IN" dirty="0">
                <a:solidFill>
                  <a:schemeClr val="tx1">
                    <a:lumMod val="95000"/>
                  </a:schemeClr>
                </a:solidFill>
              </a:rPr>
              <a:t>- </a:t>
            </a:r>
            <a:r>
              <a:rPr lang="en-US" dirty="0">
                <a:solidFill>
                  <a:schemeClr val="tx1">
                    <a:lumMod val="95000"/>
                  </a:schemeClr>
                </a:solidFill>
              </a:rPr>
              <a:t>In a multiprocessor system, even if one processor fails, the system will not halt. </a:t>
            </a:r>
          </a:p>
          <a:p>
            <a:r>
              <a:rPr lang="en-IN" dirty="0"/>
              <a:t>Enhanced </a:t>
            </a:r>
            <a:r>
              <a:rPr lang="en-IN" dirty="0" err="1"/>
              <a:t>Throughpu</a:t>
            </a:r>
            <a:r>
              <a:rPr lang="en-US" dirty="0"/>
              <a:t>t- </a:t>
            </a:r>
            <a:r>
              <a:rPr lang="en-US" dirty="0">
                <a:solidFill>
                  <a:schemeClr val="tx1">
                    <a:lumMod val="95000"/>
                  </a:schemeClr>
                </a:solidFill>
              </a:rPr>
              <a:t>If multiple processors are working together, then the throughput of the system increases i.e. number of processes getting executed per unit of time increases.</a:t>
            </a:r>
            <a:endParaRPr lang="en-IN" dirty="0">
              <a:solidFill>
                <a:schemeClr val="tx1">
                  <a:lumMod val="95000"/>
                </a:schemeClr>
              </a:solidFill>
            </a:endParaRPr>
          </a:p>
        </p:txBody>
      </p:sp>
    </p:spTree>
    <p:extLst>
      <p:ext uri="{BB962C8B-B14F-4D97-AF65-F5344CB8AC3E}">
        <p14:creationId xmlns:p14="http://schemas.microsoft.com/office/powerpoint/2010/main" xmlns="" val="35029158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E929450C-3FEC-415C-BFF2-07E45CDA7BA9}"/>
              </a:ext>
            </a:extLst>
          </p:cNvPr>
          <p:cNvSpPr>
            <a:spLocks noGrp="1"/>
          </p:cNvSpPr>
          <p:nvPr>
            <p:ph idx="1"/>
          </p:nvPr>
        </p:nvSpPr>
        <p:spPr/>
        <p:txBody>
          <a:bodyPr>
            <a:normAutofit/>
          </a:bodyPr>
          <a:lstStyle/>
          <a:p>
            <a:r>
              <a:rPr lang="en-IN" dirty="0"/>
              <a:t>More Economic Systems- </a:t>
            </a:r>
            <a:r>
              <a:rPr lang="en-US" dirty="0">
                <a:solidFill>
                  <a:schemeClr val="tx1">
                    <a:lumMod val="95000"/>
                  </a:schemeClr>
                </a:solidFill>
              </a:rPr>
              <a:t>are cheaper than single processor systems in the long run because they share the data storage, peripheral devices, power supplies etc. If there are multiple processes that share data, it is better to schedule them on multiprocessor systems with shared data than have different computer systems with multiple copies of the data.</a:t>
            </a:r>
            <a:endParaRPr lang="en-IN" dirty="0">
              <a:solidFill>
                <a:schemeClr val="tx1">
                  <a:lumMod val="95000"/>
                </a:schemeClr>
              </a:solidFill>
            </a:endParaRPr>
          </a:p>
        </p:txBody>
      </p:sp>
    </p:spTree>
    <p:extLst>
      <p:ext uri="{BB962C8B-B14F-4D97-AF65-F5344CB8AC3E}">
        <p14:creationId xmlns:p14="http://schemas.microsoft.com/office/powerpoint/2010/main" xmlns="" val="19910212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61FF16F-86AD-4707-9BEC-196ABD02EA5A}"/>
              </a:ext>
            </a:extLst>
          </p:cNvPr>
          <p:cNvSpPr>
            <a:spLocks noGrp="1"/>
          </p:cNvSpPr>
          <p:nvPr>
            <p:ph type="title"/>
          </p:nvPr>
        </p:nvSpPr>
        <p:spPr/>
        <p:txBody>
          <a:bodyPr>
            <a:normAutofit fontScale="90000"/>
          </a:bodyPr>
          <a:lstStyle/>
          <a:p>
            <a:r>
              <a:rPr lang="en-IN" dirty="0"/>
              <a:t>Disadvantages of Multiprocessor Systems</a:t>
            </a:r>
          </a:p>
        </p:txBody>
      </p:sp>
      <p:sp>
        <p:nvSpPr>
          <p:cNvPr id="3" name="Content Placeholder 2">
            <a:extLst>
              <a:ext uri="{FF2B5EF4-FFF2-40B4-BE49-F238E27FC236}">
                <a16:creationId xmlns:a16="http://schemas.microsoft.com/office/drawing/2014/main" xmlns="" id="{D40094FF-5841-4B06-BC10-4FBCDCAD8A47}"/>
              </a:ext>
            </a:extLst>
          </p:cNvPr>
          <p:cNvSpPr>
            <a:spLocks noGrp="1"/>
          </p:cNvSpPr>
          <p:nvPr>
            <p:ph idx="1"/>
          </p:nvPr>
        </p:nvSpPr>
        <p:spPr/>
        <p:txBody>
          <a:bodyPr/>
          <a:lstStyle/>
          <a:p>
            <a:r>
              <a:rPr lang="en-US" dirty="0"/>
              <a:t>Increased Expense - </a:t>
            </a:r>
            <a:r>
              <a:rPr lang="en-US" dirty="0">
                <a:solidFill>
                  <a:schemeClr val="tx1">
                    <a:lumMod val="95000"/>
                  </a:schemeClr>
                </a:solidFill>
              </a:rPr>
              <a:t>Even though multiprocessor systems are cheaper in the long run than using multiple computer systems, still they are quite expensive. It is much cheaper to buy a simple single processor system than a multiprocessor system.</a:t>
            </a:r>
            <a:endParaRPr lang="en-IN" dirty="0">
              <a:solidFill>
                <a:schemeClr val="tx1">
                  <a:lumMod val="95000"/>
                </a:schemeClr>
              </a:solidFill>
            </a:endParaRPr>
          </a:p>
        </p:txBody>
      </p:sp>
    </p:spTree>
    <p:extLst>
      <p:ext uri="{BB962C8B-B14F-4D97-AF65-F5344CB8AC3E}">
        <p14:creationId xmlns:p14="http://schemas.microsoft.com/office/powerpoint/2010/main" xmlns="" val="27780211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B43DFADE-1573-4871-9224-F7E142CDCF81}"/>
              </a:ext>
            </a:extLst>
          </p:cNvPr>
          <p:cNvSpPr>
            <a:spLocks noGrp="1"/>
          </p:cNvSpPr>
          <p:nvPr>
            <p:ph idx="1"/>
          </p:nvPr>
        </p:nvSpPr>
        <p:spPr>
          <a:xfrm>
            <a:off x="609600" y="311972"/>
            <a:ext cx="10148047" cy="5997388"/>
          </a:xfrm>
        </p:spPr>
        <p:txBody>
          <a:bodyPr>
            <a:normAutofit/>
          </a:bodyPr>
          <a:lstStyle/>
          <a:p>
            <a:r>
              <a:rPr lang="en-US" dirty="0"/>
              <a:t>Complicated Operating System Required - There are multiple processors in a multiprocessor system that share peripherals, memory etc. So, it is much more complicated to schedule processes and impart resources to processes than in single processor systems. Hence, a more complex and complicated operating system is required in multiprocessor systems.</a:t>
            </a:r>
            <a:endParaRPr lang="en-IN" dirty="0"/>
          </a:p>
        </p:txBody>
      </p:sp>
    </p:spTree>
    <p:extLst>
      <p:ext uri="{BB962C8B-B14F-4D97-AF65-F5344CB8AC3E}">
        <p14:creationId xmlns:p14="http://schemas.microsoft.com/office/powerpoint/2010/main" xmlns="" val="31650507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A7557BB-87E2-4A8D-A75E-5F0B0AC2F343}"/>
              </a:ext>
            </a:extLst>
          </p:cNvPr>
          <p:cNvSpPr>
            <a:spLocks noGrp="1"/>
          </p:cNvSpPr>
          <p:nvPr>
            <p:ph type="title"/>
          </p:nvPr>
        </p:nvSpPr>
        <p:spPr/>
        <p:txBody>
          <a:bodyPr/>
          <a:lstStyle/>
          <a:p>
            <a:r>
              <a:rPr lang="en-IN" dirty="0"/>
              <a:t>Characteristics of multiprocessor</a:t>
            </a:r>
          </a:p>
        </p:txBody>
      </p:sp>
      <p:sp>
        <p:nvSpPr>
          <p:cNvPr id="3" name="Content Placeholder 2">
            <a:extLst>
              <a:ext uri="{FF2B5EF4-FFF2-40B4-BE49-F238E27FC236}">
                <a16:creationId xmlns:a16="http://schemas.microsoft.com/office/drawing/2014/main" xmlns="" id="{FC119740-A83D-4E33-8CDA-7C25D281450C}"/>
              </a:ext>
            </a:extLst>
          </p:cNvPr>
          <p:cNvSpPr>
            <a:spLocks noGrp="1"/>
          </p:cNvSpPr>
          <p:nvPr>
            <p:ph idx="1"/>
          </p:nvPr>
        </p:nvSpPr>
        <p:spPr/>
        <p:txBody>
          <a:bodyPr>
            <a:normAutofit/>
          </a:bodyPr>
          <a:lstStyle/>
          <a:p>
            <a:r>
              <a:rPr lang="en-US" dirty="0">
                <a:solidFill>
                  <a:schemeClr val="tx1">
                    <a:lumMod val="95000"/>
                  </a:schemeClr>
                </a:solidFill>
              </a:rPr>
              <a:t>1. A multiprocessor system is an interconnection of two or more CPUs with shared memory and input-output equipment. </a:t>
            </a:r>
          </a:p>
          <a:p>
            <a:r>
              <a:rPr lang="en-US" dirty="0">
                <a:solidFill>
                  <a:schemeClr val="tx1">
                    <a:lumMod val="95000"/>
                  </a:schemeClr>
                </a:solidFill>
              </a:rPr>
              <a:t>2. The term “processor” in multiprocessor can mean either a central processing unit (CPU) or an input-output processor (IOP). </a:t>
            </a:r>
          </a:p>
        </p:txBody>
      </p:sp>
    </p:spTree>
    <p:extLst>
      <p:ext uri="{BB962C8B-B14F-4D97-AF65-F5344CB8AC3E}">
        <p14:creationId xmlns:p14="http://schemas.microsoft.com/office/powerpoint/2010/main" xmlns="" val="32412600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A83612A7-DD20-4733-8DAC-AD75C1BD4930}"/>
              </a:ext>
            </a:extLst>
          </p:cNvPr>
          <p:cNvSpPr>
            <a:spLocks noGrp="1"/>
          </p:cNvSpPr>
          <p:nvPr>
            <p:ph idx="1"/>
          </p:nvPr>
        </p:nvSpPr>
        <p:spPr/>
        <p:txBody>
          <a:bodyPr>
            <a:normAutofit/>
          </a:bodyPr>
          <a:lstStyle/>
          <a:p>
            <a:r>
              <a:rPr lang="en-US" dirty="0"/>
              <a:t>3. The similarity and distinction between multiprocessor and multicomputer are </a:t>
            </a:r>
          </a:p>
          <a:p>
            <a:r>
              <a:rPr lang="en-US" dirty="0"/>
              <a:t>  Similarity  </a:t>
            </a:r>
          </a:p>
          <a:p>
            <a:pPr lvl="1"/>
            <a:r>
              <a:rPr lang="en-US" dirty="0"/>
              <a:t>Both support concurrent operations </a:t>
            </a:r>
          </a:p>
          <a:p>
            <a:r>
              <a:rPr lang="en-US" dirty="0"/>
              <a:t> Distinction </a:t>
            </a:r>
          </a:p>
          <a:p>
            <a:pPr lvl="1"/>
            <a:r>
              <a:rPr lang="en-US" dirty="0"/>
              <a:t>The network (</a:t>
            </a:r>
            <a:r>
              <a:rPr lang="en-US"/>
              <a:t>multicomputer system) consists </a:t>
            </a:r>
            <a:r>
              <a:rPr lang="en-US" dirty="0"/>
              <a:t>of several autonomous computers that may or may not communicate with each other. </a:t>
            </a:r>
          </a:p>
          <a:p>
            <a:pPr lvl="1"/>
            <a:r>
              <a:rPr lang="en-US" dirty="0"/>
              <a:t> A multiprocessor system is controlled by one operating system that provides interaction between processors.</a:t>
            </a:r>
            <a:endParaRPr lang="en-IN" dirty="0"/>
          </a:p>
        </p:txBody>
      </p:sp>
    </p:spTree>
    <p:extLst>
      <p:ext uri="{BB962C8B-B14F-4D97-AF65-F5344CB8AC3E}">
        <p14:creationId xmlns:p14="http://schemas.microsoft.com/office/powerpoint/2010/main" xmlns="" val="32993169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1401DEFD-9D83-4857-ACBE-9126C94659D9}"/>
              </a:ext>
            </a:extLst>
          </p:cNvPr>
          <p:cNvSpPr>
            <a:spLocks noGrp="1"/>
          </p:cNvSpPr>
          <p:nvPr>
            <p:ph idx="1"/>
          </p:nvPr>
        </p:nvSpPr>
        <p:spPr/>
        <p:txBody>
          <a:bodyPr>
            <a:normAutofit/>
          </a:bodyPr>
          <a:lstStyle/>
          <a:p>
            <a:r>
              <a:rPr lang="en-US" dirty="0"/>
              <a:t>4. Multiprocessing improves the reliability of the system. </a:t>
            </a:r>
          </a:p>
          <a:p>
            <a:r>
              <a:rPr lang="en-US" dirty="0"/>
              <a:t>5. Multiprocessing can improve performance by decomposing a program into parallel executable tasks. </a:t>
            </a:r>
          </a:p>
          <a:p>
            <a:r>
              <a:rPr lang="en-US" dirty="0"/>
              <a:t>6. The benefit is an improved system performance. </a:t>
            </a:r>
          </a:p>
          <a:p>
            <a:pPr lvl="1"/>
            <a:r>
              <a:rPr lang="en-US" dirty="0"/>
              <a:t> Multiple independent jobs can be made to operate in parallel.</a:t>
            </a:r>
          </a:p>
          <a:p>
            <a:pPr lvl="1"/>
            <a:r>
              <a:rPr lang="en-US" dirty="0"/>
              <a:t>A single job can be partitioned into multiple parallel tasks.</a:t>
            </a:r>
          </a:p>
          <a:p>
            <a:pPr marL="585216" lvl="1" indent="0">
              <a:buNone/>
            </a:pPr>
            <a:endParaRPr lang="en-IN" dirty="0"/>
          </a:p>
        </p:txBody>
      </p:sp>
    </p:spTree>
    <p:extLst>
      <p:ext uri="{BB962C8B-B14F-4D97-AF65-F5344CB8AC3E}">
        <p14:creationId xmlns:p14="http://schemas.microsoft.com/office/powerpoint/2010/main" xmlns="" val="12886736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61708" y="997526"/>
            <a:ext cx="6220691" cy="420111"/>
          </a:xfrm>
        </p:spPr>
        <p:txBody>
          <a:bodyPr>
            <a:normAutofit fontScale="90000"/>
          </a:bodyPr>
          <a:lstStyle/>
          <a:p>
            <a:r>
              <a:rPr lang="en-US" dirty="0" smtClean="0"/>
              <a:t>MULTIPROCESSOR</a:t>
            </a:r>
            <a:endParaRPr lang="en-US" dirty="0"/>
          </a:p>
        </p:txBody>
      </p:sp>
      <p:pic>
        <p:nvPicPr>
          <p:cNvPr id="5" name="Picture 2" descr="How To Build A Multiprocessor Computer - Insurancecurve"/>
          <p:cNvPicPr>
            <a:picLocks noChangeAspect="1" noChangeArrowheads="1"/>
          </p:cNvPicPr>
          <p:nvPr/>
        </p:nvPicPr>
        <p:blipFill>
          <a:blip r:embed="rId2"/>
          <a:srcRect/>
          <a:stretch>
            <a:fillRect/>
          </a:stretch>
        </p:blipFill>
        <p:spPr bwMode="auto">
          <a:xfrm>
            <a:off x="712528" y="1788246"/>
            <a:ext cx="3419475" cy="3648076"/>
          </a:xfrm>
          <a:prstGeom prst="rect">
            <a:avLst/>
          </a:prstGeom>
          <a:noFill/>
        </p:spPr>
      </p:pic>
      <p:pic>
        <p:nvPicPr>
          <p:cNvPr id="7" name="Content Placeholder 4">
            <a:extLst>
              <a:ext uri="{FF2B5EF4-FFF2-40B4-BE49-F238E27FC236}">
                <a16:creationId xmlns:a16="http://schemas.microsoft.com/office/drawing/2014/main" xmlns="" id="{E0E52D48-415F-4E45-8993-8965D9F12CA0}"/>
              </a:ext>
            </a:extLst>
          </p:cNvPr>
          <p:cNvPicPr>
            <a:picLocks noChangeAspect="1"/>
          </p:cNvPicPr>
          <p:nvPr/>
        </p:nvPicPr>
        <p:blipFill rotWithShape="1">
          <a:blip r:embed="rId3"/>
          <a:srcRect l="35738" t="25325" r="42200" b="33608"/>
          <a:stretch/>
        </p:blipFill>
        <p:spPr>
          <a:xfrm>
            <a:off x="6832803" y="2005619"/>
            <a:ext cx="3465095" cy="3628158"/>
          </a:xfrm>
          <a:prstGeom prst="rect">
            <a:avLst/>
          </a:prstGeom>
        </p:spPr>
      </p:pic>
      <p:sp>
        <p:nvSpPr>
          <p:cNvPr id="8" name="TextBox 7"/>
          <p:cNvSpPr txBox="1"/>
          <p:nvPr/>
        </p:nvSpPr>
        <p:spPr>
          <a:xfrm>
            <a:off x="606823" y="964291"/>
            <a:ext cx="4322618" cy="661720"/>
          </a:xfrm>
          <a:prstGeom prst="rect">
            <a:avLst/>
          </a:prstGeom>
          <a:noFill/>
        </p:spPr>
        <p:txBody>
          <a:bodyPr wrap="square" rtlCol="0">
            <a:spAutoFit/>
          </a:bodyPr>
          <a:lstStyle/>
          <a:p>
            <a:r>
              <a:rPr lang="en-US" sz="3700" b="1" dirty="0" smtClean="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latin typeface="+mj-lt"/>
                <a:ea typeface="+mj-ea"/>
                <a:cs typeface="+mj-cs"/>
              </a:rPr>
              <a:t>MULTICOMPTER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E2FF24B-29FB-41D8-A4EF-673C0CD76EE3}"/>
              </a:ext>
            </a:extLst>
          </p:cNvPr>
          <p:cNvSpPr>
            <a:spLocks noGrp="1"/>
          </p:cNvSpPr>
          <p:nvPr>
            <p:ph type="title"/>
          </p:nvPr>
        </p:nvSpPr>
        <p:spPr/>
        <p:txBody>
          <a:bodyPr/>
          <a:lstStyle/>
          <a:p>
            <a:r>
              <a:rPr lang="en-US" b="0" i="0" u="sng" dirty="0">
                <a:effectLst/>
                <a:latin typeface="urw-din"/>
              </a:rPr>
              <a:t>Multicomputer system</a:t>
            </a:r>
            <a:r>
              <a:rPr lang="en-US" b="0" i="0" dirty="0">
                <a:solidFill>
                  <a:srgbClr val="273239"/>
                </a:solidFill>
                <a:effectLst/>
                <a:latin typeface="urw-din"/>
              </a:rPr>
              <a:t> </a:t>
            </a:r>
            <a:endParaRPr lang="en-IN" dirty="0"/>
          </a:p>
        </p:txBody>
      </p:sp>
      <p:sp>
        <p:nvSpPr>
          <p:cNvPr id="3" name="Content Placeholder 2">
            <a:extLst>
              <a:ext uri="{FF2B5EF4-FFF2-40B4-BE49-F238E27FC236}">
                <a16:creationId xmlns:a16="http://schemas.microsoft.com/office/drawing/2014/main" xmlns="" id="{582C1C1D-F18E-4D3F-A4F1-0C5E7E5531E1}"/>
              </a:ext>
            </a:extLst>
          </p:cNvPr>
          <p:cNvSpPr>
            <a:spLocks noGrp="1"/>
          </p:cNvSpPr>
          <p:nvPr>
            <p:ph idx="1"/>
          </p:nvPr>
        </p:nvSpPr>
        <p:spPr>
          <a:xfrm>
            <a:off x="1141413" y="1619250"/>
            <a:ext cx="7040061" cy="4171951"/>
          </a:xfrm>
        </p:spPr>
        <p:txBody>
          <a:bodyPr>
            <a:normAutofit/>
          </a:bodyPr>
          <a:lstStyle/>
          <a:p>
            <a:r>
              <a:rPr lang="en-US" dirty="0"/>
              <a:t>A multicomputer system is a computer system with multiple processors that are connected together to solve a problem. </a:t>
            </a:r>
          </a:p>
          <a:p>
            <a:r>
              <a:rPr lang="en-US" dirty="0"/>
              <a:t>Each processor has its own memory and it is accessible by that particular processor and those processors can communicate with each other via an interconnection network.</a:t>
            </a:r>
            <a:endParaRPr lang="en-IN" dirty="0"/>
          </a:p>
        </p:txBody>
      </p:sp>
    </p:spTree>
    <p:extLst>
      <p:ext uri="{BB962C8B-B14F-4D97-AF65-F5344CB8AC3E}">
        <p14:creationId xmlns:p14="http://schemas.microsoft.com/office/powerpoint/2010/main" xmlns="" val="7020477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60CFD042-1DD4-4659-9B67-6DE722D6328B}"/>
              </a:ext>
            </a:extLst>
          </p:cNvPr>
          <p:cNvSpPr>
            <a:spLocks noGrp="1"/>
          </p:cNvSpPr>
          <p:nvPr>
            <p:ph idx="1"/>
          </p:nvPr>
        </p:nvSpPr>
        <p:spPr/>
        <p:txBody>
          <a:bodyPr/>
          <a:lstStyle/>
          <a:p>
            <a:r>
              <a:rPr lang="en-US" dirty="0"/>
              <a:t>As the multicomputer is capable of messages passing between the processors, it is possible to divide the task between the processors to complete the task. Hence, a multicomputer can be used for distributed computing.</a:t>
            </a:r>
            <a:endParaRPr lang="en-IN" dirty="0"/>
          </a:p>
        </p:txBody>
      </p:sp>
    </p:spTree>
    <p:extLst>
      <p:ext uri="{BB962C8B-B14F-4D97-AF65-F5344CB8AC3E}">
        <p14:creationId xmlns:p14="http://schemas.microsoft.com/office/powerpoint/2010/main" xmlns="" val="7908862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A0E7767A-7882-B9BF-26B8-D8E4B1D70AD9}"/>
              </a:ext>
            </a:extLst>
          </p:cNvPr>
          <p:cNvSpPr>
            <a:spLocks noGrp="1"/>
          </p:cNvSpPr>
          <p:nvPr>
            <p:ph idx="1"/>
          </p:nvPr>
        </p:nvSpPr>
        <p:spPr>
          <a:xfrm>
            <a:off x="609600" y="710005"/>
            <a:ext cx="10266381" cy="5599355"/>
          </a:xfrm>
        </p:spPr>
        <p:txBody>
          <a:bodyPr/>
          <a:lstStyle/>
          <a:p>
            <a:r>
              <a:rPr lang="en-IN" b="1" dirty="0"/>
              <a:t>Types of Multicomputers</a:t>
            </a:r>
          </a:p>
          <a:p>
            <a:r>
              <a:rPr lang="en-IN" b="1" dirty="0"/>
              <a:t>Cluster Computing</a:t>
            </a:r>
            <a:endParaRPr lang="en-IN" dirty="0"/>
          </a:p>
          <a:p>
            <a:pPr lvl="1"/>
            <a:r>
              <a:rPr lang="en-IN" dirty="0"/>
              <a:t>Group of computers connected via LAN.</a:t>
            </a:r>
          </a:p>
          <a:p>
            <a:r>
              <a:rPr lang="en-IN" b="1" dirty="0"/>
              <a:t>Grid Computing</a:t>
            </a:r>
            <a:endParaRPr lang="en-IN" dirty="0"/>
          </a:p>
          <a:p>
            <a:pPr lvl="1"/>
            <a:r>
              <a:rPr lang="en-IN" dirty="0"/>
              <a:t>Computers connected over a wide area (like the internet).</a:t>
            </a:r>
          </a:p>
          <a:p>
            <a:r>
              <a:rPr lang="en-IN" b="1" dirty="0"/>
              <a:t>Cloud Computing</a:t>
            </a:r>
            <a:endParaRPr lang="en-IN" dirty="0"/>
          </a:p>
          <a:p>
            <a:pPr lvl="1"/>
            <a:r>
              <a:rPr lang="en-IN" dirty="0"/>
              <a:t>Internet-based distributed computing.</a:t>
            </a:r>
          </a:p>
          <a:p>
            <a:endParaRPr lang="en-US" dirty="0"/>
          </a:p>
        </p:txBody>
      </p:sp>
    </p:spTree>
    <p:extLst>
      <p:ext uri="{BB962C8B-B14F-4D97-AF65-F5344CB8AC3E}">
        <p14:creationId xmlns:p14="http://schemas.microsoft.com/office/powerpoint/2010/main" xmlns="" val="41672028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5">
            <a:extLst>
              <a:ext uri="{FF2B5EF4-FFF2-40B4-BE49-F238E27FC236}">
                <a16:creationId xmlns:a16="http://schemas.microsoft.com/office/drawing/2014/main" xmlns="" id="{1E4A06D9-628A-4FC8-B06C-2E45DB877D68}"/>
              </a:ext>
            </a:extLst>
          </p:cNvPr>
          <p:cNvGraphicFramePr>
            <a:graphicFrameLocks noGrp="1"/>
          </p:cNvGraphicFramePr>
          <p:nvPr>
            <p:ph idx="1"/>
            <p:extLst>
              <p:ext uri="{D42A27DB-BD31-4B8C-83A1-F6EECF244321}">
                <p14:modId xmlns:p14="http://schemas.microsoft.com/office/powerpoint/2010/main" xmlns="" val="1795715736"/>
              </p:ext>
            </p:extLst>
          </p:nvPr>
        </p:nvGraphicFramePr>
        <p:xfrm>
          <a:off x="609599" y="204394"/>
          <a:ext cx="11137751" cy="6270010"/>
        </p:xfrm>
        <a:graphic>
          <a:graphicData uri="http://schemas.openxmlformats.org/drawingml/2006/table">
            <a:tbl>
              <a:tblPr firstRow="1" bandRow="1">
                <a:tableStyleId>{5C22544A-7EE6-4342-B048-85BDC9FD1C3A}</a:tableStyleId>
              </a:tblPr>
              <a:tblGrid>
                <a:gridCol w="3359973">
                  <a:extLst>
                    <a:ext uri="{9D8B030D-6E8A-4147-A177-3AD203B41FA5}">
                      <a16:colId xmlns:a16="http://schemas.microsoft.com/office/drawing/2014/main" xmlns="" val="1069624991"/>
                    </a:ext>
                  </a:extLst>
                </a:gridCol>
                <a:gridCol w="4034117">
                  <a:extLst>
                    <a:ext uri="{9D8B030D-6E8A-4147-A177-3AD203B41FA5}">
                      <a16:colId xmlns:a16="http://schemas.microsoft.com/office/drawing/2014/main" xmlns="" val="1459321726"/>
                    </a:ext>
                  </a:extLst>
                </a:gridCol>
                <a:gridCol w="3743661">
                  <a:extLst>
                    <a:ext uri="{9D8B030D-6E8A-4147-A177-3AD203B41FA5}">
                      <a16:colId xmlns:a16="http://schemas.microsoft.com/office/drawing/2014/main" xmlns="" val="3948206930"/>
                    </a:ext>
                  </a:extLst>
                </a:gridCol>
              </a:tblGrid>
              <a:tr h="868104">
                <a:tc>
                  <a:txBody>
                    <a:bodyPr/>
                    <a:lstStyle/>
                    <a:p>
                      <a:r>
                        <a:rPr lang="en-IN" sz="2800" b="1" i="0" kern="1200" cap="all" dirty="0">
                          <a:solidFill>
                            <a:schemeClr val="lt1"/>
                          </a:solidFill>
                          <a:effectLst/>
                          <a:latin typeface="+mn-lt"/>
                          <a:ea typeface="+mn-ea"/>
                          <a:cs typeface="+mn-cs"/>
                        </a:rPr>
                        <a:t>BASIS FOR COMPARISON</a:t>
                      </a:r>
                      <a:endParaRPr lang="en-IN" sz="2800" dirty="0"/>
                    </a:p>
                  </a:txBody>
                  <a:tcPr/>
                </a:tc>
                <a:tc>
                  <a:txBody>
                    <a:bodyPr/>
                    <a:lstStyle/>
                    <a:p>
                      <a:r>
                        <a:rPr lang="en-IN" sz="2800" b="1" i="0" kern="1200" cap="all" dirty="0">
                          <a:solidFill>
                            <a:schemeClr val="lt1"/>
                          </a:solidFill>
                          <a:effectLst/>
                          <a:latin typeface="+mn-lt"/>
                          <a:ea typeface="+mn-ea"/>
                          <a:cs typeface="+mn-cs"/>
                        </a:rPr>
                        <a:t>MULTIPROCESSOR</a:t>
                      </a:r>
                      <a:endParaRPr lang="en-IN" sz="2800" dirty="0"/>
                    </a:p>
                  </a:txBody>
                  <a:tcPr/>
                </a:tc>
                <a:tc>
                  <a:txBody>
                    <a:bodyPr/>
                    <a:lstStyle/>
                    <a:p>
                      <a:r>
                        <a:rPr lang="en-IN" sz="2800" b="1" i="0" kern="1200" cap="all" dirty="0">
                          <a:solidFill>
                            <a:schemeClr val="lt1"/>
                          </a:solidFill>
                          <a:effectLst/>
                          <a:latin typeface="+mn-lt"/>
                          <a:ea typeface="+mn-ea"/>
                          <a:cs typeface="+mn-cs"/>
                        </a:rPr>
                        <a:t>MULTICOMPUTER</a:t>
                      </a:r>
                      <a:endParaRPr lang="en-IN" sz="2800" dirty="0"/>
                    </a:p>
                  </a:txBody>
                  <a:tcPr/>
                </a:tc>
                <a:extLst>
                  <a:ext uri="{0D108BD9-81ED-4DB2-BD59-A6C34878D82A}">
                    <a16:rowId xmlns:a16="http://schemas.microsoft.com/office/drawing/2014/main" xmlns="" val="901021257"/>
                  </a:ext>
                </a:extLst>
              </a:tr>
              <a:tr h="1567111">
                <a:tc>
                  <a:txBody>
                    <a:bodyPr/>
                    <a:lstStyle/>
                    <a:p>
                      <a:r>
                        <a:rPr lang="en-IN" sz="2800" b="0" i="0" kern="1200" dirty="0">
                          <a:solidFill>
                            <a:schemeClr val="dk1"/>
                          </a:solidFill>
                          <a:effectLst/>
                          <a:latin typeface="+mn-lt"/>
                          <a:ea typeface="+mn-ea"/>
                          <a:cs typeface="+mn-cs"/>
                        </a:rPr>
                        <a:t>Basic</a:t>
                      </a:r>
                      <a:endParaRPr lang="en-IN" sz="2800" dirty="0"/>
                    </a:p>
                  </a:txBody>
                  <a:tcPr/>
                </a:tc>
                <a:tc>
                  <a:txBody>
                    <a:bodyPr/>
                    <a:lstStyle/>
                    <a:p>
                      <a:r>
                        <a:rPr lang="en-IN" sz="2800" b="0" i="0" kern="1200" dirty="0">
                          <a:solidFill>
                            <a:schemeClr val="dk1"/>
                          </a:solidFill>
                          <a:effectLst/>
                          <a:latin typeface="+mn-lt"/>
                          <a:ea typeface="+mn-ea"/>
                          <a:cs typeface="+mn-cs"/>
                        </a:rPr>
                        <a:t>Multiple processors in a single computer.</a:t>
                      </a:r>
                      <a:endParaRPr lang="en-IN" sz="2800" dirty="0"/>
                    </a:p>
                  </a:txBody>
                  <a:tcPr/>
                </a:tc>
                <a:tc>
                  <a:txBody>
                    <a:bodyPr/>
                    <a:lstStyle/>
                    <a:p>
                      <a:r>
                        <a:rPr lang="en-IN" sz="2800" b="0" i="0" kern="1200" dirty="0">
                          <a:solidFill>
                            <a:schemeClr val="dk1"/>
                          </a:solidFill>
                          <a:effectLst/>
                          <a:latin typeface="+mn-lt"/>
                          <a:ea typeface="+mn-ea"/>
                          <a:cs typeface="+mn-cs"/>
                        </a:rPr>
                        <a:t>Interlinked multiple autonomous computers.</a:t>
                      </a:r>
                      <a:endParaRPr lang="en-IN" sz="2800" dirty="0"/>
                    </a:p>
                  </a:txBody>
                  <a:tcPr/>
                </a:tc>
                <a:extLst>
                  <a:ext uri="{0D108BD9-81ED-4DB2-BD59-A6C34878D82A}">
                    <a16:rowId xmlns:a16="http://schemas.microsoft.com/office/drawing/2014/main" xmlns="" val="3088487683"/>
                  </a:ext>
                </a:extLst>
              </a:tr>
              <a:tr h="1260151">
                <a:tc>
                  <a:txBody>
                    <a:bodyPr/>
                    <a:lstStyle/>
                    <a:p>
                      <a:r>
                        <a:rPr lang="en-US" sz="2800" b="0" i="0" kern="1200" dirty="0">
                          <a:solidFill>
                            <a:schemeClr val="dk1"/>
                          </a:solidFill>
                          <a:effectLst/>
                          <a:latin typeface="+mn-lt"/>
                          <a:ea typeface="+mn-ea"/>
                          <a:cs typeface="+mn-cs"/>
                        </a:rPr>
                        <a:t>Memory attached to the processing elements</a:t>
                      </a:r>
                      <a:endParaRPr lang="en-IN" sz="2800" dirty="0"/>
                    </a:p>
                  </a:txBody>
                  <a:tcPr/>
                </a:tc>
                <a:tc>
                  <a:txBody>
                    <a:bodyPr/>
                    <a:lstStyle/>
                    <a:p>
                      <a:r>
                        <a:rPr lang="en-IN" sz="2800" dirty="0"/>
                        <a:t>S</a:t>
                      </a:r>
                      <a:r>
                        <a:rPr lang="en-IN" sz="2800" b="0" i="0" kern="1200" dirty="0">
                          <a:solidFill>
                            <a:schemeClr val="dk1"/>
                          </a:solidFill>
                          <a:effectLst/>
                          <a:latin typeface="+mn-lt"/>
                          <a:ea typeface="+mn-ea"/>
                          <a:cs typeface="+mn-cs"/>
                        </a:rPr>
                        <a:t>ingle shared</a:t>
                      </a:r>
                      <a:endParaRPr lang="en-IN" sz="2800" dirty="0"/>
                    </a:p>
                  </a:txBody>
                  <a:tcPr/>
                </a:tc>
                <a:tc>
                  <a:txBody>
                    <a:bodyPr/>
                    <a:lstStyle/>
                    <a:p>
                      <a:r>
                        <a:rPr lang="en-IN" sz="2800" b="0" i="0" kern="1200" dirty="0">
                          <a:solidFill>
                            <a:schemeClr val="dk1"/>
                          </a:solidFill>
                          <a:effectLst/>
                          <a:latin typeface="+mn-lt"/>
                          <a:ea typeface="+mn-ea"/>
                          <a:cs typeface="+mn-cs"/>
                        </a:rPr>
                        <a:t>Multiple distributed</a:t>
                      </a:r>
                      <a:endParaRPr lang="en-IN" sz="2800" dirty="0"/>
                    </a:p>
                  </a:txBody>
                  <a:tcPr/>
                </a:tc>
                <a:extLst>
                  <a:ext uri="{0D108BD9-81ED-4DB2-BD59-A6C34878D82A}">
                    <a16:rowId xmlns:a16="http://schemas.microsoft.com/office/drawing/2014/main" xmlns="" val="3673526302"/>
                  </a:ext>
                </a:extLst>
              </a:tr>
              <a:tr h="1567111">
                <a:tc>
                  <a:txBody>
                    <a:bodyPr/>
                    <a:lstStyle/>
                    <a:p>
                      <a:r>
                        <a:rPr lang="en-IN" sz="2800" b="0" i="0" kern="1200" dirty="0">
                          <a:solidFill>
                            <a:schemeClr val="dk1"/>
                          </a:solidFill>
                          <a:effectLst/>
                          <a:latin typeface="+mn-lt"/>
                          <a:ea typeface="+mn-ea"/>
                          <a:cs typeface="+mn-cs"/>
                        </a:rPr>
                        <a:t>Communication between processing elements</a:t>
                      </a:r>
                      <a:endParaRPr lang="en-IN" sz="2800" dirty="0"/>
                    </a:p>
                  </a:txBody>
                  <a:tcPr/>
                </a:tc>
                <a:tc>
                  <a:txBody>
                    <a:bodyPr/>
                    <a:lstStyle/>
                    <a:p>
                      <a:r>
                        <a:rPr lang="en-IN" sz="2800" b="0" i="0" kern="1200" dirty="0">
                          <a:solidFill>
                            <a:schemeClr val="dk1"/>
                          </a:solidFill>
                          <a:effectLst/>
                          <a:latin typeface="+mn-lt"/>
                          <a:ea typeface="+mn-ea"/>
                          <a:cs typeface="+mn-cs"/>
                        </a:rPr>
                        <a:t>Mandatory</a:t>
                      </a:r>
                      <a:endParaRPr lang="en-IN" sz="2800" dirty="0"/>
                    </a:p>
                  </a:txBody>
                  <a:tcPr/>
                </a:tc>
                <a:tc>
                  <a:txBody>
                    <a:bodyPr/>
                    <a:lstStyle/>
                    <a:p>
                      <a:r>
                        <a:rPr lang="en-IN" sz="2800" b="0" i="0" kern="1200" dirty="0">
                          <a:solidFill>
                            <a:schemeClr val="dk1"/>
                          </a:solidFill>
                          <a:effectLst/>
                          <a:latin typeface="+mn-lt"/>
                          <a:ea typeface="+mn-ea"/>
                          <a:cs typeface="+mn-cs"/>
                        </a:rPr>
                        <a:t>Not necessary</a:t>
                      </a:r>
                      <a:endParaRPr lang="en-IN" sz="2800" dirty="0"/>
                    </a:p>
                  </a:txBody>
                  <a:tcPr/>
                </a:tc>
                <a:extLst>
                  <a:ext uri="{0D108BD9-81ED-4DB2-BD59-A6C34878D82A}">
                    <a16:rowId xmlns:a16="http://schemas.microsoft.com/office/drawing/2014/main" xmlns="" val="1943856825"/>
                  </a:ext>
                </a:extLst>
              </a:tr>
              <a:tr h="819308">
                <a:tc>
                  <a:txBody>
                    <a:bodyPr/>
                    <a:lstStyle/>
                    <a:p>
                      <a:r>
                        <a:rPr lang="en-IN" sz="2800" b="0" i="0" kern="1200" dirty="0">
                          <a:solidFill>
                            <a:schemeClr val="dk1"/>
                          </a:solidFill>
                          <a:effectLst/>
                          <a:latin typeface="+mn-lt"/>
                          <a:ea typeface="+mn-ea"/>
                          <a:cs typeface="+mn-cs"/>
                        </a:rPr>
                        <a:t>Type of network</a:t>
                      </a:r>
                      <a:endParaRPr lang="en-IN" sz="2800" dirty="0"/>
                    </a:p>
                  </a:txBody>
                  <a:tcPr/>
                </a:tc>
                <a:tc>
                  <a:txBody>
                    <a:bodyPr/>
                    <a:lstStyle/>
                    <a:p>
                      <a:r>
                        <a:rPr lang="en-IN" sz="2800" b="0" i="0" kern="1200" dirty="0">
                          <a:solidFill>
                            <a:schemeClr val="dk1"/>
                          </a:solidFill>
                          <a:effectLst/>
                          <a:latin typeface="+mn-lt"/>
                          <a:ea typeface="+mn-ea"/>
                          <a:cs typeface="+mn-cs"/>
                        </a:rPr>
                        <a:t>Dynamic network</a:t>
                      </a:r>
                      <a:endParaRPr lang="en-IN" sz="2800" dirty="0"/>
                    </a:p>
                  </a:txBody>
                  <a:tcPr/>
                </a:tc>
                <a:tc>
                  <a:txBody>
                    <a:bodyPr/>
                    <a:lstStyle/>
                    <a:p>
                      <a:r>
                        <a:rPr lang="en-IN" sz="2800" dirty="0"/>
                        <a:t>Static </a:t>
                      </a:r>
                      <a:r>
                        <a:rPr lang="en-IN" sz="2800" dirty="0" err="1"/>
                        <a:t>Nw</a:t>
                      </a:r>
                      <a:endParaRPr lang="en-IN" sz="2800" dirty="0"/>
                    </a:p>
                  </a:txBody>
                  <a:tcPr/>
                </a:tc>
                <a:extLst>
                  <a:ext uri="{0D108BD9-81ED-4DB2-BD59-A6C34878D82A}">
                    <a16:rowId xmlns:a16="http://schemas.microsoft.com/office/drawing/2014/main" xmlns="" val="1807001129"/>
                  </a:ext>
                </a:extLst>
              </a:tr>
            </a:tbl>
          </a:graphicData>
        </a:graphic>
      </p:graphicFrame>
    </p:spTree>
    <p:extLst>
      <p:ext uri="{BB962C8B-B14F-4D97-AF65-F5344CB8AC3E}">
        <p14:creationId xmlns:p14="http://schemas.microsoft.com/office/powerpoint/2010/main" xmlns="" val="37162493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C2CB80F-E260-4AA2-BB55-EA88728A266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4D4350D6-51CA-41ED-89C6-6255E612DD12}"/>
              </a:ext>
            </a:extLst>
          </p:cNvPr>
          <p:cNvSpPr>
            <a:spLocks noGrp="1"/>
          </p:cNvSpPr>
          <p:nvPr>
            <p:ph idx="1"/>
          </p:nvPr>
        </p:nvSpPr>
        <p:spPr/>
        <p:txBody>
          <a:bodyPr/>
          <a:lstStyle/>
          <a:p>
            <a:pPr marL="0" indent="0" algn="ctr">
              <a:buNone/>
            </a:pPr>
            <a:endParaRPr lang="en-IN" dirty="0"/>
          </a:p>
          <a:p>
            <a:pPr marL="0" indent="0" algn="ctr">
              <a:buNone/>
            </a:pPr>
            <a:endParaRPr lang="en-IN" dirty="0"/>
          </a:p>
          <a:p>
            <a:pPr marL="0" indent="0" algn="ctr">
              <a:buNone/>
            </a:pPr>
            <a:r>
              <a:rPr lang="en-IN" dirty="0"/>
              <a:t>END</a:t>
            </a:r>
          </a:p>
        </p:txBody>
      </p:sp>
    </p:spTree>
    <p:extLst>
      <p:ext uri="{BB962C8B-B14F-4D97-AF65-F5344CB8AC3E}">
        <p14:creationId xmlns:p14="http://schemas.microsoft.com/office/powerpoint/2010/main" xmlns="" val="307595025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pex">
  <a:themeElements>
    <a:clrScheme name="Apex">
      <a:dk1>
        <a:sysClr val="windowText" lastClr="000000"/>
      </a:dk1>
      <a:lt1>
        <a:sysClr val="window" lastClr="FFFFFF"/>
      </a:lt1>
      <a:dk2>
        <a:srgbClr val="69676D"/>
      </a:dk2>
      <a:lt2>
        <a:srgbClr val="C9C2D1"/>
      </a:lt2>
      <a:accent1>
        <a:srgbClr val="CEB966"/>
      </a:accent1>
      <a:accent2>
        <a:srgbClr val="9CB084"/>
      </a:accent2>
      <a:accent3>
        <a:srgbClr val="6BB1C9"/>
      </a:accent3>
      <a:accent4>
        <a:srgbClr val="6585CF"/>
      </a:accent4>
      <a:accent5>
        <a:srgbClr val="7E6BC9"/>
      </a:accent5>
      <a:accent6>
        <a:srgbClr val="A379BB"/>
      </a:accent6>
      <a:hlink>
        <a:srgbClr val="410082"/>
      </a:hlink>
      <a:folHlink>
        <a:srgbClr val="932968"/>
      </a:folHlink>
    </a:clrScheme>
    <a:fontScheme name="Apex">
      <a:majorFont>
        <a:latin typeface="Lucida Sans"/>
        <a:ea typeface=""/>
        <a:cs typeface=""/>
        <a:font script="Grek" typeface="Arial"/>
        <a:font script="Cyrl" typeface="Arial"/>
        <a:font script="Jpan" typeface="HG丸ｺﾞｼｯｸM-PRO"/>
        <a:font script="Hang" typeface="휴먼옛체"/>
        <a:font script="Hans" typeface="黑体"/>
        <a:font script="Hant" typeface="微軟正黑體"/>
        <a:font script="Arab" typeface="Tahoma"/>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Book Antiqua"/>
        <a:ea typeface=""/>
        <a:cs typeface=""/>
        <a:font script="Grek" typeface="Times New Roman"/>
        <a:font script="Cyrl" typeface="Times New Roman"/>
        <a:font script="Jpan" typeface="HG明朝B"/>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Apex">
      <a:fillStyleLst>
        <a:solidFill>
          <a:schemeClr val="phClr"/>
        </a:solidFill>
        <a:gradFill rotWithShape="1">
          <a:gsLst>
            <a:gs pos="20000">
              <a:schemeClr val="phClr">
                <a:tint val="9000"/>
              </a:schemeClr>
            </a:gs>
            <a:gs pos="100000">
              <a:schemeClr val="phClr">
                <a:tint val="70000"/>
                <a:satMod val="100000"/>
              </a:schemeClr>
            </a:gs>
          </a:gsLst>
          <a:path path="circle">
            <a:fillToRect l="-15000" t="-15000" r="115000" b="115000"/>
          </a:path>
        </a:gradFill>
        <a:gradFill rotWithShape="1">
          <a:gsLst>
            <a:gs pos="0">
              <a:schemeClr val="phClr">
                <a:shade val="60000"/>
              </a:schemeClr>
            </a:gs>
            <a:gs pos="33000">
              <a:schemeClr val="phClr">
                <a:tint val="86500"/>
              </a:schemeClr>
            </a:gs>
            <a:gs pos="46750">
              <a:schemeClr val="phClr">
                <a:tint val="71000"/>
                <a:satMod val="112000"/>
              </a:schemeClr>
            </a:gs>
            <a:gs pos="53000">
              <a:schemeClr val="phClr">
                <a:tint val="71000"/>
                <a:satMod val="112000"/>
              </a:schemeClr>
            </a:gs>
            <a:gs pos="68000">
              <a:schemeClr val="phClr">
                <a:tint val="86000"/>
              </a:schemeClr>
            </a:gs>
            <a:gs pos="100000">
              <a:schemeClr val="phClr">
                <a:shade val="60000"/>
              </a:schemeClr>
            </a:gs>
          </a:gsLst>
          <a:lin ang="8350000" scaled="1"/>
        </a:gradFill>
      </a:fillStyleLst>
      <a:lnStyleLst>
        <a:ln w="9525" cap="flat" cmpd="sng" algn="ctr">
          <a:solidFill>
            <a:schemeClr val="phClr">
              <a:shade val="48000"/>
              <a:satMod val="11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130000" dist="101600" dir="2700000" algn="tl" rotWithShape="0">
              <a:srgbClr val="000000">
                <a:alpha val="35000"/>
              </a:srgbClr>
            </a:outerShdw>
          </a:effectLst>
        </a:effectStyle>
        <a:effectStyle>
          <a:effectLst>
            <a:outerShdw blurRad="190500" dist="228600" dir="2700000" sy="90000" rotWithShape="0">
              <a:srgbClr val="000000">
                <a:alpha val="25500"/>
              </a:srgbClr>
            </a:outerShdw>
          </a:effectLst>
        </a:effectStyle>
        <a:effectStyle>
          <a:effectLst>
            <a:outerShdw blurRad="190500" dist="228600" dir="2700000" sy="90000" rotWithShape="0">
              <a:srgbClr val="000000">
                <a:alpha val="25500"/>
              </a:srgbClr>
            </a:outerShdw>
          </a:effectLst>
          <a:scene3d>
            <a:camera prst="orthographicFront" fov="0">
              <a:rot lat="0" lon="0" rev="0"/>
            </a:camera>
            <a:lightRig rig="soft" dir="tl">
              <a:rot lat="0" lon="0" rev="20100000"/>
            </a:lightRig>
          </a:scene3d>
          <a:sp3d>
            <a:bevelT w="50800" h="50800"/>
          </a:sp3d>
        </a:effectStyle>
      </a:effectStyleLst>
      <a:bgFillStyleLst>
        <a:solidFill>
          <a:schemeClr val="phClr"/>
        </a:solidFill>
        <a:gradFill rotWithShape="1">
          <a:gsLst>
            <a:gs pos="0">
              <a:schemeClr val="phClr">
                <a:tint val="50000"/>
                <a:satMod val="180000"/>
              </a:schemeClr>
            </a:gs>
            <a:gs pos="100000">
              <a:schemeClr val="phClr">
                <a:shade val="45000"/>
                <a:satMod val="120000"/>
              </a:schemeClr>
            </a:gs>
          </a:gsLst>
          <a:path path="circle">
            <a:fillToRect r="100000" b="100000"/>
          </a:path>
        </a:gradFill>
        <a:blipFill>
          <a:blip xmlns:r="http://schemas.openxmlformats.org/officeDocument/2006/relationships" r:embed="rId1">
            <a:duotone>
              <a:schemeClr val="phClr">
                <a:shade val="3000"/>
                <a:satMod val="110000"/>
              </a:schemeClr>
              <a:schemeClr val="phClr">
                <a:tint val="60000"/>
                <a:satMod val="425000"/>
              </a:schemeClr>
            </a:duotone>
          </a:blip>
          <a:stretch>
            <a:fillRect/>
          </a:stretch>
        </a:blip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B2E91A2DEE58B4EB51C0D10FFC5F048" ma:contentTypeVersion="3" ma:contentTypeDescription="Create a new document." ma:contentTypeScope="" ma:versionID="c3483bf2d1b4ce78d0f2bebad5297fc0">
  <xsd:schema xmlns:xsd="http://www.w3.org/2001/XMLSchema" xmlns:xs="http://www.w3.org/2001/XMLSchema" xmlns:p="http://schemas.microsoft.com/office/2006/metadata/properties" xmlns:ns2="e528b528-bd60-45be-ac2f-1cf3f1815ca1" targetNamespace="http://schemas.microsoft.com/office/2006/metadata/properties" ma:root="true" ma:fieldsID="54d1f6c13b1d51aec7b8a9c3af92b54a" ns2:_="">
    <xsd:import namespace="e528b528-bd60-45be-ac2f-1cf3f1815ca1"/>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528b528-bd60-45be-ac2f-1cf3f1815ca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6C1836F-9246-4469-B819-08C34390474C}">
  <ds:schemaRefs>
    <ds:schemaRef ds:uri="http://schemas.microsoft.com/sharepoint/v3/contenttype/forms"/>
  </ds:schemaRefs>
</ds:datastoreItem>
</file>

<file path=customXml/itemProps2.xml><?xml version="1.0" encoding="utf-8"?>
<ds:datastoreItem xmlns:ds="http://schemas.openxmlformats.org/officeDocument/2006/customXml" ds:itemID="{4AFD8201-301A-498F-B799-E0ABDF839A37}"/>
</file>

<file path=customXml/itemProps3.xml><?xml version="1.0" encoding="utf-8"?>
<ds:datastoreItem xmlns:ds="http://schemas.openxmlformats.org/officeDocument/2006/customXml" ds:itemID="{65CF69EB-53C2-4965-8D2F-6FBED76F29C7}">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Apex</Template>
  <TotalTime>443</TotalTime>
  <Words>557</Words>
  <Application>Microsoft Macintosh PowerPoint</Application>
  <PresentationFormat>Custom</PresentationFormat>
  <Paragraphs>68</Paragraphs>
  <Slides>17</Slides>
  <Notes>0</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Apex</vt:lpstr>
      <vt:lpstr>Multiprocessors and multicomputers</vt:lpstr>
      <vt:lpstr>Multiprocessor/ parallel systems </vt:lpstr>
      <vt:lpstr>Slide 3</vt:lpstr>
      <vt:lpstr>Slide 4</vt:lpstr>
      <vt:lpstr>Advantages of Multiprocessor Systems</vt:lpstr>
      <vt:lpstr>Slide 6</vt:lpstr>
      <vt:lpstr>Disadvantages of Multiprocessor Systems</vt:lpstr>
      <vt:lpstr>Slide 8</vt:lpstr>
      <vt:lpstr>Characteristics of multiprocessor</vt:lpstr>
      <vt:lpstr>Slide 10</vt:lpstr>
      <vt:lpstr>Slide 11</vt:lpstr>
      <vt:lpstr>MULTIPROCESSOR</vt:lpstr>
      <vt:lpstr>Multicomputer system </vt:lpstr>
      <vt:lpstr>Slide 14</vt:lpstr>
      <vt:lpstr>Slide 15</vt:lpstr>
      <vt:lpstr>Slide 16</vt:lpstr>
      <vt:lpstr>Slide 17</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 structure of a Computer System</dc:title>
  <dc:creator>NITHA L</dc:creator>
  <cp:lastModifiedBy>rajithamr</cp:lastModifiedBy>
  <cp:revision>31</cp:revision>
  <dcterms:created xsi:type="dcterms:W3CDTF">2022-02-24T06:26:51Z</dcterms:created>
  <dcterms:modified xsi:type="dcterms:W3CDTF">2025-09-08T04:31:50Z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0x0101002B2E91A2DEE58B4EB51C0D10FFC5F048</vt:lpwstr>
  </property>
</Properties>
</file>