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8"/>
  </p:notesMasterIdLst>
  <p:sldIdLst>
    <p:sldId id="256" r:id="rId5"/>
    <p:sldId id="866" r:id="rId6"/>
    <p:sldId id="849" r:id="rId7"/>
    <p:sldId id="856" r:id="rId8"/>
    <p:sldId id="861" r:id="rId9"/>
    <p:sldId id="862" r:id="rId10"/>
    <p:sldId id="850" r:id="rId11"/>
    <p:sldId id="851" r:id="rId12"/>
    <p:sldId id="852" r:id="rId13"/>
    <p:sldId id="854" r:id="rId14"/>
    <p:sldId id="855" r:id="rId15"/>
    <p:sldId id="858" r:id="rId16"/>
    <p:sldId id="859" r:id="rId17"/>
    <p:sldId id="867" r:id="rId18"/>
    <p:sldId id="878" r:id="rId19"/>
    <p:sldId id="868" r:id="rId20"/>
    <p:sldId id="869" r:id="rId21"/>
    <p:sldId id="870" r:id="rId22"/>
    <p:sldId id="871" r:id="rId23"/>
    <p:sldId id="857" r:id="rId24"/>
    <p:sldId id="864" r:id="rId25"/>
    <p:sldId id="828" r:id="rId26"/>
    <p:sldId id="873" r:id="rId27"/>
    <p:sldId id="872" r:id="rId28"/>
    <p:sldId id="874" r:id="rId29"/>
    <p:sldId id="875" r:id="rId30"/>
    <p:sldId id="876" r:id="rId31"/>
    <p:sldId id="880" r:id="rId32"/>
    <p:sldId id="891" r:id="rId33"/>
    <p:sldId id="881" r:id="rId34"/>
    <p:sldId id="882" r:id="rId35"/>
    <p:sldId id="883" r:id="rId36"/>
    <p:sldId id="884" r:id="rId37"/>
    <p:sldId id="885" r:id="rId38"/>
    <p:sldId id="886" r:id="rId39"/>
    <p:sldId id="887" r:id="rId40"/>
    <p:sldId id="888" r:id="rId41"/>
    <p:sldId id="889" r:id="rId42"/>
    <p:sldId id="259" r:id="rId43"/>
    <p:sldId id="260" r:id="rId44"/>
    <p:sldId id="261" r:id="rId45"/>
    <p:sldId id="262" r:id="rId46"/>
    <p:sldId id="263"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115" d="100"/>
          <a:sy n="115" d="100"/>
        </p:scale>
        <p:origin x="-432" y="-11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D0F6-4435-484A-9D7B-5BEC5D46964C}" type="datetimeFigureOut">
              <a:rPr lang="en-IN" smtClean="0"/>
              <a:pPr/>
              <a:t>24-10-2025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C94576-8A04-464E-BEEC-D2940EF92F9A}" type="slidenum">
              <a:rPr lang="en-IN" smtClean="0"/>
              <a:pPr/>
              <a:t>‹#›</a:t>
            </a:fld>
            <a:endParaRPr lang="en-IN"/>
          </a:p>
        </p:txBody>
      </p:sp>
    </p:spTree>
    <p:extLst>
      <p:ext uri="{BB962C8B-B14F-4D97-AF65-F5344CB8AC3E}">
        <p14:creationId xmlns="" xmlns:p14="http://schemas.microsoft.com/office/powerpoint/2010/main" val="2148568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A76569D8-3629-4D50-9327-CD913A3DA8B9}" type="slidenum">
              <a:rPr lang="en-US" altLang="en-US"/>
              <a:pPr/>
              <a:t>22</a:t>
            </a:fld>
            <a:endParaRPr lang="en-US"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F507FB5-FC2F-477B-81A9-1EDF93AD781C}"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248127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561978"/>
            <a:ext cx="9603275" cy="895348"/>
          </a:xfrm>
        </p:spPr>
        <p:txBody>
          <a:bodyPr/>
          <a:lstStyle/>
          <a:p>
            <a:r>
              <a:rPr lang="en-US"/>
              <a:t>Click to edit Master title style</a:t>
            </a:r>
            <a:endParaRPr lang="en-US" dirty="0"/>
          </a:p>
        </p:txBody>
      </p:sp>
      <p:sp>
        <p:nvSpPr>
          <p:cNvPr id="3" name="Content Placeholder 2"/>
          <p:cNvSpPr>
            <a:spLocks noGrp="1"/>
          </p:cNvSpPr>
          <p:nvPr>
            <p:ph idx="1"/>
          </p:nvPr>
        </p:nvSpPr>
        <p:spPr>
          <a:xfrm>
            <a:off x="276225" y="1515989"/>
            <a:ext cx="11382375" cy="4332361"/>
          </a:xfrm>
        </p:spPr>
        <p:txBody>
          <a:bodyPr anchor="t"/>
          <a:lstStyle>
            <a:lvl1pPr marL="228600" indent="-228600" algn="just">
              <a:buFont typeface="Wingdings" panose="05000000000000000000" pitchFamily="2" charset="2"/>
              <a:buChar char="v"/>
              <a:defRPr sz="2800" b="1">
                <a:solidFill>
                  <a:schemeClr val="accent1"/>
                </a:solidFill>
                <a:latin typeface="Times New Roman" panose="02020603050405020304" pitchFamily="18" charset="0"/>
                <a:cs typeface="Times New Roman" panose="02020603050405020304" pitchFamily="18" charset="0"/>
              </a:defRPr>
            </a:lvl1pPr>
            <a:lvl2pPr marL="685800" indent="-228600" algn="just">
              <a:buFont typeface="Wingdings" panose="05000000000000000000" pitchFamily="2" charset="2"/>
              <a:buChar char="ü"/>
              <a:defRPr sz="2400" b="1">
                <a:solidFill>
                  <a:srgbClr val="0070C0"/>
                </a:solidFill>
                <a:latin typeface="Times New Roman" panose="02020603050405020304" pitchFamily="18" charset="0"/>
                <a:cs typeface="Times New Roman" panose="02020603050405020304" pitchFamily="18"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33" name="Straight Connector 32"/>
          <p:cNvCxnSpPr>
            <a:cxnSpLocks/>
          </p:cNvCxnSpPr>
          <p:nvPr/>
        </p:nvCxnSpPr>
        <p:spPr>
          <a:xfrm>
            <a:off x="390525" y="1361214"/>
            <a:ext cx="1126807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1996212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357756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507FB5-FC2F-477B-81A9-1EDF93AD781C}"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40630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507FB5-FC2F-477B-81A9-1EDF93AD781C}"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663846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507FB5-FC2F-477B-81A9-1EDF93AD781C}"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403800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507FB5-FC2F-477B-81A9-1EDF93AD781C}" type="slidenum">
              <a:rPr lang="en-IN" smtClean="0"/>
              <a:pPr/>
              <a:t>‹#›</a:t>
            </a:fld>
            <a:endParaRPr lang="en-IN"/>
          </a:p>
        </p:txBody>
      </p:sp>
    </p:spTree>
    <p:extLst>
      <p:ext uri="{BB962C8B-B14F-4D97-AF65-F5344CB8AC3E}">
        <p14:creationId xmlns="" xmlns:p14="http://schemas.microsoft.com/office/powerpoint/2010/main" val="4180574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507FB5-FC2F-477B-81A9-1EDF93AD781C}"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642826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855F07B-11D7-4AFF-8DDF-AA11CAEDF5C2}" type="datetimeFigureOut">
              <a:rPr lang="en-IN" smtClean="0"/>
              <a:pPr/>
              <a:t>24-10-2025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F507FB5-FC2F-477B-81A9-1EDF93AD781C}"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3071305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588072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5F07B-11D7-4AFF-8DDF-AA11CAEDF5C2}" type="datetimeFigureOut">
              <a:rPr lang="en-IN" smtClean="0"/>
              <a:pPr/>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507FB5-FC2F-477B-81A9-1EDF93AD781C}"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433684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855F07B-11D7-4AFF-8DDF-AA11CAEDF5C2}" type="datetimeFigureOut">
              <a:rPr lang="en-IN" smtClean="0"/>
              <a:pPr/>
              <a:t>24-10-2025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F507FB5-FC2F-477B-81A9-1EDF93AD781C}" type="slidenum">
              <a:rPr lang="en-IN" smtClean="0"/>
              <a:pPr/>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978346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141E0F89-A2B7-443E-8A97-BEEBB50815B2}"/>
              </a:ext>
            </a:extLst>
          </p:cNvPr>
          <p:cNvSpPr>
            <a:spLocks noGrp="1"/>
          </p:cNvSpPr>
          <p:nvPr>
            <p:ph type="subTitle" idx="1"/>
          </p:nvPr>
        </p:nvSpPr>
        <p:spPr/>
        <p:txBody>
          <a:bodyPr/>
          <a:lstStyle/>
          <a:p>
            <a:r>
              <a:rPr lang="en-US" dirty="0"/>
              <a:t>UNIT 2</a:t>
            </a:r>
            <a:endParaRPr lang="en-IN" dirty="0"/>
          </a:p>
        </p:txBody>
      </p:sp>
      <p:sp>
        <p:nvSpPr>
          <p:cNvPr id="4" name="Title 3"/>
          <p:cNvSpPr>
            <a:spLocks noGrp="1"/>
          </p:cNvSpPr>
          <p:nvPr>
            <p:ph type="ctrTitle"/>
          </p:nvPr>
        </p:nvSpPr>
        <p:spPr/>
        <p:txBody>
          <a:bodyPr>
            <a:normAutofit/>
          </a:bodyPr>
          <a:lstStyle/>
          <a:p>
            <a:r>
              <a:rPr lang="en-US" sz="4800" dirty="0" smtClean="0"/>
              <a:t>FUNDAMENTAL CONCEPTS</a:t>
            </a:r>
            <a:endParaRPr lang="en-US" sz="4800" dirty="0"/>
          </a:p>
        </p:txBody>
      </p:sp>
    </p:spTree>
    <p:extLst>
      <p:ext uri="{BB962C8B-B14F-4D97-AF65-F5344CB8AC3E}">
        <p14:creationId xmlns="" xmlns:p14="http://schemas.microsoft.com/office/powerpoint/2010/main" val="3173442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2"/>
          <a:srcRect/>
          <a:stretch>
            <a:fillRect/>
          </a:stretch>
        </p:blipFill>
        <p:spPr bwMode="auto">
          <a:xfrm>
            <a:off x="-257695" y="24067"/>
            <a:ext cx="12449695" cy="6889167"/>
          </a:xfrm>
          <a:prstGeom prst="rect">
            <a:avLst/>
          </a:prstGeom>
          <a:noFill/>
          <a:ln w="9525">
            <a:noFill/>
            <a:miter lim="800000"/>
            <a:headEnd/>
            <a:tailEnd/>
          </a:ln>
          <a:effectLst/>
        </p:spPr>
      </p:pic>
      <p:sp>
        <p:nvSpPr>
          <p:cNvPr id="3" name="Rectangle 2"/>
          <p:cNvSpPr/>
          <p:nvPr/>
        </p:nvSpPr>
        <p:spPr>
          <a:xfrm>
            <a:off x="10997738" y="0"/>
            <a:ext cx="1194262" cy="656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 xmlns:a16="http://schemas.microsoft.com/office/drawing/2014/main" id="{A789AC65-B9C4-403C-B105-741E88A17ABE}"/>
              </a:ext>
            </a:extLst>
          </p:cNvPr>
          <p:cNvPicPr>
            <a:picLocks noChangeAspect="1"/>
          </p:cNvPicPr>
          <p:nvPr/>
        </p:nvPicPr>
        <p:blipFill rotWithShape="1">
          <a:blip r:embed="rId2"/>
          <a:srcRect l="10687" t="16385" r="38255" b="33609"/>
          <a:stretch/>
        </p:blipFill>
        <p:spPr>
          <a:xfrm>
            <a:off x="521952" y="329884"/>
            <a:ext cx="5551906" cy="4391746"/>
          </a:xfrm>
          <a:prstGeom prst="rect">
            <a:avLst/>
          </a:prstGeom>
        </p:spPr>
      </p:pic>
      <p:sp>
        <p:nvSpPr>
          <p:cNvPr id="1026" name="AutoShape 2" descr="Block Diagram Of Memory Connection To The Cpu What Is A Cp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Block Diagram Of Memory Connection To The Cpu What Is A Cp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Block Diagram Of Memory Connection To The Cpu What Is A Cp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2" name="Picture 8"/>
          <p:cNvPicPr>
            <a:picLocks noChangeAspect="1" noChangeArrowheads="1"/>
          </p:cNvPicPr>
          <p:nvPr/>
        </p:nvPicPr>
        <p:blipFill>
          <a:blip r:embed="rId3"/>
          <a:srcRect t="1685" r="858" b="1685"/>
          <a:stretch>
            <a:fillRect/>
          </a:stretch>
        </p:blipFill>
        <p:spPr bwMode="auto">
          <a:xfrm>
            <a:off x="6203056" y="390698"/>
            <a:ext cx="5609329" cy="4463935"/>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96520" y="382386"/>
            <a:ext cx="6872816" cy="5162203"/>
          </a:xfrm>
          <a:prstGeom prst="rect">
            <a:avLst/>
          </a:prstGeom>
          <a:noFill/>
          <a:ln w="9525">
            <a:noFill/>
            <a:miter lim="800000"/>
            <a:headEnd/>
            <a:tailEnd/>
          </a:ln>
          <a:effectLst/>
        </p:spPr>
      </p:pic>
      <p:sp>
        <p:nvSpPr>
          <p:cNvPr id="3" name="TextBox 2"/>
          <p:cNvSpPr txBox="1"/>
          <p:nvPr/>
        </p:nvSpPr>
        <p:spPr>
          <a:xfrm>
            <a:off x="7647709" y="922713"/>
            <a:ext cx="4056611" cy="5078313"/>
          </a:xfrm>
          <a:prstGeom prst="rect">
            <a:avLst/>
          </a:prstGeom>
          <a:noFill/>
        </p:spPr>
        <p:txBody>
          <a:bodyPr wrap="square" rtlCol="0">
            <a:spAutoFit/>
          </a:bodyPr>
          <a:lstStyle/>
          <a:p>
            <a:pPr algn="just">
              <a:lnSpc>
                <a:spcPct val="300000"/>
              </a:lnSpc>
            </a:pPr>
            <a:r>
              <a:rPr lang="en-US" b="1" dirty="0" smtClean="0"/>
              <a:t>SOME OF THE  REGISTERS</a:t>
            </a:r>
          </a:p>
          <a:p>
            <a:pPr algn="just">
              <a:lnSpc>
                <a:spcPct val="300000"/>
              </a:lnSpc>
              <a:buFont typeface="Arial" pitchFamily="34" charset="0"/>
              <a:buChar char="•"/>
            </a:pPr>
            <a:r>
              <a:rPr lang="en-US" b="1" dirty="0" smtClean="0"/>
              <a:t>Program Counter (PC)</a:t>
            </a:r>
          </a:p>
          <a:p>
            <a:pPr algn="just">
              <a:lnSpc>
                <a:spcPct val="300000"/>
              </a:lnSpc>
              <a:buFont typeface="Arial" pitchFamily="34" charset="0"/>
              <a:buChar char="•"/>
            </a:pPr>
            <a:r>
              <a:rPr lang="en-US" b="1" dirty="0" smtClean="0"/>
              <a:t>Instruction Register (IR)</a:t>
            </a:r>
          </a:p>
          <a:p>
            <a:pPr algn="just">
              <a:lnSpc>
                <a:spcPct val="300000"/>
              </a:lnSpc>
              <a:buFont typeface="Arial" pitchFamily="34" charset="0"/>
              <a:buChar char="•"/>
            </a:pPr>
            <a:r>
              <a:rPr lang="en-US" b="1" dirty="0" smtClean="0"/>
              <a:t>Memory Address Register (MAR)</a:t>
            </a:r>
          </a:p>
          <a:p>
            <a:pPr algn="just">
              <a:lnSpc>
                <a:spcPct val="300000"/>
              </a:lnSpc>
              <a:buFont typeface="Arial" pitchFamily="34" charset="0"/>
              <a:buChar char="•"/>
            </a:pPr>
            <a:r>
              <a:rPr lang="en-US" b="1" dirty="0" smtClean="0"/>
              <a:t>Memory Data Register (MDR)</a:t>
            </a:r>
          </a:p>
          <a:p>
            <a:pPr algn="just">
              <a:lnSpc>
                <a:spcPct val="300000"/>
              </a:lnSpc>
              <a:buFont typeface="Arial" pitchFamily="34" charset="0"/>
              <a:buChar char="•"/>
            </a:pPr>
            <a:r>
              <a:rPr lang="en-US" b="1" dirty="0" smtClean="0"/>
              <a:t>General Purpose Registers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General Purpose Registers</a:t>
            </a:r>
          </a:p>
          <a:p>
            <a:pPr>
              <a:buNone/>
            </a:pPr>
            <a:r>
              <a:rPr lang="en-US" b="0" dirty="0" smtClean="0"/>
              <a:t>   A register is a collection of flip-flops. Single bit digital data is stored using flip-flops. By combining many flip-flops, the storage capacity can be extended to accommodate a huge number of bits. We must utilize an n-bit register with n flip flops if we wish to store an n-bit word.</a:t>
            </a:r>
          </a:p>
          <a:p>
            <a:pPr>
              <a:buNone/>
            </a:pPr>
            <a:r>
              <a:rPr lang="en-US" b="0" dirty="0" smtClean="0"/>
              <a:t>  General Purpose Registers (GPRs) are essential components within a CPU, serving as temporary storage locations for data that is actively being processed. Unlike special-purpose registers, which are dedicated to specific tasks, GPRs are versatile and can store a wide variety of data, including operands for arithmetic and logic operations, memory addresses, or intermediate results.</a:t>
            </a:r>
            <a:endParaRPr lang="en-US"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788" y="1283233"/>
            <a:ext cx="11382375" cy="4332361"/>
          </a:xfrm>
        </p:spPr>
        <p:txBody>
          <a:bodyPr/>
          <a:lstStyle/>
          <a:p>
            <a:pPr>
              <a:buNone/>
            </a:pPr>
            <a:endParaRPr lang="en-US" sz="2600" b="0" dirty="0" smtClean="0"/>
          </a:p>
          <a:p>
            <a:pPr>
              <a:buNone/>
            </a:pPr>
            <a:r>
              <a:rPr lang="en-US" sz="2600" b="0" dirty="0" smtClean="0"/>
              <a:t>   They provide fast access to frequently used data, reducing the need to fetch from slower main memory and thereby speeding up program execution. Their contents can be read/written by programmer /user through instructions.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PROGRAM COUNTER</a:t>
            </a:r>
          </a:p>
          <a:p>
            <a:pPr>
              <a:buNone/>
            </a:pPr>
            <a:r>
              <a:rPr lang="en-US" dirty="0" smtClean="0"/>
              <a:t> </a:t>
            </a:r>
            <a:r>
              <a:rPr lang="en-US" b="0" dirty="0" smtClean="0"/>
              <a:t> The program counter, also known as the </a:t>
            </a:r>
            <a:r>
              <a:rPr lang="en-US" dirty="0" smtClean="0"/>
              <a:t>instruction pointer</a:t>
            </a:r>
            <a:r>
              <a:rPr lang="en-US" b="0" dirty="0" smtClean="0"/>
              <a:t> or simply PC, is a fundamental component of a computer's central processing unit (CPU). It is a special register that keeps track of the memory address of the next instruction to be executed in a program.</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INSTRUCTION REGISTER</a:t>
            </a:r>
          </a:p>
          <a:p>
            <a:pPr>
              <a:buNone/>
            </a:pPr>
            <a:r>
              <a:rPr lang="en-US" b="0" dirty="0" smtClean="0"/>
              <a:t>       The </a:t>
            </a:r>
            <a:r>
              <a:rPr lang="en-US" dirty="0" smtClean="0"/>
              <a:t>Instruction Register (IR)</a:t>
            </a:r>
            <a:r>
              <a:rPr lang="en-US" b="0" dirty="0" smtClean="0"/>
              <a:t> is a crucial component of a computer's Central Processing Unit (CPU). It holds the instruction currently being executed or decoded. The IR is part of the control unit of the CPU and plays a vital role in the instruction cycle, which includes fetching, decoding, and executing instructions.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t>Function and Workflow</a:t>
            </a:r>
          </a:p>
          <a:p>
            <a:pPr>
              <a:buNone/>
            </a:pPr>
            <a:r>
              <a:rPr lang="en-US" b="0" dirty="0" smtClean="0"/>
              <a:t>    The instruction register temporarily stores the instruction fetched from memory. This instruction is then decoded to determine the operation to be performed and the operands involved. The decoded instruction is executed by the CPU, and the results are stored back in memory or other registers.</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pPr>
            <a:r>
              <a:rPr lang="en-US" dirty="0" smtClean="0"/>
              <a:t>Step-by-Step Process</a:t>
            </a:r>
          </a:p>
          <a:p>
            <a:pPr marL="514350" indent="-514350">
              <a:buFont typeface="+mj-lt"/>
              <a:buAutoNum type="arabicPeriod"/>
            </a:pPr>
            <a:r>
              <a:rPr lang="en-US" dirty="0" smtClean="0"/>
              <a:t>Fetch Phase</a:t>
            </a:r>
            <a:r>
              <a:rPr lang="en-US" b="0" dirty="0" smtClean="0"/>
              <a:t>: The CPU fetches the next instruction from memory and loads it into the instruction register. This step ensures that the CPU knows what operation to execute next.</a:t>
            </a:r>
          </a:p>
          <a:p>
            <a:pPr marL="514350" indent="-514350">
              <a:buFont typeface="+mj-lt"/>
              <a:buAutoNum type="arabicPeriod"/>
            </a:pPr>
            <a:r>
              <a:rPr lang="en-US" dirty="0" smtClean="0"/>
              <a:t>Decode Phase</a:t>
            </a:r>
            <a:r>
              <a:rPr lang="en-US" b="0" dirty="0" smtClean="0"/>
              <a:t>: The instruction in the IR is decoded to interpret the command. This involves determining the operation and the operands.</a:t>
            </a:r>
          </a:p>
          <a:p>
            <a:pPr marL="514350" indent="-514350">
              <a:buFont typeface="+mj-lt"/>
              <a:buAutoNum type="arabicPeriod"/>
            </a:pPr>
            <a:r>
              <a:rPr lang="en-US" dirty="0" smtClean="0"/>
              <a:t>Execute Phase</a:t>
            </a:r>
            <a:r>
              <a:rPr lang="en-US" b="0" dirty="0" smtClean="0"/>
              <a:t>: The decoded instruction is executed. For example, an addition operation would add the contents of two registers and store the result in a third register.</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smtClean="0"/>
              <a:t>Memory Address Register (MAR)</a:t>
            </a:r>
          </a:p>
          <a:p>
            <a:pPr>
              <a:buNone/>
            </a:pPr>
            <a:r>
              <a:rPr lang="en-US" dirty="0" smtClean="0"/>
              <a:t>   </a:t>
            </a:r>
            <a:r>
              <a:rPr lang="en-US" b="0" dirty="0" smtClean="0"/>
              <a:t>The </a:t>
            </a:r>
            <a:r>
              <a:rPr lang="en-US" dirty="0" smtClean="0"/>
              <a:t>Memory Address Register (MAR)</a:t>
            </a:r>
            <a:r>
              <a:rPr lang="en-US" b="0" dirty="0" smtClean="0"/>
              <a:t> is a crucial component within a computer's CPU. It is responsible for storing the memory address from which data will be fetched to the CPU registers or the address to which data will be sent and stored via the system bus. Essentially, the MAR holds the memory location of data that needs to be accessed during the execution phase of an instruction.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1"/>
                </a:solidFill>
              </a:rPr>
              <a:t>Key Functions of MAR</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
            </a:pPr>
            <a:r>
              <a:rPr lang="en-US" dirty="0" smtClean="0"/>
              <a:t>Fetching Data</a:t>
            </a:r>
            <a:r>
              <a:rPr lang="en-US" b="0" dirty="0" smtClean="0"/>
              <a:t>: When the CPU needs to read data from memory, the MAR holds the address of the data to be fetched.</a:t>
            </a:r>
          </a:p>
          <a:p>
            <a:pPr>
              <a:buFont typeface="Wingdings" pitchFamily="2" charset="2"/>
              <a:buChar char="§"/>
            </a:pPr>
            <a:r>
              <a:rPr lang="en-US" dirty="0" smtClean="0"/>
              <a:t>Storing Data</a:t>
            </a:r>
            <a:r>
              <a:rPr lang="en-US" b="0" dirty="0" smtClean="0"/>
              <a:t>: When the CPU needs to write data to memory, the MAR holds the address where the data will be stored.</a:t>
            </a:r>
          </a:p>
          <a:p>
            <a:pPr>
              <a:buFont typeface="Wingdings" pitchFamily="2" charset="2"/>
              <a:buChar char="§"/>
            </a:pPr>
            <a:r>
              <a:rPr lang="en-US" dirty="0" smtClean="0"/>
              <a:t>Coordination with MDR</a:t>
            </a:r>
            <a:r>
              <a:rPr lang="en-US" b="0" dirty="0" smtClean="0"/>
              <a:t>: The MAR works in conjunction with the Memory Data Register (MDR) to facilitate the transfer of data between the CPU and memory.</a:t>
            </a:r>
            <a:endParaRPr lang="en-US"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Memory Data Register (MDR) </a:t>
            </a:r>
          </a:p>
          <a:p>
            <a:pPr>
              <a:buNone/>
            </a:pPr>
            <a:r>
              <a:rPr lang="en-US" b="0" dirty="0" smtClean="0"/>
              <a:t>   The Memory Data Register (MDR) The Memory Data Register (MDR) is a </a:t>
            </a:r>
            <a:r>
              <a:rPr lang="en-US" dirty="0" smtClean="0"/>
              <a:t>crucial component in CPU architecture</a:t>
            </a:r>
            <a:r>
              <a:rPr lang="en-US" b="0" dirty="0" smtClean="0"/>
              <a:t>, serving as a buffer for data during transfer to and from main memory. It works with the Memory Address Register (MAR) to facilitate read and write operations, influencing the speed and efficiency of data processing.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p:cNvPicPr>
            <a:picLocks noChangeAspect="1" noChangeArrowheads="1"/>
          </p:cNvPicPr>
          <p:nvPr/>
        </p:nvPicPr>
        <p:blipFill>
          <a:blip r:embed="rId2"/>
          <a:srcRect/>
          <a:stretch>
            <a:fillRect/>
          </a:stretch>
        </p:blipFill>
        <p:spPr bwMode="auto">
          <a:xfrm>
            <a:off x="0" y="0"/>
            <a:ext cx="12192000" cy="6238703"/>
          </a:xfrm>
          <a:prstGeom prst="rect">
            <a:avLst/>
          </a:prstGeom>
          <a:noFill/>
          <a:ln w="9525">
            <a:noFill/>
            <a:miter lim="800000"/>
            <a:headEnd/>
            <a:tailEnd/>
          </a:ln>
          <a:effectLst/>
        </p:spPr>
      </p:pic>
      <p:sp>
        <p:nvSpPr>
          <p:cNvPr id="3" name="Rectangle 2"/>
          <p:cNvSpPr/>
          <p:nvPr/>
        </p:nvSpPr>
        <p:spPr>
          <a:xfrm>
            <a:off x="10848109" y="0"/>
            <a:ext cx="1343891" cy="5735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r="1624" b="2282"/>
          <a:stretch>
            <a:fillRect/>
          </a:stretch>
        </p:blipFill>
        <p:spPr bwMode="auto">
          <a:xfrm>
            <a:off x="2585259" y="0"/>
            <a:ext cx="6043352" cy="6134793"/>
          </a:xfrm>
          <a:prstGeom prst="rect">
            <a:avLst/>
          </a:prstGeom>
          <a:noFill/>
          <a:ln w="9525">
            <a:noFill/>
            <a:miter lim="800000"/>
            <a:headEnd/>
            <a:tailEnd/>
          </a:ln>
          <a:effectLst/>
        </p:spPr>
      </p:pic>
      <p:sp>
        <p:nvSpPr>
          <p:cNvPr id="3" name="TextBox 2"/>
          <p:cNvSpPr txBox="1"/>
          <p:nvPr/>
        </p:nvSpPr>
        <p:spPr>
          <a:xfrm>
            <a:off x="2543693" y="6059978"/>
            <a:ext cx="6084917" cy="369332"/>
          </a:xfrm>
          <a:prstGeom prst="rect">
            <a:avLst/>
          </a:prstGeom>
          <a:solidFill>
            <a:schemeClr val="bg1"/>
          </a:solidFill>
        </p:spPr>
        <p:txBody>
          <a:bodyPr wrap="square" rtlCol="0">
            <a:spAutoFit/>
          </a:bodyPr>
          <a:lstStyle/>
          <a:p>
            <a:pPr algn="ctr"/>
            <a:r>
              <a:rPr lang="en-US" dirty="0" smtClean="0"/>
              <a:t>SINGLE BUS ORGANISATION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p:cNvPicPr>
            <a:picLocks noChangeAspect="1" noChangeArrowheads="1"/>
          </p:cNvPicPr>
          <p:nvPr/>
        </p:nvPicPr>
        <p:blipFill>
          <a:blip r:embed="rId2"/>
          <a:srcRect/>
          <a:stretch>
            <a:fillRect/>
          </a:stretch>
        </p:blipFill>
        <p:spPr bwMode="auto">
          <a:xfrm>
            <a:off x="0" y="0"/>
            <a:ext cx="12192000" cy="6137975"/>
          </a:xfrm>
          <a:prstGeom prst="rect">
            <a:avLst/>
          </a:prstGeom>
          <a:noFill/>
          <a:ln w="9525">
            <a:noFill/>
            <a:miter lim="800000"/>
            <a:headEnd/>
            <a:tailEnd/>
          </a:ln>
          <a:effectLst/>
        </p:spPr>
      </p:pic>
      <p:sp>
        <p:nvSpPr>
          <p:cNvPr id="3" name="Rectangle 2"/>
          <p:cNvSpPr/>
          <p:nvPr/>
        </p:nvSpPr>
        <p:spPr>
          <a:xfrm>
            <a:off x="10773295" y="0"/>
            <a:ext cx="1418705" cy="6982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ChangeAspect="1" noChangeArrowheads="1"/>
          </p:cNvPicPr>
          <p:nvPr/>
        </p:nvPicPr>
        <p:blipFill>
          <a:blip r:embed="rId2"/>
          <a:srcRect/>
          <a:stretch>
            <a:fillRect/>
          </a:stretch>
        </p:blipFill>
        <p:spPr bwMode="auto">
          <a:xfrm>
            <a:off x="0" y="0"/>
            <a:ext cx="12192000" cy="6101542"/>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2" name="Picture 2"/>
          <p:cNvPicPr>
            <a:picLocks noChangeAspect="1" noChangeArrowheads="1"/>
          </p:cNvPicPr>
          <p:nvPr/>
        </p:nvPicPr>
        <p:blipFill>
          <a:blip r:embed="rId2"/>
          <a:srcRect/>
          <a:stretch>
            <a:fillRect/>
          </a:stretch>
        </p:blipFill>
        <p:spPr bwMode="auto">
          <a:xfrm>
            <a:off x="-11952" y="0"/>
            <a:ext cx="12203952" cy="6126480"/>
          </a:xfrm>
          <a:prstGeom prst="rect">
            <a:avLst/>
          </a:prstGeom>
          <a:noFill/>
          <a:ln w="9525">
            <a:noFill/>
            <a:miter lim="800000"/>
            <a:headEnd/>
            <a:tailEnd/>
          </a:ln>
          <a:effectLst/>
        </p:spPr>
      </p:pic>
      <p:sp>
        <p:nvSpPr>
          <p:cNvPr id="3" name="Rectangle 2"/>
          <p:cNvSpPr/>
          <p:nvPr/>
        </p:nvSpPr>
        <p:spPr>
          <a:xfrm>
            <a:off x="10981113" y="0"/>
            <a:ext cx="1210887" cy="8063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p:cNvPicPr>
            <a:picLocks noChangeAspect="1" noChangeArrowheads="1"/>
          </p:cNvPicPr>
          <p:nvPr/>
        </p:nvPicPr>
        <p:blipFill>
          <a:blip r:embed="rId2"/>
          <a:srcRect/>
          <a:stretch>
            <a:fillRect/>
          </a:stretch>
        </p:blipFill>
        <p:spPr bwMode="auto">
          <a:xfrm>
            <a:off x="0" y="0"/>
            <a:ext cx="12327775" cy="6164288"/>
          </a:xfrm>
          <a:prstGeom prst="rect">
            <a:avLst/>
          </a:prstGeom>
          <a:noFill/>
          <a:ln w="9525">
            <a:noFill/>
            <a:miter lim="800000"/>
            <a:headEnd/>
            <a:tailEnd/>
          </a:ln>
          <a:effectLst/>
        </p:spPr>
      </p:pic>
      <p:sp>
        <p:nvSpPr>
          <p:cNvPr id="3" name="Rectangle 2"/>
          <p:cNvSpPr/>
          <p:nvPr/>
        </p:nvSpPr>
        <p:spPr>
          <a:xfrm>
            <a:off x="10964487" y="0"/>
            <a:ext cx="1388226" cy="6234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b="0" dirty="0" smtClean="0"/>
              <a:t>DATA PATH</a:t>
            </a:r>
          </a:p>
          <a:p>
            <a:pPr>
              <a:buNone/>
            </a:pPr>
            <a:r>
              <a:rPr lang="en-US" b="0" dirty="0" smtClean="0"/>
              <a:t>A </a:t>
            </a:r>
            <a:r>
              <a:rPr lang="en-US" dirty="0" smtClean="0"/>
              <a:t>data path</a:t>
            </a:r>
            <a:r>
              <a:rPr lang="en-US" b="0" dirty="0" smtClean="0"/>
              <a:t> (or </a:t>
            </a:r>
            <a:r>
              <a:rPr lang="en-US" b="0" dirty="0" err="1" smtClean="0"/>
              <a:t>datapath</a:t>
            </a:r>
            <a:r>
              <a:rPr lang="en-US" b="0" dirty="0" smtClean="0"/>
              <a:t>) is a critical component of a computer's architecture, consisting of various functional units such as:</a:t>
            </a:r>
          </a:p>
          <a:p>
            <a:pPr marL="514350" indent="-514350">
              <a:buFont typeface="Wingdings" pitchFamily="2" charset="2"/>
              <a:buChar char="§"/>
            </a:pPr>
            <a:r>
              <a:rPr lang="en-US" dirty="0" smtClean="0"/>
              <a:t>Arithmetic Logic Units (ALUs)</a:t>
            </a:r>
            <a:r>
              <a:rPr lang="en-US" b="0" dirty="0" smtClean="0"/>
              <a:t>: Perform arithmetic and logical operations.</a:t>
            </a:r>
          </a:p>
          <a:p>
            <a:pPr marL="514350" indent="-514350">
              <a:buFont typeface="Wingdings" pitchFamily="2" charset="2"/>
              <a:buChar char="§"/>
            </a:pPr>
            <a:r>
              <a:rPr lang="en-US" dirty="0" smtClean="0"/>
              <a:t>Registers</a:t>
            </a:r>
            <a:r>
              <a:rPr lang="en-US" b="0" dirty="0" smtClean="0"/>
              <a:t>: Temporary storage locations for data being processed.</a:t>
            </a:r>
          </a:p>
          <a:p>
            <a:pPr marL="514350" indent="-514350">
              <a:buFont typeface="Wingdings" pitchFamily="2" charset="2"/>
              <a:buChar char="§"/>
            </a:pPr>
            <a:r>
              <a:rPr lang="en-US" dirty="0" err="1" smtClean="0"/>
              <a:t>Buses</a:t>
            </a:r>
            <a:r>
              <a:rPr lang="en-US" b="0" dirty="0" err="1" smtClean="0"/>
              <a:t>:Communication</a:t>
            </a:r>
            <a:r>
              <a:rPr lang="en-US" b="0" dirty="0" smtClean="0"/>
              <a:t> pathways that transfer data between components within the CPU.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cap="none" dirty="0" smtClean="0"/>
              <a:t>An Instruction Can Be Executed By Performing One Or More Of The Following Operations</a:t>
            </a:r>
            <a:endParaRPr lang="en-US" cap="none" dirty="0"/>
          </a:p>
        </p:txBody>
      </p:sp>
      <p:sp>
        <p:nvSpPr>
          <p:cNvPr id="3" name="Content Placeholder 2"/>
          <p:cNvSpPr>
            <a:spLocks noGrp="1"/>
          </p:cNvSpPr>
          <p:nvPr>
            <p:ph idx="1"/>
          </p:nvPr>
        </p:nvSpPr>
        <p:spPr/>
        <p:txBody>
          <a:bodyPr>
            <a:normAutofit lnSpcReduction="10000"/>
          </a:bodyPr>
          <a:lstStyle/>
          <a:p>
            <a:r>
              <a:rPr lang="en-US" dirty="0" smtClean="0"/>
              <a:t> Transfer a word of data from one processor register to another or to the ALU</a:t>
            </a:r>
          </a:p>
          <a:p>
            <a:r>
              <a:rPr lang="en-US" dirty="0" smtClean="0"/>
              <a:t>Perform an arithmetic or a logic operation and store the result in a processor register </a:t>
            </a:r>
          </a:p>
          <a:p>
            <a:r>
              <a:rPr lang="en-US" dirty="0" smtClean="0"/>
              <a:t>Fetch the contents of given memory location and load them into processor register</a:t>
            </a:r>
          </a:p>
          <a:p>
            <a:r>
              <a:rPr lang="en-US" dirty="0" smtClean="0"/>
              <a:t>Store  a word of data from a processor register into a given memory location</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sz="quarter" idx="1"/>
          </p:nvPr>
        </p:nvSpPr>
        <p:spPr>
          <a:xfrm>
            <a:off x="0" y="1447800"/>
            <a:ext cx="10972800" cy="4953000"/>
          </a:xfrm>
        </p:spPr>
        <p:txBody>
          <a:bodyPr/>
          <a:lstStyle/>
          <a:p>
            <a:pPr eaLnBrk="1" hangingPunct="1"/>
            <a:r>
              <a:rPr lang="en-US" altLang="en-US" u="sng"/>
              <a:t>An Instruction code </a:t>
            </a:r>
            <a:r>
              <a:rPr lang="en-US" altLang="en-US"/>
              <a:t> is a group of bits that instructs the computer to perform a specific operation.</a:t>
            </a:r>
          </a:p>
          <a:p>
            <a:pPr eaLnBrk="1" hangingPunct="1"/>
            <a:endParaRPr lang="en-US" altLang="en-US"/>
          </a:p>
          <a:p>
            <a:pPr eaLnBrk="1" hangingPunct="1"/>
            <a:r>
              <a:rPr lang="en-US" altLang="en-US"/>
              <a:t> It is divided into two parts and the most important parts of an instruction code is its </a:t>
            </a:r>
            <a:r>
              <a:rPr lang="en-US" altLang="en-US" sz="3200" u="sng">
                <a:solidFill>
                  <a:srgbClr val="C00000"/>
                </a:solidFill>
              </a:rPr>
              <a:t>operation code or opcode.</a:t>
            </a:r>
            <a:r>
              <a:rPr lang="en-US" altLang="en-US" sz="3200">
                <a:solidFill>
                  <a:srgbClr val="C00000"/>
                </a:solidFill>
              </a:rPr>
              <a:t> </a:t>
            </a:r>
            <a:r>
              <a:rPr lang="en-US" altLang="en-US"/>
              <a:t>The second part is the address part which specifies the memory address.</a:t>
            </a:r>
            <a:endParaRPr lang="en-US" altLang="en-US" u="sng"/>
          </a:p>
          <a:p>
            <a:pPr eaLnBrk="1" hangingPunct="1"/>
            <a:endParaRPr lang="en-US" altLang="en-US" u="sng"/>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p:cNvPicPr>
            <a:picLocks noChangeAspect="1" noChangeArrowheads="1"/>
          </p:cNvPicPr>
          <p:nvPr/>
        </p:nvPicPr>
        <p:blipFill>
          <a:blip r:embed="rId2"/>
          <a:srcRect/>
          <a:stretch>
            <a:fillRect/>
          </a:stretch>
        </p:blipFill>
        <p:spPr bwMode="auto">
          <a:xfrm>
            <a:off x="0" y="0"/>
            <a:ext cx="12192000" cy="6082722"/>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p:cNvPicPr>
            <a:picLocks noChangeAspect="1" noChangeArrowheads="1"/>
          </p:cNvPicPr>
          <p:nvPr/>
        </p:nvPicPr>
        <p:blipFill>
          <a:blip r:embed="rId2"/>
          <a:srcRect/>
          <a:stretch>
            <a:fillRect/>
          </a:stretch>
        </p:blipFill>
        <p:spPr bwMode="auto">
          <a:xfrm>
            <a:off x="-1" y="-39807"/>
            <a:ext cx="12192001" cy="6181556"/>
          </a:xfrm>
          <a:prstGeom prst="rect">
            <a:avLst/>
          </a:prstGeom>
          <a:noFill/>
          <a:ln w="9525">
            <a:noFill/>
            <a:miter lim="800000"/>
            <a:headEnd/>
            <a:tailEnd/>
          </a:ln>
          <a:effectLst/>
        </p:spPr>
      </p:pic>
      <p:sp>
        <p:nvSpPr>
          <p:cNvPr id="3" name="Rectangle 2"/>
          <p:cNvSpPr/>
          <p:nvPr/>
        </p:nvSpPr>
        <p:spPr>
          <a:xfrm>
            <a:off x="11114116" y="0"/>
            <a:ext cx="1077884" cy="6317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2"/>
          <a:srcRect/>
          <a:stretch>
            <a:fillRect/>
          </a:stretch>
        </p:blipFill>
        <p:spPr bwMode="auto">
          <a:xfrm>
            <a:off x="0" y="-119529"/>
            <a:ext cx="12192000" cy="6246211"/>
          </a:xfrm>
          <a:prstGeom prst="rect">
            <a:avLst/>
          </a:prstGeom>
          <a:noFill/>
          <a:ln w="9525">
            <a:noFill/>
            <a:miter lim="800000"/>
            <a:headEnd/>
            <a:tailEnd/>
          </a:ln>
          <a:effectLst/>
        </p:spPr>
      </p:pic>
      <p:sp>
        <p:nvSpPr>
          <p:cNvPr id="3" name="Rectangle 2"/>
          <p:cNvSpPr/>
          <p:nvPr/>
        </p:nvSpPr>
        <p:spPr>
          <a:xfrm>
            <a:off x="11147367" y="-116378"/>
            <a:ext cx="1044633" cy="939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0" y="0"/>
            <a:ext cx="12192000" cy="610154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1" name="Picture 3"/>
          <p:cNvPicPr>
            <a:picLocks noGrp="1" noChangeAspect="1" noChangeArrowheads="1"/>
          </p:cNvPicPr>
          <p:nvPr>
            <p:ph idx="1"/>
          </p:nvPr>
        </p:nvPicPr>
        <p:blipFill>
          <a:blip r:embed="rId2"/>
          <a:srcRect/>
          <a:stretch>
            <a:fillRect/>
          </a:stretch>
        </p:blipFill>
        <p:spPr bwMode="auto">
          <a:xfrm>
            <a:off x="-99754" y="-166255"/>
            <a:ext cx="12291753" cy="6259484"/>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0" y="1"/>
            <a:ext cx="12192000" cy="6110288"/>
          </a:xfrm>
          <a:prstGeom prst="rect">
            <a:avLst/>
          </a:prstGeom>
          <a:noFill/>
          <a:ln w="9525">
            <a:noFill/>
            <a:miter lim="800000"/>
            <a:headEnd/>
            <a:tailEnd/>
          </a:ln>
          <a:effectLst/>
        </p:spPr>
      </p:pic>
      <p:sp>
        <p:nvSpPr>
          <p:cNvPr id="3" name="Rectangle 2"/>
          <p:cNvSpPr/>
          <p:nvPr/>
        </p:nvSpPr>
        <p:spPr>
          <a:xfrm>
            <a:off x="10823171" y="0"/>
            <a:ext cx="1368829" cy="10972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ecessor organization | PPTX"/>
          <p:cNvPicPr>
            <a:picLocks noChangeAspect="1" noChangeArrowheads="1"/>
          </p:cNvPicPr>
          <p:nvPr/>
        </p:nvPicPr>
        <p:blipFill>
          <a:blip r:embed="rId2"/>
          <a:srcRect/>
          <a:stretch>
            <a:fillRect/>
          </a:stretch>
        </p:blipFill>
        <p:spPr bwMode="auto">
          <a:xfrm>
            <a:off x="30158" y="0"/>
            <a:ext cx="12161842" cy="6334851"/>
          </a:xfrm>
          <a:prstGeom prst="rect">
            <a:avLst/>
          </a:prstGeom>
          <a:noFill/>
        </p:spPr>
      </p:pic>
      <p:pic>
        <p:nvPicPr>
          <p:cNvPr id="1027" name="Picture 3"/>
          <p:cNvPicPr>
            <a:picLocks noChangeAspect="1" noChangeArrowheads="1"/>
          </p:cNvPicPr>
          <p:nvPr/>
        </p:nvPicPr>
        <p:blipFill>
          <a:blip r:embed="rId3"/>
          <a:srcRect/>
          <a:stretch>
            <a:fillRect/>
          </a:stretch>
        </p:blipFill>
        <p:spPr bwMode="auto">
          <a:xfrm>
            <a:off x="0" y="-34379"/>
            <a:ext cx="12192000" cy="6423478"/>
          </a:xfrm>
          <a:prstGeom prst="rect">
            <a:avLst/>
          </a:prstGeom>
          <a:noFill/>
          <a:ln w="9525">
            <a:noFill/>
            <a:miter lim="800000"/>
            <a:headEnd/>
            <a:tailEnd/>
          </a:ln>
          <a:effectLst/>
        </p:spPr>
      </p:pic>
      <p:sp>
        <p:nvSpPr>
          <p:cNvPr id="4" name="Rectangle 3"/>
          <p:cNvSpPr/>
          <p:nvPr/>
        </p:nvSpPr>
        <p:spPr>
          <a:xfrm>
            <a:off x="457200" y="248194"/>
            <a:ext cx="992777" cy="809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0" y="0"/>
            <a:ext cx="12192000" cy="6167438"/>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0" y="-485284"/>
            <a:ext cx="12192000" cy="6603451"/>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0" y="0"/>
            <a:ext cx="12192000" cy="614362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0" y="0"/>
            <a:ext cx="12192000" cy="6134793"/>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0" y="0"/>
            <a:ext cx="12192000" cy="610985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0" y="0"/>
            <a:ext cx="12192000" cy="6168044"/>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0" y="1"/>
            <a:ext cx="12192000" cy="6072188"/>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0" y="0"/>
            <a:ext cx="12192000" cy="6272213"/>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0" y="0"/>
            <a:ext cx="12192000" cy="6126163"/>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290BF3-1C98-4222-B7D9-5AF5FAC2754E}"/>
              </a:ext>
            </a:extLst>
          </p:cNvPr>
          <p:cNvSpPr>
            <a:spLocks noGrp="1"/>
          </p:cNvSpPr>
          <p:nvPr>
            <p:ph type="title"/>
          </p:nvPr>
        </p:nvSpPr>
        <p:spPr/>
        <p:txBody>
          <a:bodyPr/>
          <a:lstStyle/>
          <a:p>
            <a:r>
              <a:rPr lang="en-IN" dirty="0" smtClean="0"/>
              <a:t>REGISTER TRANSFERS</a:t>
            </a:r>
            <a:endParaRPr lang="en-IN" dirty="0"/>
          </a:p>
        </p:txBody>
      </p:sp>
      <p:sp>
        <p:nvSpPr>
          <p:cNvPr id="3" name="Content Placeholder 2">
            <a:extLst>
              <a:ext uri="{FF2B5EF4-FFF2-40B4-BE49-F238E27FC236}">
                <a16:creationId xmlns="" xmlns:a16="http://schemas.microsoft.com/office/drawing/2014/main" id="{F70263F0-0EBA-4725-BB5B-B7354A8F0B81}"/>
              </a:ext>
            </a:extLst>
          </p:cNvPr>
          <p:cNvSpPr>
            <a:spLocks noGrp="1"/>
          </p:cNvSpPr>
          <p:nvPr>
            <p:ph idx="1"/>
          </p:nvPr>
        </p:nvSpPr>
        <p:spPr/>
        <p:txBody>
          <a:bodyPr>
            <a:normAutofit/>
          </a:bodyPr>
          <a:lstStyle/>
          <a:p>
            <a:r>
              <a:rPr lang="en-US" b="0" dirty="0" smtClean="0"/>
              <a:t>In computer architecture, register transfer refers to the process of copying data between registers, which are small, fast storage locations within the CPU. </a:t>
            </a:r>
          </a:p>
          <a:p>
            <a:r>
              <a:rPr lang="en-US" b="0" dirty="0" smtClean="0"/>
              <a:t>It involves the use of a register transfer language (RTL), a symbolic notation for describing these data movements and the micro-operations (like addition or shift) performed on the data. </a:t>
            </a:r>
          </a:p>
        </p:txBody>
      </p:sp>
    </p:spTree>
    <p:extLst>
      <p:ext uri="{BB962C8B-B14F-4D97-AF65-F5344CB8AC3E}">
        <p14:creationId xmlns="" xmlns:p14="http://schemas.microsoft.com/office/powerpoint/2010/main" val="36270911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10D826-CF1E-4556-A4C9-28AEDEE66D8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 xmlns:a16="http://schemas.microsoft.com/office/drawing/2014/main" id="{CA112C6B-21B0-4A2A-B07A-34809948108F}"/>
              </a:ext>
            </a:extLst>
          </p:cNvPr>
          <p:cNvSpPr>
            <a:spLocks noGrp="1"/>
          </p:cNvSpPr>
          <p:nvPr>
            <p:ph idx="1"/>
          </p:nvPr>
        </p:nvSpPr>
        <p:spPr/>
        <p:txBody>
          <a:bodyPr/>
          <a:lstStyle/>
          <a:p>
            <a:r>
              <a:rPr lang="en-US" b="0" dirty="0" smtClean="0"/>
              <a:t>A register transfer statement, such as R1 -&gt; R2, indicates that the contents of register R1 are copied into R2. This action requires control signals to execute and data lines to facilitate the simultaneous, parallel transfer of bits during a single clock pulse, without altering the source register. </a:t>
            </a:r>
            <a:endParaRPr lang="en-IN" dirty="0" smtClean="0"/>
          </a:p>
          <a:p>
            <a:endParaRPr lang="en-IN" dirty="0"/>
          </a:p>
        </p:txBody>
      </p:sp>
    </p:spTree>
    <p:extLst>
      <p:ext uri="{BB962C8B-B14F-4D97-AF65-F5344CB8AC3E}">
        <p14:creationId xmlns="" xmlns:p14="http://schemas.microsoft.com/office/powerpoint/2010/main" val="3170798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95CA36-B5D2-4429-A8E8-6504F63B38E5}"/>
              </a:ext>
            </a:extLst>
          </p:cNvPr>
          <p:cNvSpPr>
            <a:spLocks noGrp="1"/>
          </p:cNvSpPr>
          <p:nvPr>
            <p:ph type="title"/>
          </p:nvPr>
        </p:nvSpPr>
        <p:spPr/>
        <p:txBody>
          <a:bodyPr>
            <a:normAutofit/>
          </a:bodyPr>
          <a:lstStyle/>
          <a:p>
            <a:r>
              <a:rPr lang="en-US" dirty="0" smtClean="0"/>
              <a:t>Key Concepts</a:t>
            </a:r>
            <a:endParaRPr lang="en-IN" dirty="0"/>
          </a:p>
        </p:txBody>
      </p:sp>
      <p:sp>
        <p:nvSpPr>
          <p:cNvPr id="3" name="Content Placeholder 2">
            <a:extLst>
              <a:ext uri="{FF2B5EF4-FFF2-40B4-BE49-F238E27FC236}">
                <a16:creationId xmlns="" xmlns:a16="http://schemas.microsoft.com/office/drawing/2014/main" id="{17D16AC5-18ED-49EB-A7C2-EE378EC18BFF}"/>
              </a:ext>
            </a:extLst>
          </p:cNvPr>
          <p:cNvSpPr>
            <a:spLocks noGrp="1"/>
          </p:cNvSpPr>
          <p:nvPr>
            <p:ph idx="1"/>
          </p:nvPr>
        </p:nvSpPr>
        <p:spPr/>
        <p:txBody>
          <a:bodyPr>
            <a:normAutofit fontScale="62500" lnSpcReduction="20000"/>
          </a:bodyPr>
          <a:lstStyle/>
          <a:p>
            <a:r>
              <a:rPr lang="en-US" dirty="0" smtClean="0"/>
              <a:t>Registers</a:t>
            </a:r>
            <a:r>
              <a:rPr lang="en-US" b="0" dirty="0" smtClean="0"/>
              <a:t>: </a:t>
            </a:r>
          </a:p>
          <a:p>
            <a:pPr fontAlgn="ctr"/>
            <a:r>
              <a:rPr lang="en-US" b="0" dirty="0" smtClean="0"/>
              <a:t>Small, high-speed storage units within a processor used to hold data for immediate processing. </a:t>
            </a:r>
          </a:p>
          <a:p>
            <a:r>
              <a:rPr lang="en-US" dirty="0" smtClean="0"/>
              <a:t>Micro-operations</a:t>
            </a:r>
            <a:r>
              <a:rPr lang="en-US" b="0" dirty="0" smtClean="0"/>
              <a:t>: </a:t>
            </a:r>
          </a:p>
          <a:p>
            <a:pPr fontAlgn="ctr"/>
            <a:r>
              <a:rPr lang="en-US" b="0" dirty="0" smtClean="0"/>
              <a:t>The basic operations performed on the data stored in registers, such as data transfer, addition, subtraction, or shifting. </a:t>
            </a:r>
          </a:p>
          <a:p>
            <a:r>
              <a:rPr lang="en-US" dirty="0" smtClean="0"/>
              <a:t>Register Transfer Language (RTL)</a:t>
            </a:r>
            <a:r>
              <a:rPr lang="en-US" b="0" dirty="0" smtClean="0"/>
              <a:t>: </a:t>
            </a:r>
          </a:p>
          <a:p>
            <a:pPr fontAlgn="ctr"/>
            <a:r>
              <a:rPr lang="en-US" b="0" dirty="0" smtClean="0"/>
              <a:t>A symbolic language used to describe the micro-operations and the flow of data between registers in a digital system. </a:t>
            </a:r>
          </a:p>
          <a:p>
            <a:r>
              <a:rPr lang="en-US" dirty="0" smtClean="0"/>
              <a:t>Control Functions</a:t>
            </a:r>
            <a:r>
              <a:rPr lang="en-US" b="0" dirty="0" smtClean="0"/>
              <a:t>: </a:t>
            </a:r>
          </a:p>
          <a:p>
            <a:r>
              <a:rPr lang="en-US" b="0" dirty="0" smtClean="0"/>
              <a:t>Control signals that initiate or allow a register transfer to occur only when a specific condition is met (e.g., P: R1 -&gt; R2 only happens when control signal P is 1). </a:t>
            </a:r>
          </a:p>
          <a:p>
            <a:pPr>
              <a:buNone/>
            </a:pPr>
            <a:endParaRPr lang="en-IN" dirty="0"/>
          </a:p>
        </p:txBody>
      </p:sp>
    </p:spTree>
    <p:extLst>
      <p:ext uri="{BB962C8B-B14F-4D97-AF65-F5344CB8AC3E}">
        <p14:creationId xmlns="" xmlns:p14="http://schemas.microsoft.com/office/powerpoint/2010/main" val="9615729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C99B72-ABD9-4A1A-BA4E-5C8B9278A9B7}"/>
              </a:ext>
            </a:extLst>
          </p:cNvPr>
          <p:cNvSpPr>
            <a:spLocks noGrp="1"/>
          </p:cNvSpPr>
          <p:nvPr>
            <p:ph type="title"/>
          </p:nvPr>
        </p:nvSpPr>
        <p:spPr/>
        <p:txBody>
          <a:bodyPr>
            <a:normAutofit fontScale="90000"/>
          </a:bodyPr>
          <a:lstStyle/>
          <a:p>
            <a:r>
              <a:rPr lang="en-US" dirty="0" smtClean="0"/>
              <a:t>How Register Transfer Works?</a:t>
            </a:r>
            <a:br>
              <a:rPr lang="en-US" dirty="0" smtClean="0"/>
            </a:br>
            <a:endParaRPr lang="en-IN" dirty="0"/>
          </a:p>
        </p:txBody>
      </p:sp>
      <p:sp>
        <p:nvSpPr>
          <p:cNvPr id="3" name="Content Placeholder 2">
            <a:extLst>
              <a:ext uri="{FF2B5EF4-FFF2-40B4-BE49-F238E27FC236}">
                <a16:creationId xmlns="" xmlns:a16="http://schemas.microsoft.com/office/drawing/2014/main" id="{FA46FFA5-93B2-48EB-AAD1-31CED57A8FF8}"/>
              </a:ext>
            </a:extLst>
          </p:cNvPr>
          <p:cNvSpPr>
            <a:spLocks noGrp="1"/>
          </p:cNvSpPr>
          <p:nvPr>
            <p:ph idx="1"/>
          </p:nvPr>
        </p:nvSpPr>
        <p:spPr/>
        <p:txBody>
          <a:bodyPr>
            <a:normAutofit fontScale="55000" lnSpcReduction="20000"/>
          </a:bodyPr>
          <a:lstStyle/>
          <a:p>
            <a:r>
              <a:rPr lang="en-US" dirty="0" smtClean="0"/>
              <a:t>Source and Destination</a:t>
            </a:r>
            <a:r>
              <a:rPr lang="en-US" b="0" dirty="0" smtClean="0"/>
              <a:t>: </a:t>
            </a:r>
          </a:p>
          <a:p>
            <a:pPr fontAlgn="ctr">
              <a:buNone/>
            </a:pPr>
            <a:r>
              <a:rPr lang="en-US" b="0" dirty="0" smtClean="0"/>
              <a:t>     A register transfer involves a source register (where data is read from) and a destination register (where data is written to). </a:t>
            </a:r>
          </a:p>
          <a:p>
            <a:r>
              <a:rPr lang="en-US" dirty="0" smtClean="0"/>
              <a:t>Parallel Transfer</a:t>
            </a:r>
            <a:r>
              <a:rPr lang="en-US" b="0" dirty="0" smtClean="0"/>
              <a:t>: </a:t>
            </a:r>
          </a:p>
          <a:p>
            <a:pPr fontAlgn="ctr">
              <a:buNone/>
            </a:pPr>
            <a:r>
              <a:rPr lang="en-US" b="0" dirty="0" smtClean="0"/>
              <a:t>     All bits of data from the source register are copied to the destination register simultaneously during one clock pulse. </a:t>
            </a:r>
          </a:p>
          <a:p>
            <a:r>
              <a:rPr lang="en-US" dirty="0" smtClean="0"/>
              <a:t>Non-Destructive</a:t>
            </a:r>
            <a:r>
              <a:rPr lang="en-US" b="0" dirty="0" smtClean="0"/>
              <a:t>: </a:t>
            </a:r>
          </a:p>
          <a:p>
            <a:pPr fontAlgn="ctr">
              <a:buNone/>
            </a:pPr>
            <a:r>
              <a:rPr lang="en-US" b="0" dirty="0" smtClean="0"/>
              <a:t>     The transfer is non-destructive, meaning the content of the source register remains unchanged after the data is copied. </a:t>
            </a:r>
          </a:p>
          <a:p>
            <a:r>
              <a:rPr lang="en-US" dirty="0" smtClean="0"/>
              <a:t>Hardware Implementation</a:t>
            </a:r>
            <a:r>
              <a:rPr lang="en-US" b="0" dirty="0" smtClean="0"/>
              <a:t>: </a:t>
            </a:r>
          </a:p>
          <a:p>
            <a:pPr fontAlgn="ctr">
              <a:buNone/>
            </a:pPr>
            <a:r>
              <a:rPr lang="en-US" b="0" dirty="0" smtClean="0"/>
              <a:t>     Register transfers require specific hardware logic circuits, including data lines connecting the registers and control lines to manage the transfer process. </a:t>
            </a:r>
          </a:p>
          <a:p>
            <a:r>
              <a:rPr lang="en-US" dirty="0" smtClean="0"/>
              <a:t>Control</a:t>
            </a:r>
            <a:r>
              <a:rPr lang="en-US" b="0" dirty="0" smtClean="0"/>
              <a:t>: </a:t>
            </a:r>
          </a:p>
          <a:p>
            <a:pPr>
              <a:buNone/>
            </a:pPr>
            <a:r>
              <a:rPr lang="en-US" b="0" dirty="0" smtClean="0"/>
              <a:t>      A control function or signal determines when the transfer takes place, allowing for conditional execution of operations. </a:t>
            </a:r>
          </a:p>
          <a:p>
            <a:endParaRPr lang="en-IN" dirty="0"/>
          </a:p>
        </p:txBody>
      </p:sp>
      <p:sp>
        <p:nvSpPr>
          <p:cNvPr id="7169" name="Rectangle 1"/>
          <p:cNvSpPr>
            <a:spLocks noChangeArrowheads="1"/>
          </p:cNvSpPr>
          <p:nvPr/>
        </p:nvSpPr>
        <p:spPr bwMode="auto">
          <a:xfrm>
            <a:off x="0" y="0"/>
            <a:ext cx="52900" cy="700131"/>
          </a:xfrm>
          <a:prstGeom prst="rect">
            <a:avLst/>
          </a:prstGeom>
          <a:solidFill>
            <a:srgbClr val="FFFFFF"/>
          </a:solidFill>
          <a:ln w="9525">
            <a:noFill/>
            <a:miter lim="800000"/>
            <a:headEnd/>
            <a:tailEnd/>
          </a:ln>
          <a:effectLst/>
        </p:spPr>
        <p:txBody>
          <a:bodyPr vert="horz" wrap="none" lIns="0" tIns="6348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001D35"/>
                </a:solidFill>
                <a:effectLst/>
                <a:latin typeface="Google Sans"/>
                <a:cs typeface="Arial" pitchFamily="34" charset="0"/>
              </a:rPr>
              <a:t>\</a:t>
            </a:r>
            <a:endParaRPr kumimoji="0" lang="en-US" sz="1200" b="0" i="0" u="none" strike="noStrike" cap="none" normalizeH="0" baseline="0" dirty="0" smtClean="0">
              <a:ln>
                <a:noFill/>
              </a:ln>
              <a:solidFill>
                <a:srgbClr val="001D35"/>
              </a:solidFill>
              <a:effectLst/>
              <a:latin typeface="Google Sans"/>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18902364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AD2FD2-0DDE-4DE3-B563-6902F5518C05}"/>
              </a:ext>
            </a:extLst>
          </p:cNvPr>
          <p:cNvSpPr>
            <a:spLocks noGrp="1"/>
          </p:cNvSpPr>
          <p:nvPr>
            <p:ph type="title"/>
          </p:nvPr>
        </p:nvSpPr>
        <p:spPr/>
        <p:txBody>
          <a:bodyPr>
            <a:normAutofit fontScale="90000"/>
          </a:bodyPr>
          <a:lstStyle/>
          <a:p>
            <a:r>
              <a:rPr lang="en-US" dirty="0" smtClean="0"/>
              <a:t>Example</a:t>
            </a:r>
            <a:br>
              <a:rPr lang="en-US" dirty="0" smtClean="0"/>
            </a:br>
            <a:endParaRPr lang="en-IN" dirty="0"/>
          </a:p>
        </p:txBody>
      </p:sp>
      <p:sp>
        <p:nvSpPr>
          <p:cNvPr id="3" name="Content Placeholder 2">
            <a:extLst>
              <a:ext uri="{FF2B5EF4-FFF2-40B4-BE49-F238E27FC236}">
                <a16:creationId xmlns="" xmlns:a16="http://schemas.microsoft.com/office/drawing/2014/main" id="{7AEEAD57-77F5-4C3D-A09F-4305047E88D6}"/>
              </a:ext>
            </a:extLst>
          </p:cNvPr>
          <p:cNvSpPr>
            <a:spLocks noGrp="1"/>
          </p:cNvSpPr>
          <p:nvPr>
            <p:ph idx="1"/>
          </p:nvPr>
        </p:nvSpPr>
        <p:spPr/>
        <p:txBody>
          <a:bodyPr/>
          <a:lstStyle/>
          <a:p>
            <a:pPr fontAlgn="ctr"/>
            <a:r>
              <a:rPr lang="en-US" b="0" dirty="0" smtClean="0"/>
              <a:t>R2 ← R1: This RTL statement signifies that the data stored in register R1 is copied into register R2. </a:t>
            </a:r>
          </a:p>
          <a:p>
            <a:r>
              <a:rPr lang="en-US" b="0" dirty="0" smtClean="0"/>
              <a:t>P: R1 → R2: This means that the contents of R1 are transferred to R2 only when the control signal P is active (P = 1). </a:t>
            </a:r>
          </a:p>
          <a:p>
            <a:endParaRPr lang="en-IN" dirty="0"/>
          </a:p>
        </p:txBody>
      </p:sp>
    </p:spTree>
    <p:extLst>
      <p:ext uri="{BB962C8B-B14F-4D97-AF65-F5344CB8AC3E}">
        <p14:creationId xmlns="" xmlns:p14="http://schemas.microsoft.com/office/powerpoint/2010/main" val="114989512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B2E91A2DEE58B4EB51C0D10FFC5F048" ma:contentTypeVersion="3" ma:contentTypeDescription="Create a new document." ma:contentTypeScope="" ma:versionID="c3483bf2d1b4ce78d0f2bebad5297fc0">
  <xsd:schema xmlns:xsd="http://www.w3.org/2001/XMLSchema" xmlns:xs="http://www.w3.org/2001/XMLSchema" xmlns:p="http://schemas.microsoft.com/office/2006/metadata/properties" xmlns:ns2="e528b528-bd60-45be-ac2f-1cf3f1815ca1" targetNamespace="http://schemas.microsoft.com/office/2006/metadata/properties" ma:root="true" ma:fieldsID="54d1f6c13b1d51aec7b8a9c3af92b54a" ns2:_="">
    <xsd:import namespace="e528b528-bd60-45be-ac2f-1cf3f1815c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8b528-bd60-45be-ac2f-1cf3f1815c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A3AF10-73C4-48F9-AC74-78D25FC5961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3902648-C26A-408E-B19E-92008F152549}"/>
</file>

<file path=customXml/itemProps3.xml><?xml version="1.0" encoding="utf-8"?>
<ds:datastoreItem xmlns:ds="http://schemas.openxmlformats.org/officeDocument/2006/customXml" ds:itemID="{4ED5479B-25F3-4F96-B4DD-0F3208CFA33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TotalTime>1815</TotalTime>
  <Words>644</Words>
  <Application>Microsoft Office PowerPoint</Application>
  <PresentationFormat>Custom</PresentationFormat>
  <Paragraphs>74</Paragraphs>
  <Slides>43</Slides>
  <Notes>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Gallery</vt:lpstr>
      <vt:lpstr>FUNDAMENTAL CONCEPTS</vt:lpstr>
      <vt:lpstr>Slide 2</vt:lpstr>
      <vt:lpstr>Slide 3</vt:lpstr>
      <vt:lpstr>Slide 4</vt:lpstr>
      <vt:lpstr>Slide 5</vt:lpstr>
      <vt:lpstr>Slide 6</vt:lpstr>
      <vt:lpstr>Slide 7</vt:lpstr>
      <vt:lpstr>Slide 8</vt:lpstr>
      <vt:lpstr>Slide 9</vt:lpstr>
      <vt:lpstr>Slide 10</vt:lpstr>
      <vt:lpstr>Slide 11</vt:lpstr>
      <vt:lpstr>Key Functions of MAR </vt:lpstr>
      <vt:lpstr>Slide 13</vt:lpstr>
      <vt:lpstr>Slide 14</vt:lpstr>
      <vt:lpstr>Slide 15</vt:lpstr>
      <vt:lpstr>Slide 16</vt:lpstr>
      <vt:lpstr>Slide 17</vt:lpstr>
      <vt:lpstr>Slide 18</vt:lpstr>
      <vt:lpstr>Slide 19</vt:lpstr>
      <vt:lpstr>Slide 20</vt:lpstr>
      <vt:lpstr>An Instruction Can Be Executed By Performing One Or More Of The Following Operations</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REGISTER TRANSFERS</vt:lpstr>
      <vt:lpstr>Slide 40</vt:lpstr>
      <vt:lpstr>Key Concepts</vt:lpstr>
      <vt:lpstr>How Register Transfer Works? </vt:lpstr>
      <vt:lpstr>Example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Link Layer</dc:title>
  <dc:creator>NITHA L</dc:creator>
  <cp:lastModifiedBy>rajithamr</cp:lastModifiedBy>
  <cp:revision>68</cp:revision>
  <dcterms:created xsi:type="dcterms:W3CDTF">2022-03-12T06:28:18Z</dcterms:created>
  <dcterms:modified xsi:type="dcterms:W3CDTF">2025-10-24T06:54:21Z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0x0101002B2E91A2DEE58B4EB51C0D10FFC5F048</vt:lpwstr>
  </property>
</Properties>
</file>