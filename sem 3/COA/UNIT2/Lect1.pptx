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9"/>
  </p:notesMasterIdLst>
  <p:sldIdLst>
    <p:sldId id="866" r:id="rId5"/>
    <p:sldId id="849" r:id="rId6"/>
    <p:sldId id="256" r:id="rId7"/>
    <p:sldId id="856" r:id="rId8"/>
    <p:sldId id="861" r:id="rId9"/>
    <p:sldId id="862" r:id="rId10"/>
    <p:sldId id="850" r:id="rId11"/>
    <p:sldId id="851" r:id="rId12"/>
    <p:sldId id="852" r:id="rId13"/>
    <p:sldId id="854" r:id="rId14"/>
    <p:sldId id="855" r:id="rId15"/>
    <p:sldId id="858" r:id="rId16"/>
    <p:sldId id="859" r:id="rId17"/>
    <p:sldId id="867" r:id="rId18"/>
    <p:sldId id="878" r:id="rId19"/>
    <p:sldId id="868" r:id="rId20"/>
    <p:sldId id="869" r:id="rId21"/>
    <p:sldId id="870" r:id="rId22"/>
    <p:sldId id="871" r:id="rId23"/>
    <p:sldId id="857" r:id="rId24"/>
    <p:sldId id="864" r:id="rId25"/>
    <p:sldId id="828" r:id="rId26"/>
    <p:sldId id="873" r:id="rId27"/>
    <p:sldId id="872" r:id="rId28"/>
    <p:sldId id="874" r:id="rId29"/>
    <p:sldId id="875" r:id="rId30"/>
    <p:sldId id="876" r:id="rId31"/>
    <p:sldId id="879" r:id="rId32"/>
    <p:sldId id="880" r:id="rId33"/>
    <p:sldId id="839" r:id="rId34"/>
    <p:sldId id="840" r:id="rId35"/>
    <p:sldId id="841" r:id="rId36"/>
    <p:sldId id="842" r:id="rId37"/>
    <p:sldId id="843" r:id="rId38"/>
    <p:sldId id="844" r:id="rId39"/>
    <p:sldId id="845" r:id="rId40"/>
    <p:sldId id="759" r:id="rId41"/>
    <p:sldId id="760" r:id="rId42"/>
    <p:sldId id="761" r:id="rId43"/>
    <p:sldId id="762" r:id="rId44"/>
    <p:sldId id="763" r:id="rId45"/>
    <p:sldId id="764" r:id="rId46"/>
    <p:sldId id="765" r:id="rId47"/>
    <p:sldId id="766" r:id="rId48"/>
    <p:sldId id="767" r:id="rId49"/>
    <p:sldId id="768" r:id="rId50"/>
    <p:sldId id="769" r:id="rId51"/>
    <p:sldId id="770" r:id="rId52"/>
    <p:sldId id="771" r:id="rId53"/>
    <p:sldId id="772" r:id="rId54"/>
    <p:sldId id="773" r:id="rId55"/>
    <p:sldId id="774" r:id="rId56"/>
    <p:sldId id="775" r:id="rId57"/>
    <p:sldId id="776" r:id="rId58"/>
    <p:sldId id="807" r:id="rId59"/>
    <p:sldId id="808" r:id="rId60"/>
    <p:sldId id="846" r:id="rId61"/>
    <p:sldId id="847" r:id="rId62"/>
    <p:sldId id="809" r:id="rId63"/>
    <p:sldId id="810" r:id="rId64"/>
    <p:sldId id="811" r:id="rId65"/>
    <p:sldId id="812" r:id="rId66"/>
    <p:sldId id="816" r:id="rId67"/>
    <p:sldId id="818" r:id="rId68"/>
    <p:sldId id="819" r:id="rId69"/>
    <p:sldId id="820" r:id="rId70"/>
    <p:sldId id="821" r:id="rId71"/>
    <p:sldId id="822" r:id="rId72"/>
    <p:sldId id="823" r:id="rId73"/>
    <p:sldId id="824" r:id="rId74"/>
    <p:sldId id="825" r:id="rId75"/>
    <p:sldId id="826" r:id="rId76"/>
    <p:sldId id="827" r:id="rId77"/>
    <p:sldId id="258" r:id="rId78"/>
    <p:sldId id="259" r:id="rId79"/>
    <p:sldId id="260" r:id="rId80"/>
    <p:sldId id="261" r:id="rId81"/>
    <p:sldId id="262" r:id="rId82"/>
    <p:sldId id="263" r:id="rId83"/>
    <p:sldId id="264" r:id="rId84"/>
    <p:sldId id="265" r:id="rId85"/>
    <p:sldId id="266" r:id="rId86"/>
    <p:sldId id="267" r:id="rId87"/>
    <p:sldId id="268" r:id="rId8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115" d="100"/>
          <a:sy n="115" d="100"/>
        </p:scale>
        <p:origin x="-432" y="-11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D0F6-4435-484A-9D7B-5BEC5D46964C}" type="datetimeFigureOut">
              <a:rPr lang="en-IN" smtClean="0"/>
              <a:pPr/>
              <a:t>08-10-2025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C94576-8A04-464E-BEEC-D2940EF92F9A}" type="slidenum">
              <a:rPr lang="en-IN" smtClean="0"/>
              <a:pPr/>
              <a:t>‹#›</a:t>
            </a:fld>
            <a:endParaRPr lang="en-IN"/>
          </a:p>
        </p:txBody>
      </p:sp>
    </p:spTree>
    <p:extLst>
      <p:ext uri="{BB962C8B-B14F-4D97-AF65-F5344CB8AC3E}">
        <p14:creationId xmlns:p14="http://schemas.microsoft.com/office/powerpoint/2010/main" xmlns="" val="2148568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A76569D8-3629-4D50-9327-CD913A3DA8B9}" type="slidenum">
              <a:rPr lang="en-US" altLang="en-US"/>
              <a:pPr/>
              <a:t>22</a:t>
            </a:fld>
            <a:endParaRPr lang="en-US"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CF0BE940-2D4D-46BF-BECC-0CF569B65812}" type="slidenum">
              <a:rPr lang="en-US" altLang="en-US"/>
              <a:pPr/>
              <a:t>31</a:t>
            </a:fld>
            <a:endParaRPr lang="en-US" alt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14BD9AC0-D23C-4B9B-AA15-79E0548C56A8}" type="slidenum">
              <a:rPr lang="en-US" altLang="en-US"/>
              <a:pPr/>
              <a:t>33</a:t>
            </a:fld>
            <a:endParaRPr lang="en-US" alt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91DAA494-7452-4EF2-B0F9-0356C80B60AA}" type="slidenum">
              <a:rPr lang="en-US" altLang="en-US"/>
              <a:pPr/>
              <a:t>34</a:t>
            </a:fld>
            <a:endParaRPr lang="en-US" alt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1EF8C17E-2A47-4A09-ABCC-E9985CEC8225}" type="slidenum">
              <a:rPr lang="en-US" altLang="en-US"/>
              <a:pPr/>
              <a:t>35</a:t>
            </a:fld>
            <a:endParaRPr lang="en-US"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46DE370A-A3EF-4A3B-A71B-D9820D64CD71}" type="slidenum">
              <a:rPr lang="en-US" altLang="en-US"/>
              <a:pPr/>
              <a:t>36</a:t>
            </a:fld>
            <a:endParaRPr lang="en-US" alt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xmlns="" id="{C74CC0E6-FB56-4EED-9A55-6094533F5FAD}"/>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3BD0830F-28CC-4703-878D-201ECCF20229}" type="slidenum">
              <a:rPr lang="en-US" altLang="en-US" smtClean="0">
                <a:latin typeface="Arial" panose="020B0604020202020204" pitchFamily="34" charset="0"/>
              </a:rPr>
              <a:pPr/>
              <a:t>37</a:t>
            </a:fld>
            <a:endParaRPr lang="en-US" altLang="en-US">
              <a:latin typeface="Arial" panose="020B0604020202020204" pitchFamily="34" charset="0"/>
            </a:endParaRPr>
          </a:p>
        </p:txBody>
      </p:sp>
      <p:sp>
        <p:nvSpPr>
          <p:cNvPr id="18435" name="Rectangle 2">
            <a:extLst>
              <a:ext uri="{FF2B5EF4-FFF2-40B4-BE49-F238E27FC236}">
                <a16:creationId xmlns:a16="http://schemas.microsoft.com/office/drawing/2014/main" xmlns="" id="{88913F85-98D7-471F-AFD4-D10F290110A4}"/>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xmlns="" id="{8E6A3AB2-B3D6-473A-BB95-44548A8CCDC3}"/>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xmlns="" id="{44CEF17E-24BD-408D-9A7B-96CFDAA36D43}"/>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43AB61D5-DEA4-449F-A854-D33C88656EB1}" type="slidenum">
              <a:rPr lang="en-US" altLang="en-US" smtClean="0">
                <a:latin typeface="Arial" panose="020B0604020202020204" pitchFamily="34" charset="0"/>
              </a:rPr>
              <a:pPr/>
              <a:t>38</a:t>
            </a:fld>
            <a:endParaRPr lang="en-US" altLang="en-US">
              <a:latin typeface="Arial" panose="020B0604020202020204" pitchFamily="34" charset="0"/>
            </a:endParaRPr>
          </a:p>
        </p:txBody>
      </p:sp>
      <p:sp>
        <p:nvSpPr>
          <p:cNvPr id="20483" name="Rectangle 2">
            <a:extLst>
              <a:ext uri="{FF2B5EF4-FFF2-40B4-BE49-F238E27FC236}">
                <a16:creationId xmlns:a16="http://schemas.microsoft.com/office/drawing/2014/main" xmlns="" id="{C567F10C-9ABB-4C27-B59A-92185D21BAFB}"/>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xmlns="" id="{1EC6234A-0D7F-4AD2-AA04-0BE2AE65A8B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xmlns="" id="{5BD4FFFC-D852-4EA4-8D71-DF93635331FA}"/>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5DD6275-0B83-4806-8139-BCEE254E628C}" type="slidenum">
              <a:rPr lang="en-US" altLang="en-US" smtClean="0">
                <a:latin typeface="Arial" panose="020B0604020202020204" pitchFamily="34" charset="0"/>
              </a:rPr>
              <a:pPr/>
              <a:t>40</a:t>
            </a:fld>
            <a:endParaRPr lang="en-US" altLang="en-US">
              <a:latin typeface="Arial" panose="020B0604020202020204" pitchFamily="34" charset="0"/>
            </a:endParaRPr>
          </a:p>
        </p:txBody>
      </p:sp>
      <p:sp>
        <p:nvSpPr>
          <p:cNvPr id="23555" name="Rectangle 2">
            <a:extLst>
              <a:ext uri="{FF2B5EF4-FFF2-40B4-BE49-F238E27FC236}">
                <a16:creationId xmlns:a16="http://schemas.microsoft.com/office/drawing/2014/main" xmlns="" id="{C0A0A3FE-8FDA-4100-800A-887710A3E3D5}"/>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xmlns="" id="{4DD48675-F46D-4703-A723-62301323FDFE}"/>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xmlns="" id="{F89E2B3B-2174-498E-82A3-CD91B66CB2D0}"/>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ECF3B83C-04A2-4108-9FEA-D0706A244466}" type="slidenum">
              <a:rPr lang="en-US" altLang="en-US" smtClean="0">
                <a:latin typeface="Arial" panose="020B0604020202020204" pitchFamily="34" charset="0"/>
              </a:rPr>
              <a:pPr/>
              <a:t>41</a:t>
            </a:fld>
            <a:endParaRPr lang="en-US" altLang="en-US">
              <a:latin typeface="Arial" panose="020B0604020202020204" pitchFamily="34" charset="0"/>
            </a:endParaRPr>
          </a:p>
        </p:txBody>
      </p:sp>
      <p:sp>
        <p:nvSpPr>
          <p:cNvPr id="25603" name="Rectangle 2">
            <a:extLst>
              <a:ext uri="{FF2B5EF4-FFF2-40B4-BE49-F238E27FC236}">
                <a16:creationId xmlns:a16="http://schemas.microsoft.com/office/drawing/2014/main" xmlns="" id="{428497FA-9EDC-41E0-8866-88A982675C43}"/>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xmlns="" id="{B4DB21EC-B514-4AA5-9465-1852652E4F24}"/>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xmlns="" id="{FB5033F3-FE46-4A36-A46D-0CEA4B6E3527}"/>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1C6B52D-19F8-4FB7-952D-C226D81E8E7E}" type="slidenum">
              <a:rPr lang="en-US" altLang="en-US" smtClean="0">
                <a:latin typeface="Arial" panose="020B0604020202020204" pitchFamily="34" charset="0"/>
              </a:rPr>
              <a:pPr/>
              <a:t>42</a:t>
            </a:fld>
            <a:endParaRPr lang="en-US" altLang="en-US">
              <a:latin typeface="Arial" panose="020B0604020202020204" pitchFamily="34" charset="0"/>
            </a:endParaRPr>
          </a:p>
        </p:txBody>
      </p:sp>
      <p:sp>
        <p:nvSpPr>
          <p:cNvPr id="27651" name="Rectangle 2">
            <a:extLst>
              <a:ext uri="{FF2B5EF4-FFF2-40B4-BE49-F238E27FC236}">
                <a16:creationId xmlns:a16="http://schemas.microsoft.com/office/drawing/2014/main" xmlns="" id="{18D5765F-AB20-4EB5-9BF5-463A6A760020}"/>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xmlns="" id="{68C8F775-C1D4-47DA-B414-D19A8176A3A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xmlns="" id="{B2534A11-90D0-43F8-8543-873A01B1831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EDDBD1CC-3D74-47D6-AED2-A3047FB74EDE}" type="slidenum">
              <a:rPr lang="en-US" altLang="en-US" smtClean="0">
                <a:latin typeface="Arial" panose="020B0604020202020204" pitchFamily="34" charset="0"/>
              </a:rPr>
              <a:pPr/>
              <a:t>43</a:t>
            </a:fld>
            <a:endParaRPr lang="en-US" altLang="en-US">
              <a:latin typeface="Arial" panose="020B0604020202020204" pitchFamily="34" charset="0"/>
            </a:endParaRPr>
          </a:p>
        </p:txBody>
      </p:sp>
      <p:sp>
        <p:nvSpPr>
          <p:cNvPr id="29699" name="Rectangle 2">
            <a:extLst>
              <a:ext uri="{FF2B5EF4-FFF2-40B4-BE49-F238E27FC236}">
                <a16:creationId xmlns:a16="http://schemas.microsoft.com/office/drawing/2014/main" xmlns="" id="{BFEB7020-0CF8-47B8-91E9-A452B09F50C2}"/>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xmlns="" id="{028CEB1A-CDE7-4612-A8A0-C5940EEAB399}"/>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xmlns="" id="{06633776-E5E4-4DF6-9192-CCFC526B76C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EB6493D0-4DA6-4707-9C6B-0F6C3D168BA7}" type="slidenum">
              <a:rPr lang="en-US" altLang="en-US" smtClean="0">
                <a:latin typeface="Arial" panose="020B0604020202020204" pitchFamily="34" charset="0"/>
              </a:rPr>
              <a:pPr/>
              <a:t>45</a:t>
            </a:fld>
            <a:endParaRPr lang="en-US" altLang="en-US">
              <a:latin typeface="Arial" panose="020B0604020202020204" pitchFamily="34" charset="0"/>
            </a:endParaRPr>
          </a:p>
        </p:txBody>
      </p:sp>
      <p:sp>
        <p:nvSpPr>
          <p:cNvPr id="32771" name="Rectangle 2">
            <a:extLst>
              <a:ext uri="{FF2B5EF4-FFF2-40B4-BE49-F238E27FC236}">
                <a16:creationId xmlns:a16="http://schemas.microsoft.com/office/drawing/2014/main" xmlns="" id="{A98F7322-A943-4D65-BC28-961ED250A558}"/>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xmlns="" id="{DC5844F5-7AE8-42F0-85C8-B5F7CA67F6A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xmlns="" id="{B51AC100-D00D-4D6B-992B-6F9EBCE3085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4B5680A-312C-4B69-8918-29F585456CCF}" type="slidenum">
              <a:rPr lang="en-US" altLang="en-US" smtClean="0">
                <a:latin typeface="Arial" panose="020B0604020202020204" pitchFamily="34" charset="0"/>
              </a:rPr>
              <a:pPr/>
              <a:t>47</a:t>
            </a:fld>
            <a:endParaRPr lang="en-US" altLang="en-US">
              <a:latin typeface="Arial" panose="020B0604020202020204" pitchFamily="34" charset="0"/>
            </a:endParaRPr>
          </a:p>
        </p:txBody>
      </p:sp>
      <p:sp>
        <p:nvSpPr>
          <p:cNvPr id="35843" name="Rectangle 2">
            <a:extLst>
              <a:ext uri="{FF2B5EF4-FFF2-40B4-BE49-F238E27FC236}">
                <a16:creationId xmlns:a16="http://schemas.microsoft.com/office/drawing/2014/main" xmlns="" id="{A520FFE3-E504-49AF-BC5F-43BE2D07B7E1}"/>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xmlns="" id="{BA93EA69-27F1-420B-ADBF-981E5D13C4E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xmlns="" id="{26C88293-F920-4BFB-B786-C0CA32E1F4D7}"/>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81D5E0B3-D871-49C6-973F-12CBCB2D493D}" type="slidenum">
              <a:rPr lang="en-US" altLang="en-US" smtClean="0">
                <a:latin typeface="Arial" panose="020B0604020202020204" pitchFamily="34" charset="0"/>
              </a:rPr>
              <a:pPr/>
              <a:t>48</a:t>
            </a:fld>
            <a:endParaRPr lang="en-US" altLang="en-US">
              <a:latin typeface="Arial" panose="020B0604020202020204" pitchFamily="34" charset="0"/>
            </a:endParaRPr>
          </a:p>
        </p:txBody>
      </p:sp>
      <p:sp>
        <p:nvSpPr>
          <p:cNvPr id="37891" name="Rectangle 2">
            <a:extLst>
              <a:ext uri="{FF2B5EF4-FFF2-40B4-BE49-F238E27FC236}">
                <a16:creationId xmlns:a16="http://schemas.microsoft.com/office/drawing/2014/main" xmlns="" id="{62C160B7-E7F8-4B75-905B-08DC1D319373}"/>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xmlns="" id="{94DCA15E-8F1A-4C1F-853D-D6F639CEB40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xmlns="" id="{737D45DC-82E2-4267-B2E9-83EE937432AD}"/>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5088BFA5-1032-4D38-9C7E-BF720BCC1671}" type="slidenum">
              <a:rPr lang="en-US" altLang="en-US" smtClean="0">
                <a:latin typeface="Arial" panose="020B0604020202020204" pitchFamily="34" charset="0"/>
              </a:rPr>
              <a:pPr/>
              <a:t>50</a:t>
            </a:fld>
            <a:endParaRPr lang="en-US" altLang="en-US">
              <a:latin typeface="Arial" panose="020B0604020202020204" pitchFamily="34" charset="0"/>
            </a:endParaRPr>
          </a:p>
        </p:txBody>
      </p:sp>
      <p:sp>
        <p:nvSpPr>
          <p:cNvPr id="40963" name="Rectangle 2">
            <a:extLst>
              <a:ext uri="{FF2B5EF4-FFF2-40B4-BE49-F238E27FC236}">
                <a16:creationId xmlns:a16="http://schemas.microsoft.com/office/drawing/2014/main" xmlns="" id="{81FECD20-BF94-4630-89B2-BFA3CC07F8ED}"/>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xmlns="" id="{38BA8A26-A734-48F3-8AF8-FFE48CB8FDF8}"/>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xmlns="" id="{2B416123-9044-47F9-BAB4-7F9BAD500754}"/>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B27242F4-8335-47B3-918A-367572DF107B}" type="slidenum">
              <a:rPr lang="en-US" altLang="en-US" smtClean="0">
                <a:latin typeface="Arial" panose="020B0604020202020204" pitchFamily="34" charset="0"/>
              </a:rPr>
              <a:pPr/>
              <a:t>52</a:t>
            </a:fld>
            <a:endParaRPr lang="en-US" altLang="en-US">
              <a:latin typeface="Arial" panose="020B0604020202020204" pitchFamily="34" charset="0"/>
            </a:endParaRPr>
          </a:p>
        </p:txBody>
      </p:sp>
      <p:sp>
        <p:nvSpPr>
          <p:cNvPr id="44035" name="Rectangle 2">
            <a:extLst>
              <a:ext uri="{FF2B5EF4-FFF2-40B4-BE49-F238E27FC236}">
                <a16:creationId xmlns:a16="http://schemas.microsoft.com/office/drawing/2014/main" xmlns="" id="{4F936B4C-C718-49E0-81EE-5D9BF2D2D692}"/>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xmlns="" id="{2EAE6A56-7E19-4D25-86BC-F5FBFCBB9C5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xmlns="" id="{57B35047-EA95-46A2-80A1-BBF3CE0D0EE4}"/>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53908624-FDB3-4897-868F-61DDCE8C9D03}" type="slidenum">
              <a:rPr lang="en-US" altLang="en-US" smtClean="0">
                <a:latin typeface="Arial" panose="020B0604020202020204" pitchFamily="34" charset="0"/>
              </a:rPr>
              <a:pPr/>
              <a:t>55</a:t>
            </a:fld>
            <a:endParaRPr lang="en-US" altLang="en-US">
              <a:latin typeface="Arial" panose="020B0604020202020204" pitchFamily="34" charset="0"/>
            </a:endParaRPr>
          </a:p>
        </p:txBody>
      </p:sp>
      <p:sp>
        <p:nvSpPr>
          <p:cNvPr id="48131" name="Rectangle 2">
            <a:extLst>
              <a:ext uri="{FF2B5EF4-FFF2-40B4-BE49-F238E27FC236}">
                <a16:creationId xmlns:a16="http://schemas.microsoft.com/office/drawing/2014/main" xmlns="" id="{C4F40F67-673E-4297-89D6-19940D53E1C9}"/>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xmlns="" id="{BAE82238-8883-468D-AEE1-71656744416D}"/>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xmlns="" id="{8258C085-B591-4DBB-BDF5-0A1D3F53FFF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DA4B745-0D78-4192-8F25-5D65B6CEB384}" type="slidenum">
              <a:rPr lang="en-US" altLang="en-US" smtClean="0">
                <a:latin typeface="Arial" panose="020B0604020202020204" pitchFamily="34" charset="0"/>
              </a:rPr>
              <a:pPr/>
              <a:t>56</a:t>
            </a:fld>
            <a:endParaRPr lang="en-US" altLang="en-US">
              <a:latin typeface="Arial" panose="020B0604020202020204" pitchFamily="34" charset="0"/>
            </a:endParaRPr>
          </a:p>
        </p:txBody>
      </p:sp>
      <p:sp>
        <p:nvSpPr>
          <p:cNvPr id="50179" name="Rectangle 2">
            <a:extLst>
              <a:ext uri="{FF2B5EF4-FFF2-40B4-BE49-F238E27FC236}">
                <a16:creationId xmlns:a16="http://schemas.microsoft.com/office/drawing/2014/main" xmlns="" id="{1A8C3361-407A-450B-BAB9-35FF64595F73}"/>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xmlns="" id="{181221E9-9358-47C6-85BB-91CF36D84AE9}"/>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1F6D959E-3A48-44A3-9385-081189B92DA0}" type="slidenum">
              <a:rPr lang="en-US" smtClean="0"/>
              <a:pPr/>
              <a:t>57</a:t>
            </a:fld>
            <a:endParaRPr lang="en-US"/>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C36AD227-F318-4222-93AE-EF1A12A9B29E}" type="slidenum">
              <a:rPr lang="en-US" smtClean="0"/>
              <a:pPr/>
              <a:t>58</a:t>
            </a:fld>
            <a:endParaRPr lang="en-US"/>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xmlns="" id="{BCF4A2AC-10D1-4083-AC2E-22B5C0A82CF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B4C0345E-D3F6-4B7A-A183-99CFBABF883D}" type="slidenum">
              <a:rPr lang="en-US" altLang="en-US" smtClean="0">
                <a:latin typeface="Arial" panose="020B0604020202020204" pitchFamily="34" charset="0"/>
              </a:rPr>
              <a:pPr/>
              <a:t>59</a:t>
            </a:fld>
            <a:endParaRPr lang="en-US" altLang="en-US">
              <a:latin typeface="Arial" panose="020B0604020202020204" pitchFamily="34" charset="0"/>
            </a:endParaRPr>
          </a:p>
        </p:txBody>
      </p:sp>
      <p:sp>
        <p:nvSpPr>
          <p:cNvPr id="52227" name="Rectangle 2">
            <a:extLst>
              <a:ext uri="{FF2B5EF4-FFF2-40B4-BE49-F238E27FC236}">
                <a16:creationId xmlns:a16="http://schemas.microsoft.com/office/drawing/2014/main" xmlns="" id="{8DA377B3-8813-4A82-8D0C-81CA96863E8D}"/>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xmlns="" id="{952E6EFC-5B74-4BFF-A35F-CE505ADD6EE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xmlns="" id="{2532E7AB-18A2-451F-BB75-3735B0CCC3F5}"/>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12FCE04B-2636-4462-917B-DEF7A7881C1B}" type="slidenum">
              <a:rPr lang="en-US" altLang="en-US" smtClean="0">
                <a:latin typeface="Arial" panose="020B0604020202020204" pitchFamily="34" charset="0"/>
              </a:rPr>
              <a:pPr/>
              <a:t>60</a:t>
            </a:fld>
            <a:endParaRPr lang="en-US" altLang="en-US">
              <a:latin typeface="Arial" panose="020B0604020202020204" pitchFamily="34" charset="0"/>
            </a:endParaRPr>
          </a:p>
        </p:txBody>
      </p:sp>
      <p:sp>
        <p:nvSpPr>
          <p:cNvPr id="54275" name="Rectangle 2">
            <a:extLst>
              <a:ext uri="{FF2B5EF4-FFF2-40B4-BE49-F238E27FC236}">
                <a16:creationId xmlns:a16="http://schemas.microsoft.com/office/drawing/2014/main" xmlns="" id="{974F9F93-A0FE-4243-B126-10D9A2977EB9}"/>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xmlns="" id="{56DC05E4-E8C9-434B-85F5-C70E8F41574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xmlns="" id="{80F654C9-C583-4DEE-B908-E0609F146DA7}"/>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3A0462F5-3D06-47E1-94C4-D75AE5BF1753}" type="slidenum">
              <a:rPr lang="en-US" altLang="en-US" smtClean="0">
                <a:latin typeface="Arial" panose="020B0604020202020204" pitchFamily="34" charset="0"/>
              </a:rPr>
              <a:pPr/>
              <a:t>61</a:t>
            </a:fld>
            <a:endParaRPr lang="en-US" altLang="en-US">
              <a:latin typeface="Arial" panose="020B0604020202020204" pitchFamily="34" charset="0"/>
            </a:endParaRPr>
          </a:p>
        </p:txBody>
      </p:sp>
      <p:sp>
        <p:nvSpPr>
          <p:cNvPr id="56323" name="Rectangle 2">
            <a:extLst>
              <a:ext uri="{FF2B5EF4-FFF2-40B4-BE49-F238E27FC236}">
                <a16:creationId xmlns:a16="http://schemas.microsoft.com/office/drawing/2014/main" xmlns="" id="{4162FEA4-D133-4DDF-8352-12048BC22428}"/>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xmlns="" id="{4EF2775E-DA9E-4680-ADBE-C957C6131FF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xmlns="" id="{A8ECEAD2-3AE5-44B8-BFB3-81A85FECA31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060B280D-F649-4507-99B1-0151A0EB4227}" type="slidenum">
              <a:rPr lang="en-US" altLang="en-US" smtClean="0">
                <a:latin typeface="Arial" panose="020B0604020202020204" pitchFamily="34" charset="0"/>
              </a:rPr>
              <a:pPr/>
              <a:t>62</a:t>
            </a:fld>
            <a:endParaRPr lang="en-US" altLang="en-US">
              <a:latin typeface="Arial" panose="020B0604020202020204" pitchFamily="34" charset="0"/>
            </a:endParaRPr>
          </a:p>
        </p:txBody>
      </p:sp>
      <p:sp>
        <p:nvSpPr>
          <p:cNvPr id="58371" name="Rectangle 2">
            <a:extLst>
              <a:ext uri="{FF2B5EF4-FFF2-40B4-BE49-F238E27FC236}">
                <a16:creationId xmlns:a16="http://schemas.microsoft.com/office/drawing/2014/main" xmlns="" id="{40EC1579-F6D3-4AE9-A76A-E3CA150A343A}"/>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xmlns="" id="{C316AC6C-83DF-40BE-8517-F7E9C33EB3E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xmlns="" id="{608CD003-F4D2-41FF-BC99-E7C729A1898B}"/>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E2BEE0B0-53DD-4A7C-A644-5AA1F7BCA797}" type="slidenum">
              <a:rPr lang="en-US" altLang="en-US" smtClean="0">
                <a:latin typeface="Arial" panose="020B0604020202020204" pitchFamily="34" charset="0"/>
              </a:rPr>
              <a:pPr/>
              <a:t>63</a:t>
            </a:fld>
            <a:endParaRPr lang="en-US" altLang="en-US">
              <a:latin typeface="Arial" panose="020B0604020202020204" pitchFamily="34" charset="0"/>
            </a:endParaRPr>
          </a:p>
        </p:txBody>
      </p:sp>
      <p:sp>
        <p:nvSpPr>
          <p:cNvPr id="60419" name="Rectangle 2">
            <a:extLst>
              <a:ext uri="{FF2B5EF4-FFF2-40B4-BE49-F238E27FC236}">
                <a16:creationId xmlns:a16="http://schemas.microsoft.com/office/drawing/2014/main" xmlns="" id="{CB30F298-A12D-4479-B96B-D2FF054FC6AC}"/>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xmlns="" id="{48161118-35C4-4264-9CF7-56833A421DC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xmlns="" id="{0D80DFC5-609C-477C-9A4D-EADA32AB84C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291E9F6F-6555-42B4-AB27-401505E93C5A}" type="slidenum">
              <a:rPr lang="en-US" altLang="en-US" smtClean="0">
                <a:latin typeface="Arial" panose="020B0604020202020204" pitchFamily="34" charset="0"/>
              </a:rPr>
              <a:pPr/>
              <a:t>64</a:t>
            </a:fld>
            <a:endParaRPr lang="en-US" altLang="en-US">
              <a:latin typeface="Arial" panose="020B0604020202020204" pitchFamily="34" charset="0"/>
            </a:endParaRPr>
          </a:p>
        </p:txBody>
      </p:sp>
      <p:sp>
        <p:nvSpPr>
          <p:cNvPr id="62467" name="Rectangle 2">
            <a:extLst>
              <a:ext uri="{FF2B5EF4-FFF2-40B4-BE49-F238E27FC236}">
                <a16:creationId xmlns:a16="http://schemas.microsoft.com/office/drawing/2014/main" xmlns="" id="{8B796FC0-5854-478C-A720-B166DA9197B3}"/>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xmlns="" id="{0CFDC11B-B290-4DCE-A8EA-7A5FE6494FA0}"/>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xmlns="" id="{60CF78EC-2DBD-4AF4-A5F3-5E8470B1B00B}"/>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AAFD28B1-7994-4886-81AC-E585CE5697E9}" type="slidenum">
              <a:rPr lang="en-US" altLang="en-US" smtClean="0">
                <a:latin typeface="Arial" panose="020B0604020202020204" pitchFamily="34" charset="0"/>
              </a:rPr>
              <a:pPr/>
              <a:t>65</a:t>
            </a:fld>
            <a:endParaRPr lang="en-US" altLang="en-US">
              <a:latin typeface="Arial" panose="020B0604020202020204" pitchFamily="34" charset="0"/>
            </a:endParaRPr>
          </a:p>
        </p:txBody>
      </p:sp>
      <p:sp>
        <p:nvSpPr>
          <p:cNvPr id="64515" name="Rectangle 2">
            <a:extLst>
              <a:ext uri="{FF2B5EF4-FFF2-40B4-BE49-F238E27FC236}">
                <a16:creationId xmlns:a16="http://schemas.microsoft.com/office/drawing/2014/main" xmlns="" id="{19D204A1-8A0E-4C1E-A000-A91A4A094B21}"/>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xmlns="" id="{0752C854-9411-499A-9608-6C71A0FDB18D}"/>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xmlns="" id="{B1A5868D-8F7E-41BB-A679-1CCA8E0074A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06ED61D-376B-4845-89FA-4B3F85167B2A}" type="slidenum">
              <a:rPr lang="en-US" altLang="en-US" smtClean="0">
                <a:latin typeface="Arial" panose="020B0604020202020204" pitchFamily="34" charset="0"/>
              </a:rPr>
              <a:pPr/>
              <a:t>66</a:t>
            </a:fld>
            <a:endParaRPr lang="en-US" altLang="en-US">
              <a:latin typeface="Arial" panose="020B0604020202020204" pitchFamily="34" charset="0"/>
            </a:endParaRPr>
          </a:p>
        </p:txBody>
      </p:sp>
      <p:sp>
        <p:nvSpPr>
          <p:cNvPr id="66563" name="Rectangle 2">
            <a:extLst>
              <a:ext uri="{FF2B5EF4-FFF2-40B4-BE49-F238E27FC236}">
                <a16:creationId xmlns:a16="http://schemas.microsoft.com/office/drawing/2014/main" xmlns="" id="{CFBE4E35-D0BF-4F50-914E-602953D79817}"/>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xmlns="" id="{74E30070-79CE-40F9-B793-F48D69051D17}"/>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xmlns="" id="{A37B2CFA-C9DB-45F8-B042-BEF84DEB6D2E}"/>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D623B21D-6BE9-43F3-8DB5-3F4B50A84A71}" type="slidenum">
              <a:rPr lang="en-US" altLang="en-US" smtClean="0">
                <a:latin typeface="Arial" panose="020B0604020202020204" pitchFamily="34" charset="0"/>
              </a:rPr>
              <a:pPr/>
              <a:t>67</a:t>
            </a:fld>
            <a:endParaRPr lang="en-US" altLang="en-US">
              <a:latin typeface="Arial" panose="020B0604020202020204" pitchFamily="34" charset="0"/>
            </a:endParaRPr>
          </a:p>
        </p:txBody>
      </p:sp>
      <p:sp>
        <p:nvSpPr>
          <p:cNvPr id="68611" name="Rectangle 2">
            <a:extLst>
              <a:ext uri="{FF2B5EF4-FFF2-40B4-BE49-F238E27FC236}">
                <a16:creationId xmlns:a16="http://schemas.microsoft.com/office/drawing/2014/main" xmlns="" id="{D524C050-EE4F-422C-8DE1-4AE963C85EE1}"/>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xmlns="" id="{231331AC-9FF8-404A-97A9-3278613785EA}"/>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xmlns="" id="{4F10B562-67D7-4AB2-8A60-A2F4D0A955DF}"/>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015F34F-6C53-44B1-B118-FAA36887B3AE}" type="slidenum">
              <a:rPr lang="en-US" altLang="en-US" smtClean="0">
                <a:latin typeface="Arial" panose="020B0604020202020204" pitchFamily="34" charset="0"/>
              </a:rPr>
              <a:pPr/>
              <a:t>68</a:t>
            </a:fld>
            <a:endParaRPr lang="en-US" altLang="en-US">
              <a:latin typeface="Arial" panose="020B0604020202020204" pitchFamily="34" charset="0"/>
            </a:endParaRPr>
          </a:p>
        </p:txBody>
      </p:sp>
      <p:sp>
        <p:nvSpPr>
          <p:cNvPr id="70659" name="Rectangle 2">
            <a:extLst>
              <a:ext uri="{FF2B5EF4-FFF2-40B4-BE49-F238E27FC236}">
                <a16:creationId xmlns:a16="http://schemas.microsoft.com/office/drawing/2014/main" xmlns="" id="{C899F58D-3FE5-4D51-9DB2-1EA314D8A065}"/>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xmlns="" id="{39D8661A-E84A-4D4D-83CB-8509A1EF24AB}"/>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xmlns="" id="{FCCBF17C-6F38-4635-8FDB-E660604630DB}"/>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DD4530F-77BF-4E55-B05D-1936C50519B8}" type="slidenum">
              <a:rPr lang="en-US" altLang="en-US" smtClean="0">
                <a:latin typeface="Arial" panose="020B0604020202020204" pitchFamily="34" charset="0"/>
              </a:rPr>
              <a:pPr/>
              <a:t>69</a:t>
            </a:fld>
            <a:endParaRPr lang="en-US" altLang="en-US">
              <a:latin typeface="Arial" panose="020B0604020202020204" pitchFamily="34" charset="0"/>
            </a:endParaRPr>
          </a:p>
        </p:txBody>
      </p:sp>
      <p:sp>
        <p:nvSpPr>
          <p:cNvPr id="72707" name="Rectangle 2">
            <a:extLst>
              <a:ext uri="{FF2B5EF4-FFF2-40B4-BE49-F238E27FC236}">
                <a16:creationId xmlns:a16="http://schemas.microsoft.com/office/drawing/2014/main" xmlns="" id="{434A8188-5F9A-4C50-8351-1A0B4BEFD33E}"/>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xmlns="" id="{3A9A5585-B073-4685-ABEF-28F4B3A61952}"/>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xmlns="" id="{081E6974-F03B-41B7-9DDA-7E0EEEBBAD3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66EF38E7-1AD2-4382-85D1-36FB93A944FC}" type="slidenum">
              <a:rPr lang="en-US" altLang="en-US" smtClean="0">
                <a:latin typeface="Arial" panose="020B0604020202020204" pitchFamily="34" charset="0"/>
              </a:rPr>
              <a:pPr/>
              <a:t>70</a:t>
            </a:fld>
            <a:endParaRPr lang="en-US" altLang="en-US">
              <a:latin typeface="Arial" panose="020B0604020202020204" pitchFamily="34" charset="0"/>
            </a:endParaRPr>
          </a:p>
        </p:txBody>
      </p:sp>
      <p:sp>
        <p:nvSpPr>
          <p:cNvPr id="74755" name="Rectangle 2">
            <a:extLst>
              <a:ext uri="{FF2B5EF4-FFF2-40B4-BE49-F238E27FC236}">
                <a16:creationId xmlns:a16="http://schemas.microsoft.com/office/drawing/2014/main" xmlns="" id="{DCFB4CC4-F75B-43B5-912A-9C10F085B783}"/>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xmlns="" id="{E33D5DC8-CDC9-4075-946F-8B2631218C0F}"/>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xmlns="" id="{CCB5CEFA-7D25-4442-9787-18E2CD81C3F7}"/>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2E47C43-BD64-4098-B944-21BAF822FEDD}" type="slidenum">
              <a:rPr lang="en-US" altLang="en-US" smtClean="0">
                <a:latin typeface="Arial" panose="020B0604020202020204" pitchFamily="34" charset="0"/>
              </a:rPr>
              <a:pPr/>
              <a:t>71</a:t>
            </a:fld>
            <a:endParaRPr lang="en-US" altLang="en-US">
              <a:latin typeface="Arial" panose="020B0604020202020204" pitchFamily="34" charset="0"/>
            </a:endParaRPr>
          </a:p>
        </p:txBody>
      </p:sp>
      <p:sp>
        <p:nvSpPr>
          <p:cNvPr id="76803" name="Rectangle 2">
            <a:extLst>
              <a:ext uri="{FF2B5EF4-FFF2-40B4-BE49-F238E27FC236}">
                <a16:creationId xmlns:a16="http://schemas.microsoft.com/office/drawing/2014/main" xmlns="" id="{94FBC855-7A05-46A8-BF33-7572A9BFEE8E}"/>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xmlns="" id="{D09B8E29-7FE0-4555-B5D7-32158AFC039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xmlns="" id="{A52A658F-C057-4CE5-9222-8E61AB02C592}"/>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CA4CA24A-CC7E-4246-B757-B32B9F66FDE7}" type="slidenum">
              <a:rPr lang="en-US" altLang="en-US" smtClean="0">
                <a:latin typeface="Arial" panose="020B0604020202020204" pitchFamily="34" charset="0"/>
              </a:rPr>
              <a:pPr/>
              <a:t>72</a:t>
            </a:fld>
            <a:endParaRPr lang="en-US" altLang="en-US">
              <a:latin typeface="Arial" panose="020B0604020202020204" pitchFamily="34" charset="0"/>
            </a:endParaRPr>
          </a:p>
        </p:txBody>
      </p:sp>
      <p:sp>
        <p:nvSpPr>
          <p:cNvPr id="78851" name="Rectangle 2">
            <a:extLst>
              <a:ext uri="{FF2B5EF4-FFF2-40B4-BE49-F238E27FC236}">
                <a16:creationId xmlns:a16="http://schemas.microsoft.com/office/drawing/2014/main" xmlns="" id="{EE1158C9-08E9-40E9-BE4E-45B3D8E810A7}"/>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xmlns="" id="{BA6D8B99-54F9-464F-92D9-40F33F5D1EF6}"/>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xmlns="" id="{2535E8DB-E6D0-484F-A62F-9E1B215D812C}"/>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9E73DAA5-3D01-468D-817E-16A20DE6EBFD}" type="slidenum">
              <a:rPr lang="en-US" altLang="en-US" smtClean="0">
                <a:latin typeface="Arial" panose="020B0604020202020204" pitchFamily="34" charset="0"/>
              </a:rPr>
              <a:pPr/>
              <a:t>73</a:t>
            </a:fld>
            <a:endParaRPr lang="en-US" altLang="en-US">
              <a:latin typeface="Arial" panose="020B0604020202020204" pitchFamily="34" charset="0"/>
            </a:endParaRPr>
          </a:p>
        </p:txBody>
      </p:sp>
      <p:sp>
        <p:nvSpPr>
          <p:cNvPr id="80899" name="Rectangle 2">
            <a:extLst>
              <a:ext uri="{FF2B5EF4-FFF2-40B4-BE49-F238E27FC236}">
                <a16:creationId xmlns:a16="http://schemas.microsoft.com/office/drawing/2014/main" xmlns="" id="{273A313D-C83A-4CB4-8910-92D3405C65A9}"/>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xmlns="" id="{23EC4D2A-1F85-40E4-93F1-528B0F3CAB45}"/>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EF507FB5-FC2F-477B-81A9-1EDF93AD781C}"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248127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561978"/>
            <a:ext cx="9603275" cy="895348"/>
          </a:xfrm>
        </p:spPr>
        <p:txBody>
          <a:bodyPr/>
          <a:lstStyle/>
          <a:p>
            <a:r>
              <a:rPr lang="en-US"/>
              <a:t>Click to edit Master title style</a:t>
            </a:r>
            <a:endParaRPr lang="en-US" dirty="0"/>
          </a:p>
        </p:txBody>
      </p:sp>
      <p:sp>
        <p:nvSpPr>
          <p:cNvPr id="3" name="Content Placeholder 2"/>
          <p:cNvSpPr>
            <a:spLocks noGrp="1"/>
          </p:cNvSpPr>
          <p:nvPr>
            <p:ph idx="1"/>
          </p:nvPr>
        </p:nvSpPr>
        <p:spPr>
          <a:xfrm>
            <a:off x="276225" y="1515989"/>
            <a:ext cx="11382375" cy="4332361"/>
          </a:xfrm>
        </p:spPr>
        <p:txBody>
          <a:bodyPr anchor="t"/>
          <a:lstStyle>
            <a:lvl1pPr marL="228600" indent="-228600" algn="just">
              <a:buFont typeface="Wingdings" panose="05000000000000000000" pitchFamily="2" charset="2"/>
              <a:buChar char="v"/>
              <a:defRPr sz="2800" b="1">
                <a:solidFill>
                  <a:schemeClr val="accent1"/>
                </a:solidFill>
                <a:latin typeface="Times New Roman" panose="02020603050405020304" pitchFamily="18" charset="0"/>
                <a:cs typeface="Times New Roman" panose="02020603050405020304" pitchFamily="18" charset="0"/>
              </a:defRPr>
            </a:lvl1pPr>
            <a:lvl2pPr marL="685800" indent="-228600" algn="just">
              <a:buFont typeface="Wingdings" panose="05000000000000000000" pitchFamily="2" charset="2"/>
              <a:buChar char="ü"/>
              <a:defRPr sz="2400" b="1">
                <a:solidFill>
                  <a:srgbClr val="0070C0"/>
                </a:solidFill>
                <a:latin typeface="Times New Roman" panose="02020603050405020304" pitchFamily="18" charset="0"/>
                <a:cs typeface="Times New Roman" panose="02020603050405020304" pitchFamily="18"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6" name="Slide Number Placeholder 5"/>
          <p:cNvSpPr>
            <a:spLocks noGrp="1"/>
          </p:cNvSpPr>
          <p:nvPr>
            <p:ph type="sldNum" sz="quarter" idx="12"/>
          </p:nvPr>
        </p:nvSpPr>
        <p:spPr/>
        <p:txBody>
          <a:bodyPr/>
          <a:lstStyle/>
          <a:p>
            <a:fld id="{EF507FB5-FC2F-477B-81A9-1EDF93AD781C}" type="slidenum">
              <a:rPr lang="en-IN" smtClean="0"/>
              <a:pPr/>
              <a:t>‹#›</a:t>
            </a:fld>
            <a:endParaRPr lang="en-IN"/>
          </a:p>
        </p:txBody>
      </p:sp>
      <p:cxnSp>
        <p:nvCxnSpPr>
          <p:cNvPr id="33" name="Straight Connector 32"/>
          <p:cNvCxnSpPr>
            <a:cxnSpLocks/>
          </p:cNvCxnSpPr>
          <p:nvPr/>
        </p:nvCxnSpPr>
        <p:spPr>
          <a:xfrm>
            <a:off x="390525" y="1361214"/>
            <a:ext cx="1126807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1996212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507FB5-FC2F-477B-81A9-1EDF93AD781C}"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577566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507FB5-FC2F-477B-81A9-1EDF93AD781C}"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40630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507FB5-FC2F-477B-81A9-1EDF93AD781C}"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663846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507FB5-FC2F-477B-81A9-1EDF93AD781C}"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403800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507FB5-FC2F-477B-81A9-1EDF93AD781C}" type="slidenum">
              <a:rPr lang="en-IN" smtClean="0"/>
              <a:pPr/>
              <a:t>‹#›</a:t>
            </a:fld>
            <a:endParaRPr lang="en-IN"/>
          </a:p>
        </p:txBody>
      </p:sp>
    </p:spTree>
    <p:extLst>
      <p:ext uri="{BB962C8B-B14F-4D97-AF65-F5344CB8AC3E}">
        <p14:creationId xmlns:p14="http://schemas.microsoft.com/office/powerpoint/2010/main" xmlns="" val="4180574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507FB5-FC2F-477B-81A9-1EDF93AD781C}"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642826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855F07B-11D7-4AFF-8DDF-AA11CAEDF5C2}" type="datetimeFigureOut">
              <a:rPr lang="en-IN" smtClean="0"/>
              <a:pPr/>
              <a:t>08-10-2025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EF507FB5-FC2F-477B-81A9-1EDF93AD781C}"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3071305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507FB5-FC2F-477B-81A9-1EDF93AD781C}"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588072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5F07B-11D7-4AFF-8DDF-AA11CAEDF5C2}" type="datetimeFigureOut">
              <a:rPr lang="en-IN" smtClean="0"/>
              <a:pPr/>
              <a:t>08-10-2025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507FB5-FC2F-477B-81A9-1EDF93AD781C}"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xmlns="" val="433684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xmlns=""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855F07B-11D7-4AFF-8DDF-AA11CAEDF5C2}" type="datetimeFigureOut">
              <a:rPr lang="en-IN" smtClean="0"/>
              <a:pPr/>
              <a:t>08-10-2025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F507FB5-FC2F-477B-81A9-1EDF93AD781C}" type="slidenum">
              <a:rPr lang="en-IN" smtClean="0"/>
              <a:pPr/>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978346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p:cNvPicPr>
            <a:picLocks noChangeAspect="1" noChangeArrowheads="1"/>
          </p:cNvPicPr>
          <p:nvPr/>
        </p:nvPicPr>
        <p:blipFill>
          <a:blip r:embed="rId2"/>
          <a:srcRect/>
          <a:stretch>
            <a:fillRect/>
          </a:stretch>
        </p:blipFill>
        <p:spPr bwMode="auto">
          <a:xfrm>
            <a:off x="-257695" y="24067"/>
            <a:ext cx="12449695" cy="6889167"/>
          </a:xfrm>
          <a:prstGeom prst="rect">
            <a:avLst/>
          </a:prstGeom>
          <a:noFill/>
          <a:ln w="9525">
            <a:noFill/>
            <a:miter lim="800000"/>
            <a:headEnd/>
            <a:tailEnd/>
          </a:ln>
          <a:effectLst/>
        </p:spPr>
      </p:pic>
      <p:sp>
        <p:nvSpPr>
          <p:cNvPr id="3" name="Rectangle 2"/>
          <p:cNvSpPr/>
          <p:nvPr/>
        </p:nvSpPr>
        <p:spPr>
          <a:xfrm>
            <a:off x="10997738" y="0"/>
            <a:ext cx="1194262" cy="656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xmlns="" id="{A789AC65-B9C4-403C-B105-741E88A17ABE}"/>
              </a:ext>
            </a:extLst>
          </p:cNvPr>
          <p:cNvPicPr>
            <a:picLocks noChangeAspect="1"/>
          </p:cNvPicPr>
          <p:nvPr/>
        </p:nvPicPr>
        <p:blipFill rotWithShape="1">
          <a:blip r:embed="rId2"/>
          <a:srcRect l="10687" t="16385" r="38255" b="33609"/>
          <a:stretch/>
        </p:blipFill>
        <p:spPr>
          <a:xfrm>
            <a:off x="521952" y="329884"/>
            <a:ext cx="5551906" cy="4391746"/>
          </a:xfrm>
          <a:prstGeom prst="rect">
            <a:avLst/>
          </a:prstGeom>
        </p:spPr>
      </p:pic>
      <p:sp>
        <p:nvSpPr>
          <p:cNvPr id="1026" name="AutoShape 2" descr="Block Diagram Of Memory Connection To The Cpu What Is A Cpu?"/>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Block Diagram Of Memory Connection To The Cpu What Is A Cpu?"/>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Block Diagram Of Memory Connection To The Cpu What Is A Cpu?"/>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2" name="Picture 8"/>
          <p:cNvPicPr>
            <a:picLocks noChangeAspect="1" noChangeArrowheads="1"/>
          </p:cNvPicPr>
          <p:nvPr/>
        </p:nvPicPr>
        <p:blipFill>
          <a:blip r:embed="rId3"/>
          <a:srcRect t="1685" r="858" b="1685"/>
          <a:stretch>
            <a:fillRect/>
          </a:stretch>
        </p:blipFill>
        <p:spPr bwMode="auto">
          <a:xfrm>
            <a:off x="6203056" y="390698"/>
            <a:ext cx="5609329" cy="4463935"/>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141E0F89-A2B7-443E-8A97-BEEBB50815B2}"/>
              </a:ext>
            </a:extLst>
          </p:cNvPr>
          <p:cNvSpPr>
            <a:spLocks noGrp="1"/>
          </p:cNvSpPr>
          <p:nvPr>
            <p:ph type="subTitle" idx="1"/>
          </p:nvPr>
        </p:nvSpPr>
        <p:spPr/>
        <p:txBody>
          <a:bodyPr/>
          <a:lstStyle/>
          <a:p>
            <a:r>
              <a:rPr lang="en-US" dirty="0"/>
              <a:t>UNIT 2</a:t>
            </a:r>
            <a:endParaRPr lang="en-IN" dirty="0"/>
          </a:p>
        </p:txBody>
      </p:sp>
      <p:sp>
        <p:nvSpPr>
          <p:cNvPr id="4" name="Title 3"/>
          <p:cNvSpPr>
            <a:spLocks noGrp="1"/>
          </p:cNvSpPr>
          <p:nvPr>
            <p:ph type="ctrTitle"/>
          </p:nvPr>
        </p:nvSpPr>
        <p:spPr/>
        <p:txBody>
          <a:bodyPr>
            <a:normAutofit/>
          </a:bodyPr>
          <a:lstStyle/>
          <a:p>
            <a:r>
              <a:rPr lang="en-US" sz="4800" dirty="0" smtClean="0"/>
              <a:t>FUNDAMENTAL CONCEPTS</a:t>
            </a:r>
            <a:endParaRPr lang="en-US" sz="4800" dirty="0"/>
          </a:p>
        </p:txBody>
      </p:sp>
    </p:spTree>
    <p:extLst>
      <p:ext uri="{BB962C8B-B14F-4D97-AF65-F5344CB8AC3E}">
        <p14:creationId xmlns:p14="http://schemas.microsoft.com/office/powerpoint/2010/main" xmlns="" val="3173442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296520" y="382386"/>
            <a:ext cx="6872816" cy="5162203"/>
          </a:xfrm>
          <a:prstGeom prst="rect">
            <a:avLst/>
          </a:prstGeom>
          <a:noFill/>
          <a:ln w="9525">
            <a:noFill/>
            <a:miter lim="800000"/>
            <a:headEnd/>
            <a:tailEnd/>
          </a:ln>
          <a:effectLst/>
        </p:spPr>
      </p:pic>
      <p:sp>
        <p:nvSpPr>
          <p:cNvPr id="3" name="TextBox 2"/>
          <p:cNvSpPr txBox="1"/>
          <p:nvPr/>
        </p:nvSpPr>
        <p:spPr>
          <a:xfrm>
            <a:off x="7647709" y="922713"/>
            <a:ext cx="4056611" cy="5078313"/>
          </a:xfrm>
          <a:prstGeom prst="rect">
            <a:avLst/>
          </a:prstGeom>
          <a:noFill/>
        </p:spPr>
        <p:txBody>
          <a:bodyPr wrap="square" rtlCol="0">
            <a:spAutoFit/>
          </a:bodyPr>
          <a:lstStyle/>
          <a:p>
            <a:pPr algn="just">
              <a:lnSpc>
                <a:spcPct val="300000"/>
              </a:lnSpc>
            </a:pPr>
            <a:r>
              <a:rPr lang="en-US" b="1" dirty="0" smtClean="0"/>
              <a:t>SOME OF THE  REGISTERS</a:t>
            </a:r>
          </a:p>
          <a:p>
            <a:pPr algn="just">
              <a:lnSpc>
                <a:spcPct val="300000"/>
              </a:lnSpc>
              <a:buFont typeface="Arial" pitchFamily="34" charset="0"/>
              <a:buChar char="•"/>
            </a:pPr>
            <a:r>
              <a:rPr lang="en-US" b="1" dirty="0" smtClean="0"/>
              <a:t>Program Counter (PC)</a:t>
            </a:r>
          </a:p>
          <a:p>
            <a:pPr algn="just">
              <a:lnSpc>
                <a:spcPct val="300000"/>
              </a:lnSpc>
              <a:buFont typeface="Arial" pitchFamily="34" charset="0"/>
              <a:buChar char="•"/>
            </a:pPr>
            <a:r>
              <a:rPr lang="en-US" b="1" dirty="0" smtClean="0"/>
              <a:t>Instruction Register (IR)</a:t>
            </a:r>
          </a:p>
          <a:p>
            <a:pPr algn="just">
              <a:lnSpc>
                <a:spcPct val="300000"/>
              </a:lnSpc>
              <a:buFont typeface="Arial" pitchFamily="34" charset="0"/>
              <a:buChar char="•"/>
            </a:pPr>
            <a:r>
              <a:rPr lang="en-US" b="1" dirty="0" smtClean="0"/>
              <a:t>Memory Address Register (MAR)</a:t>
            </a:r>
          </a:p>
          <a:p>
            <a:pPr algn="just">
              <a:lnSpc>
                <a:spcPct val="300000"/>
              </a:lnSpc>
              <a:buFont typeface="Arial" pitchFamily="34" charset="0"/>
              <a:buChar char="•"/>
            </a:pPr>
            <a:r>
              <a:rPr lang="en-US" b="1" dirty="0" smtClean="0"/>
              <a:t>Memory Data Register (MDR)</a:t>
            </a:r>
          </a:p>
          <a:p>
            <a:pPr algn="just">
              <a:lnSpc>
                <a:spcPct val="300000"/>
              </a:lnSpc>
              <a:buFont typeface="Arial" pitchFamily="34" charset="0"/>
              <a:buChar char="•"/>
            </a:pPr>
            <a:r>
              <a:rPr lang="en-US" b="1" dirty="0" smtClean="0"/>
              <a:t>General Purpose Registers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General Purpose Registers</a:t>
            </a:r>
          </a:p>
          <a:p>
            <a:pPr>
              <a:buNone/>
            </a:pPr>
            <a:r>
              <a:rPr lang="en-US" b="0" dirty="0" smtClean="0"/>
              <a:t>   A register is a collection of flip-flops. Single bit digital data is stored using flip-flops. By combining many flip-flops, the storage capacity can be extended to accommodate a huge number of bits. We must utilize an n-bit register with n flip flops if we wish to store an n-bit word.</a:t>
            </a:r>
          </a:p>
          <a:p>
            <a:pPr>
              <a:buNone/>
            </a:pPr>
            <a:r>
              <a:rPr lang="en-US" b="0" dirty="0" smtClean="0"/>
              <a:t>  General Purpose Registers (GPRs) are essential components within a CPU, serving as temporary storage locations for data that is actively being processed. Unlike special-purpose registers, which are dedicated to specific tasks, GPRs are versatile and can store a wide variety of data, including operands for arithmetic and logic operations, memory addresses, or intermediate results.</a:t>
            </a:r>
            <a:endParaRPr lang="en-US" dirty="0" smtClean="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788" y="1283233"/>
            <a:ext cx="11382375" cy="4332361"/>
          </a:xfrm>
        </p:spPr>
        <p:txBody>
          <a:bodyPr/>
          <a:lstStyle/>
          <a:p>
            <a:pPr>
              <a:buNone/>
            </a:pPr>
            <a:endParaRPr lang="en-US" sz="2600" b="0" dirty="0" smtClean="0"/>
          </a:p>
          <a:p>
            <a:pPr>
              <a:buNone/>
            </a:pPr>
            <a:r>
              <a:rPr lang="en-US" sz="2600" b="0" dirty="0" smtClean="0"/>
              <a:t>   They provide fast access to frequently used data, reducing the need to fetch from slower main memory and thereby speeding up program execution. Their contents can be read/written by programmer /user through instructions.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PROGRAM COUNTER</a:t>
            </a:r>
          </a:p>
          <a:p>
            <a:pPr>
              <a:buNone/>
            </a:pPr>
            <a:r>
              <a:rPr lang="en-US" dirty="0" smtClean="0"/>
              <a:t> </a:t>
            </a:r>
            <a:r>
              <a:rPr lang="en-US" b="0" dirty="0" smtClean="0"/>
              <a:t> The program counter, also known as the </a:t>
            </a:r>
            <a:r>
              <a:rPr lang="en-US" dirty="0" smtClean="0"/>
              <a:t>instruction pointer</a:t>
            </a:r>
            <a:r>
              <a:rPr lang="en-US" b="0" dirty="0" smtClean="0"/>
              <a:t> or simply PC, is a fundamental component of a computer's central processing unit (CPU). It is a special register that keeps track of the memory address of the next instruction to be executed in a program.</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INSTRUCTION REGISTER</a:t>
            </a:r>
          </a:p>
          <a:p>
            <a:pPr>
              <a:buNone/>
            </a:pPr>
            <a:r>
              <a:rPr lang="en-US" b="0" dirty="0" smtClean="0"/>
              <a:t>       The </a:t>
            </a:r>
            <a:r>
              <a:rPr lang="en-US" dirty="0" smtClean="0"/>
              <a:t>Instruction Register (IR)</a:t>
            </a:r>
            <a:r>
              <a:rPr lang="en-US" b="0" dirty="0" smtClean="0"/>
              <a:t> is a crucial component of a computer's Central Processing Unit (CPU). It holds the instruction currently being executed or decoded. The IR is part of the control unit of the CPU and plays a vital role in the instruction cycle, which includes fetching, decoding, and executing instructions.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t>Function and Workflow</a:t>
            </a:r>
          </a:p>
          <a:p>
            <a:pPr>
              <a:buNone/>
            </a:pPr>
            <a:r>
              <a:rPr lang="en-US" b="0" dirty="0" smtClean="0"/>
              <a:t>    The instruction register temporarily stores the instruction fetched from memory. This instruction is then decoded to determine the operation to be performed and the operands involved. The decoded instruction is executed by the CPU, and the results are stored back in memory or other registers.</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None/>
            </a:pPr>
            <a:r>
              <a:rPr lang="en-US" dirty="0" smtClean="0"/>
              <a:t>Step-by-Step Process</a:t>
            </a:r>
          </a:p>
          <a:p>
            <a:pPr marL="514350" indent="-514350">
              <a:buFont typeface="+mj-lt"/>
              <a:buAutoNum type="arabicPeriod"/>
            </a:pPr>
            <a:r>
              <a:rPr lang="en-US" dirty="0" smtClean="0"/>
              <a:t>Fetch Phase</a:t>
            </a:r>
            <a:r>
              <a:rPr lang="en-US" b="0" dirty="0" smtClean="0"/>
              <a:t>: The CPU fetches the next instruction from memory and loads it into the instruction register. This step ensures that the CPU knows what operation to execute next.</a:t>
            </a:r>
          </a:p>
          <a:p>
            <a:pPr marL="514350" indent="-514350">
              <a:buFont typeface="+mj-lt"/>
              <a:buAutoNum type="arabicPeriod"/>
            </a:pPr>
            <a:r>
              <a:rPr lang="en-US" dirty="0" smtClean="0"/>
              <a:t>Decode Phase</a:t>
            </a:r>
            <a:r>
              <a:rPr lang="en-US" b="0" dirty="0" smtClean="0"/>
              <a:t>: The instruction in the IR is decoded to interpret the command. This involves determining the operation and the operands.</a:t>
            </a:r>
          </a:p>
          <a:p>
            <a:pPr marL="514350" indent="-514350">
              <a:buFont typeface="+mj-lt"/>
              <a:buAutoNum type="arabicPeriod"/>
            </a:pPr>
            <a:r>
              <a:rPr lang="en-US" dirty="0" smtClean="0"/>
              <a:t>Execute Phase</a:t>
            </a:r>
            <a:r>
              <a:rPr lang="en-US" b="0" dirty="0" smtClean="0"/>
              <a:t>: The decoded instruction is executed. For example, an addition operation would add the contents of two registers and store the result in a third register.</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smtClean="0"/>
              <a:t>Memory Address Register (MAR)</a:t>
            </a:r>
          </a:p>
          <a:p>
            <a:pPr>
              <a:buNone/>
            </a:pPr>
            <a:r>
              <a:rPr lang="en-US" dirty="0" smtClean="0"/>
              <a:t>   </a:t>
            </a:r>
            <a:r>
              <a:rPr lang="en-US" b="0" dirty="0" smtClean="0"/>
              <a:t>The </a:t>
            </a:r>
            <a:r>
              <a:rPr lang="en-US" dirty="0" smtClean="0"/>
              <a:t>Memory Address Register (MAR)</a:t>
            </a:r>
            <a:r>
              <a:rPr lang="en-US" b="0" dirty="0" smtClean="0"/>
              <a:t> is a crucial component within a computer's CPU. It is responsible for storing the memory address from which data will be fetched to the CPU registers or the address to which data will be sent and stored via the system bus. Essentially, the MAR holds the memory location of data that needs to be accessed during the execution phase of an instruction.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1"/>
                </a:solidFill>
              </a:rPr>
              <a:t>Key Functions of MAR</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
            </a:pPr>
            <a:r>
              <a:rPr lang="en-US" dirty="0" smtClean="0"/>
              <a:t>Fetching Data</a:t>
            </a:r>
            <a:r>
              <a:rPr lang="en-US" b="0" dirty="0" smtClean="0"/>
              <a:t>: When the CPU needs to read data from memory, the MAR holds the address of the data to be fetched.</a:t>
            </a:r>
          </a:p>
          <a:p>
            <a:pPr>
              <a:buFont typeface="Wingdings" pitchFamily="2" charset="2"/>
              <a:buChar char="§"/>
            </a:pPr>
            <a:r>
              <a:rPr lang="en-US" dirty="0" smtClean="0"/>
              <a:t>Storing Data</a:t>
            </a:r>
            <a:r>
              <a:rPr lang="en-US" b="0" dirty="0" smtClean="0"/>
              <a:t>: When the CPU needs to write data to memory, the MAR holds the address where the data will be stored.</a:t>
            </a:r>
          </a:p>
          <a:p>
            <a:pPr>
              <a:buFont typeface="Wingdings" pitchFamily="2" charset="2"/>
              <a:buChar char="§"/>
            </a:pPr>
            <a:r>
              <a:rPr lang="en-US" dirty="0" smtClean="0"/>
              <a:t>Coordination with MDR</a:t>
            </a:r>
            <a:r>
              <a:rPr lang="en-US" b="0" dirty="0" smtClean="0"/>
              <a:t>: The MAR works in conjunction with the Memory Data Register (MDR) to facilitate the transfer of data between the CPU and memory.</a:t>
            </a:r>
            <a:endParaRPr lang="en-US"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Memory Data Register (MDR) </a:t>
            </a:r>
          </a:p>
          <a:p>
            <a:pPr>
              <a:buNone/>
            </a:pPr>
            <a:r>
              <a:rPr lang="en-US" b="0" dirty="0" smtClean="0"/>
              <a:t>   The Memory Data Register (MDR) The Memory Data Register (MDR) is a </a:t>
            </a:r>
            <a:r>
              <a:rPr lang="en-US" dirty="0" smtClean="0"/>
              <a:t>crucial component in CPU architecture</a:t>
            </a:r>
            <a:r>
              <a:rPr lang="en-US" b="0" dirty="0" smtClean="0"/>
              <a:t>, serving as a buffer for data during transfer to and from main memory. It works with the Memory Address Register (MAR) to facilitate read and write operations, influencing the speed and efficiency of data processing.</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p:cNvPicPr>
            <a:picLocks noChangeAspect="1" noChangeArrowheads="1"/>
          </p:cNvPicPr>
          <p:nvPr/>
        </p:nvPicPr>
        <p:blipFill>
          <a:blip r:embed="rId2"/>
          <a:srcRect/>
          <a:stretch>
            <a:fillRect/>
          </a:stretch>
        </p:blipFill>
        <p:spPr bwMode="auto">
          <a:xfrm>
            <a:off x="0" y="0"/>
            <a:ext cx="12192000" cy="6238703"/>
          </a:xfrm>
          <a:prstGeom prst="rect">
            <a:avLst/>
          </a:prstGeom>
          <a:noFill/>
          <a:ln w="9525">
            <a:noFill/>
            <a:miter lim="800000"/>
            <a:headEnd/>
            <a:tailEnd/>
          </a:ln>
          <a:effectLst/>
        </p:spPr>
      </p:pic>
      <p:sp>
        <p:nvSpPr>
          <p:cNvPr id="3" name="Rectangle 2"/>
          <p:cNvSpPr/>
          <p:nvPr/>
        </p:nvSpPr>
        <p:spPr>
          <a:xfrm>
            <a:off x="10848109" y="0"/>
            <a:ext cx="1343891" cy="5735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r="1624" b="2282"/>
          <a:stretch>
            <a:fillRect/>
          </a:stretch>
        </p:blipFill>
        <p:spPr bwMode="auto">
          <a:xfrm>
            <a:off x="2585259" y="0"/>
            <a:ext cx="6043352" cy="6134793"/>
          </a:xfrm>
          <a:prstGeom prst="rect">
            <a:avLst/>
          </a:prstGeom>
          <a:noFill/>
          <a:ln w="9525">
            <a:noFill/>
            <a:miter lim="800000"/>
            <a:headEnd/>
            <a:tailEnd/>
          </a:ln>
          <a:effectLst/>
        </p:spPr>
      </p:pic>
      <p:sp>
        <p:nvSpPr>
          <p:cNvPr id="3" name="TextBox 2"/>
          <p:cNvSpPr txBox="1"/>
          <p:nvPr/>
        </p:nvSpPr>
        <p:spPr>
          <a:xfrm>
            <a:off x="2543693" y="6059978"/>
            <a:ext cx="6084917" cy="369332"/>
          </a:xfrm>
          <a:prstGeom prst="rect">
            <a:avLst/>
          </a:prstGeom>
          <a:solidFill>
            <a:schemeClr val="bg1"/>
          </a:solidFill>
        </p:spPr>
        <p:txBody>
          <a:bodyPr wrap="square" rtlCol="0">
            <a:spAutoFit/>
          </a:bodyPr>
          <a:lstStyle/>
          <a:p>
            <a:pPr algn="ctr"/>
            <a:r>
              <a:rPr lang="en-US" dirty="0" smtClean="0"/>
              <a:t>SINGLE BUS ORGANISATION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p:cNvPicPr>
            <a:picLocks noChangeAspect="1" noChangeArrowheads="1"/>
          </p:cNvPicPr>
          <p:nvPr/>
        </p:nvPicPr>
        <p:blipFill>
          <a:blip r:embed="rId2"/>
          <a:srcRect/>
          <a:stretch>
            <a:fillRect/>
          </a:stretch>
        </p:blipFill>
        <p:spPr bwMode="auto">
          <a:xfrm>
            <a:off x="0" y="0"/>
            <a:ext cx="12192000" cy="6137975"/>
          </a:xfrm>
          <a:prstGeom prst="rect">
            <a:avLst/>
          </a:prstGeom>
          <a:noFill/>
          <a:ln w="9525">
            <a:noFill/>
            <a:miter lim="800000"/>
            <a:headEnd/>
            <a:tailEnd/>
          </a:ln>
          <a:effectLst/>
        </p:spPr>
      </p:pic>
      <p:sp>
        <p:nvSpPr>
          <p:cNvPr id="3" name="Rectangle 2"/>
          <p:cNvSpPr/>
          <p:nvPr/>
        </p:nvSpPr>
        <p:spPr>
          <a:xfrm>
            <a:off x="10773295" y="0"/>
            <a:ext cx="1418705" cy="6982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ChangeAspect="1" noChangeArrowheads="1"/>
          </p:cNvPicPr>
          <p:nvPr/>
        </p:nvPicPr>
        <p:blipFill>
          <a:blip r:embed="rId2"/>
          <a:srcRect/>
          <a:stretch>
            <a:fillRect/>
          </a:stretch>
        </p:blipFill>
        <p:spPr bwMode="auto">
          <a:xfrm>
            <a:off x="0" y="0"/>
            <a:ext cx="12192000" cy="6101542"/>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2" name="Picture 2"/>
          <p:cNvPicPr>
            <a:picLocks noChangeAspect="1" noChangeArrowheads="1"/>
          </p:cNvPicPr>
          <p:nvPr/>
        </p:nvPicPr>
        <p:blipFill>
          <a:blip r:embed="rId2"/>
          <a:srcRect/>
          <a:stretch>
            <a:fillRect/>
          </a:stretch>
        </p:blipFill>
        <p:spPr bwMode="auto">
          <a:xfrm>
            <a:off x="-11952" y="0"/>
            <a:ext cx="12203952" cy="6126480"/>
          </a:xfrm>
          <a:prstGeom prst="rect">
            <a:avLst/>
          </a:prstGeom>
          <a:noFill/>
          <a:ln w="9525">
            <a:noFill/>
            <a:miter lim="800000"/>
            <a:headEnd/>
            <a:tailEnd/>
          </a:ln>
          <a:effectLst/>
        </p:spPr>
      </p:pic>
      <p:sp>
        <p:nvSpPr>
          <p:cNvPr id="3" name="Rectangle 2"/>
          <p:cNvSpPr/>
          <p:nvPr/>
        </p:nvSpPr>
        <p:spPr>
          <a:xfrm>
            <a:off x="10981113" y="0"/>
            <a:ext cx="1210887" cy="8063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p:cNvPicPr>
            <a:picLocks noChangeAspect="1" noChangeArrowheads="1"/>
          </p:cNvPicPr>
          <p:nvPr/>
        </p:nvPicPr>
        <p:blipFill>
          <a:blip r:embed="rId2"/>
          <a:srcRect/>
          <a:stretch>
            <a:fillRect/>
          </a:stretch>
        </p:blipFill>
        <p:spPr bwMode="auto">
          <a:xfrm>
            <a:off x="0" y="0"/>
            <a:ext cx="12327775" cy="6164288"/>
          </a:xfrm>
          <a:prstGeom prst="rect">
            <a:avLst/>
          </a:prstGeom>
          <a:noFill/>
          <a:ln w="9525">
            <a:noFill/>
            <a:miter lim="800000"/>
            <a:headEnd/>
            <a:tailEnd/>
          </a:ln>
          <a:effectLst/>
        </p:spPr>
      </p:pic>
      <p:sp>
        <p:nvSpPr>
          <p:cNvPr id="3" name="Rectangle 2"/>
          <p:cNvSpPr/>
          <p:nvPr/>
        </p:nvSpPr>
        <p:spPr>
          <a:xfrm>
            <a:off x="10964487" y="0"/>
            <a:ext cx="1388226" cy="6234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b="0" dirty="0" smtClean="0"/>
              <a:t>DATA PATH</a:t>
            </a:r>
          </a:p>
          <a:p>
            <a:pPr>
              <a:buNone/>
            </a:pPr>
            <a:r>
              <a:rPr lang="en-US" b="0" dirty="0" smtClean="0"/>
              <a:t>A </a:t>
            </a:r>
            <a:r>
              <a:rPr lang="en-US" dirty="0" smtClean="0"/>
              <a:t>data path</a:t>
            </a:r>
            <a:r>
              <a:rPr lang="en-US" b="0" dirty="0" smtClean="0"/>
              <a:t> (or </a:t>
            </a:r>
            <a:r>
              <a:rPr lang="en-US" b="0" dirty="0" err="1" smtClean="0"/>
              <a:t>datapath</a:t>
            </a:r>
            <a:r>
              <a:rPr lang="en-US" b="0" dirty="0" smtClean="0"/>
              <a:t>) is a critical component of a computer's architecture, consisting of various functional units such as:</a:t>
            </a:r>
          </a:p>
          <a:p>
            <a:pPr marL="514350" indent="-514350">
              <a:buFont typeface="Wingdings" pitchFamily="2" charset="2"/>
              <a:buChar char="§"/>
            </a:pPr>
            <a:r>
              <a:rPr lang="en-US" dirty="0" smtClean="0"/>
              <a:t>Arithmetic Logic Units (ALUs)</a:t>
            </a:r>
            <a:r>
              <a:rPr lang="en-US" b="0" dirty="0" smtClean="0"/>
              <a:t>: Perform arithmetic and logical operations.</a:t>
            </a:r>
          </a:p>
          <a:p>
            <a:pPr marL="514350" indent="-514350">
              <a:buFont typeface="Wingdings" pitchFamily="2" charset="2"/>
              <a:buChar char="§"/>
            </a:pPr>
            <a:r>
              <a:rPr lang="en-US" dirty="0" smtClean="0"/>
              <a:t>Registers</a:t>
            </a:r>
            <a:r>
              <a:rPr lang="en-US" b="0" dirty="0" smtClean="0"/>
              <a:t>: Temporary storage locations for data being processed.</a:t>
            </a:r>
          </a:p>
          <a:p>
            <a:pPr marL="514350" indent="-514350">
              <a:buFont typeface="Wingdings" pitchFamily="2" charset="2"/>
              <a:buChar char="§"/>
            </a:pPr>
            <a:r>
              <a:rPr lang="en-US" dirty="0" err="1" smtClean="0"/>
              <a:t>Buses</a:t>
            </a:r>
            <a:r>
              <a:rPr lang="en-US" b="0" dirty="0" err="1" smtClean="0"/>
              <a:t>:Communication</a:t>
            </a:r>
            <a:r>
              <a:rPr lang="en-US" b="0" dirty="0" smtClean="0"/>
              <a:t> pathways that transfer data between components within the CPU.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cap="none" dirty="0" smtClean="0"/>
              <a:t>An Instruction Can Be Executed By Performing One Or More Of The Following Operations</a:t>
            </a:r>
            <a:endParaRPr lang="en-US" cap="none" dirty="0"/>
          </a:p>
        </p:txBody>
      </p:sp>
      <p:sp>
        <p:nvSpPr>
          <p:cNvPr id="3" name="Content Placeholder 2"/>
          <p:cNvSpPr>
            <a:spLocks noGrp="1"/>
          </p:cNvSpPr>
          <p:nvPr>
            <p:ph idx="1"/>
          </p:nvPr>
        </p:nvSpPr>
        <p:spPr/>
        <p:txBody>
          <a:bodyPr>
            <a:normAutofit lnSpcReduction="10000"/>
          </a:bodyPr>
          <a:lstStyle/>
          <a:p>
            <a:r>
              <a:rPr lang="en-US" dirty="0" smtClean="0"/>
              <a:t> Transfer a word of data from one processor register to another or to the ALU</a:t>
            </a:r>
          </a:p>
          <a:p>
            <a:r>
              <a:rPr lang="en-US" dirty="0" smtClean="0"/>
              <a:t>Perform an arithmetic or a logic operation and store the result in a processor register </a:t>
            </a:r>
          </a:p>
          <a:p>
            <a:r>
              <a:rPr lang="en-US" dirty="0" smtClean="0"/>
              <a:t>Fetch the contents of given memory location and load them into processor register</a:t>
            </a:r>
          </a:p>
          <a:p>
            <a:r>
              <a:rPr lang="en-US" dirty="0" smtClean="0"/>
              <a:t>Store  a word of data from a processor register into a given memory location</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p:cNvSpPr>
          <p:nvPr>
            <p:ph sz="quarter" idx="1"/>
          </p:nvPr>
        </p:nvSpPr>
        <p:spPr>
          <a:xfrm>
            <a:off x="0" y="1447800"/>
            <a:ext cx="10972800" cy="4953000"/>
          </a:xfrm>
        </p:spPr>
        <p:txBody>
          <a:bodyPr/>
          <a:lstStyle/>
          <a:p>
            <a:pPr eaLnBrk="1" hangingPunct="1"/>
            <a:r>
              <a:rPr lang="en-US" altLang="en-US" u="sng"/>
              <a:t>An Instruction code </a:t>
            </a:r>
            <a:r>
              <a:rPr lang="en-US" altLang="en-US"/>
              <a:t> is a group of bits that instructs the computer to perform a specific operation.</a:t>
            </a:r>
          </a:p>
          <a:p>
            <a:pPr eaLnBrk="1" hangingPunct="1"/>
            <a:endParaRPr lang="en-US" altLang="en-US"/>
          </a:p>
          <a:p>
            <a:pPr eaLnBrk="1" hangingPunct="1"/>
            <a:r>
              <a:rPr lang="en-US" altLang="en-US"/>
              <a:t> It is divided into two parts and the most important parts of an instruction code is its </a:t>
            </a:r>
            <a:r>
              <a:rPr lang="en-US" altLang="en-US" sz="3200" u="sng">
                <a:solidFill>
                  <a:srgbClr val="C00000"/>
                </a:solidFill>
              </a:rPr>
              <a:t>operation code or opcode.</a:t>
            </a:r>
            <a:r>
              <a:rPr lang="en-US" altLang="en-US" sz="3200">
                <a:solidFill>
                  <a:srgbClr val="C00000"/>
                </a:solidFill>
              </a:rPr>
              <a:t> </a:t>
            </a:r>
            <a:r>
              <a:rPr lang="en-US" altLang="en-US"/>
              <a:t>The second part is the address part which specifies the memory address.</a:t>
            </a:r>
            <a:endParaRPr lang="en-US" altLang="en-US" u="sng"/>
          </a:p>
          <a:p>
            <a:pPr eaLnBrk="1" hangingPunct="1"/>
            <a:endParaRPr lang="en-US" altLang="en-US" u="sng"/>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Picture 2"/>
          <p:cNvPicPr>
            <a:picLocks noChangeAspect="1" noChangeArrowheads="1"/>
          </p:cNvPicPr>
          <p:nvPr/>
        </p:nvPicPr>
        <p:blipFill>
          <a:blip r:embed="rId2"/>
          <a:srcRect/>
          <a:stretch>
            <a:fillRect/>
          </a:stretch>
        </p:blipFill>
        <p:spPr bwMode="auto">
          <a:xfrm>
            <a:off x="976833" y="734117"/>
            <a:ext cx="8926512" cy="485775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p:cNvPicPr>
            <a:picLocks noChangeAspect="1" noChangeArrowheads="1"/>
          </p:cNvPicPr>
          <p:nvPr/>
        </p:nvPicPr>
        <p:blipFill>
          <a:blip r:embed="rId2"/>
          <a:srcRect/>
          <a:stretch>
            <a:fillRect/>
          </a:stretch>
        </p:blipFill>
        <p:spPr bwMode="auto">
          <a:xfrm>
            <a:off x="-1" y="-39807"/>
            <a:ext cx="12192001" cy="6181556"/>
          </a:xfrm>
          <a:prstGeom prst="rect">
            <a:avLst/>
          </a:prstGeom>
          <a:noFill/>
          <a:ln w="9525">
            <a:noFill/>
            <a:miter lim="800000"/>
            <a:headEnd/>
            <a:tailEnd/>
          </a:ln>
          <a:effectLst/>
        </p:spPr>
      </p:pic>
      <p:sp>
        <p:nvSpPr>
          <p:cNvPr id="3" name="Rectangle 2"/>
          <p:cNvSpPr/>
          <p:nvPr/>
        </p:nvSpPr>
        <p:spPr>
          <a:xfrm>
            <a:off x="11114116" y="0"/>
            <a:ext cx="1077884" cy="6317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ChangeAspect="1" noChangeArrowheads="1"/>
          </p:cNvPicPr>
          <p:nvPr/>
        </p:nvPicPr>
        <p:blipFill>
          <a:blip r:embed="rId2"/>
          <a:srcRect/>
          <a:stretch>
            <a:fillRect/>
          </a:stretch>
        </p:blipFill>
        <p:spPr bwMode="auto">
          <a:xfrm>
            <a:off x="0" y="-119529"/>
            <a:ext cx="12192000" cy="6246211"/>
          </a:xfrm>
          <a:prstGeom prst="rect">
            <a:avLst/>
          </a:prstGeom>
          <a:noFill/>
          <a:ln w="9525">
            <a:noFill/>
            <a:miter lim="800000"/>
            <a:headEnd/>
            <a:tailEnd/>
          </a:ln>
          <a:effectLst/>
        </p:spPr>
      </p:pic>
      <p:sp>
        <p:nvSpPr>
          <p:cNvPr id="3" name="Rectangle 2"/>
          <p:cNvSpPr/>
          <p:nvPr/>
        </p:nvSpPr>
        <p:spPr>
          <a:xfrm>
            <a:off x="11147367" y="-116378"/>
            <a:ext cx="1044633" cy="939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2"/>
          <p:cNvPicPr>
            <a:picLocks noChangeAspect="1" noChangeArrowheads="1"/>
          </p:cNvPicPr>
          <p:nvPr/>
        </p:nvPicPr>
        <p:blipFill>
          <a:blip r:embed="rId2"/>
          <a:srcRect r="6527"/>
          <a:stretch>
            <a:fillRect/>
          </a:stretch>
        </p:blipFill>
        <p:spPr bwMode="auto">
          <a:xfrm>
            <a:off x="885168" y="1188720"/>
            <a:ext cx="8632905" cy="433670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154626" name="Picture 2"/>
          <p:cNvPicPr>
            <a:picLocks noChangeAspect="1" noChangeArrowheads="1"/>
          </p:cNvPicPr>
          <p:nvPr/>
        </p:nvPicPr>
        <p:blipFill>
          <a:blip r:embed="rId2"/>
          <a:srcRect/>
          <a:stretch>
            <a:fillRect/>
          </a:stretch>
        </p:blipFill>
        <p:spPr bwMode="auto">
          <a:xfrm>
            <a:off x="0" y="0"/>
            <a:ext cx="12192000" cy="6105356"/>
          </a:xfrm>
          <a:prstGeom prst="rect">
            <a:avLst/>
          </a:prstGeom>
          <a:noFill/>
          <a:ln w="9525">
            <a:noFill/>
            <a:miter lim="800000"/>
            <a:headEnd/>
            <a:tailEnd/>
          </a:ln>
          <a:effectLst/>
        </p:spPr>
      </p:pic>
      <p:sp>
        <p:nvSpPr>
          <p:cNvPr id="5" name="Rectangle 4"/>
          <p:cNvSpPr/>
          <p:nvPr/>
        </p:nvSpPr>
        <p:spPr>
          <a:xfrm>
            <a:off x="11114116" y="0"/>
            <a:ext cx="1180408" cy="10723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endParaRPr lang="en-US" altLang="en-US">
              <a:solidFill>
                <a:srgbClr val="7B9899"/>
              </a:solidFill>
            </a:endParaRPr>
          </a:p>
        </p:txBody>
      </p:sp>
      <p:sp>
        <p:nvSpPr>
          <p:cNvPr id="46083" name="Text Box 4"/>
          <p:cNvSpPr txBox="1">
            <a:spLocks noChangeArrowheads="1"/>
          </p:cNvSpPr>
          <p:nvPr/>
        </p:nvSpPr>
        <p:spPr bwMode="auto">
          <a:xfrm>
            <a:off x="914400" y="2133601"/>
            <a:ext cx="9855200" cy="461963"/>
          </a:xfrm>
          <a:prstGeom prst="rect">
            <a:avLst/>
          </a:prstGeom>
          <a:noFill/>
          <a:ln w="9525">
            <a:noFill/>
            <a:miter lim="800000"/>
            <a:headEnd/>
            <a:tailEnd/>
          </a:ln>
        </p:spPr>
        <p:txBody>
          <a:bodyPr>
            <a:spAutoFit/>
          </a:bodyPr>
          <a:lstStyle/>
          <a:p>
            <a:pPr>
              <a:spcBef>
                <a:spcPct val="50000"/>
              </a:spcBef>
            </a:pPr>
            <a:endParaRPr lang="en-US" altLang="en-US" sz="2400" b="1">
              <a:latin typeface="Arial" charset="0"/>
            </a:endParaRPr>
          </a:p>
        </p:txBody>
      </p:sp>
      <p:sp>
        <p:nvSpPr>
          <p:cNvPr id="46084" name="Text Box 22"/>
          <p:cNvSpPr txBox="1">
            <a:spLocks noChangeArrowheads="1"/>
          </p:cNvSpPr>
          <p:nvPr/>
        </p:nvSpPr>
        <p:spPr bwMode="auto">
          <a:xfrm>
            <a:off x="2844800" y="2343151"/>
            <a:ext cx="6197600" cy="461963"/>
          </a:xfrm>
          <a:prstGeom prst="rect">
            <a:avLst/>
          </a:prstGeom>
          <a:noFill/>
          <a:ln w="9525">
            <a:noFill/>
            <a:miter lim="800000"/>
            <a:headEnd/>
            <a:tailEnd/>
          </a:ln>
        </p:spPr>
        <p:txBody>
          <a:bodyPr>
            <a:spAutoFit/>
          </a:bodyPr>
          <a:lstStyle/>
          <a:p>
            <a:pPr>
              <a:spcBef>
                <a:spcPct val="50000"/>
              </a:spcBef>
            </a:pPr>
            <a:endParaRPr lang="en-US" altLang="en-US" sz="2400" b="1">
              <a:latin typeface="Arial" charset="0"/>
            </a:endParaRPr>
          </a:p>
        </p:txBody>
      </p:sp>
      <p:sp>
        <p:nvSpPr>
          <p:cNvPr id="46085" name="Rectangle 23"/>
          <p:cNvSpPr>
            <a:spLocks noChangeArrowheads="1"/>
          </p:cNvSpPr>
          <p:nvPr/>
        </p:nvSpPr>
        <p:spPr bwMode="auto">
          <a:xfrm>
            <a:off x="4389967" y="2154238"/>
            <a:ext cx="3556000" cy="457200"/>
          </a:xfrm>
          <a:prstGeom prst="rect">
            <a:avLst/>
          </a:prstGeom>
          <a:noFill/>
          <a:ln w="38100">
            <a:solidFill>
              <a:schemeClr val="tx1"/>
            </a:solidFill>
            <a:miter lim="800000"/>
            <a:headEnd/>
            <a:tailEnd/>
          </a:ln>
        </p:spPr>
        <p:txBody>
          <a:bodyPr wrap="none" anchor="ctr"/>
          <a:lstStyle/>
          <a:p>
            <a:endParaRPr lang="en-US" altLang="en-US" sz="2400" b="1"/>
          </a:p>
        </p:txBody>
      </p:sp>
      <p:sp>
        <p:nvSpPr>
          <p:cNvPr id="46086" name="Line 24"/>
          <p:cNvSpPr>
            <a:spLocks noChangeShapeType="1"/>
          </p:cNvSpPr>
          <p:nvPr/>
        </p:nvSpPr>
        <p:spPr bwMode="auto">
          <a:xfrm>
            <a:off x="4923367" y="2154238"/>
            <a:ext cx="0" cy="457200"/>
          </a:xfrm>
          <a:prstGeom prst="line">
            <a:avLst/>
          </a:prstGeom>
          <a:noFill/>
          <a:ln w="38100">
            <a:solidFill>
              <a:schemeClr val="tx1"/>
            </a:solidFill>
            <a:round/>
            <a:headEnd/>
            <a:tailEnd/>
          </a:ln>
        </p:spPr>
        <p:txBody>
          <a:bodyPr/>
          <a:lstStyle/>
          <a:p>
            <a:endParaRPr lang="en-US"/>
          </a:p>
        </p:txBody>
      </p:sp>
      <p:sp>
        <p:nvSpPr>
          <p:cNvPr id="46087" name="Line 25"/>
          <p:cNvSpPr>
            <a:spLocks noChangeShapeType="1"/>
          </p:cNvSpPr>
          <p:nvPr/>
        </p:nvSpPr>
        <p:spPr bwMode="auto">
          <a:xfrm>
            <a:off x="5913967" y="2154238"/>
            <a:ext cx="0" cy="457200"/>
          </a:xfrm>
          <a:prstGeom prst="line">
            <a:avLst/>
          </a:prstGeom>
          <a:noFill/>
          <a:ln w="38100">
            <a:solidFill>
              <a:schemeClr val="tx1"/>
            </a:solidFill>
            <a:round/>
            <a:headEnd/>
            <a:tailEnd/>
          </a:ln>
        </p:spPr>
        <p:txBody>
          <a:bodyPr/>
          <a:lstStyle/>
          <a:p>
            <a:endParaRPr lang="en-US"/>
          </a:p>
        </p:txBody>
      </p:sp>
      <p:sp>
        <p:nvSpPr>
          <p:cNvPr id="46088" name="Text Box 26"/>
          <p:cNvSpPr txBox="1">
            <a:spLocks noChangeArrowheads="1"/>
          </p:cNvSpPr>
          <p:nvPr/>
        </p:nvSpPr>
        <p:spPr bwMode="auto">
          <a:xfrm>
            <a:off x="4495800" y="2209801"/>
            <a:ext cx="356188" cy="461665"/>
          </a:xfrm>
          <a:prstGeom prst="rect">
            <a:avLst/>
          </a:prstGeom>
          <a:noFill/>
          <a:ln w="38100">
            <a:noFill/>
            <a:miter lim="800000"/>
            <a:headEnd/>
            <a:tailEnd/>
          </a:ln>
        </p:spPr>
        <p:txBody>
          <a:bodyPr wrap="none">
            <a:spAutoFit/>
          </a:bodyPr>
          <a:lstStyle/>
          <a:p>
            <a:r>
              <a:rPr lang="en-US" altLang="en-US" sz="2400" b="1">
                <a:latin typeface="Arial" charset="0"/>
              </a:rPr>
              <a:t>1</a:t>
            </a:r>
          </a:p>
        </p:txBody>
      </p:sp>
      <p:sp>
        <p:nvSpPr>
          <p:cNvPr id="46089" name="Text Box 27"/>
          <p:cNvSpPr txBox="1">
            <a:spLocks noChangeArrowheads="1"/>
          </p:cNvSpPr>
          <p:nvPr/>
        </p:nvSpPr>
        <p:spPr bwMode="auto">
          <a:xfrm>
            <a:off x="5080001" y="2190750"/>
            <a:ext cx="684803" cy="369332"/>
          </a:xfrm>
          <a:prstGeom prst="rect">
            <a:avLst/>
          </a:prstGeom>
          <a:noFill/>
          <a:ln w="38100">
            <a:noFill/>
            <a:miter lim="800000"/>
            <a:headEnd/>
            <a:tailEnd/>
          </a:ln>
        </p:spPr>
        <p:txBody>
          <a:bodyPr wrap="none">
            <a:spAutoFit/>
          </a:bodyPr>
          <a:lstStyle/>
          <a:p>
            <a:r>
              <a:rPr lang="en-US" altLang="en-US" b="1">
                <a:latin typeface="Arial" charset="0"/>
              </a:rPr>
              <a:t>ADD</a:t>
            </a:r>
          </a:p>
        </p:txBody>
      </p:sp>
      <p:sp>
        <p:nvSpPr>
          <p:cNvPr id="46090" name="Text Box 28"/>
          <p:cNvSpPr txBox="1">
            <a:spLocks noChangeArrowheads="1"/>
          </p:cNvSpPr>
          <p:nvPr/>
        </p:nvSpPr>
        <p:spPr bwMode="auto">
          <a:xfrm>
            <a:off x="6604000" y="2168526"/>
            <a:ext cx="699230" cy="461665"/>
          </a:xfrm>
          <a:prstGeom prst="rect">
            <a:avLst/>
          </a:prstGeom>
          <a:noFill/>
          <a:ln w="38100">
            <a:noFill/>
            <a:miter lim="800000"/>
            <a:headEnd/>
            <a:tailEnd/>
          </a:ln>
        </p:spPr>
        <p:txBody>
          <a:bodyPr wrap="none">
            <a:spAutoFit/>
          </a:bodyPr>
          <a:lstStyle/>
          <a:p>
            <a:r>
              <a:rPr lang="en-US" altLang="en-US" sz="2400" b="1">
                <a:latin typeface="Arial" charset="0"/>
              </a:rPr>
              <a:t>300</a:t>
            </a:r>
          </a:p>
        </p:txBody>
      </p:sp>
      <p:sp>
        <p:nvSpPr>
          <p:cNvPr id="46091" name="Text Box 29"/>
          <p:cNvSpPr txBox="1">
            <a:spLocks noChangeArrowheads="1"/>
          </p:cNvSpPr>
          <p:nvPr/>
        </p:nvSpPr>
        <p:spPr bwMode="auto">
          <a:xfrm>
            <a:off x="5080000" y="1828800"/>
            <a:ext cx="1366080" cy="461665"/>
          </a:xfrm>
          <a:prstGeom prst="rect">
            <a:avLst/>
          </a:prstGeom>
          <a:noFill/>
          <a:ln w="38100">
            <a:noFill/>
            <a:miter lim="800000"/>
            <a:headEnd/>
            <a:tailEnd/>
          </a:ln>
        </p:spPr>
        <p:txBody>
          <a:bodyPr wrap="none">
            <a:spAutoFit/>
          </a:bodyPr>
          <a:lstStyle/>
          <a:p>
            <a:r>
              <a:rPr lang="en-US" altLang="en-US" sz="2400" b="1">
                <a:latin typeface="Arial" charset="0"/>
              </a:rPr>
              <a:t>Memory</a:t>
            </a:r>
          </a:p>
        </p:txBody>
      </p:sp>
      <p:sp>
        <p:nvSpPr>
          <p:cNvPr id="46092" name="Text Box 30"/>
          <p:cNvSpPr txBox="1">
            <a:spLocks noChangeArrowheads="1"/>
          </p:cNvSpPr>
          <p:nvPr/>
        </p:nvSpPr>
        <p:spPr bwMode="auto">
          <a:xfrm>
            <a:off x="3759200" y="2247901"/>
            <a:ext cx="527709" cy="461665"/>
          </a:xfrm>
          <a:prstGeom prst="rect">
            <a:avLst/>
          </a:prstGeom>
          <a:noFill/>
          <a:ln w="38100">
            <a:noFill/>
            <a:miter lim="800000"/>
            <a:headEnd/>
            <a:tailEnd/>
          </a:ln>
        </p:spPr>
        <p:txBody>
          <a:bodyPr wrap="none">
            <a:spAutoFit/>
          </a:bodyPr>
          <a:lstStyle/>
          <a:p>
            <a:r>
              <a:rPr lang="en-US" altLang="en-US" sz="2400" b="1">
                <a:latin typeface="Arial" charset="0"/>
              </a:rPr>
              <a:t>35</a:t>
            </a:r>
          </a:p>
        </p:txBody>
      </p:sp>
      <p:sp>
        <p:nvSpPr>
          <p:cNvPr id="46093" name="Line 31"/>
          <p:cNvSpPr>
            <a:spLocks noChangeShapeType="1"/>
          </p:cNvSpPr>
          <p:nvPr/>
        </p:nvSpPr>
        <p:spPr bwMode="auto">
          <a:xfrm>
            <a:off x="4368800" y="2171700"/>
            <a:ext cx="0" cy="3505200"/>
          </a:xfrm>
          <a:prstGeom prst="line">
            <a:avLst/>
          </a:prstGeom>
          <a:noFill/>
          <a:ln w="38100">
            <a:solidFill>
              <a:schemeClr val="tx1"/>
            </a:solidFill>
            <a:round/>
            <a:headEnd/>
            <a:tailEnd/>
          </a:ln>
        </p:spPr>
        <p:txBody>
          <a:bodyPr/>
          <a:lstStyle/>
          <a:p>
            <a:endParaRPr lang="en-US"/>
          </a:p>
        </p:txBody>
      </p:sp>
      <p:sp>
        <p:nvSpPr>
          <p:cNvPr id="46094" name="Line 32"/>
          <p:cNvSpPr>
            <a:spLocks noChangeShapeType="1"/>
          </p:cNvSpPr>
          <p:nvPr/>
        </p:nvSpPr>
        <p:spPr bwMode="auto">
          <a:xfrm>
            <a:off x="7924800" y="2171700"/>
            <a:ext cx="0" cy="3467100"/>
          </a:xfrm>
          <a:prstGeom prst="line">
            <a:avLst/>
          </a:prstGeom>
          <a:noFill/>
          <a:ln w="38100">
            <a:solidFill>
              <a:schemeClr val="tx1"/>
            </a:solidFill>
            <a:round/>
            <a:headEnd/>
            <a:tailEnd/>
          </a:ln>
        </p:spPr>
        <p:txBody>
          <a:bodyPr/>
          <a:lstStyle/>
          <a:p>
            <a:endParaRPr lang="en-US"/>
          </a:p>
        </p:txBody>
      </p:sp>
      <p:sp>
        <p:nvSpPr>
          <p:cNvPr id="46095" name="Freeform 33"/>
          <p:cNvSpPr>
            <a:spLocks/>
          </p:cNvSpPr>
          <p:nvPr/>
        </p:nvSpPr>
        <p:spPr bwMode="auto">
          <a:xfrm>
            <a:off x="4394200" y="5238750"/>
            <a:ext cx="3556000" cy="622300"/>
          </a:xfrm>
          <a:custGeom>
            <a:avLst/>
            <a:gdLst>
              <a:gd name="T0" fmla="*/ 0 w 1680"/>
              <a:gd name="T1" fmla="*/ 2147483646 h 392"/>
              <a:gd name="T2" fmla="*/ 2147483646 w 1680"/>
              <a:gd name="T3" fmla="*/ 2147483646 h 392"/>
              <a:gd name="T4" fmla="*/ 2147483646 w 1680"/>
              <a:gd name="T5" fmla="*/ 2147483646 h 392"/>
              <a:gd name="T6" fmla="*/ 2147483646 w 1680"/>
              <a:gd name="T7" fmla="*/ 2147483646 h 392"/>
              <a:gd name="T8" fmla="*/ 0 60000 65536"/>
              <a:gd name="T9" fmla="*/ 0 60000 65536"/>
              <a:gd name="T10" fmla="*/ 0 60000 65536"/>
              <a:gd name="T11" fmla="*/ 0 60000 65536"/>
              <a:gd name="T12" fmla="*/ 0 w 1680"/>
              <a:gd name="T13" fmla="*/ 0 h 392"/>
              <a:gd name="T14" fmla="*/ 1680 w 1680"/>
              <a:gd name="T15" fmla="*/ 392 h 392"/>
            </a:gdLst>
            <a:ahLst/>
            <a:cxnLst>
              <a:cxn ang="T8">
                <a:pos x="T0" y="T1"/>
              </a:cxn>
              <a:cxn ang="T9">
                <a:pos x="T2" y="T3"/>
              </a:cxn>
              <a:cxn ang="T10">
                <a:pos x="T4" y="T5"/>
              </a:cxn>
              <a:cxn ang="T11">
                <a:pos x="T6" y="T7"/>
              </a:cxn>
            </a:cxnLst>
            <a:rect l="T12" t="T13" r="T14" b="T15"/>
            <a:pathLst>
              <a:path w="1680" h="392">
                <a:moveTo>
                  <a:pt x="0" y="256"/>
                </a:moveTo>
                <a:cubicBezTo>
                  <a:pt x="100" y="128"/>
                  <a:pt x="200" y="0"/>
                  <a:pt x="384" y="16"/>
                </a:cubicBezTo>
                <a:cubicBezTo>
                  <a:pt x="568" y="32"/>
                  <a:pt x="888" y="312"/>
                  <a:pt x="1104" y="352"/>
                </a:cubicBezTo>
                <a:cubicBezTo>
                  <a:pt x="1320" y="392"/>
                  <a:pt x="1584" y="272"/>
                  <a:pt x="1680" y="256"/>
                </a:cubicBezTo>
              </a:path>
            </a:pathLst>
          </a:custGeom>
          <a:noFill/>
          <a:ln w="38100">
            <a:solidFill>
              <a:schemeClr val="tx1"/>
            </a:solidFill>
            <a:round/>
            <a:headEnd/>
            <a:tailEnd/>
          </a:ln>
        </p:spPr>
        <p:txBody>
          <a:bodyPr/>
          <a:lstStyle/>
          <a:p>
            <a:endParaRPr lang="en-US"/>
          </a:p>
        </p:txBody>
      </p:sp>
      <p:sp>
        <p:nvSpPr>
          <p:cNvPr id="46096" name="Line 34"/>
          <p:cNvSpPr>
            <a:spLocks noChangeShapeType="1"/>
          </p:cNvSpPr>
          <p:nvPr/>
        </p:nvSpPr>
        <p:spPr bwMode="auto">
          <a:xfrm>
            <a:off x="4368800" y="5048250"/>
            <a:ext cx="3556000" cy="0"/>
          </a:xfrm>
          <a:prstGeom prst="line">
            <a:avLst/>
          </a:prstGeom>
          <a:noFill/>
          <a:ln w="38100">
            <a:solidFill>
              <a:schemeClr val="tx1"/>
            </a:solidFill>
            <a:round/>
            <a:headEnd/>
            <a:tailEnd/>
          </a:ln>
        </p:spPr>
        <p:txBody>
          <a:bodyPr/>
          <a:lstStyle/>
          <a:p>
            <a:endParaRPr lang="en-US"/>
          </a:p>
        </p:txBody>
      </p:sp>
      <p:sp>
        <p:nvSpPr>
          <p:cNvPr id="46097" name="Line 35"/>
          <p:cNvSpPr>
            <a:spLocks noChangeShapeType="1"/>
          </p:cNvSpPr>
          <p:nvPr/>
        </p:nvSpPr>
        <p:spPr bwMode="auto">
          <a:xfrm>
            <a:off x="4368800" y="4667250"/>
            <a:ext cx="3556000" cy="0"/>
          </a:xfrm>
          <a:prstGeom prst="line">
            <a:avLst/>
          </a:prstGeom>
          <a:noFill/>
          <a:ln w="38100">
            <a:solidFill>
              <a:schemeClr val="tx1"/>
            </a:solidFill>
            <a:round/>
            <a:headEnd/>
            <a:tailEnd/>
          </a:ln>
        </p:spPr>
        <p:txBody>
          <a:bodyPr/>
          <a:lstStyle/>
          <a:p>
            <a:endParaRPr lang="en-US"/>
          </a:p>
        </p:txBody>
      </p:sp>
      <p:sp>
        <p:nvSpPr>
          <p:cNvPr id="46098" name="Text Box 36"/>
          <p:cNvSpPr txBox="1">
            <a:spLocks noChangeArrowheads="1"/>
          </p:cNvSpPr>
          <p:nvPr/>
        </p:nvSpPr>
        <p:spPr bwMode="auto">
          <a:xfrm>
            <a:off x="5283200" y="4667251"/>
            <a:ext cx="1449436" cy="461665"/>
          </a:xfrm>
          <a:prstGeom prst="rect">
            <a:avLst/>
          </a:prstGeom>
          <a:noFill/>
          <a:ln w="38100">
            <a:noFill/>
            <a:miter lim="800000"/>
            <a:headEnd/>
            <a:tailEnd/>
          </a:ln>
        </p:spPr>
        <p:txBody>
          <a:bodyPr wrap="none">
            <a:spAutoFit/>
          </a:bodyPr>
          <a:lstStyle/>
          <a:p>
            <a:r>
              <a:rPr lang="en-US" altLang="en-US" sz="2400" b="1">
                <a:latin typeface="Arial" charset="0"/>
              </a:rPr>
              <a:t>Operand</a:t>
            </a:r>
          </a:p>
        </p:txBody>
      </p:sp>
      <p:sp>
        <p:nvSpPr>
          <p:cNvPr id="46099" name="Text Box 37"/>
          <p:cNvSpPr txBox="1">
            <a:spLocks noChangeArrowheads="1"/>
          </p:cNvSpPr>
          <p:nvPr/>
        </p:nvSpPr>
        <p:spPr bwMode="auto">
          <a:xfrm>
            <a:off x="3378200" y="4629151"/>
            <a:ext cx="870751" cy="461665"/>
          </a:xfrm>
          <a:prstGeom prst="rect">
            <a:avLst/>
          </a:prstGeom>
          <a:noFill/>
          <a:ln w="38100">
            <a:noFill/>
            <a:miter lim="800000"/>
            <a:headEnd/>
            <a:tailEnd/>
          </a:ln>
        </p:spPr>
        <p:txBody>
          <a:bodyPr wrap="none">
            <a:spAutoFit/>
          </a:bodyPr>
          <a:lstStyle/>
          <a:p>
            <a:r>
              <a:rPr lang="en-US" altLang="en-US" sz="2400" b="1">
                <a:latin typeface="Arial" charset="0"/>
              </a:rPr>
              <a:t>1350</a:t>
            </a:r>
          </a:p>
        </p:txBody>
      </p:sp>
      <p:sp>
        <p:nvSpPr>
          <p:cNvPr id="46100" name="Line 42"/>
          <p:cNvSpPr>
            <a:spLocks noChangeShapeType="1"/>
          </p:cNvSpPr>
          <p:nvPr/>
        </p:nvSpPr>
        <p:spPr bwMode="auto">
          <a:xfrm>
            <a:off x="4368800" y="3771900"/>
            <a:ext cx="3556000" cy="0"/>
          </a:xfrm>
          <a:prstGeom prst="line">
            <a:avLst/>
          </a:prstGeom>
          <a:noFill/>
          <a:ln w="38100">
            <a:solidFill>
              <a:schemeClr val="tx1"/>
            </a:solidFill>
            <a:round/>
            <a:headEnd/>
            <a:tailEnd/>
          </a:ln>
        </p:spPr>
        <p:txBody>
          <a:bodyPr/>
          <a:lstStyle/>
          <a:p>
            <a:endParaRPr lang="en-US"/>
          </a:p>
        </p:txBody>
      </p:sp>
      <p:sp>
        <p:nvSpPr>
          <p:cNvPr id="46101" name="Line 43"/>
          <p:cNvSpPr>
            <a:spLocks noChangeShapeType="1"/>
          </p:cNvSpPr>
          <p:nvPr/>
        </p:nvSpPr>
        <p:spPr bwMode="auto">
          <a:xfrm>
            <a:off x="4368800" y="3390900"/>
            <a:ext cx="3556000" cy="0"/>
          </a:xfrm>
          <a:prstGeom prst="line">
            <a:avLst/>
          </a:prstGeom>
          <a:noFill/>
          <a:ln w="38100">
            <a:solidFill>
              <a:schemeClr val="tx1"/>
            </a:solidFill>
            <a:round/>
            <a:headEnd/>
            <a:tailEnd/>
          </a:ln>
        </p:spPr>
        <p:txBody>
          <a:bodyPr/>
          <a:lstStyle/>
          <a:p>
            <a:endParaRPr lang="en-US"/>
          </a:p>
        </p:txBody>
      </p:sp>
      <p:sp>
        <p:nvSpPr>
          <p:cNvPr id="46102" name="Text Box 44"/>
          <p:cNvSpPr txBox="1">
            <a:spLocks noChangeArrowheads="1"/>
          </p:cNvSpPr>
          <p:nvPr/>
        </p:nvSpPr>
        <p:spPr bwMode="auto">
          <a:xfrm>
            <a:off x="5283200" y="3390901"/>
            <a:ext cx="870751" cy="461665"/>
          </a:xfrm>
          <a:prstGeom prst="rect">
            <a:avLst/>
          </a:prstGeom>
          <a:noFill/>
          <a:ln w="38100">
            <a:noFill/>
            <a:miter lim="800000"/>
            <a:headEnd/>
            <a:tailEnd/>
          </a:ln>
        </p:spPr>
        <p:txBody>
          <a:bodyPr wrap="none">
            <a:spAutoFit/>
          </a:bodyPr>
          <a:lstStyle/>
          <a:p>
            <a:r>
              <a:rPr lang="en-US" altLang="en-US" sz="2400" b="1">
                <a:latin typeface="Arial" charset="0"/>
              </a:rPr>
              <a:t>1350</a:t>
            </a:r>
          </a:p>
        </p:txBody>
      </p:sp>
      <p:sp>
        <p:nvSpPr>
          <p:cNvPr id="46103" name="Text Box 45"/>
          <p:cNvSpPr txBox="1">
            <a:spLocks noChangeArrowheads="1"/>
          </p:cNvSpPr>
          <p:nvPr/>
        </p:nvSpPr>
        <p:spPr bwMode="auto">
          <a:xfrm>
            <a:off x="3556000" y="3390901"/>
            <a:ext cx="699230" cy="461665"/>
          </a:xfrm>
          <a:prstGeom prst="rect">
            <a:avLst/>
          </a:prstGeom>
          <a:noFill/>
          <a:ln w="38100">
            <a:noFill/>
            <a:miter lim="800000"/>
            <a:headEnd/>
            <a:tailEnd/>
          </a:ln>
        </p:spPr>
        <p:txBody>
          <a:bodyPr wrap="none">
            <a:spAutoFit/>
          </a:bodyPr>
          <a:lstStyle/>
          <a:p>
            <a:r>
              <a:rPr lang="en-US" altLang="en-US" sz="2400" b="1">
                <a:latin typeface="Arial" charset="0"/>
              </a:rPr>
              <a:t>300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p:cNvSpPr>
          <p:nvPr>
            <p:ph sz="quarter" idx="1"/>
          </p:nvPr>
        </p:nvSpPr>
        <p:spPr>
          <a:xfrm>
            <a:off x="609600" y="2286000"/>
            <a:ext cx="10160000" cy="4114800"/>
          </a:xfrm>
        </p:spPr>
        <p:txBody>
          <a:bodyPr/>
          <a:lstStyle/>
          <a:p>
            <a:pPr eaLnBrk="1" hangingPunct="1"/>
            <a:r>
              <a:rPr lang="en-US" altLang="en-US" u="sng"/>
              <a:t>One bit of instruction code can be used to distinguish between a direct and indirect address</a:t>
            </a:r>
            <a:r>
              <a:rPr lang="en-US" altLang="en-US"/>
              <a:t>. This configuration is shown below:</a:t>
            </a:r>
          </a:p>
          <a:p>
            <a:pPr eaLnBrk="1" hangingPunct="1"/>
            <a:endParaRPr lang="en-US" altLang="en-US"/>
          </a:p>
        </p:txBody>
      </p:sp>
      <p:pic>
        <p:nvPicPr>
          <p:cNvPr id="165892" name="Picture 4" descr="j0292982"/>
          <p:cNvPicPr>
            <a:picLocks noChangeAspect="1" noChangeArrowheads="1"/>
          </p:cNvPicPr>
          <p:nvPr/>
        </p:nvPicPr>
        <p:blipFill>
          <a:blip r:embed="rId3">
            <a:lum bright="70000" contrast="-70000"/>
            <a:grayscl/>
          </a:blip>
          <a:srcRect/>
          <a:stretch>
            <a:fillRect/>
          </a:stretch>
        </p:blipFill>
        <p:spPr bwMode="auto">
          <a:xfrm>
            <a:off x="10363200" y="542926"/>
            <a:ext cx="1117600" cy="8286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6589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hangingPunct="1"/>
            <a:endParaRPr lang="en-US" altLang="en-US">
              <a:solidFill>
                <a:srgbClr val="7B9899"/>
              </a:solidFill>
            </a:endParaRPr>
          </a:p>
        </p:txBody>
      </p:sp>
      <p:sp>
        <p:nvSpPr>
          <p:cNvPr id="49155" name="Content Placeholder 2"/>
          <p:cNvSpPr>
            <a:spLocks noGrp="1"/>
          </p:cNvSpPr>
          <p:nvPr>
            <p:ph sz="quarter" idx="1"/>
          </p:nvPr>
        </p:nvSpPr>
        <p:spPr>
          <a:xfrm>
            <a:off x="402168" y="1527175"/>
            <a:ext cx="9859433" cy="4572000"/>
          </a:xfrm>
        </p:spPr>
        <p:txBody>
          <a:bodyPr/>
          <a:lstStyle/>
          <a:p>
            <a:pPr eaLnBrk="1" hangingPunct="1"/>
            <a:r>
              <a:rPr lang="en-US" altLang="en-US"/>
              <a:t>An </a:t>
            </a:r>
            <a:r>
              <a:rPr lang="en-US" altLang="en-US" u="sng"/>
              <a:t>indirect address instruction</a:t>
            </a:r>
            <a:r>
              <a:rPr lang="en-US" altLang="en-US"/>
              <a:t> is shown below:</a:t>
            </a:r>
          </a:p>
          <a:p>
            <a:pPr eaLnBrk="1" hangingPunct="1"/>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p:cNvSpPr>
          <p:nvPr>
            <p:ph sz="quarter" idx="1"/>
          </p:nvPr>
        </p:nvSpPr>
        <p:spPr>
          <a:xfrm>
            <a:off x="402168" y="1527175"/>
            <a:ext cx="9859433" cy="4572000"/>
          </a:xfrm>
        </p:spPr>
        <p:txBody>
          <a:bodyPr/>
          <a:lstStyle/>
          <a:p>
            <a:pPr eaLnBrk="1" hangingPunct="1"/>
            <a:r>
              <a:rPr lang="en-US" altLang="en-US"/>
              <a:t>The indirect address instruction needs </a:t>
            </a:r>
            <a:r>
              <a:rPr lang="en-US" altLang="en-US" u="sng"/>
              <a:t>two references to memory to fetch an operand.</a:t>
            </a:r>
          </a:p>
          <a:p>
            <a:pPr lvl="1" eaLnBrk="1" hangingPunct="1"/>
            <a:r>
              <a:rPr lang="en-US" altLang="en-US"/>
              <a:t>The first reference is needed to </a:t>
            </a:r>
            <a:r>
              <a:rPr lang="en-US" altLang="en-US" u="sng"/>
              <a:t>read the address of the operand; (i e to fetch the effective address)</a:t>
            </a:r>
          </a:p>
          <a:p>
            <a:pPr lvl="1" eaLnBrk="1" hangingPunct="1"/>
            <a:r>
              <a:rPr lang="en-US" altLang="en-US" u="sng"/>
              <a:t>And second is for the operand itself. (i.e. to read or write the actual operand.</a:t>
            </a:r>
            <a:r>
              <a:rPr lang="en-US" altLang="en-US"/>
              <a:t> )</a:t>
            </a:r>
            <a:endParaRPr lang="en-US" altLang="en-US" u="sng"/>
          </a:p>
          <a:p>
            <a:pPr eaLnBrk="1" hangingPunct="1">
              <a:buFontTx/>
              <a:buNone/>
            </a:pPr>
            <a:r>
              <a:rPr lang="en-US" altLang="en-US"/>
              <a:t>EA=ADDRESS OF THE OPERAND</a:t>
            </a:r>
          </a:p>
        </p:txBody>
      </p:sp>
      <p:pic>
        <p:nvPicPr>
          <p:cNvPr id="82948" name="Picture 4" descr="j0292982"/>
          <p:cNvPicPr>
            <a:picLocks noChangeAspect="1" noChangeArrowheads="1"/>
          </p:cNvPicPr>
          <p:nvPr/>
        </p:nvPicPr>
        <p:blipFill>
          <a:blip r:embed="rId3">
            <a:lum bright="70000" contrast="-70000"/>
            <a:grayscl/>
          </a:blip>
          <a:srcRect/>
          <a:stretch>
            <a:fillRect/>
          </a:stretch>
        </p:blipFill>
        <p:spPr bwMode="auto">
          <a:xfrm>
            <a:off x="406400" y="381001"/>
            <a:ext cx="1117600" cy="8286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8294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p:cNvSpPr>
          <p:nvPr>
            <p:ph sz="quarter" idx="1"/>
          </p:nvPr>
        </p:nvSpPr>
        <p:spPr>
          <a:xfrm>
            <a:off x="0" y="0"/>
            <a:ext cx="10972800" cy="1371600"/>
          </a:xfrm>
        </p:spPr>
        <p:txBody>
          <a:bodyPr/>
          <a:lstStyle/>
          <a:p>
            <a:pPr eaLnBrk="1" hangingPunct="1"/>
            <a:endParaRPr lang="en-US" altLang="en-US"/>
          </a:p>
        </p:txBody>
      </p:sp>
      <p:grpSp>
        <p:nvGrpSpPr>
          <p:cNvPr id="2" name="Group 34"/>
          <p:cNvGrpSpPr>
            <a:grpSpLocks/>
          </p:cNvGrpSpPr>
          <p:nvPr/>
        </p:nvGrpSpPr>
        <p:grpSpPr bwMode="auto">
          <a:xfrm>
            <a:off x="4804262" y="1440553"/>
            <a:ext cx="4775200" cy="4619625"/>
            <a:chOff x="2438400" y="1028700"/>
            <a:chExt cx="3581400" cy="5392880"/>
          </a:xfrm>
        </p:grpSpPr>
        <p:sp>
          <p:nvSpPr>
            <p:cNvPr id="52255" name="Rectangle 5"/>
            <p:cNvSpPr>
              <a:spLocks noChangeArrowheads="1"/>
            </p:cNvSpPr>
            <p:nvPr/>
          </p:nvSpPr>
          <p:spPr bwMode="auto">
            <a:xfrm>
              <a:off x="3292475" y="1354138"/>
              <a:ext cx="2642532" cy="475012"/>
            </a:xfrm>
            <a:prstGeom prst="rect">
              <a:avLst/>
            </a:prstGeom>
            <a:noFill/>
            <a:ln w="38100">
              <a:solidFill>
                <a:schemeClr val="tx1"/>
              </a:solidFill>
              <a:miter lim="800000"/>
              <a:headEnd/>
              <a:tailEnd/>
            </a:ln>
          </p:spPr>
          <p:txBody>
            <a:bodyPr wrap="none" anchor="ctr"/>
            <a:lstStyle/>
            <a:p>
              <a:endParaRPr lang="en-US" altLang="en-US"/>
            </a:p>
          </p:txBody>
        </p:sp>
        <p:sp>
          <p:nvSpPr>
            <p:cNvPr id="52256" name="Line 6"/>
            <p:cNvSpPr>
              <a:spLocks noChangeShapeType="1"/>
            </p:cNvSpPr>
            <p:nvPr/>
          </p:nvSpPr>
          <p:spPr bwMode="auto">
            <a:xfrm>
              <a:off x="3692524" y="1354138"/>
              <a:ext cx="45719" cy="475012"/>
            </a:xfrm>
            <a:prstGeom prst="line">
              <a:avLst/>
            </a:prstGeom>
            <a:noFill/>
            <a:ln w="38100">
              <a:solidFill>
                <a:schemeClr val="tx1"/>
              </a:solidFill>
              <a:round/>
              <a:headEnd/>
              <a:tailEnd/>
            </a:ln>
          </p:spPr>
          <p:txBody>
            <a:bodyPr/>
            <a:lstStyle/>
            <a:p>
              <a:endParaRPr lang="en-US"/>
            </a:p>
          </p:txBody>
        </p:sp>
        <p:sp>
          <p:nvSpPr>
            <p:cNvPr id="52257" name="Line 7"/>
            <p:cNvSpPr>
              <a:spLocks noChangeShapeType="1"/>
            </p:cNvSpPr>
            <p:nvPr/>
          </p:nvSpPr>
          <p:spPr bwMode="auto">
            <a:xfrm>
              <a:off x="4435474" y="1354138"/>
              <a:ext cx="45719" cy="475012"/>
            </a:xfrm>
            <a:prstGeom prst="line">
              <a:avLst/>
            </a:prstGeom>
            <a:noFill/>
            <a:ln w="38100">
              <a:solidFill>
                <a:schemeClr val="tx1"/>
              </a:solidFill>
              <a:round/>
              <a:headEnd/>
              <a:tailEnd/>
            </a:ln>
          </p:spPr>
          <p:txBody>
            <a:bodyPr/>
            <a:lstStyle/>
            <a:p>
              <a:endParaRPr lang="en-US"/>
            </a:p>
          </p:txBody>
        </p:sp>
        <p:sp>
          <p:nvSpPr>
            <p:cNvPr id="52258" name="Text Box 8"/>
            <p:cNvSpPr txBox="1">
              <a:spLocks noChangeArrowheads="1"/>
            </p:cNvSpPr>
            <p:nvPr/>
          </p:nvSpPr>
          <p:spPr bwMode="auto">
            <a:xfrm>
              <a:off x="3371850" y="1409701"/>
              <a:ext cx="308295" cy="431153"/>
            </a:xfrm>
            <a:prstGeom prst="rect">
              <a:avLst/>
            </a:prstGeom>
            <a:noFill/>
            <a:ln w="38100">
              <a:noFill/>
              <a:miter lim="800000"/>
              <a:headEnd/>
              <a:tailEnd/>
            </a:ln>
          </p:spPr>
          <p:txBody>
            <a:bodyPr>
              <a:spAutoFit/>
            </a:bodyPr>
            <a:lstStyle/>
            <a:p>
              <a:r>
                <a:rPr lang="en-US" altLang="en-US">
                  <a:latin typeface="Arial" charset="0"/>
                </a:rPr>
                <a:t>1</a:t>
              </a:r>
            </a:p>
          </p:txBody>
        </p:sp>
        <p:sp>
          <p:nvSpPr>
            <p:cNvPr id="52259" name="Text Box 9"/>
            <p:cNvSpPr txBox="1">
              <a:spLocks noChangeArrowheads="1"/>
            </p:cNvSpPr>
            <p:nvPr/>
          </p:nvSpPr>
          <p:spPr bwMode="auto">
            <a:xfrm>
              <a:off x="3810000" y="1390650"/>
              <a:ext cx="660633" cy="323378"/>
            </a:xfrm>
            <a:prstGeom prst="rect">
              <a:avLst/>
            </a:prstGeom>
            <a:noFill/>
            <a:ln w="38100">
              <a:noFill/>
              <a:miter lim="800000"/>
              <a:headEnd/>
              <a:tailEnd/>
            </a:ln>
          </p:spPr>
          <p:txBody>
            <a:bodyPr>
              <a:spAutoFit/>
            </a:bodyPr>
            <a:lstStyle/>
            <a:p>
              <a:r>
                <a:rPr lang="en-US" altLang="en-US" sz="1200">
                  <a:latin typeface="Arial" charset="0"/>
                </a:rPr>
                <a:t>ADD</a:t>
              </a:r>
            </a:p>
          </p:txBody>
        </p:sp>
        <p:sp>
          <p:nvSpPr>
            <p:cNvPr id="52260" name="Text Box 10"/>
            <p:cNvSpPr txBox="1">
              <a:spLocks noChangeArrowheads="1"/>
            </p:cNvSpPr>
            <p:nvPr/>
          </p:nvSpPr>
          <p:spPr bwMode="auto">
            <a:xfrm>
              <a:off x="4953000" y="1368425"/>
              <a:ext cx="1066800" cy="431171"/>
            </a:xfrm>
            <a:prstGeom prst="rect">
              <a:avLst/>
            </a:prstGeom>
            <a:noFill/>
            <a:ln w="38100">
              <a:noFill/>
              <a:miter lim="800000"/>
              <a:headEnd/>
              <a:tailEnd/>
            </a:ln>
          </p:spPr>
          <p:txBody>
            <a:bodyPr>
              <a:spAutoFit/>
            </a:bodyPr>
            <a:lstStyle/>
            <a:p>
              <a:r>
                <a:rPr lang="en-US" altLang="en-US">
                  <a:latin typeface="Arial" charset="0"/>
                </a:rPr>
                <a:t>300</a:t>
              </a:r>
            </a:p>
          </p:txBody>
        </p:sp>
        <p:sp>
          <p:nvSpPr>
            <p:cNvPr id="52261" name="Text Box 11"/>
            <p:cNvSpPr txBox="1">
              <a:spLocks noChangeArrowheads="1"/>
            </p:cNvSpPr>
            <p:nvPr/>
          </p:nvSpPr>
          <p:spPr bwMode="auto">
            <a:xfrm>
              <a:off x="3810000" y="1028700"/>
              <a:ext cx="1447800" cy="431171"/>
            </a:xfrm>
            <a:prstGeom prst="rect">
              <a:avLst/>
            </a:prstGeom>
            <a:noFill/>
            <a:ln w="38100">
              <a:noFill/>
              <a:miter lim="800000"/>
              <a:headEnd/>
              <a:tailEnd/>
            </a:ln>
          </p:spPr>
          <p:txBody>
            <a:bodyPr>
              <a:spAutoFit/>
            </a:bodyPr>
            <a:lstStyle/>
            <a:p>
              <a:r>
                <a:rPr lang="en-US" altLang="en-US" b="1">
                  <a:latin typeface="Arial" charset="0"/>
                </a:rPr>
                <a:t>Memory</a:t>
              </a:r>
            </a:p>
          </p:txBody>
        </p:sp>
        <p:sp>
          <p:nvSpPr>
            <p:cNvPr id="52262" name="Text Box 12"/>
            <p:cNvSpPr txBox="1">
              <a:spLocks noChangeArrowheads="1"/>
            </p:cNvSpPr>
            <p:nvPr/>
          </p:nvSpPr>
          <p:spPr bwMode="auto">
            <a:xfrm>
              <a:off x="2743200" y="1447800"/>
              <a:ext cx="510330" cy="431171"/>
            </a:xfrm>
            <a:prstGeom prst="rect">
              <a:avLst/>
            </a:prstGeom>
            <a:noFill/>
            <a:ln w="38100">
              <a:noFill/>
              <a:miter lim="800000"/>
              <a:headEnd/>
              <a:tailEnd/>
            </a:ln>
          </p:spPr>
          <p:txBody>
            <a:bodyPr>
              <a:spAutoFit/>
            </a:bodyPr>
            <a:lstStyle/>
            <a:p>
              <a:r>
                <a:rPr lang="en-US" altLang="en-US">
                  <a:latin typeface="Arial" charset="0"/>
                </a:rPr>
                <a:t>35</a:t>
              </a:r>
            </a:p>
          </p:txBody>
        </p:sp>
        <p:sp>
          <p:nvSpPr>
            <p:cNvPr id="52263" name="Line 13"/>
            <p:cNvSpPr>
              <a:spLocks noChangeShapeType="1"/>
            </p:cNvSpPr>
            <p:nvPr/>
          </p:nvSpPr>
          <p:spPr bwMode="auto">
            <a:xfrm>
              <a:off x="3276599" y="1371599"/>
              <a:ext cx="45719" cy="3641761"/>
            </a:xfrm>
            <a:prstGeom prst="line">
              <a:avLst/>
            </a:prstGeom>
            <a:noFill/>
            <a:ln w="38100">
              <a:solidFill>
                <a:schemeClr val="tx1"/>
              </a:solidFill>
              <a:round/>
              <a:headEnd/>
              <a:tailEnd/>
            </a:ln>
          </p:spPr>
          <p:txBody>
            <a:bodyPr/>
            <a:lstStyle/>
            <a:p>
              <a:endParaRPr lang="en-US"/>
            </a:p>
          </p:txBody>
        </p:sp>
        <p:sp>
          <p:nvSpPr>
            <p:cNvPr id="52264" name="Line 14"/>
            <p:cNvSpPr>
              <a:spLocks noChangeShapeType="1"/>
            </p:cNvSpPr>
            <p:nvPr/>
          </p:nvSpPr>
          <p:spPr bwMode="auto">
            <a:xfrm>
              <a:off x="5943599" y="1371599"/>
              <a:ext cx="45719" cy="3602177"/>
            </a:xfrm>
            <a:prstGeom prst="line">
              <a:avLst/>
            </a:prstGeom>
            <a:noFill/>
            <a:ln w="38100">
              <a:solidFill>
                <a:schemeClr val="tx1"/>
              </a:solidFill>
              <a:round/>
              <a:headEnd/>
              <a:tailEnd/>
            </a:ln>
          </p:spPr>
          <p:txBody>
            <a:bodyPr/>
            <a:lstStyle/>
            <a:p>
              <a:endParaRPr lang="en-US"/>
            </a:p>
          </p:txBody>
        </p:sp>
        <p:sp>
          <p:nvSpPr>
            <p:cNvPr id="52265" name="Freeform 15"/>
            <p:cNvSpPr>
              <a:spLocks/>
            </p:cNvSpPr>
            <p:nvPr/>
          </p:nvSpPr>
          <p:spPr bwMode="auto">
            <a:xfrm>
              <a:off x="3295650" y="4438649"/>
              <a:ext cx="2642532" cy="646545"/>
            </a:xfrm>
            <a:custGeom>
              <a:avLst/>
              <a:gdLst>
                <a:gd name="T0" fmla="*/ 0 w 1680"/>
                <a:gd name="T1" fmla="*/ 2147483646 h 392"/>
                <a:gd name="T2" fmla="*/ 2147483646 w 1680"/>
                <a:gd name="T3" fmla="*/ 2147483646 h 392"/>
                <a:gd name="T4" fmla="*/ 2147483646 w 1680"/>
                <a:gd name="T5" fmla="*/ 2147483646 h 392"/>
                <a:gd name="T6" fmla="*/ 2147483646 w 1680"/>
                <a:gd name="T7" fmla="*/ 2147483646 h 392"/>
                <a:gd name="T8" fmla="*/ 0 60000 65536"/>
                <a:gd name="T9" fmla="*/ 0 60000 65536"/>
                <a:gd name="T10" fmla="*/ 0 60000 65536"/>
                <a:gd name="T11" fmla="*/ 0 60000 65536"/>
                <a:gd name="T12" fmla="*/ 0 w 1680"/>
                <a:gd name="T13" fmla="*/ 0 h 392"/>
                <a:gd name="T14" fmla="*/ 1680 w 1680"/>
                <a:gd name="T15" fmla="*/ 392 h 392"/>
              </a:gdLst>
              <a:ahLst/>
              <a:cxnLst>
                <a:cxn ang="T8">
                  <a:pos x="T0" y="T1"/>
                </a:cxn>
                <a:cxn ang="T9">
                  <a:pos x="T2" y="T3"/>
                </a:cxn>
                <a:cxn ang="T10">
                  <a:pos x="T4" y="T5"/>
                </a:cxn>
                <a:cxn ang="T11">
                  <a:pos x="T6" y="T7"/>
                </a:cxn>
              </a:cxnLst>
              <a:rect l="T12" t="T13" r="T14" b="T15"/>
              <a:pathLst>
                <a:path w="1680" h="392">
                  <a:moveTo>
                    <a:pt x="0" y="256"/>
                  </a:moveTo>
                  <a:cubicBezTo>
                    <a:pt x="100" y="128"/>
                    <a:pt x="200" y="0"/>
                    <a:pt x="384" y="16"/>
                  </a:cubicBezTo>
                  <a:cubicBezTo>
                    <a:pt x="568" y="32"/>
                    <a:pt x="888" y="312"/>
                    <a:pt x="1104" y="352"/>
                  </a:cubicBezTo>
                  <a:cubicBezTo>
                    <a:pt x="1320" y="392"/>
                    <a:pt x="1584" y="272"/>
                    <a:pt x="1680" y="256"/>
                  </a:cubicBezTo>
                </a:path>
              </a:pathLst>
            </a:custGeom>
            <a:noFill/>
            <a:ln w="38100">
              <a:solidFill>
                <a:schemeClr val="tx1"/>
              </a:solidFill>
              <a:round/>
              <a:headEnd/>
              <a:tailEnd/>
            </a:ln>
          </p:spPr>
          <p:txBody>
            <a:bodyPr/>
            <a:lstStyle/>
            <a:p>
              <a:endParaRPr lang="en-US"/>
            </a:p>
          </p:txBody>
        </p:sp>
        <p:sp>
          <p:nvSpPr>
            <p:cNvPr id="52266" name="Line 16"/>
            <p:cNvSpPr>
              <a:spLocks noChangeShapeType="1"/>
            </p:cNvSpPr>
            <p:nvPr/>
          </p:nvSpPr>
          <p:spPr bwMode="auto">
            <a:xfrm>
              <a:off x="3276600" y="4248149"/>
              <a:ext cx="2642532" cy="45719"/>
            </a:xfrm>
            <a:prstGeom prst="line">
              <a:avLst/>
            </a:prstGeom>
            <a:noFill/>
            <a:ln w="38100">
              <a:solidFill>
                <a:schemeClr val="tx1"/>
              </a:solidFill>
              <a:round/>
              <a:headEnd/>
              <a:tailEnd/>
            </a:ln>
          </p:spPr>
          <p:txBody>
            <a:bodyPr/>
            <a:lstStyle/>
            <a:p>
              <a:endParaRPr lang="en-US"/>
            </a:p>
          </p:txBody>
        </p:sp>
        <p:sp>
          <p:nvSpPr>
            <p:cNvPr id="52267" name="Line 17"/>
            <p:cNvSpPr>
              <a:spLocks noChangeShapeType="1"/>
            </p:cNvSpPr>
            <p:nvPr/>
          </p:nvSpPr>
          <p:spPr bwMode="auto">
            <a:xfrm>
              <a:off x="3276600" y="3867149"/>
              <a:ext cx="2642532" cy="45719"/>
            </a:xfrm>
            <a:prstGeom prst="line">
              <a:avLst/>
            </a:prstGeom>
            <a:noFill/>
            <a:ln w="38100">
              <a:solidFill>
                <a:schemeClr val="tx1"/>
              </a:solidFill>
              <a:round/>
              <a:headEnd/>
              <a:tailEnd/>
            </a:ln>
          </p:spPr>
          <p:txBody>
            <a:bodyPr/>
            <a:lstStyle/>
            <a:p>
              <a:endParaRPr lang="en-US"/>
            </a:p>
          </p:txBody>
        </p:sp>
        <p:sp>
          <p:nvSpPr>
            <p:cNvPr id="52268" name="Text Box 18"/>
            <p:cNvSpPr txBox="1">
              <a:spLocks noChangeArrowheads="1"/>
            </p:cNvSpPr>
            <p:nvPr/>
          </p:nvSpPr>
          <p:spPr bwMode="auto">
            <a:xfrm>
              <a:off x="3962400" y="3867151"/>
              <a:ext cx="1752600" cy="431171"/>
            </a:xfrm>
            <a:prstGeom prst="rect">
              <a:avLst/>
            </a:prstGeom>
            <a:noFill/>
            <a:ln w="38100">
              <a:noFill/>
              <a:miter lim="800000"/>
              <a:headEnd/>
              <a:tailEnd/>
            </a:ln>
          </p:spPr>
          <p:txBody>
            <a:bodyPr>
              <a:spAutoFit/>
            </a:bodyPr>
            <a:lstStyle/>
            <a:p>
              <a:r>
                <a:rPr lang="en-US" altLang="en-US">
                  <a:latin typeface="Arial" charset="0"/>
                </a:rPr>
                <a:t>Operand</a:t>
              </a:r>
            </a:p>
          </p:txBody>
        </p:sp>
        <p:sp>
          <p:nvSpPr>
            <p:cNvPr id="52269" name="Text Box 19"/>
            <p:cNvSpPr txBox="1">
              <a:spLocks noChangeArrowheads="1"/>
            </p:cNvSpPr>
            <p:nvPr/>
          </p:nvSpPr>
          <p:spPr bwMode="auto">
            <a:xfrm>
              <a:off x="2438400" y="3829050"/>
              <a:ext cx="781050" cy="431171"/>
            </a:xfrm>
            <a:prstGeom prst="rect">
              <a:avLst/>
            </a:prstGeom>
            <a:noFill/>
            <a:ln w="38100">
              <a:noFill/>
              <a:miter lim="800000"/>
              <a:headEnd/>
              <a:tailEnd/>
            </a:ln>
          </p:spPr>
          <p:txBody>
            <a:bodyPr>
              <a:spAutoFit/>
            </a:bodyPr>
            <a:lstStyle/>
            <a:p>
              <a:r>
                <a:rPr lang="en-US" altLang="en-US">
                  <a:latin typeface="Arial" charset="0"/>
                </a:rPr>
                <a:t>1350</a:t>
              </a:r>
            </a:p>
          </p:txBody>
        </p:sp>
        <p:sp>
          <p:nvSpPr>
            <p:cNvPr id="52270" name="Line 20"/>
            <p:cNvSpPr>
              <a:spLocks noChangeShapeType="1"/>
            </p:cNvSpPr>
            <p:nvPr/>
          </p:nvSpPr>
          <p:spPr bwMode="auto">
            <a:xfrm>
              <a:off x="4419599" y="4248149"/>
              <a:ext cx="45719" cy="791687"/>
            </a:xfrm>
            <a:prstGeom prst="line">
              <a:avLst/>
            </a:prstGeom>
            <a:noFill/>
            <a:ln w="9525">
              <a:solidFill>
                <a:schemeClr val="tx1"/>
              </a:solidFill>
              <a:round/>
              <a:headEnd/>
              <a:tailEnd type="triangle" w="med" len="med"/>
            </a:ln>
          </p:spPr>
          <p:txBody>
            <a:bodyPr/>
            <a:lstStyle/>
            <a:p>
              <a:endParaRPr lang="en-US"/>
            </a:p>
          </p:txBody>
        </p:sp>
        <p:sp>
          <p:nvSpPr>
            <p:cNvPr id="52271" name="Oval 21"/>
            <p:cNvSpPr>
              <a:spLocks noChangeArrowheads="1"/>
            </p:cNvSpPr>
            <p:nvPr/>
          </p:nvSpPr>
          <p:spPr bwMode="auto">
            <a:xfrm>
              <a:off x="4191000" y="5048250"/>
              <a:ext cx="453006" cy="475012"/>
            </a:xfrm>
            <a:prstGeom prst="ellipse">
              <a:avLst/>
            </a:prstGeom>
            <a:noFill/>
            <a:ln w="9525">
              <a:solidFill>
                <a:schemeClr val="tx1"/>
              </a:solidFill>
              <a:round/>
              <a:headEnd/>
              <a:tailEnd/>
            </a:ln>
          </p:spPr>
          <p:txBody>
            <a:bodyPr wrap="none" anchor="ctr"/>
            <a:lstStyle/>
            <a:p>
              <a:endParaRPr lang="en-US" altLang="en-US"/>
            </a:p>
          </p:txBody>
        </p:sp>
        <p:sp>
          <p:nvSpPr>
            <p:cNvPr id="52272" name="Text Box 22"/>
            <p:cNvSpPr txBox="1">
              <a:spLocks noChangeArrowheads="1"/>
            </p:cNvSpPr>
            <p:nvPr/>
          </p:nvSpPr>
          <p:spPr bwMode="auto">
            <a:xfrm>
              <a:off x="4232275" y="5030788"/>
              <a:ext cx="358629" cy="538941"/>
            </a:xfrm>
            <a:prstGeom prst="rect">
              <a:avLst/>
            </a:prstGeom>
            <a:noFill/>
            <a:ln w="9525">
              <a:noFill/>
              <a:miter lim="800000"/>
              <a:headEnd/>
              <a:tailEnd/>
            </a:ln>
          </p:spPr>
          <p:txBody>
            <a:bodyPr>
              <a:spAutoFit/>
            </a:bodyPr>
            <a:lstStyle/>
            <a:p>
              <a:r>
                <a:rPr lang="en-US" altLang="en-US" sz="2400">
                  <a:latin typeface="Arial" charset="0"/>
                </a:rPr>
                <a:t>+</a:t>
              </a:r>
            </a:p>
          </p:txBody>
        </p:sp>
        <p:sp>
          <p:nvSpPr>
            <p:cNvPr id="52273" name="Line 23"/>
            <p:cNvSpPr>
              <a:spLocks noChangeShapeType="1"/>
            </p:cNvSpPr>
            <p:nvPr/>
          </p:nvSpPr>
          <p:spPr bwMode="auto">
            <a:xfrm>
              <a:off x="4419599" y="5486400"/>
              <a:ext cx="45719" cy="395844"/>
            </a:xfrm>
            <a:prstGeom prst="line">
              <a:avLst/>
            </a:prstGeom>
            <a:noFill/>
            <a:ln w="9525">
              <a:solidFill>
                <a:schemeClr val="tx1"/>
              </a:solidFill>
              <a:round/>
              <a:headEnd/>
              <a:tailEnd/>
            </a:ln>
          </p:spPr>
          <p:txBody>
            <a:bodyPr/>
            <a:lstStyle/>
            <a:p>
              <a:endParaRPr lang="en-US"/>
            </a:p>
          </p:txBody>
        </p:sp>
        <p:sp>
          <p:nvSpPr>
            <p:cNvPr id="52274" name="Rectangle 24"/>
            <p:cNvSpPr>
              <a:spLocks noChangeArrowheads="1"/>
            </p:cNvSpPr>
            <p:nvPr/>
          </p:nvSpPr>
          <p:spPr bwMode="auto">
            <a:xfrm>
              <a:off x="3429000" y="5867399"/>
              <a:ext cx="2038525" cy="554181"/>
            </a:xfrm>
            <a:prstGeom prst="rect">
              <a:avLst/>
            </a:prstGeom>
            <a:noFill/>
            <a:ln w="9525">
              <a:solidFill>
                <a:schemeClr val="tx1"/>
              </a:solidFill>
              <a:miter lim="800000"/>
              <a:headEnd/>
              <a:tailEnd/>
            </a:ln>
          </p:spPr>
          <p:txBody>
            <a:bodyPr wrap="none" anchor="ctr"/>
            <a:lstStyle/>
            <a:p>
              <a:endParaRPr lang="en-US" altLang="en-US"/>
            </a:p>
          </p:txBody>
        </p:sp>
        <p:sp>
          <p:nvSpPr>
            <p:cNvPr id="52275" name="Text Box 25"/>
            <p:cNvSpPr txBox="1">
              <a:spLocks noChangeArrowheads="1"/>
            </p:cNvSpPr>
            <p:nvPr/>
          </p:nvSpPr>
          <p:spPr bwMode="auto">
            <a:xfrm>
              <a:off x="4175124" y="5961062"/>
              <a:ext cx="1082675" cy="431171"/>
            </a:xfrm>
            <a:prstGeom prst="rect">
              <a:avLst/>
            </a:prstGeom>
            <a:noFill/>
            <a:ln w="9525">
              <a:noFill/>
              <a:miter lim="800000"/>
              <a:headEnd/>
              <a:tailEnd/>
            </a:ln>
          </p:spPr>
          <p:txBody>
            <a:bodyPr>
              <a:spAutoFit/>
            </a:bodyPr>
            <a:lstStyle/>
            <a:p>
              <a:r>
                <a:rPr lang="en-US" altLang="en-US">
                  <a:latin typeface="Arial" charset="0"/>
                </a:rPr>
                <a:t>AC</a:t>
              </a:r>
            </a:p>
          </p:txBody>
        </p:sp>
        <p:sp>
          <p:nvSpPr>
            <p:cNvPr id="52276" name="Line 26"/>
            <p:cNvSpPr>
              <a:spLocks noChangeShapeType="1"/>
            </p:cNvSpPr>
            <p:nvPr/>
          </p:nvSpPr>
          <p:spPr bwMode="auto">
            <a:xfrm flipH="1">
              <a:off x="3048000" y="6095999"/>
              <a:ext cx="377505" cy="45719"/>
            </a:xfrm>
            <a:prstGeom prst="line">
              <a:avLst/>
            </a:prstGeom>
            <a:noFill/>
            <a:ln w="9525">
              <a:solidFill>
                <a:schemeClr val="tx1"/>
              </a:solidFill>
              <a:round/>
              <a:headEnd/>
              <a:tailEnd/>
            </a:ln>
          </p:spPr>
          <p:txBody>
            <a:bodyPr/>
            <a:lstStyle/>
            <a:p>
              <a:endParaRPr lang="en-US"/>
            </a:p>
          </p:txBody>
        </p:sp>
        <p:sp>
          <p:nvSpPr>
            <p:cNvPr id="52277" name="Line 27"/>
            <p:cNvSpPr>
              <a:spLocks noChangeShapeType="1"/>
            </p:cNvSpPr>
            <p:nvPr/>
          </p:nvSpPr>
          <p:spPr bwMode="auto">
            <a:xfrm flipV="1">
              <a:off x="3047999" y="5333999"/>
              <a:ext cx="45719" cy="791687"/>
            </a:xfrm>
            <a:prstGeom prst="line">
              <a:avLst/>
            </a:prstGeom>
            <a:noFill/>
            <a:ln w="9525">
              <a:solidFill>
                <a:schemeClr val="tx1"/>
              </a:solidFill>
              <a:round/>
              <a:headEnd/>
              <a:tailEnd/>
            </a:ln>
          </p:spPr>
          <p:txBody>
            <a:bodyPr/>
            <a:lstStyle/>
            <a:p>
              <a:endParaRPr lang="en-US"/>
            </a:p>
          </p:txBody>
        </p:sp>
        <p:sp>
          <p:nvSpPr>
            <p:cNvPr id="52278" name="Line 28"/>
            <p:cNvSpPr>
              <a:spLocks noChangeShapeType="1"/>
            </p:cNvSpPr>
            <p:nvPr/>
          </p:nvSpPr>
          <p:spPr bwMode="auto">
            <a:xfrm>
              <a:off x="3048000" y="5333999"/>
              <a:ext cx="1132514" cy="45719"/>
            </a:xfrm>
            <a:prstGeom prst="line">
              <a:avLst/>
            </a:prstGeom>
            <a:noFill/>
            <a:ln w="9525">
              <a:solidFill>
                <a:schemeClr val="tx1"/>
              </a:solidFill>
              <a:round/>
              <a:headEnd/>
              <a:tailEnd type="triangle" w="med" len="med"/>
            </a:ln>
          </p:spPr>
          <p:txBody>
            <a:bodyPr/>
            <a:lstStyle/>
            <a:p>
              <a:endParaRPr lang="en-US"/>
            </a:p>
          </p:txBody>
        </p:sp>
        <p:sp>
          <p:nvSpPr>
            <p:cNvPr id="52279" name="Line 29"/>
            <p:cNvSpPr>
              <a:spLocks noChangeShapeType="1"/>
            </p:cNvSpPr>
            <p:nvPr/>
          </p:nvSpPr>
          <p:spPr bwMode="auto">
            <a:xfrm>
              <a:off x="3276600" y="2971799"/>
              <a:ext cx="2642532" cy="45719"/>
            </a:xfrm>
            <a:prstGeom prst="line">
              <a:avLst/>
            </a:prstGeom>
            <a:noFill/>
            <a:ln w="38100">
              <a:solidFill>
                <a:schemeClr val="tx1"/>
              </a:solidFill>
              <a:round/>
              <a:headEnd/>
              <a:tailEnd/>
            </a:ln>
          </p:spPr>
          <p:txBody>
            <a:bodyPr/>
            <a:lstStyle/>
            <a:p>
              <a:endParaRPr lang="en-US"/>
            </a:p>
          </p:txBody>
        </p:sp>
        <p:sp>
          <p:nvSpPr>
            <p:cNvPr id="52280" name="Line 30"/>
            <p:cNvSpPr>
              <a:spLocks noChangeShapeType="1"/>
            </p:cNvSpPr>
            <p:nvPr/>
          </p:nvSpPr>
          <p:spPr bwMode="auto">
            <a:xfrm>
              <a:off x="3276600" y="2590799"/>
              <a:ext cx="2642532" cy="45719"/>
            </a:xfrm>
            <a:prstGeom prst="line">
              <a:avLst/>
            </a:prstGeom>
            <a:noFill/>
            <a:ln w="38100">
              <a:solidFill>
                <a:schemeClr val="tx1"/>
              </a:solidFill>
              <a:round/>
              <a:headEnd/>
              <a:tailEnd/>
            </a:ln>
          </p:spPr>
          <p:txBody>
            <a:bodyPr/>
            <a:lstStyle/>
            <a:p>
              <a:endParaRPr lang="en-US"/>
            </a:p>
          </p:txBody>
        </p:sp>
        <p:sp>
          <p:nvSpPr>
            <p:cNvPr id="52281" name="Text Box 31"/>
            <p:cNvSpPr txBox="1">
              <a:spLocks noChangeArrowheads="1"/>
            </p:cNvSpPr>
            <p:nvPr/>
          </p:nvSpPr>
          <p:spPr bwMode="auto">
            <a:xfrm>
              <a:off x="3962400" y="2590801"/>
              <a:ext cx="1143000" cy="431171"/>
            </a:xfrm>
            <a:prstGeom prst="rect">
              <a:avLst/>
            </a:prstGeom>
            <a:noFill/>
            <a:ln w="38100">
              <a:noFill/>
              <a:miter lim="800000"/>
              <a:headEnd/>
              <a:tailEnd/>
            </a:ln>
          </p:spPr>
          <p:txBody>
            <a:bodyPr>
              <a:spAutoFit/>
            </a:bodyPr>
            <a:lstStyle/>
            <a:p>
              <a:r>
                <a:rPr lang="en-US" altLang="en-US">
                  <a:latin typeface="Arial" charset="0"/>
                </a:rPr>
                <a:t>1350</a:t>
              </a:r>
            </a:p>
          </p:txBody>
        </p:sp>
        <p:sp>
          <p:nvSpPr>
            <p:cNvPr id="52282" name="Text Box 32"/>
            <p:cNvSpPr txBox="1">
              <a:spLocks noChangeArrowheads="1"/>
            </p:cNvSpPr>
            <p:nvPr/>
          </p:nvSpPr>
          <p:spPr bwMode="auto">
            <a:xfrm>
              <a:off x="2514600" y="2590801"/>
              <a:ext cx="712365" cy="431171"/>
            </a:xfrm>
            <a:prstGeom prst="rect">
              <a:avLst/>
            </a:prstGeom>
            <a:noFill/>
            <a:ln w="38100">
              <a:noFill/>
              <a:miter lim="800000"/>
              <a:headEnd/>
              <a:tailEnd/>
            </a:ln>
          </p:spPr>
          <p:txBody>
            <a:bodyPr>
              <a:spAutoFit/>
            </a:bodyPr>
            <a:lstStyle/>
            <a:p>
              <a:r>
                <a:rPr lang="en-US" altLang="en-US">
                  <a:latin typeface="Arial" charset="0"/>
                </a:rPr>
                <a:t>300</a:t>
              </a:r>
            </a:p>
          </p:txBody>
        </p:sp>
      </p:grpSp>
      <p:sp>
        <p:nvSpPr>
          <p:cNvPr id="52228" name="Text Box 33"/>
          <p:cNvSpPr txBox="1">
            <a:spLocks noChangeArrowheads="1"/>
          </p:cNvSpPr>
          <p:nvPr/>
        </p:nvSpPr>
        <p:spPr bwMode="auto">
          <a:xfrm>
            <a:off x="9160363" y="5326752"/>
            <a:ext cx="3239990" cy="584775"/>
          </a:xfrm>
          <a:prstGeom prst="rect">
            <a:avLst/>
          </a:prstGeom>
          <a:noFill/>
          <a:ln w="9525">
            <a:noFill/>
            <a:miter lim="800000"/>
            <a:headEnd/>
            <a:tailEnd/>
          </a:ln>
        </p:spPr>
        <p:txBody>
          <a:bodyPr wrap="none">
            <a:spAutoFit/>
          </a:bodyPr>
          <a:lstStyle/>
          <a:p>
            <a:r>
              <a:rPr lang="en-US" altLang="en-US" sz="3200">
                <a:latin typeface="Times New Roman" pitchFamily="18" charset="0"/>
              </a:rPr>
              <a:t>b) Indirect address</a:t>
            </a:r>
            <a:endParaRPr lang="en-US" altLang="en-US">
              <a:latin typeface="Arial" charset="0"/>
            </a:endParaRPr>
          </a:p>
        </p:txBody>
      </p:sp>
      <p:grpSp>
        <p:nvGrpSpPr>
          <p:cNvPr id="3" name="Group 3"/>
          <p:cNvGrpSpPr>
            <a:grpSpLocks/>
          </p:cNvGrpSpPr>
          <p:nvPr/>
        </p:nvGrpSpPr>
        <p:grpSpPr bwMode="auto">
          <a:xfrm>
            <a:off x="-72538" y="1364352"/>
            <a:ext cx="4394200" cy="4572000"/>
            <a:chOff x="720" y="648"/>
            <a:chExt cx="2076" cy="3384"/>
          </a:xfrm>
        </p:grpSpPr>
        <p:sp>
          <p:nvSpPr>
            <p:cNvPr id="52231" name="Rectangle 4"/>
            <p:cNvSpPr>
              <a:spLocks noChangeArrowheads="1"/>
            </p:cNvSpPr>
            <p:nvPr/>
          </p:nvSpPr>
          <p:spPr bwMode="auto">
            <a:xfrm>
              <a:off x="1114" y="853"/>
              <a:ext cx="1680" cy="288"/>
            </a:xfrm>
            <a:prstGeom prst="rect">
              <a:avLst/>
            </a:prstGeom>
            <a:noFill/>
            <a:ln w="38100">
              <a:solidFill>
                <a:schemeClr val="tx1"/>
              </a:solidFill>
              <a:miter lim="800000"/>
              <a:headEnd/>
              <a:tailEnd/>
            </a:ln>
          </p:spPr>
          <p:txBody>
            <a:bodyPr wrap="none" anchor="ctr"/>
            <a:lstStyle/>
            <a:p>
              <a:endParaRPr lang="en-US" altLang="en-US"/>
            </a:p>
          </p:txBody>
        </p:sp>
        <p:sp>
          <p:nvSpPr>
            <p:cNvPr id="52232" name="Line 5"/>
            <p:cNvSpPr>
              <a:spLocks noChangeShapeType="1"/>
            </p:cNvSpPr>
            <p:nvPr/>
          </p:nvSpPr>
          <p:spPr bwMode="auto">
            <a:xfrm>
              <a:off x="1366" y="853"/>
              <a:ext cx="0" cy="288"/>
            </a:xfrm>
            <a:prstGeom prst="line">
              <a:avLst/>
            </a:prstGeom>
            <a:noFill/>
            <a:ln w="38100">
              <a:solidFill>
                <a:schemeClr val="tx1"/>
              </a:solidFill>
              <a:round/>
              <a:headEnd/>
              <a:tailEnd/>
            </a:ln>
          </p:spPr>
          <p:txBody>
            <a:bodyPr/>
            <a:lstStyle/>
            <a:p>
              <a:endParaRPr lang="en-US"/>
            </a:p>
          </p:txBody>
        </p:sp>
        <p:sp>
          <p:nvSpPr>
            <p:cNvPr id="52233" name="Line 6"/>
            <p:cNvSpPr>
              <a:spLocks noChangeShapeType="1"/>
            </p:cNvSpPr>
            <p:nvPr/>
          </p:nvSpPr>
          <p:spPr bwMode="auto">
            <a:xfrm>
              <a:off x="1834" y="853"/>
              <a:ext cx="0" cy="288"/>
            </a:xfrm>
            <a:prstGeom prst="line">
              <a:avLst/>
            </a:prstGeom>
            <a:noFill/>
            <a:ln w="38100">
              <a:solidFill>
                <a:schemeClr val="tx1"/>
              </a:solidFill>
              <a:round/>
              <a:headEnd/>
              <a:tailEnd/>
            </a:ln>
          </p:spPr>
          <p:txBody>
            <a:bodyPr/>
            <a:lstStyle/>
            <a:p>
              <a:endParaRPr lang="en-US"/>
            </a:p>
          </p:txBody>
        </p:sp>
        <p:sp>
          <p:nvSpPr>
            <p:cNvPr id="52234" name="Text Box 7"/>
            <p:cNvSpPr txBox="1">
              <a:spLocks noChangeArrowheads="1"/>
            </p:cNvSpPr>
            <p:nvPr/>
          </p:nvSpPr>
          <p:spPr bwMode="auto">
            <a:xfrm>
              <a:off x="1164" y="888"/>
              <a:ext cx="148" cy="273"/>
            </a:xfrm>
            <a:prstGeom prst="rect">
              <a:avLst/>
            </a:prstGeom>
            <a:noFill/>
            <a:ln w="38100">
              <a:noFill/>
              <a:miter lim="800000"/>
              <a:headEnd/>
              <a:tailEnd/>
            </a:ln>
          </p:spPr>
          <p:txBody>
            <a:bodyPr wrap="none">
              <a:spAutoFit/>
            </a:bodyPr>
            <a:lstStyle/>
            <a:p>
              <a:r>
                <a:rPr lang="en-US" altLang="en-US">
                  <a:latin typeface="Arial" charset="0"/>
                </a:rPr>
                <a:t>0</a:t>
              </a:r>
            </a:p>
          </p:txBody>
        </p:sp>
        <p:sp>
          <p:nvSpPr>
            <p:cNvPr id="52235" name="Text Box 8"/>
            <p:cNvSpPr txBox="1">
              <a:spLocks noChangeArrowheads="1"/>
            </p:cNvSpPr>
            <p:nvPr/>
          </p:nvSpPr>
          <p:spPr bwMode="auto">
            <a:xfrm>
              <a:off x="1440" y="876"/>
              <a:ext cx="317" cy="273"/>
            </a:xfrm>
            <a:prstGeom prst="rect">
              <a:avLst/>
            </a:prstGeom>
            <a:noFill/>
            <a:ln w="38100">
              <a:noFill/>
              <a:miter lim="800000"/>
              <a:headEnd/>
              <a:tailEnd/>
            </a:ln>
          </p:spPr>
          <p:txBody>
            <a:bodyPr wrap="none">
              <a:spAutoFit/>
            </a:bodyPr>
            <a:lstStyle/>
            <a:p>
              <a:r>
                <a:rPr lang="en-US" altLang="en-US">
                  <a:latin typeface="Arial" charset="0"/>
                </a:rPr>
                <a:t>ADD</a:t>
              </a:r>
            </a:p>
          </p:txBody>
        </p:sp>
        <p:sp>
          <p:nvSpPr>
            <p:cNvPr id="52236" name="Text Box 9"/>
            <p:cNvSpPr txBox="1">
              <a:spLocks noChangeArrowheads="1"/>
            </p:cNvSpPr>
            <p:nvPr/>
          </p:nvSpPr>
          <p:spPr bwMode="auto">
            <a:xfrm>
              <a:off x="2160" y="862"/>
              <a:ext cx="269" cy="273"/>
            </a:xfrm>
            <a:prstGeom prst="rect">
              <a:avLst/>
            </a:prstGeom>
            <a:noFill/>
            <a:ln w="38100">
              <a:noFill/>
              <a:miter lim="800000"/>
              <a:headEnd/>
              <a:tailEnd/>
            </a:ln>
          </p:spPr>
          <p:txBody>
            <a:bodyPr wrap="none">
              <a:spAutoFit/>
            </a:bodyPr>
            <a:lstStyle/>
            <a:p>
              <a:r>
                <a:rPr lang="en-US" altLang="en-US">
                  <a:latin typeface="Arial" charset="0"/>
                </a:rPr>
                <a:t>457</a:t>
              </a:r>
            </a:p>
          </p:txBody>
        </p:sp>
        <p:sp>
          <p:nvSpPr>
            <p:cNvPr id="52237" name="Text Box 10"/>
            <p:cNvSpPr txBox="1">
              <a:spLocks noChangeArrowheads="1"/>
            </p:cNvSpPr>
            <p:nvPr/>
          </p:nvSpPr>
          <p:spPr bwMode="auto">
            <a:xfrm>
              <a:off x="1440" y="648"/>
              <a:ext cx="505" cy="273"/>
            </a:xfrm>
            <a:prstGeom prst="rect">
              <a:avLst/>
            </a:prstGeom>
            <a:noFill/>
            <a:ln w="38100">
              <a:noFill/>
              <a:miter lim="800000"/>
              <a:headEnd/>
              <a:tailEnd/>
            </a:ln>
          </p:spPr>
          <p:txBody>
            <a:bodyPr wrap="none">
              <a:spAutoFit/>
            </a:bodyPr>
            <a:lstStyle/>
            <a:p>
              <a:r>
                <a:rPr lang="en-US" altLang="en-US" b="1">
                  <a:latin typeface="Arial" charset="0"/>
                </a:rPr>
                <a:t>Memory</a:t>
              </a:r>
            </a:p>
          </p:txBody>
        </p:sp>
        <p:sp>
          <p:nvSpPr>
            <p:cNvPr id="52238" name="Text Box 11"/>
            <p:cNvSpPr txBox="1">
              <a:spLocks noChangeArrowheads="1"/>
            </p:cNvSpPr>
            <p:nvPr/>
          </p:nvSpPr>
          <p:spPr bwMode="auto">
            <a:xfrm>
              <a:off x="816" y="912"/>
              <a:ext cx="208" cy="273"/>
            </a:xfrm>
            <a:prstGeom prst="rect">
              <a:avLst/>
            </a:prstGeom>
            <a:noFill/>
            <a:ln w="38100">
              <a:noFill/>
              <a:miter lim="800000"/>
              <a:headEnd/>
              <a:tailEnd/>
            </a:ln>
          </p:spPr>
          <p:txBody>
            <a:bodyPr wrap="none">
              <a:spAutoFit/>
            </a:bodyPr>
            <a:lstStyle/>
            <a:p>
              <a:r>
                <a:rPr lang="en-US" altLang="en-US">
                  <a:latin typeface="Arial" charset="0"/>
                </a:rPr>
                <a:t>22</a:t>
              </a:r>
            </a:p>
          </p:txBody>
        </p:sp>
        <p:sp>
          <p:nvSpPr>
            <p:cNvPr id="52239" name="Line 12"/>
            <p:cNvSpPr>
              <a:spLocks noChangeShapeType="1"/>
            </p:cNvSpPr>
            <p:nvPr/>
          </p:nvSpPr>
          <p:spPr bwMode="auto">
            <a:xfrm>
              <a:off x="1104" y="864"/>
              <a:ext cx="0" cy="2208"/>
            </a:xfrm>
            <a:prstGeom prst="line">
              <a:avLst/>
            </a:prstGeom>
            <a:noFill/>
            <a:ln w="38100">
              <a:solidFill>
                <a:schemeClr val="tx1"/>
              </a:solidFill>
              <a:round/>
              <a:headEnd/>
              <a:tailEnd/>
            </a:ln>
          </p:spPr>
          <p:txBody>
            <a:bodyPr/>
            <a:lstStyle/>
            <a:p>
              <a:endParaRPr lang="en-US"/>
            </a:p>
          </p:txBody>
        </p:sp>
        <p:sp>
          <p:nvSpPr>
            <p:cNvPr id="52240" name="Line 13"/>
            <p:cNvSpPr>
              <a:spLocks noChangeShapeType="1"/>
            </p:cNvSpPr>
            <p:nvPr/>
          </p:nvSpPr>
          <p:spPr bwMode="auto">
            <a:xfrm>
              <a:off x="2784" y="864"/>
              <a:ext cx="0" cy="2184"/>
            </a:xfrm>
            <a:prstGeom prst="line">
              <a:avLst/>
            </a:prstGeom>
            <a:noFill/>
            <a:ln w="38100">
              <a:solidFill>
                <a:schemeClr val="tx1"/>
              </a:solidFill>
              <a:round/>
              <a:headEnd/>
              <a:tailEnd/>
            </a:ln>
          </p:spPr>
          <p:txBody>
            <a:bodyPr/>
            <a:lstStyle/>
            <a:p>
              <a:endParaRPr lang="en-US"/>
            </a:p>
          </p:txBody>
        </p:sp>
        <p:sp>
          <p:nvSpPr>
            <p:cNvPr id="52241" name="Freeform 14"/>
            <p:cNvSpPr>
              <a:spLocks/>
            </p:cNvSpPr>
            <p:nvPr/>
          </p:nvSpPr>
          <p:spPr bwMode="auto">
            <a:xfrm>
              <a:off x="1116" y="2796"/>
              <a:ext cx="1680" cy="392"/>
            </a:xfrm>
            <a:custGeom>
              <a:avLst/>
              <a:gdLst>
                <a:gd name="T0" fmla="*/ 0 w 1680"/>
                <a:gd name="T1" fmla="*/ 256 h 392"/>
                <a:gd name="T2" fmla="*/ 384 w 1680"/>
                <a:gd name="T3" fmla="*/ 16 h 392"/>
                <a:gd name="T4" fmla="*/ 1104 w 1680"/>
                <a:gd name="T5" fmla="*/ 352 h 392"/>
                <a:gd name="T6" fmla="*/ 1680 w 1680"/>
                <a:gd name="T7" fmla="*/ 256 h 392"/>
                <a:gd name="T8" fmla="*/ 0 60000 65536"/>
                <a:gd name="T9" fmla="*/ 0 60000 65536"/>
                <a:gd name="T10" fmla="*/ 0 60000 65536"/>
                <a:gd name="T11" fmla="*/ 0 60000 65536"/>
                <a:gd name="T12" fmla="*/ 0 w 1680"/>
                <a:gd name="T13" fmla="*/ 0 h 392"/>
                <a:gd name="T14" fmla="*/ 1680 w 1680"/>
                <a:gd name="T15" fmla="*/ 392 h 392"/>
              </a:gdLst>
              <a:ahLst/>
              <a:cxnLst>
                <a:cxn ang="T8">
                  <a:pos x="T0" y="T1"/>
                </a:cxn>
                <a:cxn ang="T9">
                  <a:pos x="T2" y="T3"/>
                </a:cxn>
                <a:cxn ang="T10">
                  <a:pos x="T4" y="T5"/>
                </a:cxn>
                <a:cxn ang="T11">
                  <a:pos x="T6" y="T7"/>
                </a:cxn>
              </a:cxnLst>
              <a:rect l="T12" t="T13" r="T14" b="T15"/>
              <a:pathLst>
                <a:path w="1680" h="392">
                  <a:moveTo>
                    <a:pt x="0" y="256"/>
                  </a:moveTo>
                  <a:cubicBezTo>
                    <a:pt x="100" y="128"/>
                    <a:pt x="200" y="0"/>
                    <a:pt x="384" y="16"/>
                  </a:cubicBezTo>
                  <a:cubicBezTo>
                    <a:pt x="568" y="32"/>
                    <a:pt x="888" y="312"/>
                    <a:pt x="1104" y="352"/>
                  </a:cubicBezTo>
                  <a:cubicBezTo>
                    <a:pt x="1320" y="392"/>
                    <a:pt x="1584" y="272"/>
                    <a:pt x="1680" y="256"/>
                  </a:cubicBezTo>
                </a:path>
              </a:pathLst>
            </a:custGeom>
            <a:noFill/>
            <a:ln w="38100">
              <a:solidFill>
                <a:schemeClr val="tx1"/>
              </a:solidFill>
              <a:round/>
              <a:headEnd/>
              <a:tailEnd/>
            </a:ln>
          </p:spPr>
          <p:txBody>
            <a:bodyPr/>
            <a:lstStyle/>
            <a:p>
              <a:endParaRPr lang="en-US"/>
            </a:p>
          </p:txBody>
        </p:sp>
        <p:sp>
          <p:nvSpPr>
            <p:cNvPr id="52242" name="Line 15"/>
            <p:cNvSpPr>
              <a:spLocks noChangeShapeType="1"/>
            </p:cNvSpPr>
            <p:nvPr/>
          </p:nvSpPr>
          <p:spPr bwMode="auto">
            <a:xfrm>
              <a:off x="1104" y="2016"/>
              <a:ext cx="1680" cy="0"/>
            </a:xfrm>
            <a:prstGeom prst="line">
              <a:avLst/>
            </a:prstGeom>
            <a:noFill/>
            <a:ln w="38100">
              <a:solidFill>
                <a:schemeClr val="tx1"/>
              </a:solidFill>
              <a:round/>
              <a:headEnd/>
              <a:tailEnd/>
            </a:ln>
          </p:spPr>
          <p:txBody>
            <a:bodyPr/>
            <a:lstStyle/>
            <a:p>
              <a:endParaRPr lang="en-US"/>
            </a:p>
          </p:txBody>
        </p:sp>
        <p:sp>
          <p:nvSpPr>
            <p:cNvPr id="52243" name="Line 16"/>
            <p:cNvSpPr>
              <a:spLocks noChangeShapeType="1"/>
            </p:cNvSpPr>
            <p:nvPr/>
          </p:nvSpPr>
          <p:spPr bwMode="auto">
            <a:xfrm>
              <a:off x="1104" y="1776"/>
              <a:ext cx="1680" cy="0"/>
            </a:xfrm>
            <a:prstGeom prst="line">
              <a:avLst/>
            </a:prstGeom>
            <a:noFill/>
            <a:ln w="38100">
              <a:solidFill>
                <a:schemeClr val="tx1"/>
              </a:solidFill>
              <a:round/>
              <a:headEnd/>
              <a:tailEnd/>
            </a:ln>
          </p:spPr>
          <p:txBody>
            <a:bodyPr/>
            <a:lstStyle/>
            <a:p>
              <a:endParaRPr lang="en-US"/>
            </a:p>
          </p:txBody>
        </p:sp>
        <p:sp>
          <p:nvSpPr>
            <p:cNvPr id="52244" name="Text Box 17"/>
            <p:cNvSpPr txBox="1">
              <a:spLocks noChangeArrowheads="1"/>
            </p:cNvSpPr>
            <p:nvPr/>
          </p:nvSpPr>
          <p:spPr bwMode="auto">
            <a:xfrm>
              <a:off x="1582" y="1776"/>
              <a:ext cx="511" cy="273"/>
            </a:xfrm>
            <a:prstGeom prst="rect">
              <a:avLst/>
            </a:prstGeom>
            <a:noFill/>
            <a:ln w="38100">
              <a:noFill/>
              <a:miter lim="800000"/>
              <a:headEnd/>
              <a:tailEnd/>
            </a:ln>
          </p:spPr>
          <p:txBody>
            <a:bodyPr wrap="none">
              <a:spAutoFit/>
            </a:bodyPr>
            <a:lstStyle/>
            <a:p>
              <a:r>
                <a:rPr lang="en-US" altLang="en-US">
                  <a:latin typeface="Arial" charset="0"/>
                </a:rPr>
                <a:t>Operand</a:t>
              </a:r>
            </a:p>
          </p:txBody>
        </p:sp>
        <p:sp>
          <p:nvSpPr>
            <p:cNvPr id="52245" name="Text Box 18"/>
            <p:cNvSpPr txBox="1">
              <a:spLocks noChangeArrowheads="1"/>
            </p:cNvSpPr>
            <p:nvPr/>
          </p:nvSpPr>
          <p:spPr bwMode="auto">
            <a:xfrm>
              <a:off x="720" y="1752"/>
              <a:ext cx="269" cy="273"/>
            </a:xfrm>
            <a:prstGeom prst="rect">
              <a:avLst/>
            </a:prstGeom>
            <a:noFill/>
            <a:ln w="38100">
              <a:noFill/>
              <a:miter lim="800000"/>
              <a:headEnd/>
              <a:tailEnd/>
            </a:ln>
          </p:spPr>
          <p:txBody>
            <a:bodyPr wrap="none">
              <a:spAutoFit/>
            </a:bodyPr>
            <a:lstStyle/>
            <a:p>
              <a:r>
                <a:rPr lang="en-US" altLang="en-US">
                  <a:latin typeface="Arial" charset="0"/>
                </a:rPr>
                <a:t>457</a:t>
              </a:r>
            </a:p>
          </p:txBody>
        </p:sp>
        <p:sp>
          <p:nvSpPr>
            <p:cNvPr id="52246" name="Line 19"/>
            <p:cNvSpPr>
              <a:spLocks noChangeShapeType="1"/>
            </p:cNvSpPr>
            <p:nvPr/>
          </p:nvSpPr>
          <p:spPr bwMode="auto">
            <a:xfrm>
              <a:off x="1824" y="2016"/>
              <a:ext cx="0" cy="1152"/>
            </a:xfrm>
            <a:prstGeom prst="line">
              <a:avLst/>
            </a:prstGeom>
            <a:noFill/>
            <a:ln w="9525">
              <a:solidFill>
                <a:schemeClr val="tx1"/>
              </a:solidFill>
              <a:round/>
              <a:headEnd/>
              <a:tailEnd type="triangle" w="med" len="med"/>
            </a:ln>
          </p:spPr>
          <p:txBody>
            <a:bodyPr/>
            <a:lstStyle/>
            <a:p>
              <a:endParaRPr lang="en-US"/>
            </a:p>
          </p:txBody>
        </p:sp>
        <p:sp>
          <p:nvSpPr>
            <p:cNvPr id="52247" name="Oval 20"/>
            <p:cNvSpPr>
              <a:spLocks noChangeArrowheads="1"/>
            </p:cNvSpPr>
            <p:nvPr/>
          </p:nvSpPr>
          <p:spPr bwMode="auto">
            <a:xfrm>
              <a:off x="1680" y="3180"/>
              <a:ext cx="288" cy="288"/>
            </a:xfrm>
            <a:prstGeom prst="ellipse">
              <a:avLst/>
            </a:prstGeom>
            <a:noFill/>
            <a:ln w="9525">
              <a:solidFill>
                <a:schemeClr val="tx1"/>
              </a:solidFill>
              <a:round/>
              <a:headEnd/>
              <a:tailEnd/>
            </a:ln>
          </p:spPr>
          <p:txBody>
            <a:bodyPr wrap="none" anchor="ctr"/>
            <a:lstStyle/>
            <a:p>
              <a:endParaRPr lang="en-US" altLang="en-US"/>
            </a:p>
          </p:txBody>
        </p:sp>
        <p:sp>
          <p:nvSpPr>
            <p:cNvPr id="52248" name="Text Box 21"/>
            <p:cNvSpPr txBox="1">
              <a:spLocks noChangeArrowheads="1"/>
            </p:cNvSpPr>
            <p:nvPr/>
          </p:nvSpPr>
          <p:spPr bwMode="auto">
            <a:xfrm>
              <a:off x="1706" y="3169"/>
              <a:ext cx="172" cy="342"/>
            </a:xfrm>
            <a:prstGeom prst="rect">
              <a:avLst/>
            </a:prstGeom>
            <a:noFill/>
            <a:ln w="9525">
              <a:noFill/>
              <a:miter lim="800000"/>
              <a:headEnd/>
              <a:tailEnd/>
            </a:ln>
          </p:spPr>
          <p:txBody>
            <a:bodyPr wrap="none">
              <a:spAutoFit/>
            </a:bodyPr>
            <a:lstStyle/>
            <a:p>
              <a:r>
                <a:rPr lang="en-US" altLang="en-US" sz="2400">
                  <a:latin typeface="Arial" charset="0"/>
                </a:rPr>
                <a:t>+</a:t>
              </a:r>
            </a:p>
          </p:txBody>
        </p:sp>
        <p:sp>
          <p:nvSpPr>
            <p:cNvPr id="52249" name="Line 22"/>
            <p:cNvSpPr>
              <a:spLocks noChangeShapeType="1"/>
            </p:cNvSpPr>
            <p:nvPr/>
          </p:nvSpPr>
          <p:spPr bwMode="auto">
            <a:xfrm>
              <a:off x="1824" y="3456"/>
              <a:ext cx="0" cy="240"/>
            </a:xfrm>
            <a:prstGeom prst="line">
              <a:avLst/>
            </a:prstGeom>
            <a:noFill/>
            <a:ln w="9525">
              <a:solidFill>
                <a:schemeClr val="tx1"/>
              </a:solidFill>
              <a:round/>
              <a:headEnd/>
              <a:tailEnd/>
            </a:ln>
          </p:spPr>
          <p:txBody>
            <a:bodyPr/>
            <a:lstStyle/>
            <a:p>
              <a:endParaRPr lang="en-US"/>
            </a:p>
          </p:txBody>
        </p:sp>
        <p:sp>
          <p:nvSpPr>
            <p:cNvPr id="52250" name="Rectangle 23"/>
            <p:cNvSpPr>
              <a:spLocks noChangeArrowheads="1"/>
            </p:cNvSpPr>
            <p:nvPr/>
          </p:nvSpPr>
          <p:spPr bwMode="auto">
            <a:xfrm>
              <a:off x="1200" y="3696"/>
              <a:ext cx="1296" cy="336"/>
            </a:xfrm>
            <a:prstGeom prst="rect">
              <a:avLst/>
            </a:prstGeom>
            <a:noFill/>
            <a:ln w="9525">
              <a:solidFill>
                <a:schemeClr val="tx1"/>
              </a:solidFill>
              <a:miter lim="800000"/>
              <a:headEnd/>
              <a:tailEnd/>
            </a:ln>
          </p:spPr>
          <p:txBody>
            <a:bodyPr wrap="none" anchor="ctr"/>
            <a:lstStyle/>
            <a:p>
              <a:endParaRPr lang="en-US" altLang="en-US"/>
            </a:p>
          </p:txBody>
        </p:sp>
        <p:sp>
          <p:nvSpPr>
            <p:cNvPr id="52251" name="Text Box 24"/>
            <p:cNvSpPr txBox="1">
              <a:spLocks noChangeArrowheads="1"/>
            </p:cNvSpPr>
            <p:nvPr/>
          </p:nvSpPr>
          <p:spPr bwMode="auto">
            <a:xfrm>
              <a:off x="1670" y="3755"/>
              <a:ext cx="239" cy="273"/>
            </a:xfrm>
            <a:prstGeom prst="rect">
              <a:avLst/>
            </a:prstGeom>
            <a:noFill/>
            <a:ln w="9525">
              <a:noFill/>
              <a:miter lim="800000"/>
              <a:headEnd/>
              <a:tailEnd/>
            </a:ln>
          </p:spPr>
          <p:txBody>
            <a:bodyPr wrap="none">
              <a:spAutoFit/>
            </a:bodyPr>
            <a:lstStyle/>
            <a:p>
              <a:r>
                <a:rPr lang="en-US" altLang="en-US">
                  <a:latin typeface="Arial" charset="0"/>
                </a:rPr>
                <a:t>AC</a:t>
              </a:r>
            </a:p>
          </p:txBody>
        </p:sp>
        <p:sp>
          <p:nvSpPr>
            <p:cNvPr id="52252" name="Line 25"/>
            <p:cNvSpPr>
              <a:spLocks noChangeShapeType="1"/>
            </p:cNvSpPr>
            <p:nvPr/>
          </p:nvSpPr>
          <p:spPr bwMode="auto">
            <a:xfrm flipH="1">
              <a:off x="960" y="3840"/>
              <a:ext cx="240" cy="0"/>
            </a:xfrm>
            <a:prstGeom prst="line">
              <a:avLst/>
            </a:prstGeom>
            <a:noFill/>
            <a:ln w="9525">
              <a:solidFill>
                <a:schemeClr val="tx1"/>
              </a:solidFill>
              <a:round/>
              <a:headEnd/>
              <a:tailEnd/>
            </a:ln>
          </p:spPr>
          <p:txBody>
            <a:bodyPr/>
            <a:lstStyle/>
            <a:p>
              <a:endParaRPr lang="en-US"/>
            </a:p>
          </p:txBody>
        </p:sp>
        <p:sp>
          <p:nvSpPr>
            <p:cNvPr id="52253" name="Line 26"/>
            <p:cNvSpPr>
              <a:spLocks noChangeShapeType="1"/>
            </p:cNvSpPr>
            <p:nvPr/>
          </p:nvSpPr>
          <p:spPr bwMode="auto">
            <a:xfrm flipV="1">
              <a:off x="960" y="3360"/>
              <a:ext cx="0" cy="480"/>
            </a:xfrm>
            <a:prstGeom prst="line">
              <a:avLst/>
            </a:prstGeom>
            <a:noFill/>
            <a:ln w="9525">
              <a:solidFill>
                <a:schemeClr val="tx1"/>
              </a:solidFill>
              <a:round/>
              <a:headEnd/>
              <a:tailEnd/>
            </a:ln>
          </p:spPr>
          <p:txBody>
            <a:bodyPr/>
            <a:lstStyle/>
            <a:p>
              <a:endParaRPr lang="en-US"/>
            </a:p>
          </p:txBody>
        </p:sp>
        <p:sp>
          <p:nvSpPr>
            <p:cNvPr id="52254" name="Line 27"/>
            <p:cNvSpPr>
              <a:spLocks noChangeShapeType="1"/>
            </p:cNvSpPr>
            <p:nvPr/>
          </p:nvSpPr>
          <p:spPr bwMode="auto">
            <a:xfrm>
              <a:off x="960" y="3360"/>
              <a:ext cx="720" cy="0"/>
            </a:xfrm>
            <a:prstGeom prst="line">
              <a:avLst/>
            </a:prstGeom>
            <a:noFill/>
            <a:ln w="9525">
              <a:solidFill>
                <a:schemeClr val="tx1"/>
              </a:solidFill>
              <a:round/>
              <a:headEnd/>
              <a:tailEnd type="triangle" w="med" len="med"/>
            </a:ln>
          </p:spPr>
          <p:txBody>
            <a:bodyPr/>
            <a:lstStyle/>
            <a:p>
              <a:endParaRPr lang="en-US"/>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p:cNvSpPr>
          <p:nvPr>
            <p:ph sz="quarter" idx="1"/>
          </p:nvPr>
        </p:nvSpPr>
        <p:spPr>
          <a:xfrm>
            <a:off x="402168" y="1527175"/>
            <a:ext cx="9859433" cy="4572000"/>
          </a:xfrm>
        </p:spPr>
        <p:txBody>
          <a:bodyPr/>
          <a:lstStyle/>
          <a:p>
            <a:pPr eaLnBrk="1" hangingPunct="1"/>
            <a:r>
              <a:rPr lang="en-US" altLang="en-US"/>
              <a:t>The instruction in address 35 is  shown in fig. above has a mode bit  </a:t>
            </a:r>
            <a:r>
              <a:rPr lang="en-US" altLang="en-US" i="1"/>
              <a:t>I </a:t>
            </a:r>
            <a:r>
              <a:rPr lang="en-US" altLang="en-US"/>
              <a:t>= 1.</a:t>
            </a:r>
          </a:p>
          <a:p>
            <a:pPr eaLnBrk="1" hangingPunct="1"/>
            <a:r>
              <a:rPr lang="en-US" altLang="en-US"/>
              <a:t>Therefore, it is recognized as an indirect address instruction.</a:t>
            </a:r>
          </a:p>
          <a:p>
            <a:pPr eaLnBrk="1" hangingPunct="1"/>
            <a:r>
              <a:rPr lang="en-US" altLang="en-US"/>
              <a:t>The address part is the binary equivalent of 300.</a:t>
            </a:r>
          </a:p>
        </p:txBody>
      </p:sp>
      <p:pic>
        <p:nvPicPr>
          <p:cNvPr id="80900" name="Picture 4" descr="j0292982"/>
          <p:cNvPicPr>
            <a:picLocks noChangeAspect="1" noChangeArrowheads="1"/>
          </p:cNvPicPr>
          <p:nvPr/>
        </p:nvPicPr>
        <p:blipFill>
          <a:blip r:embed="rId3">
            <a:lum bright="70000" contrast="-70000"/>
            <a:grayscl/>
          </a:blip>
          <a:srcRect/>
          <a:stretch>
            <a:fillRect/>
          </a:stretch>
        </p:blipFill>
        <p:spPr bwMode="auto">
          <a:xfrm>
            <a:off x="711200" y="304801"/>
            <a:ext cx="1117600" cy="8286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8090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p:cNvSpPr>
          <p:nvPr>
            <p:ph sz="quarter" idx="1"/>
          </p:nvPr>
        </p:nvSpPr>
        <p:spPr>
          <a:xfrm>
            <a:off x="402168" y="1527175"/>
            <a:ext cx="9859433" cy="4572000"/>
          </a:xfrm>
        </p:spPr>
        <p:txBody>
          <a:bodyPr/>
          <a:lstStyle/>
          <a:p>
            <a:pPr eaLnBrk="1" hangingPunct="1"/>
            <a:r>
              <a:rPr lang="en-US" altLang="en-US"/>
              <a:t>The control goes to address 300 to find the address of the operand.</a:t>
            </a:r>
          </a:p>
          <a:p>
            <a:pPr eaLnBrk="1" hangingPunct="1"/>
            <a:r>
              <a:rPr lang="en-US" altLang="en-US"/>
              <a:t>The address of the operand in this case is 1350.</a:t>
            </a:r>
          </a:p>
          <a:p>
            <a:pPr eaLnBrk="1" hangingPunct="1"/>
            <a:r>
              <a:rPr lang="en-US" altLang="en-US"/>
              <a:t>If the operand is found in address 1350, then it is added to the content of </a:t>
            </a:r>
            <a:r>
              <a:rPr lang="en-US" altLang="en-US" i="1"/>
              <a:t>AC. </a:t>
            </a:r>
            <a:endParaRPr lang="en-US" altLang="en-US"/>
          </a:p>
        </p:txBody>
      </p:sp>
      <p:pic>
        <p:nvPicPr>
          <p:cNvPr id="81924" name="Picture 4" descr="j0292982"/>
          <p:cNvPicPr>
            <a:picLocks noChangeAspect="1" noChangeArrowheads="1"/>
          </p:cNvPicPr>
          <p:nvPr/>
        </p:nvPicPr>
        <p:blipFill>
          <a:blip r:embed="rId3">
            <a:lum bright="70000" contrast="-70000"/>
            <a:grayscl/>
          </a:blip>
          <a:srcRect/>
          <a:stretch>
            <a:fillRect/>
          </a:stretch>
        </p:blipFill>
        <p:spPr bwMode="auto">
          <a:xfrm>
            <a:off x="508000" y="381001"/>
            <a:ext cx="1117600" cy="8286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8192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xmlns="" id="{32089646-237F-4E5E-961F-7A523ACA303D}"/>
              </a:ext>
            </a:extLst>
          </p:cNvPr>
          <p:cNvSpPr>
            <a:spLocks noGrp="1"/>
          </p:cNvSpPr>
          <p:nvPr>
            <p:ph type="title"/>
          </p:nvPr>
        </p:nvSpPr>
        <p:spPr/>
        <p:txBody>
          <a:bodyPr/>
          <a:lstStyle/>
          <a:p>
            <a:pPr eaLnBrk="1" hangingPunct="1"/>
            <a:r>
              <a:rPr lang="en-US" altLang="en-US" sz="4400" b="1"/>
              <a:t>Computer Instructions</a:t>
            </a:r>
          </a:p>
        </p:txBody>
      </p:sp>
      <p:sp>
        <p:nvSpPr>
          <p:cNvPr id="17411" name="Rectangle 3">
            <a:extLst>
              <a:ext uri="{FF2B5EF4-FFF2-40B4-BE49-F238E27FC236}">
                <a16:creationId xmlns:a16="http://schemas.microsoft.com/office/drawing/2014/main" xmlns="" id="{64967416-5C7C-458F-AB99-8972C3F288C3}"/>
              </a:ext>
            </a:extLst>
          </p:cNvPr>
          <p:cNvSpPr>
            <a:spLocks noGrp="1"/>
          </p:cNvSpPr>
          <p:nvPr>
            <p:ph sz="quarter" idx="1"/>
          </p:nvPr>
        </p:nvSpPr>
        <p:spPr>
          <a:xfrm>
            <a:off x="1825626" y="1527175"/>
            <a:ext cx="7394575" cy="4572000"/>
          </a:xfrm>
        </p:spPr>
        <p:txBody>
          <a:bodyPr/>
          <a:lstStyle/>
          <a:p>
            <a:pPr marL="685800" indent="-685800"/>
            <a:r>
              <a:rPr lang="en-US" altLang="en-US"/>
              <a:t>The basic computer has three instruction code formats as shown below:</a:t>
            </a:r>
          </a:p>
          <a:p>
            <a:pPr marL="685800" indent="-685800">
              <a:buFont typeface="Wingdings" panose="05000000000000000000" pitchFamily="2" charset="2"/>
              <a:buAutoNum type="arabicPeriod"/>
            </a:pPr>
            <a:r>
              <a:rPr lang="en-US" altLang="en-US"/>
              <a:t>Memory-Reference Instructions</a:t>
            </a:r>
          </a:p>
          <a:p>
            <a:pPr marL="685800" indent="-685800">
              <a:buFont typeface="Wingdings" panose="05000000000000000000" pitchFamily="2" charset="2"/>
              <a:buAutoNum type="arabicPeriod"/>
            </a:pPr>
            <a:r>
              <a:rPr lang="en-US" altLang="en-US"/>
              <a:t>Register-Reference Instructions</a:t>
            </a:r>
          </a:p>
          <a:p>
            <a:pPr marL="685800" indent="-685800">
              <a:buFont typeface="Wingdings" panose="05000000000000000000" pitchFamily="2" charset="2"/>
              <a:buAutoNum type="arabicPeriod"/>
            </a:pPr>
            <a:r>
              <a:rPr lang="en-US" altLang="en-US"/>
              <a:t>Input-Output Instructions</a:t>
            </a:r>
          </a:p>
          <a:p>
            <a:pPr marL="685800" indent="-685800"/>
            <a:endParaRPr lang="en-US" altLang="en-US"/>
          </a:p>
        </p:txBody>
      </p:sp>
      <p:pic>
        <p:nvPicPr>
          <p:cNvPr id="184333" name="Picture 13" descr="j0292982">
            <a:extLst>
              <a:ext uri="{FF2B5EF4-FFF2-40B4-BE49-F238E27FC236}">
                <a16:creationId xmlns:a16="http://schemas.microsoft.com/office/drawing/2014/main" xmlns="" id="{DE5AFD02-8E00-4CE4-805E-AE289FAB471B}"/>
              </a:ext>
            </a:extLst>
          </p:cNvPr>
          <p:cNvPicPr>
            <a:picLocks noChangeAspect="1" noChangeArrowheads="1"/>
          </p:cNvPicPr>
          <p:nvPr/>
        </p:nvPicPr>
        <p:blipFill>
          <a:blip r:embed="rId3">
            <a:lum bright="70000" contrast="-70000"/>
            <a:grayscl/>
            <a:extLst>
              <a:ext uri="{28A0092B-C50C-407E-A947-70E740481C1C}">
                <a14:useLocalDpi xmlns:a14="http://schemas.microsoft.com/office/drawing/2010/main" xmlns="" val="0"/>
              </a:ext>
            </a:extLst>
          </a:blip>
          <a:srcRect/>
          <a:stretch>
            <a:fillRect/>
          </a:stretch>
        </p:blipFill>
        <p:spPr bwMode="auto">
          <a:xfrm>
            <a:off x="9296400" y="228601"/>
            <a:ext cx="838200" cy="828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8433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xmlns="" id="{BD8B0991-4A0A-4D5C-A910-18CEDB42B13D}"/>
              </a:ext>
            </a:extLst>
          </p:cNvPr>
          <p:cNvSpPr>
            <a:spLocks noGrp="1"/>
          </p:cNvSpPr>
          <p:nvPr>
            <p:ph type="title"/>
          </p:nvPr>
        </p:nvSpPr>
        <p:spPr>
          <a:xfrm>
            <a:off x="2057400" y="304801"/>
            <a:ext cx="8229600" cy="1139825"/>
          </a:xfrm>
        </p:spPr>
        <p:txBody>
          <a:bodyPr>
            <a:normAutofit fontScale="90000"/>
          </a:bodyPr>
          <a:lstStyle/>
          <a:p>
            <a:pPr algn="l" eaLnBrk="1" hangingPunct="1"/>
            <a:r>
              <a:rPr lang="en-US" altLang="en-US" sz="4000">
                <a:solidFill>
                  <a:srgbClr val="0000FF"/>
                </a:solidFill>
              </a:rPr>
              <a:t>1. Memory-reference instruction</a:t>
            </a:r>
          </a:p>
        </p:txBody>
      </p:sp>
      <p:sp>
        <p:nvSpPr>
          <p:cNvPr id="19459" name="Rectangle 3">
            <a:extLst>
              <a:ext uri="{FF2B5EF4-FFF2-40B4-BE49-F238E27FC236}">
                <a16:creationId xmlns:a16="http://schemas.microsoft.com/office/drawing/2014/main" xmlns="" id="{DB28D2D4-1A99-4B9A-B4BB-3615E2C62203}"/>
              </a:ext>
            </a:extLst>
          </p:cNvPr>
          <p:cNvSpPr>
            <a:spLocks noGrp="1"/>
          </p:cNvSpPr>
          <p:nvPr>
            <p:ph sz="quarter" idx="1"/>
          </p:nvPr>
        </p:nvSpPr>
        <p:spPr>
          <a:xfrm>
            <a:off x="1524000" y="1295400"/>
            <a:ext cx="8229600" cy="3657600"/>
          </a:xfrm>
        </p:spPr>
        <p:txBody>
          <a:bodyPr/>
          <a:lstStyle/>
          <a:p>
            <a:pPr eaLnBrk="1" hangingPunct="1"/>
            <a:r>
              <a:rPr lang="en-US" altLang="en-US"/>
              <a:t>A memory-reference instruction uses 12 bits to specify an address and one bit to specify the addressing mode </a:t>
            </a:r>
            <a:r>
              <a:rPr lang="en-US" altLang="en-US" i="1"/>
              <a:t>I.</a:t>
            </a:r>
            <a:r>
              <a:rPr lang="en-US" altLang="en-US"/>
              <a:t> </a:t>
            </a:r>
            <a:endParaRPr lang="en-US" altLang="en-US" i="1"/>
          </a:p>
          <a:p>
            <a:pPr eaLnBrk="1" hangingPunct="1"/>
            <a:endParaRPr lang="en-US" altLang="en-US" i="1"/>
          </a:p>
          <a:p>
            <a:pPr eaLnBrk="1" hangingPunct="1"/>
            <a:r>
              <a:rPr lang="en-US" altLang="en-US" i="1"/>
              <a:t>I </a:t>
            </a:r>
            <a:r>
              <a:rPr lang="en-US" altLang="en-US"/>
              <a:t> is equal to 0 for direct address and 1 for indirect address</a:t>
            </a:r>
          </a:p>
        </p:txBody>
      </p:sp>
      <p:grpSp>
        <p:nvGrpSpPr>
          <p:cNvPr id="19460" name="Group 21">
            <a:extLst>
              <a:ext uri="{FF2B5EF4-FFF2-40B4-BE49-F238E27FC236}">
                <a16:creationId xmlns:a16="http://schemas.microsoft.com/office/drawing/2014/main" xmlns="" id="{255A7A4A-472B-4694-A2A3-F115FB09BFE8}"/>
              </a:ext>
            </a:extLst>
          </p:cNvPr>
          <p:cNvGrpSpPr>
            <a:grpSpLocks/>
          </p:cNvGrpSpPr>
          <p:nvPr/>
        </p:nvGrpSpPr>
        <p:grpSpPr bwMode="auto">
          <a:xfrm>
            <a:off x="1600200" y="4803776"/>
            <a:ext cx="5873750" cy="835025"/>
            <a:chOff x="924" y="2016"/>
            <a:chExt cx="3700" cy="526"/>
          </a:xfrm>
        </p:grpSpPr>
        <p:grpSp>
          <p:nvGrpSpPr>
            <p:cNvPr id="19462" name="Group 13">
              <a:extLst>
                <a:ext uri="{FF2B5EF4-FFF2-40B4-BE49-F238E27FC236}">
                  <a16:creationId xmlns:a16="http://schemas.microsoft.com/office/drawing/2014/main" xmlns="" id="{D8DFD29E-14E1-417D-812E-BCC2A31609C5}"/>
                </a:ext>
              </a:extLst>
            </p:cNvPr>
            <p:cNvGrpSpPr>
              <a:grpSpLocks/>
            </p:cNvGrpSpPr>
            <p:nvPr/>
          </p:nvGrpSpPr>
          <p:grpSpPr bwMode="auto">
            <a:xfrm>
              <a:off x="924" y="2016"/>
              <a:ext cx="3700" cy="526"/>
              <a:chOff x="924" y="2016"/>
              <a:chExt cx="3700" cy="526"/>
            </a:xfrm>
          </p:grpSpPr>
          <p:sp>
            <p:nvSpPr>
              <p:cNvPr id="19465" name="Rectangle 4">
                <a:extLst>
                  <a:ext uri="{FF2B5EF4-FFF2-40B4-BE49-F238E27FC236}">
                    <a16:creationId xmlns:a16="http://schemas.microsoft.com/office/drawing/2014/main" xmlns="" id="{192AF839-8F83-4839-A33C-66549D63F3A3}"/>
                  </a:ext>
                </a:extLst>
              </p:cNvPr>
              <p:cNvSpPr>
                <a:spLocks noChangeArrowheads="1"/>
              </p:cNvSpPr>
              <p:nvPr/>
            </p:nvSpPr>
            <p:spPr bwMode="auto">
              <a:xfrm>
                <a:off x="1036" y="2302"/>
                <a:ext cx="3536"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9466" name="Line 5">
                <a:extLst>
                  <a:ext uri="{FF2B5EF4-FFF2-40B4-BE49-F238E27FC236}">
                    <a16:creationId xmlns:a16="http://schemas.microsoft.com/office/drawing/2014/main" xmlns="" id="{BDB495DD-65B8-4325-988D-F3D804C54543}"/>
                  </a:ext>
                </a:extLst>
              </p:cNvPr>
              <p:cNvSpPr>
                <a:spLocks noChangeShapeType="1"/>
              </p:cNvSpPr>
              <p:nvPr/>
            </p:nvSpPr>
            <p:spPr bwMode="auto">
              <a:xfrm>
                <a:off x="1228" y="2302"/>
                <a:ext cx="0" cy="24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9467" name="Line 6">
                <a:extLst>
                  <a:ext uri="{FF2B5EF4-FFF2-40B4-BE49-F238E27FC236}">
                    <a16:creationId xmlns:a16="http://schemas.microsoft.com/office/drawing/2014/main" xmlns="" id="{BCA85F76-63A5-4522-8CAE-AAD6B87FA27D}"/>
                  </a:ext>
                </a:extLst>
              </p:cNvPr>
              <p:cNvSpPr>
                <a:spLocks noChangeShapeType="1"/>
              </p:cNvSpPr>
              <p:nvPr/>
            </p:nvSpPr>
            <p:spPr bwMode="auto">
              <a:xfrm>
                <a:off x="2140" y="2302"/>
                <a:ext cx="0" cy="24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9468" name="Text Box 7">
                <a:extLst>
                  <a:ext uri="{FF2B5EF4-FFF2-40B4-BE49-F238E27FC236}">
                    <a16:creationId xmlns:a16="http://schemas.microsoft.com/office/drawing/2014/main" xmlns="" id="{C91FE1D3-EDDE-4D72-9C5C-B2CF1DD96C7E}"/>
                  </a:ext>
                </a:extLst>
              </p:cNvPr>
              <p:cNvSpPr txBox="1">
                <a:spLocks noChangeArrowheads="1"/>
              </p:cNvSpPr>
              <p:nvPr/>
            </p:nvSpPr>
            <p:spPr bwMode="auto">
              <a:xfrm>
                <a:off x="1047" y="2281"/>
                <a:ext cx="178"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I</a:t>
                </a:r>
              </a:p>
            </p:txBody>
          </p:sp>
          <p:sp>
            <p:nvSpPr>
              <p:cNvPr id="19469" name="Text Box 8">
                <a:extLst>
                  <a:ext uri="{FF2B5EF4-FFF2-40B4-BE49-F238E27FC236}">
                    <a16:creationId xmlns:a16="http://schemas.microsoft.com/office/drawing/2014/main" xmlns="" id="{D79B27EB-8DE9-4F05-913B-70B641D06A07}"/>
                  </a:ext>
                </a:extLst>
              </p:cNvPr>
              <p:cNvSpPr txBox="1">
                <a:spLocks noChangeArrowheads="1"/>
              </p:cNvSpPr>
              <p:nvPr/>
            </p:nvSpPr>
            <p:spPr bwMode="auto">
              <a:xfrm>
                <a:off x="924"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15</a:t>
                </a:r>
              </a:p>
            </p:txBody>
          </p:sp>
          <p:sp>
            <p:nvSpPr>
              <p:cNvPr id="19470" name="Text Box 9">
                <a:extLst>
                  <a:ext uri="{FF2B5EF4-FFF2-40B4-BE49-F238E27FC236}">
                    <a16:creationId xmlns:a16="http://schemas.microsoft.com/office/drawing/2014/main" xmlns="" id="{96C71DFB-B512-4FEC-BF6B-28DA0FFB5C18}"/>
                  </a:ext>
                </a:extLst>
              </p:cNvPr>
              <p:cNvSpPr txBox="1">
                <a:spLocks noChangeArrowheads="1"/>
              </p:cNvSpPr>
              <p:nvPr/>
            </p:nvSpPr>
            <p:spPr bwMode="auto">
              <a:xfrm>
                <a:off x="1210" y="2083"/>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14</a:t>
                </a:r>
              </a:p>
            </p:txBody>
          </p:sp>
          <p:sp>
            <p:nvSpPr>
              <p:cNvPr id="19471" name="Text Box 10">
                <a:extLst>
                  <a:ext uri="{FF2B5EF4-FFF2-40B4-BE49-F238E27FC236}">
                    <a16:creationId xmlns:a16="http://schemas.microsoft.com/office/drawing/2014/main" xmlns="" id="{985CCC26-10C5-4DEF-B64B-E65FFAA3A1F1}"/>
                  </a:ext>
                </a:extLst>
              </p:cNvPr>
              <p:cNvSpPr txBox="1">
                <a:spLocks noChangeArrowheads="1"/>
              </p:cNvSpPr>
              <p:nvPr/>
            </p:nvSpPr>
            <p:spPr bwMode="auto">
              <a:xfrm>
                <a:off x="1872"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12</a:t>
                </a:r>
              </a:p>
            </p:txBody>
          </p:sp>
          <p:sp>
            <p:nvSpPr>
              <p:cNvPr id="19472" name="Text Box 11">
                <a:extLst>
                  <a:ext uri="{FF2B5EF4-FFF2-40B4-BE49-F238E27FC236}">
                    <a16:creationId xmlns:a16="http://schemas.microsoft.com/office/drawing/2014/main" xmlns="" id="{EB480C03-D2C8-47B6-B256-D6F4DD21D54B}"/>
                  </a:ext>
                </a:extLst>
              </p:cNvPr>
              <p:cNvSpPr txBox="1">
                <a:spLocks noChangeArrowheads="1"/>
              </p:cNvSpPr>
              <p:nvPr/>
            </p:nvSpPr>
            <p:spPr bwMode="auto">
              <a:xfrm>
                <a:off x="2131"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11</a:t>
                </a:r>
              </a:p>
            </p:txBody>
          </p:sp>
          <p:sp>
            <p:nvSpPr>
              <p:cNvPr id="19473" name="Text Box 12">
                <a:extLst>
                  <a:ext uri="{FF2B5EF4-FFF2-40B4-BE49-F238E27FC236}">
                    <a16:creationId xmlns:a16="http://schemas.microsoft.com/office/drawing/2014/main" xmlns="" id="{058A4D1E-EB04-4734-85C9-D2272314648F}"/>
                  </a:ext>
                </a:extLst>
              </p:cNvPr>
              <p:cNvSpPr txBox="1">
                <a:spLocks noChangeArrowheads="1"/>
              </p:cNvSpPr>
              <p:nvPr/>
            </p:nvSpPr>
            <p:spPr bwMode="auto">
              <a:xfrm>
                <a:off x="4428" y="2016"/>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0</a:t>
                </a:r>
              </a:p>
            </p:txBody>
          </p:sp>
        </p:grpSp>
        <p:sp>
          <p:nvSpPr>
            <p:cNvPr id="19463" name="Text Box 19">
              <a:extLst>
                <a:ext uri="{FF2B5EF4-FFF2-40B4-BE49-F238E27FC236}">
                  <a16:creationId xmlns:a16="http://schemas.microsoft.com/office/drawing/2014/main" xmlns="" id="{57E113DB-E62A-46D3-A20E-90E878DBE321}"/>
                </a:ext>
              </a:extLst>
            </p:cNvPr>
            <p:cNvSpPr txBox="1">
              <a:spLocks noChangeArrowheads="1"/>
            </p:cNvSpPr>
            <p:nvPr/>
          </p:nvSpPr>
          <p:spPr bwMode="auto">
            <a:xfrm>
              <a:off x="1346" y="2303"/>
              <a:ext cx="652"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b="1">
                  <a:latin typeface="Arial" panose="020B0604020202020204" pitchFamily="34" charset="0"/>
                </a:rPr>
                <a:t>Opcode</a:t>
              </a:r>
            </a:p>
          </p:txBody>
        </p:sp>
        <p:sp>
          <p:nvSpPr>
            <p:cNvPr id="19464" name="Text Box 20">
              <a:extLst>
                <a:ext uri="{FF2B5EF4-FFF2-40B4-BE49-F238E27FC236}">
                  <a16:creationId xmlns:a16="http://schemas.microsoft.com/office/drawing/2014/main" xmlns="" id="{1E1FA7CC-1509-4FBC-ADB6-9EBB6D6D36F1}"/>
                </a:ext>
              </a:extLst>
            </p:cNvPr>
            <p:cNvSpPr txBox="1">
              <a:spLocks noChangeArrowheads="1"/>
            </p:cNvSpPr>
            <p:nvPr/>
          </p:nvSpPr>
          <p:spPr bwMode="auto">
            <a:xfrm>
              <a:off x="3052" y="2279"/>
              <a:ext cx="644"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latin typeface="Arial" panose="020B0604020202020204" pitchFamily="34" charset="0"/>
                </a:rPr>
                <a:t>Address</a:t>
              </a:r>
            </a:p>
          </p:txBody>
        </p:sp>
      </p:grpSp>
      <p:sp>
        <p:nvSpPr>
          <p:cNvPr id="19461" name="Text Box 22">
            <a:extLst>
              <a:ext uri="{FF2B5EF4-FFF2-40B4-BE49-F238E27FC236}">
                <a16:creationId xmlns:a16="http://schemas.microsoft.com/office/drawing/2014/main" xmlns="" id="{805CD7EF-7927-401C-ADD7-FF527105EE25}"/>
              </a:ext>
            </a:extLst>
          </p:cNvPr>
          <p:cNvSpPr txBox="1">
            <a:spLocks noChangeArrowheads="1"/>
          </p:cNvSpPr>
          <p:nvPr/>
        </p:nvSpPr>
        <p:spPr bwMode="auto">
          <a:xfrm>
            <a:off x="7527926" y="5164138"/>
            <a:ext cx="1920875"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latin typeface="Arial" panose="020B0604020202020204" pitchFamily="34" charset="0"/>
              </a:rPr>
              <a:t>(Opcode is=000 through 110)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xmlns="" id="{F84E8373-363E-4A7B-B7E3-C8F6C188B6E4}"/>
              </a:ext>
            </a:extLst>
          </p:cNvPr>
          <p:cNvSpPr>
            <a:spLocks noGrp="1"/>
          </p:cNvSpPr>
          <p:nvPr>
            <p:ph type="title"/>
          </p:nvPr>
        </p:nvSpPr>
        <p:spPr/>
        <p:txBody>
          <a:bodyPr/>
          <a:lstStyle/>
          <a:p>
            <a:pPr eaLnBrk="1" hangingPunct="1"/>
            <a:endParaRPr lang="en-US" altLang="en-US">
              <a:solidFill>
                <a:srgbClr val="7B9899"/>
              </a:solidFill>
            </a:endParaRPr>
          </a:p>
        </p:txBody>
      </p:sp>
      <p:sp>
        <p:nvSpPr>
          <p:cNvPr id="21507" name="Rectangle 6">
            <a:extLst>
              <a:ext uri="{FF2B5EF4-FFF2-40B4-BE49-F238E27FC236}">
                <a16:creationId xmlns:a16="http://schemas.microsoft.com/office/drawing/2014/main" xmlns="" id="{F982282F-FF2B-4C60-BF7F-543AB23781DF}"/>
              </a:ext>
            </a:extLst>
          </p:cNvPr>
          <p:cNvSpPr>
            <a:spLocks noChangeArrowheads="1"/>
          </p:cNvSpPr>
          <p:nvPr/>
        </p:nvSpPr>
        <p:spPr bwMode="auto">
          <a:xfrm>
            <a:off x="1828800" y="3409950"/>
            <a:ext cx="8534400" cy="2667000"/>
          </a:xfrm>
          <a:prstGeom prst="rect">
            <a:avLst/>
          </a:prstGeom>
          <a:noFill/>
          <a:ln w="57150" cmpd="thinThick">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21508" name="Text Box 7">
            <a:extLst>
              <a:ext uri="{FF2B5EF4-FFF2-40B4-BE49-F238E27FC236}">
                <a16:creationId xmlns:a16="http://schemas.microsoft.com/office/drawing/2014/main" xmlns="" id="{2A823EA7-2E37-4D06-924A-65C8444CCD79}"/>
              </a:ext>
            </a:extLst>
          </p:cNvPr>
          <p:cNvSpPr txBox="1">
            <a:spLocks noChangeArrowheads="1"/>
          </p:cNvSpPr>
          <p:nvPr/>
        </p:nvSpPr>
        <p:spPr bwMode="auto">
          <a:xfrm>
            <a:off x="1905000" y="3486150"/>
            <a:ext cx="8763000" cy="2838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b="1">
                <a:latin typeface="Arial" panose="020B0604020202020204" pitchFamily="34" charset="0"/>
              </a:rPr>
              <a:t>SYMBOL	</a:t>
            </a:r>
            <a:r>
              <a:rPr lang="en-US" altLang="en-US" b="1" i="1">
                <a:latin typeface="Times New Roman" panose="02020603050405020304" pitchFamily="18" charset="0"/>
              </a:rPr>
              <a:t>I</a:t>
            </a:r>
            <a:r>
              <a:rPr lang="en-US" altLang="en-US" b="1" i="1">
                <a:latin typeface="Arial" panose="020B0604020202020204" pitchFamily="34" charset="0"/>
              </a:rPr>
              <a:t> </a:t>
            </a:r>
            <a:r>
              <a:rPr lang="en-US" altLang="en-US" b="1">
                <a:latin typeface="Arial" panose="020B0604020202020204" pitchFamily="34" charset="0"/>
              </a:rPr>
              <a:t>= 0	</a:t>
            </a:r>
            <a:r>
              <a:rPr lang="en-US" altLang="en-US" b="1" i="1">
                <a:latin typeface="Times New Roman" panose="02020603050405020304" pitchFamily="18" charset="0"/>
              </a:rPr>
              <a:t>I</a:t>
            </a:r>
            <a:r>
              <a:rPr lang="en-US" altLang="en-US" b="1" i="1">
                <a:latin typeface="Arial" panose="020B0604020202020204" pitchFamily="34" charset="0"/>
              </a:rPr>
              <a:t> </a:t>
            </a:r>
            <a:r>
              <a:rPr lang="en-US" altLang="en-US" b="1">
                <a:latin typeface="Arial" panose="020B0604020202020204" pitchFamily="34" charset="0"/>
              </a:rPr>
              <a:t>= 1		DESCRIPTION</a:t>
            </a:r>
            <a:r>
              <a:rPr lang="en-US" altLang="en-US">
                <a:latin typeface="Arial" panose="020B0604020202020204" pitchFamily="34" charset="0"/>
              </a:rPr>
              <a:t>         </a:t>
            </a:r>
          </a:p>
          <a:p>
            <a:endParaRPr lang="en-US" altLang="en-US">
              <a:latin typeface="Arial" panose="020B0604020202020204" pitchFamily="34" charset="0"/>
            </a:endParaRPr>
          </a:p>
          <a:p>
            <a:r>
              <a:rPr lang="en-US" altLang="en-US">
                <a:latin typeface="Arial" panose="020B0604020202020204" pitchFamily="34" charset="0"/>
              </a:rPr>
              <a:t>AND		0xxx	8xxx		AND memory word to </a:t>
            </a:r>
            <a:r>
              <a:rPr lang="en-US" altLang="en-US" i="1">
                <a:latin typeface="Arial" panose="020B0604020202020204" pitchFamily="34" charset="0"/>
              </a:rPr>
              <a:t>AC</a:t>
            </a:r>
          </a:p>
          <a:p>
            <a:r>
              <a:rPr lang="en-US" altLang="en-US">
                <a:latin typeface="Arial" panose="020B0604020202020204" pitchFamily="34" charset="0"/>
              </a:rPr>
              <a:t>ADD		1xxx	9xxx		Add memory word to </a:t>
            </a:r>
            <a:r>
              <a:rPr lang="en-US" altLang="en-US" i="1">
                <a:latin typeface="Arial" panose="020B0604020202020204" pitchFamily="34" charset="0"/>
              </a:rPr>
              <a:t>AC</a:t>
            </a:r>
          </a:p>
          <a:p>
            <a:r>
              <a:rPr lang="en-US" altLang="en-US">
                <a:latin typeface="Arial" panose="020B0604020202020204" pitchFamily="34" charset="0"/>
              </a:rPr>
              <a:t>LDA		2xxx	Axxx		Load memory word to </a:t>
            </a:r>
            <a:r>
              <a:rPr lang="en-US" altLang="en-US" i="1">
                <a:latin typeface="Arial" panose="020B0604020202020204" pitchFamily="34" charset="0"/>
              </a:rPr>
              <a:t>AC</a:t>
            </a:r>
          </a:p>
          <a:p>
            <a:r>
              <a:rPr lang="en-US" altLang="en-US">
                <a:latin typeface="Arial" panose="020B0604020202020204" pitchFamily="34" charset="0"/>
              </a:rPr>
              <a:t>STA		3xxx	Bxxx		Store content of </a:t>
            </a:r>
            <a:r>
              <a:rPr lang="en-US" altLang="en-US" i="1">
                <a:latin typeface="Arial" panose="020B0604020202020204" pitchFamily="34" charset="0"/>
              </a:rPr>
              <a:t>AC in memory</a:t>
            </a:r>
          </a:p>
          <a:p>
            <a:r>
              <a:rPr lang="en-US" altLang="en-US">
                <a:latin typeface="Arial" panose="020B0604020202020204" pitchFamily="34" charset="0"/>
              </a:rPr>
              <a:t>BUN		4xxx	Cxxx		Branch unconditionally</a:t>
            </a:r>
          </a:p>
          <a:p>
            <a:r>
              <a:rPr lang="en-US" altLang="en-US">
                <a:latin typeface="Arial" panose="020B0604020202020204" pitchFamily="34" charset="0"/>
              </a:rPr>
              <a:t>BSA		5xxx	Dxxx		Branch and Save	return address</a:t>
            </a:r>
          </a:p>
          <a:p>
            <a:r>
              <a:rPr lang="en-US" altLang="en-US">
                <a:latin typeface="Arial" panose="020B0604020202020204" pitchFamily="34" charset="0"/>
              </a:rPr>
              <a:t>ISZ		6xxx	Exxx		Increment and skip if zero.	</a:t>
            </a:r>
          </a:p>
          <a:p>
            <a:endParaRPr lang="en-US" altLang="en-US">
              <a:latin typeface="Arial" panose="020B0604020202020204" pitchFamily="34" charset="0"/>
            </a:endParaRPr>
          </a:p>
        </p:txBody>
      </p:sp>
      <p:sp>
        <p:nvSpPr>
          <p:cNvPr id="21509" name="Line 8">
            <a:extLst>
              <a:ext uri="{FF2B5EF4-FFF2-40B4-BE49-F238E27FC236}">
                <a16:creationId xmlns:a16="http://schemas.microsoft.com/office/drawing/2014/main" xmlns="" id="{07C6DB3F-BA35-4BCD-AF09-4CCD276C5D14}"/>
              </a:ext>
            </a:extLst>
          </p:cNvPr>
          <p:cNvSpPr>
            <a:spLocks noChangeShapeType="1"/>
          </p:cNvSpPr>
          <p:nvPr/>
        </p:nvSpPr>
        <p:spPr bwMode="auto">
          <a:xfrm>
            <a:off x="1843088" y="3790950"/>
            <a:ext cx="8520112"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1510" name="Text Box 9">
            <a:extLst>
              <a:ext uri="{FF2B5EF4-FFF2-40B4-BE49-F238E27FC236}">
                <a16:creationId xmlns:a16="http://schemas.microsoft.com/office/drawing/2014/main" xmlns="" id="{834C717B-A4C0-4C9F-BB08-C43525CAF4EB}"/>
              </a:ext>
            </a:extLst>
          </p:cNvPr>
          <p:cNvSpPr txBox="1">
            <a:spLocks noChangeArrowheads="1"/>
          </p:cNvSpPr>
          <p:nvPr/>
        </p:nvSpPr>
        <p:spPr bwMode="auto">
          <a:xfrm>
            <a:off x="3184525" y="3016250"/>
            <a:ext cx="20002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20000"/>
              </a:spcBef>
              <a:buClr>
                <a:schemeClr val="hlink"/>
              </a:buClr>
              <a:buSzPct val="75000"/>
              <a:buFont typeface="Wingdings" panose="05000000000000000000" pitchFamily="2" charset="2"/>
              <a:buNone/>
            </a:pPr>
            <a:r>
              <a:rPr lang="en-US" altLang="en-US" sz="1600">
                <a:latin typeface="Batang" panose="02030600000101010101" pitchFamily="18" charset="-127"/>
              </a:rPr>
              <a:t>Hexadecimal Code</a:t>
            </a:r>
          </a:p>
        </p:txBody>
      </p:sp>
      <p:sp>
        <p:nvSpPr>
          <p:cNvPr id="21511" name="Line 10">
            <a:extLst>
              <a:ext uri="{FF2B5EF4-FFF2-40B4-BE49-F238E27FC236}">
                <a16:creationId xmlns:a16="http://schemas.microsoft.com/office/drawing/2014/main" xmlns="" id="{67948B9F-38FF-4B27-8172-52186403CEB1}"/>
              </a:ext>
            </a:extLst>
          </p:cNvPr>
          <p:cNvSpPr>
            <a:spLocks noChangeShapeType="1"/>
          </p:cNvSpPr>
          <p:nvPr/>
        </p:nvSpPr>
        <p:spPr bwMode="auto">
          <a:xfrm flipV="1">
            <a:off x="1828800" y="2986088"/>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1512" name="Line 11">
            <a:extLst>
              <a:ext uri="{FF2B5EF4-FFF2-40B4-BE49-F238E27FC236}">
                <a16:creationId xmlns:a16="http://schemas.microsoft.com/office/drawing/2014/main" xmlns="" id="{699366C9-7D6F-45CD-9939-0A26725C8E5E}"/>
              </a:ext>
            </a:extLst>
          </p:cNvPr>
          <p:cNvSpPr>
            <a:spLocks noChangeShapeType="1"/>
          </p:cNvSpPr>
          <p:nvPr/>
        </p:nvSpPr>
        <p:spPr bwMode="auto">
          <a:xfrm>
            <a:off x="1828800" y="2971800"/>
            <a:ext cx="853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1513" name="Line 12">
            <a:extLst>
              <a:ext uri="{FF2B5EF4-FFF2-40B4-BE49-F238E27FC236}">
                <a16:creationId xmlns:a16="http://schemas.microsoft.com/office/drawing/2014/main" xmlns="" id="{D1494F60-589F-4D10-8D45-28F851218E3F}"/>
              </a:ext>
            </a:extLst>
          </p:cNvPr>
          <p:cNvSpPr>
            <a:spLocks noChangeShapeType="1"/>
          </p:cNvSpPr>
          <p:nvPr/>
        </p:nvSpPr>
        <p:spPr bwMode="auto">
          <a:xfrm flipV="1">
            <a:off x="10363200" y="2986088"/>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21514" name="Rectangle 10">
            <a:extLst>
              <a:ext uri="{FF2B5EF4-FFF2-40B4-BE49-F238E27FC236}">
                <a16:creationId xmlns:a16="http://schemas.microsoft.com/office/drawing/2014/main" xmlns="" id="{5D752B53-C8DE-48C7-9C63-EF0616A4ECF0}"/>
              </a:ext>
            </a:extLst>
          </p:cNvPr>
          <p:cNvSpPr>
            <a:spLocks noChangeArrowheads="1"/>
          </p:cNvSpPr>
          <p:nvPr/>
        </p:nvSpPr>
        <p:spPr bwMode="auto">
          <a:xfrm>
            <a:off x="1828800" y="1295400"/>
            <a:ext cx="5867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Example1:- AND 0122</a:t>
            </a:r>
          </a:p>
        </p:txBody>
      </p:sp>
      <p:sp>
        <p:nvSpPr>
          <p:cNvPr id="21515" name="Rectangle 10">
            <a:extLst>
              <a:ext uri="{FF2B5EF4-FFF2-40B4-BE49-F238E27FC236}">
                <a16:creationId xmlns:a16="http://schemas.microsoft.com/office/drawing/2014/main" xmlns="" id="{B860F5AE-B066-4EC6-8773-0598B67FAB8B}"/>
              </a:ext>
            </a:extLst>
          </p:cNvPr>
          <p:cNvSpPr>
            <a:spLocks noChangeArrowheads="1"/>
          </p:cNvSpPr>
          <p:nvPr/>
        </p:nvSpPr>
        <p:spPr bwMode="auto">
          <a:xfrm>
            <a:off x="1828800" y="1668463"/>
            <a:ext cx="58674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AND 	0 	122</a:t>
            </a:r>
          </a:p>
          <a:p>
            <a:r>
              <a:rPr lang="en-US" altLang="en-US"/>
              <a:t>	0 000	0001 0010 0010</a:t>
            </a:r>
          </a:p>
        </p:txBody>
      </p:sp>
      <p:cxnSp>
        <p:nvCxnSpPr>
          <p:cNvPr id="3" name="Straight Arrow Connector 2">
            <a:extLst>
              <a:ext uri="{FF2B5EF4-FFF2-40B4-BE49-F238E27FC236}">
                <a16:creationId xmlns:a16="http://schemas.microsoft.com/office/drawing/2014/main" xmlns="" id="{5D0283BA-BBF6-48F7-AEEB-078C17C05347}"/>
              </a:ext>
            </a:extLst>
          </p:cNvPr>
          <p:cNvCxnSpPr/>
          <p:nvPr/>
        </p:nvCxnSpPr>
        <p:spPr>
          <a:xfrm>
            <a:off x="2895600" y="2209800"/>
            <a:ext cx="0" cy="22860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4" name="Left Brace 3">
            <a:extLst>
              <a:ext uri="{FF2B5EF4-FFF2-40B4-BE49-F238E27FC236}">
                <a16:creationId xmlns:a16="http://schemas.microsoft.com/office/drawing/2014/main" xmlns="" id="{64F7A1B4-77CA-4E4E-A479-8F7EF8EB4977}"/>
              </a:ext>
            </a:extLst>
          </p:cNvPr>
          <p:cNvSpPr/>
          <p:nvPr/>
        </p:nvSpPr>
        <p:spPr>
          <a:xfrm rot="16200000">
            <a:off x="3198813" y="2066926"/>
            <a:ext cx="134938" cy="452437"/>
          </a:xfrm>
          <a:prstGeom prst="leftBrace">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a:p>
        </p:txBody>
      </p:sp>
      <p:sp>
        <p:nvSpPr>
          <p:cNvPr id="15" name="Left Brace 14">
            <a:extLst>
              <a:ext uri="{FF2B5EF4-FFF2-40B4-BE49-F238E27FC236}">
                <a16:creationId xmlns:a16="http://schemas.microsoft.com/office/drawing/2014/main" xmlns="" id="{173EE3C0-B30D-45CD-B1E9-C0B1D3247E94}"/>
              </a:ext>
            </a:extLst>
          </p:cNvPr>
          <p:cNvSpPr/>
          <p:nvPr/>
        </p:nvSpPr>
        <p:spPr>
          <a:xfrm rot="16200000">
            <a:off x="4606926" y="1401764"/>
            <a:ext cx="157163" cy="1906587"/>
          </a:xfrm>
          <a:prstGeom prst="leftBrace">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a:p>
        </p:txBody>
      </p:sp>
      <p:sp>
        <p:nvSpPr>
          <p:cNvPr id="21519" name="TextBox 4">
            <a:extLst>
              <a:ext uri="{FF2B5EF4-FFF2-40B4-BE49-F238E27FC236}">
                <a16:creationId xmlns:a16="http://schemas.microsoft.com/office/drawing/2014/main" xmlns="" id="{FA2823E3-C084-4ACA-8544-985830197BC2}"/>
              </a:ext>
            </a:extLst>
          </p:cNvPr>
          <p:cNvSpPr txBox="1">
            <a:spLocks noChangeArrowheads="1"/>
          </p:cNvSpPr>
          <p:nvPr/>
        </p:nvSpPr>
        <p:spPr bwMode="auto">
          <a:xfrm>
            <a:off x="4014788" y="2468564"/>
            <a:ext cx="18399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Memory addrs</a:t>
            </a:r>
            <a:endParaRPr lang="en-IN" altLang="en-US"/>
          </a:p>
        </p:txBody>
      </p:sp>
      <p:sp>
        <p:nvSpPr>
          <p:cNvPr id="21520" name="TextBox 5">
            <a:extLst>
              <a:ext uri="{FF2B5EF4-FFF2-40B4-BE49-F238E27FC236}">
                <a16:creationId xmlns:a16="http://schemas.microsoft.com/office/drawing/2014/main" xmlns="" id="{4B3CEEA8-3D86-4641-8A82-B243B77A54E4}"/>
              </a:ext>
            </a:extLst>
          </p:cNvPr>
          <p:cNvSpPr txBox="1">
            <a:spLocks noChangeArrowheads="1"/>
          </p:cNvSpPr>
          <p:nvPr/>
        </p:nvSpPr>
        <p:spPr bwMode="auto">
          <a:xfrm>
            <a:off x="2952750" y="2398714"/>
            <a:ext cx="10096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opcode</a:t>
            </a:r>
            <a:endParaRPr lang="en-IN" altLang="en-US"/>
          </a:p>
        </p:txBody>
      </p:sp>
      <p:sp>
        <p:nvSpPr>
          <p:cNvPr id="21521" name="TextBox 6">
            <a:extLst>
              <a:ext uri="{FF2B5EF4-FFF2-40B4-BE49-F238E27FC236}">
                <a16:creationId xmlns:a16="http://schemas.microsoft.com/office/drawing/2014/main" xmlns="" id="{3235792D-107A-434A-99A2-D1041808FD55}"/>
              </a:ext>
            </a:extLst>
          </p:cNvPr>
          <p:cNvSpPr txBox="1">
            <a:spLocks noChangeArrowheads="1"/>
          </p:cNvSpPr>
          <p:nvPr/>
        </p:nvSpPr>
        <p:spPr bwMode="auto">
          <a:xfrm>
            <a:off x="1295400" y="2384425"/>
            <a:ext cx="180498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I(Direct Addr)</a:t>
            </a:r>
            <a:endParaRPr lang="en-IN" altLang="en-US"/>
          </a:p>
        </p:txBody>
      </p:sp>
      <p:sp>
        <p:nvSpPr>
          <p:cNvPr id="21522" name="Rectangle 10">
            <a:extLst>
              <a:ext uri="{FF2B5EF4-FFF2-40B4-BE49-F238E27FC236}">
                <a16:creationId xmlns:a16="http://schemas.microsoft.com/office/drawing/2014/main" xmlns="" id="{82E7259E-3C87-407E-964E-75EE13FB9E9F}"/>
              </a:ext>
            </a:extLst>
          </p:cNvPr>
          <p:cNvSpPr>
            <a:spLocks noChangeArrowheads="1"/>
          </p:cNvSpPr>
          <p:nvPr/>
        </p:nvSpPr>
        <p:spPr bwMode="auto">
          <a:xfrm>
            <a:off x="6630988" y="1379538"/>
            <a:ext cx="58674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Example2:- AND 0122</a:t>
            </a:r>
          </a:p>
        </p:txBody>
      </p:sp>
      <p:sp>
        <p:nvSpPr>
          <p:cNvPr id="21523" name="Rectangle 19">
            <a:extLst>
              <a:ext uri="{FF2B5EF4-FFF2-40B4-BE49-F238E27FC236}">
                <a16:creationId xmlns:a16="http://schemas.microsoft.com/office/drawing/2014/main" xmlns="" id="{4F7D9490-F164-4F77-8DA9-D14F634682C4}"/>
              </a:ext>
            </a:extLst>
          </p:cNvPr>
          <p:cNvSpPr>
            <a:spLocks noChangeArrowheads="1"/>
          </p:cNvSpPr>
          <p:nvPr/>
        </p:nvSpPr>
        <p:spPr bwMode="auto">
          <a:xfrm>
            <a:off x="6630988" y="1752601"/>
            <a:ext cx="58674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AND 	1 	122</a:t>
            </a:r>
          </a:p>
          <a:p>
            <a:r>
              <a:rPr lang="en-US" altLang="en-US"/>
              <a:t>	1 000 	0001 0010 0010</a:t>
            </a:r>
          </a:p>
        </p:txBody>
      </p:sp>
      <p:cxnSp>
        <p:nvCxnSpPr>
          <p:cNvPr id="21" name="Straight Arrow Connector 20">
            <a:extLst>
              <a:ext uri="{FF2B5EF4-FFF2-40B4-BE49-F238E27FC236}">
                <a16:creationId xmlns:a16="http://schemas.microsoft.com/office/drawing/2014/main" xmlns="" id="{77C6D606-B2E2-41B3-92F2-D698C21272E5}"/>
              </a:ext>
            </a:extLst>
          </p:cNvPr>
          <p:cNvCxnSpPr/>
          <p:nvPr/>
        </p:nvCxnSpPr>
        <p:spPr>
          <a:xfrm>
            <a:off x="7697788" y="2293938"/>
            <a:ext cx="0" cy="22860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22" name="Left Brace 21">
            <a:extLst>
              <a:ext uri="{FF2B5EF4-FFF2-40B4-BE49-F238E27FC236}">
                <a16:creationId xmlns:a16="http://schemas.microsoft.com/office/drawing/2014/main" xmlns="" id="{3A5FDB0A-2606-4362-ADB5-E525FBE84AB2}"/>
              </a:ext>
            </a:extLst>
          </p:cNvPr>
          <p:cNvSpPr/>
          <p:nvPr/>
        </p:nvSpPr>
        <p:spPr>
          <a:xfrm rot="16200000">
            <a:off x="8000208" y="2150270"/>
            <a:ext cx="134937" cy="454025"/>
          </a:xfrm>
          <a:prstGeom prst="leftBrace">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a:p>
        </p:txBody>
      </p:sp>
      <p:sp>
        <p:nvSpPr>
          <p:cNvPr id="23" name="Left Brace 22">
            <a:extLst>
              <a:ext uri="{FF2B5EF4-FFF2-40B4-BE49-F238E27FC236}">
                <a16:creationId xmlns:a16="http://schemas.microsoft.com/office/drawing/2014/main" xmlns="" id="{B385166C-B062-4568-B64D-8680625C126E}"/>
              </a:ext>
            </a:extLst>
          </p:cNvPr>
          <p:cNvSpPr/>
          <p:nvPr/>
        </p:nvSpPr>
        <p:spPr>
          <a:xfrm rot="16200000">
            <a:off x="9408320" y="1485107"/>
            <a:ext cx="157162" cy="1908175"/>
          </a:xfrm>
          <a:prstGeom prst="leftBrace">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a:p>
        </p:txBody>
      </p:sp>
      <p:sp>
        <p:nvSpPr>
          <p:cNvPr id="21527" name="TextBox 23">
            <a:extLst>
              <a:ext uri="{FF2B5EF4-FFF2-40B4-BE49-F238E27FC236}">
                <a16:creationId xmlns:a16="http://schemas.microsoft.com/office/drawing/2014/main" xmlns="" id="{1EF38F8B-FBBB-4419-9239-B82ADC064593}"/>
              </a:ext>
            </a:extLst>
          </p:cNvPr>
          <p:cNvSpPr txBox="1">
            <a:spLocks noChangeArrowheads="1"/>
          </p:cNvSpPr>
          <p:nvPr/>
        </p:nvSpPr>
        <p:spPr bwMode="auto">
          <a:xfrm>
            <a:off x="8815388" y="2552700"/>
            <a:ext cx="18415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Memory addrs</a:t>
            </a:r>
            <a:endParaRPr lang="en-IN" altLang="en-US"/>
          </a:p>
        </p:txBody>
      </p:sp>
      <p:sp>
        <p:nvSpPr>
          <p:cNvPr id="21528" name="TextBox 24">
            <a:extLst>
              <a:ext uri="{FF2B5EF4-FFF2-40B4-BE49-F238E27FC236}">
                <a16:creationId xmlns:a16="http://schemas.microsoft.com/office/drawing/2014/main" xmlns="" id="{CCCD0D44-783E-458B-B701-3B8637CAB30E}"/>
              </a:ext>
            </a:extLst>
          </p:cNvPr>
          <p:cNvSpPr txBox="1">
            <a:spLocks noChangeArrowheads="1"/>
          </p:cNvSpPr>
          <p:nvPr/>
        </p:nvSpPr>
        <p:spPr bwMode="auto">
          <a:xfrm>
            <a:off x="7753350" y="2482850"/>
            <a:ext cx="10112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opcode</a:t>
            </a:r>
            <a:endParaRPr lang="en-IN" altLang="en-US"/>
          </a:p>
        </p:txBody>
      </p:sp>
      <p:sp>
        <p:nvSpPr>
          <p:cNvPr id="21529" name="TextBox 25">
            <a:extLst>
              <a:ext uri="{FF2B5EF4-FFF2-40B4-BE49-F238E27FC236}">
                <a16:creationId xmlns:a16="http://schemas.microsoft.com/office/drawing/2014/main" xmlns="" id="{655DB3FD-FABE-43F7-997C-ACB791066AA4}"/>
              </a:ext>
            </a:extLst>
          </p:cNvPr>
          <p:cNvSpPr txBox="1">
            <a:spLocks noChangeArrowheads="1"/>
          </p:cNvSpPr>
          <p:nvPr/>
        </p:nvSpPr>
        <p:spPr bwMode="auto">
          <a:xfrm>
            <a:off x="6097589" y="2468564"/>
            <a:ext cx="1804987"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I(Direct Addr)</a:t>
            </a:r>
            <a:endParaRPr lang="en-I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xmlns="" id="{29CD4F93-A5F6-41B5-9DAB-5CD814401316}"/>
              </a:ext>
            </a:extLst>
          </p:cNvPr>
          <p:cNvSpPr>
            <a:spLocks noGrp="1"/>
          </p:cNvSpPr>
          <p:nvPr>
            <p:ph sz="quarter" idx="1"/>
          </p:nvPr>
        </p:nvSpPr>
        <p:spPr>
          <a:xfrm>
            <a:off x="1524000" y="1600200"/>
            <a:ext cx="8382000" cy="4572000"/>
          </a:xfrm>
        </p:spPr>
        <p:txBody>
          <a:bodyPr/>
          <a:lstStyle/>
          <a:p>
            <a:pPr eaLnBrk="1" hangingPunct="1"/>
            <a:r>
              <a:rPr lang="en-US" altLang="en-US"/>
              <a:t>The hexadecimal code is equal to the equivalent hexadecimal number of the binary code used for the instruction.</a:t>
            </a:r>
          </a:p>
          <a:p>
            <a:pPr eaLnBrk="1" hangingPunct="1"/>
            <a:endParaRPr lang="en-US" altLang="en-US"/>
          </a:p>
          <a:p>
            <a:pPr eaLnBrk="1" hangingPunct="1"/>
            <a:r>
              <a:rPr lang="en-US" altLang="en-US"/>
              <a:t>By using the hexadecimal equivalent we reduce the 16 bit of an instruction code to four digit with each hexadecimal digits being equal to four bits.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xmlns="" id="{71831760-B412-40CF-A0A9-0E8199BB0D99}"/>
              </a:ext>
            </a:extLst>
          </p:cNvPr>
          <p:cNvSpPr>
            <a:spLocks noGrp="1"/>
          </p:cNvSpPr>
          <p:nvPr>
            <p:ph sz="quarter" idx="1"/>
          </p:nvPr>
        </p:nvSpPr>
        <p:spPr>
          <a:xfrm>
            <a:off x="1524000" y="1828800"/>
            <a:ext cx="7924800" cy="4572000"/>
          </a:xfrm>
        </p:spPr>
        <p:txBody>
          <a:bodyPr/>
          <a:lstStyle/>
          <a:p>
            <a:pPr eaLnBrk="1" hangingPunct="1"/>
            <a:r>
              <a:rPr lang="en-US" altLang="en-US"/>
              <a:t>When </a:t>
            </a:r>
            <a:r>
              <a:rPr lang="en-US" altLang="en-US" i="1"/>
              <a:t>I = </a:t>
            </a:r>
            <a:r>
              <a:rPr lang="en-US" altLang="en-US"/>
              <a:t>0, the last four bits of an instruction have a hexadecimal digit equivalent from 0 to 6 since the last bit is 0. </a:t>
            </a:r>
          </a:p>
          <a:p>
            <a:pPr eaLnBrk="1" hangingPunct="1"/>
            <a:endParaRPr lang="en-US" altLang="en-US"/>
          </a:p>
          <a:p>
            <a:pPr eaLnBrk="1" hangingPunct="1"/>
            <a:r>
              <a:rPr lang="en-US" altLang="en-US"/>
              <a:t>[ 0xxx – 6xxx  i.e. 0000 x x x – 0110 x x x. So the last bit is zero.] So it’s a </a:t>
            </a:r>
            <a:r>
              <a:rPr lang="en-US" altLang="en-US" i="1" u="sng">
                <a:solidFill>
                  <a:srgbClr val="FF3399"/>
                </a:solidFill>
              </a:rPr>
              <a:t>direct memory-reference instruction</a:t>
            </a:r>
            <a:r>
              <a:rPr lang="en-US" altLang="en-US" i="1" u="sng"/>
              <a:t>.</a:t>
            </a:r>
          </a:p>
          <a:p>
            <a:pPr eaLnBrk="1" hangingPunct="1">
              <a:buFontTx/>
              <a:buNone/>
            </a:pPr>
            <a:endParaRPr lang="en-US" altLang="en-US" i="1" u="sng"/>
          </a:p>
          <a:p>
            <a:pPr eaLnBrk="1" hangingPunct="1"/>
            <a:endParaRPr lang="en-US" altLang="en-US" i="1" u="sng"/>
          </a:p>
          <a:p>
            <a:pPr eaLnBrk="1" hangingPunct="1"/>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xmlns="" id="{6390F68F-0A7B-41F5-B7DB-B360C142D305}"/>
              </a:ext>
            </a:extLst>
          </p:cNvPr>
          <p:cNvSpPr>
            <a:spLocks noGrp="1"/>
          </p:cNvSpPr>
          <p:nvPr>
            <p:ph sz="quarter" idx="1"/>
          </p:nvPr>
        </p:nvSpPr>
        <p:spPr>
          <a:xfrm>
            <a:off x="1524000" y="1828800"/>
            <a:ext cx="7620000" cy="4572000"/>
          </a:xfrm>
        </p:spPr>
        <p:txBody>
          <a:bodyPr/>
          <a:lstStyle/>
          <a:p>
            <a:pPr eaLnBrk="1" hangingPunct="1"/>
            <a:r>
              <a:rPr lang="en-US" altLang="en-US"/>
              <a:t>When </a:t>
            </a:r>
            <a:r>
              <a:rPr lang="en-US" altLang="en-US" i="1"/>
              <a:t>I = 1</a:t>
            </a:r>
            <a:r>
              <a:rPr lang="en-US" altLang="en-US"/>
              <a:t>, the hexadecimal digit equivalent of the last four bits of the instruction ranges from 8xxx to Exxx since the last bit is 1. </a:t>
            </a:r>
          </a:p>
          <a:p>
            <a:pPr eaLnBrk="1" hangingPunct="1"/>
            <a:endParaRPr lang="en-US" altLang="en-US"/>
          </a:p>
          <a:p>
            <a:pPr eaLnBrk="1" hangingPunct="1"/>
            <a:r>
              <a:rPr lang="en-US" altLang="en-US"/>
              <a:t>[ 8xxx – Exxx  i.e. 1000 x x x – 1110 x x x. So the last bit is one.] So it’s  an </a:t>
            </a:r>
            <a:r>
              <a:rPr lang="en-US" altLang="en-US" i="1" u="sng">
                <a:solidFill>
                  <a:srgbClr val="FF3399"/>
                </a:solidFill>
              </a:rPr>
              <a:t>indirect memory-reference instruction.</a:t>
            </a:r>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xmlns="" id="{70781B90-87F5-4843-BD09-22442993EEE8}"/>
              </a:ext>
            </a:extLst>
          </p:cNvPr>
          <p:cNvSpPr>
            <a:spLocks noGrp="1"/>
          </p:cNvSpPr>
          <p:nvPr>
            <p:ph type="title"/>
          </p:nvPr>
        </p:nvSpPr>
        <p:spPr>
          <a:xfrm>
            <a:off x="1905000" y="1"/>
            <a:ext cx="8229600" cy="1139825"/>
          </a:xfrm>
        </p:spPr>
        <p:txBody>
          <a:bodyPr/>
          <a:lstStyle/>
          <a:p>
            <a:pPr eaLnBrk="1" hangingPunct="1"/>
            <a:r>
              <a:rPr lang="en-US" altLang="en-US">
                <a:solidFill>
                  <a:srgbClr val="0000FF"/>
                </a:solidFill>
              </a:rPr>
              <a:t>2. Register-reference instruction</a:t>
            </a:r>
          </a:p>
        </p:txBody>
      </p:sp>
      <p:sp>
        <p:nvSpPr>
          <p:cNvPr id="28675" name="Rectangle 3">
            <a:extLst>
              <a:ext uri="{FF2B5EF4-FFF2-40B4-BE49-F238E27FC236}">
                <a16:creationId xmlns:a16="http://schemas.microsoft.com/office/drawing/2014/main" xmlns="" id="{FB0D75F7-98A2-487D-AD8A-2E23BFF32DF2}"/>
              </a:ext>
            </a:extLst>
          </p:cNvPr>
          <p:cNvSpPr>
            <a:spLocks noGrp="1"/>
          </p:cNvSpPr>
          <p:nvPr>
            <p:ph sz="quarter" idx="1"/>
          </p:nvPr>
        </p:nvSpPr>
        <p:spPr>
          <a:xfrm>
            <a:off x="1524000" y="1752600"/>
            <a:ext cx="8382000" cy="6305550"/>
          </a:xfrm>
        </p:spPr>
        <p:txBody>
          <a:bodyPr/>
          <a:lstStyle/>
          <a:p>
            <a:pPr algn="l" eaLnBrk="1" hangingPunct="1"/>
            <a:r>
              <a:rPr lang="en-US" altLang="en-US"/>
              <a:t>A register-reference instruction are recognized by the </a:t>
            </a:r>
            <a:r>
              <a:rPr lang="en-US" altLang="en-US" u="sng"/>
              <a:t>opcode 111 with a 0 in the leftmost bit</a:t>
            </a:r>
            <a:r>
              <a:rPr lang="en-US" altLang="en-US"/>
              <a:t> (bit 15) of the instruction. </a:t>
            </a:r>
          </a:p>
          <a:p>
            <a:pPr eaLnBrk="1" hangingPunct="1"/>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xmlns="" id="{56F12FFD-7065-4EFD-8DC5-2EFCBCAE07D3}"/>
              </a:ext>
            </a:extLst>
          </p:cNvPr>
          <p:cNvSpPr>
            <a:spLocks noGrp="1"/>
          </p:cNvSpPr>
          <p:nvPr>
            <p:ph type="title"/>
          </p:nvPr>
        </p:nvSpPr>
        <p:spPr/>
        <p:txBody>
          <a:bodyPr/>
          <a:lstStyle/>
          <a:p>
            <a:pPr eaLnBrk="1" hangingPunct="1"/>
            <a:endParaRPr lang="en-US" altLang="en-US">
              <a:solidFill>
                <a:srgbClr val="7B9899"/>
              </a:solidFill>
            </a:endParaRPr>
          </a:p>
        </p:txBody>
      </p:sp>
      <p:sp>
        <p:nvSpPr>
          <p:cNvPr id="30723" name="Content Placeholder 2">
            <a:extLst>
              <a:ext uri="{FF2B5EF4-FFF2-40B4-BE49-F238E27FC236}">
                <a16:creationId xmlns:a16="http://schemas.microsoft.com/office/drawing/2014/main" xmlns="" id="{B7E607D4-FDC0-4982-9D43-AE50555F51E4}"/>
              </a:ext>
            </a:extLst>
          </p:cNvPr>
          <p:cNvSpPr>
            <a:spLocks noGrp="1"/>
          </p:cNvSpPr>
          <p:nvPr>
            <p:ph sz="quarter" idx="1"/>
          </p:nvPr>
        </p:nvSpPr>
        <p:spPr>
          <a:xfrm>
            <a:off x="1825626" y="1527175"/>
            <a:ext cx="7394575" cy="4572000"/>
          </a:xfrm>
        </p:spPr>
        <p:txBody>
          <a:bodyPr/>
          <a:lstStyle/>
          <a:p>
            <a:pPr eaLnBrk="1" hangingPunct="1"/>
            <a:r>
              <a:rPr lang="en-US" altLang="en-US"/>
              <a:t>A register-reference instruction specifies an operation on or a test on the </a:t>
            </a:r>
            <a:r>
              <a:rPr lang="en-US" altLang="en-US" i="1"/>
              <a:t>AC </a:t>
            </a:r>
            <a:r>
              <a:rPr lang="en-US" altLang="en-US"/>
              <a:t>register.</a:t>
            </a:r>
          </a:p>
          <a:p>
            <a:pPr eaLnBrk="1" hangingPunct="1"/>
            <a:endParaRPr lang="en-US" altLang="en-US"/>
          </a:p>
        </p:txBody>
      </p:sp>
      <p:grpSp>
        <p:nvGrpSpPr>
          <p:cNvPr id="30724" name="Group 32">
            <a:extLst>
              <a:ext uri="{FF2B5EF4-FFF2-40B4-BE49-F238E27FC236}">
                <a16:creationId xmlns:a16="http://schemas.microsoft.com/office/drawing/2014/main" xmlns="" id="{EDF7B0D5-C088-4A04-84FB-D948892E9228}"/>
              </a:ext>
            </a:extLst>
          </p:cNvPr>
          <p:cNvGrpSpPr>
            <a:grpSpLocks/>
          </p:cNvGrpSpPr>
          <p:nvPr/>
        </p:nvGrpSpPr>
        <p:grpSpPr bwMode="auto">
          <a:xfrm>
            <a:off x="1866901" y="4879976"/>
            <a:ext cx="8397875" cy="835025"/>
            <a:chOff x="216" y="1308"/>
            <a:chExt cx="5290" cy="526"/>
          </a:xfrm>
        </p:grpSpPr>
        <p:grpSp>
          <p:nvGrpSpPr>
            <p:cNvPr id="30725" name="Group 17">
              <a:extLst>
                <a:ext uri="{FF2B5EF4-FFF2-40B4-BE49-F238E27FC236}">
                  <a16:creationId xmlns:a16="http://schemas.microsoft.com/office/drawing/2014/main" xmlns="" id="{952B01C0-EC5C-43D4-8F8D-FADF992B0274}"/>
                </a:ext>
              </a:extLst>
            </p:cNvPr>
            <p:cNvGrpSpPr>
              <a:grpSpLocks/>
            </p:cNvGrpSpPr>
            <p:nvPr/>
          </p:nvGrpSpPr>
          <p:grpSpPr bwMode="auto">
            <a:xfrm>
              <a:off x="216" y="1308"/>
              <a:ext cx="3700" cy="526"/>
              <a:chOff x="84" y="2052"/>
              <a:chExt cx="3700" cy="526"/>
            </a:xfrm>
          </p:grpSpPr>
          <p:grpSp>
            <p:nvGrpSpPr>
              <p:cNvPr id="30727" name="Group 5">
                <a:extLst>
                  <a:ext uri="{FF2B5EF4-FFF2-40B4-BE49-F238E27FC236}">
                    <a16:creationId xmlns:a16="http://schemas.microsoft.com/office/drawing/2014/main" xmlns="" id="{6BB44ACF-C2E7-4587-ACBC-C1117C84F3C2}"/>
                  </a:ext>
                </a:extLst>
              </p:cNvPr>
              <p:cNvGrpSpPr>
                <a:grpSpLocks/>
              </p:cNvGrpSpPr>
              <p:nvPr/>
            </p:nvGrpSpPr>
            <p:grpSpPr bwMode="auto">
              <a:xfrm>
                <a:off x="84" y="2052"/>
                <a:ext cx="3700" cy="526"/>
                <a:chOff x="924" y="2016"/>
                <a:chExt cx="3700" cy="526"/>
              </a:xfrm>
            </p:grpSpPr>
            <p:sp>
              <p:nvSpPr>
                <p:cNvPr id="30730" name="Rectangle 6">
                  <a:extLst>
                    <a:ext uri="{FF2B5EF4-FFF2-40B4-BE49-F238E27FC236}">
                      <a16:creationId xmlns:a16="http://schemas.microsoft.com/office/drawing/2014/main" xmlns="" id="{ED1C62EE-D7E4-4723-8B51-258C83A127C5}"/>
                    </a:ext>
                  </a:extLst>
                </p:cNvPr>
                <p:cNvSpPr>
                  <a:spLocks noChangeArrowheads="1"/>
                </p:cNvSpPr>
                <p:nvPr/>
              </p:nvSpPr>
              <p:spPr bwMode="auto">
                <a:xfrm>
                  <a:off x="1036" y="2302"/>
                  <a:ext cx="3536"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30731" name="Line 7">
                  <a:extLst>
                    <a:ext uri="{FF2B5EF4-FFF2-40B4-BE49-F238E27FC236}">
                      <a16:creationId xmlns:a16="http://schemas.microsoft.com/office/drawing/2014/main" xmlns="" id="{DA0C92E7-6735-4D20-8A83-239E0192E7F6}"/>
                    </a:ext>
                  </a:extLst>
                </p:cNvPr>
                <p:cNvSpPr>
                  <a:spLocks noChangeShapeType="1"/>
                </p:cNvSpPr>
                <p:nvPr/>
              </p:nvSpPr>
              <p:spPr bwMode="auto">
                <a:xfrm>
                  <a:off x="1228" y="2302"/>
                  <a:ext cx="0" cy="24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0732" name="Line 8">
                  <a:extLst>
                    <a:ext uri="{FF2B5EF4-FFF2-40B4-BE49-F238E27FC236}">
                      <a16:creationId xmlns:a16="http://schemas.microsoft.com/office/drawing/2014/main" xmlns="" id="{FC221747-74F4-4EC2-B5EA-987F480B8957}"/>
                    </a:ext>
                  </a:extLst>
                </p:cNvPr>
                <p:cNvSpPr>
                  <a:spLocks noChangeShapeType="1"/>
                </p:cNvSpPr>
                <p:nvPr/>
              </p:nvSpPr>
              <p:spPr bwMode="auto">
                <a:xfrm>
                  <a:off x="2140" y="2302"/>
                  <a:ext cx="0" cy="24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0733" name="Text Box 9">
                  <a:extLst>
                    <a:ext uri="{FF2B5EF4-FFF2-40B4-BE49-F238E27FC236}">
                      <a16:creationId xmlns:a16="http://schemas.microsoft.com/office/drawing/2014/main" xmlns="" id="{179BDC6B-AE4D-4DB4-97F5-94BDD23D7572}"/>
                    </a:ext>
                  </a:extLst>
                </p:cNvPr>
                <p:cNvSpPr txBox="1">
                  <a:spLocks noChangeArrowheads="1"/>
                </p:cNvSpPr>
                <p:nvPr/>
              </p:nvSpPr>
              <p:spPr bwMode="auto">
                <a:xfrm>
                  <a:off x="1047" y="228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0</a:t>
                  </a:r>
                </a:p>
              </p:txBody>
            </p:sp>
            <p:sp>
              <p:nvSpPr>
                <p:cNvPr id="30734" name="Text Box 10">
                  <a:extLst>
                    <a:ext uri="{FF2B5EF4-FFF2-40B4-BE49-F238E27FC236}">
                      <a16:creationId xmlns:a16="http://schemas.microsoft.com/office/drawing/2014/main" xmlns="" id="{DB34C3A2-63BA-47C2-8E04-384869EB8445}"/>
                    </a:ext>
                  </a:extLst>
                </p:cNvPr>
                <p:cNvSpPr txBox="1">
                  <a:spLocks noChangeArrowheads="1"/>
                </p:cNvSpPr>
                <p:nvPr/>
              </p:nvSpPr>
              <p:spPr bwMode="auto">
                <a:xfrm>
                  <a:off x="924"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15</a:t>
                  </a:r>
                </a:p>
              </p:txBody>
            </p:sp>
            <p:sp>
              <p:nvSpPr>
                <p:cNvPr id="30735" name="Text Box 11">
                  <a:extLst>
                    <a:ext uri="{FF2B5EF4-FFF2-40B4-BE49-F238E27FC236}">
                      <a16:creationId xmlns:a16="http://schemas.microsoft.com/office/drawing/2014/main" xmlns="" id="{269F06A3-240A-4E67-B14E-75832AD7A948}"/>
                    </a:ext>
                  </a:extLst>
                </p:cNvPr>
                <p:cNvSpPr txBox="1">
                  <a:spLocks noChangeArrowheads="1"/>
                </p:cNvSpPr>
                <p:nvPr/>
              </p:nvSpPr>
              <p:spPr bwMode="auto">
                <a:xfrm>
                  <a:off x="1210" y="2083"/>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14</a:t>
                  </a:r>
                </a:p>
              </p:txBody>
            </p:sp>
            <p:sp>
              <p:nvSpPr>
                <p:cNvPr id="30736" name="Text Box 12">
                  <a:extLst>
                    <a:ext uri="{FF2B5EF4-FFF2-40B4-BE49-F238E27FC236}">
                      <a16:creationId xmlns:a16="http://schemas.microsoft.com/office/drawing/2014/main" xmlns="" id="{B483B2DE-1CC7-47E0-87BA-3611F92456DA}"/>
                    </a:ext>
                  </a:extLst>
                </p:cNvPr>
                <p:cNvSpPr txBox="1">
                  <a:spLocks noChangeArrowheads="1"/>
                </p:cNvSpPr>
                <p:nvPr/>
              </p:nvSpPr>
              <p:spPr bwMode="auto">
                <a:xfrm>
                  <a:off x="1872"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12</a:t>
                  </a:r>
                </a:p>
              </p:txBody>
            </p:sp>
            <p:sp>
              <p:nvSpPr>
                <p:cNvPr id="30737" name="Text Box 13">
                  <a:extLst>
                    <a:ext uri="{FF2B5EF4-FFF2-40B4-BE49-F238E27FC236}">
                      <a16:creationId xmlns:a16="http://schemas.microsoft.com/office/drawing/2014/main" xmlns="" id="{0B4CCA79-2B26-45CF-ACD7-DDD26B880FA6}"/>
                    </a:ext>
                  </a:extLst>
                </p:cNvPr>
                <p:cNvSpPr txBox="1">
                  <a:spLocks noChangeArrowheads="1"/>
                </p:cNvSpPr>
                <p:nvPr/>
              </p:nvSpPr>
              <p:spPr bwMode="auto">
                <a:xfrm>
                  <a:off x="2131"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11</a:t>
                  </a:r>
                </a:p>
              </p:txBody>
            </p:sp>
            <p:sp>
              <p:nvSpPr>
                <p:cNvPr id="30738" name="Text Box 14">
                  <a:extLst>
                    <a:ext uri="{FF2B5EF4-FFF2-40B4-BE49-F238E27FC236}">
                      <a16:creationId xmlns:a16="http://schemas.microsoft.com/office/drawing/2014/main" xmlns="" id="{C1356440-F126-4C7B-A2C8-B82A441997AE}"/>
                    </a:ext>
                  </a:extLst>
                </p:cNvPr>
                <p:cNvSpPr txBox="1">
                  <a:spLocks noChangeArrowheads="1"/>
                </p:cNvSpPr>
                <p:nvPr/>
              </p:nvSpPr>
              <p:spPr bwMode="auto">
                <a:xfrm>
                  <a:off x="4428" y="2016"/>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0</a:t>
                  </a:r>
                </a:p>
              </p:txBody>
            </p:sp>
          </p:grpSp>
          <p:sp>
            <p:nvSpPr>
              <p:cNvPr id="30728" name="Text Box 15">
                <a:extLst>
                  <a:ext uri="{FF2B5EF4-FFF2-40B4-BE49-F238E27FC236}">
                    <a16:creationId xmlns:a16="http://schemas.microsoft.com/office/drawing/2014/main" xmlns="" id="{814FE256-2137-4147-8D34-97986751A028}"/>
                  </a:ext>
                </a:extLst>
              </p:cNvPr>
              <p:cNvSpPr txBox="1">
                <a:spLocks noChangeArrowheads="1"/>
              </p:cNvSpPr>
              <p:nvPr/>
            </p:nvSpPr>
            <p:spPr bwMode="auto">
              <a:xfrm>
                <a:off x="506" y="2339"/>
                <a:ext cx="35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b="1">
                    <a:latin typeface="Arial" panose="020B0604020202020204" pitchFamily="34" charset="0"/>
                  </a:rPr>
                  <a:t>111</a:t>
                </a:r>
              </a:p>
            </p:txBody>
          </p:sp>
          <p:sp>
            <p:nvSpPr>
              <p:cNvPr id="30729" name="Text Box 16">
                <a:extLst>
                  <a:ext uri="{FF2B5EF4-FFF2-40B4-BE49-F238E27FC236}">
                    <a16:creationId xmlns:a16="http://schemas.microsoft.com/office/drawing/2014/main" xmlns="" id="{C1EAF38D-96B0-4D35-B871-1610E0E89975}"/>
                  </a:ext>
                </a:extLst>
              </p:cNvPr>
              <p:cNvSpPr txBox="1">
                <a:spLocks noChangeArrowheads="1"/>
              </p:cNvSpPr>
              <p:nvPr/>
            </p:nvSpPr>
            <p:spPr bwMode="auto">
              <a:xfrm>
                <a:off x="1848" y="2328"/>
                <a:ext cx="1388"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b="1">
                    <a:latin typeface="Arial" panose="020B0604020202020204" pitchFamily="34" charset="0"/>
                  </a:rPr>
                  <a:t>Register operation</a:t>
                </a:r>
              </a:p>
            </p:txBody>
          </p:sp>
        </p:grpSp>
        <p:sp>
          <p:nvSpPr>
            <p:cNvPr id="30726" name="Text Box 31">
              <a:extLst>
                <a:ext uri="{FF2B5EF4-FFF2-40B4-BE49-F238E27FC236}">
                  <a16:creationId xmlns:a16="http://schemas.microsoft.com/office/drawing/2014/main" xmlns="" id="{39A074D3-4CC4-4F2F-9502-5FA9B69B9DFC}"/>
                </a:ext>
              </a:extLst>
            </p:cNvPr>
            <p:cNvSpPr txBox="1">
              <a:spLocks noChangeArrowheads="1"/>
            </p:cNvSpPr>
            <p:nvPr/>
          </p:nvSpPr>
          <p:spPr bwMode="auto">
            <a:xfrm>
              <a:off x="3840" y="1596"/>
              <a:ext cx="166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latin typeface="Arial" panose="020B0604020202020204" pitchFamily="34" charset="0"/>
                </a:rPr>
                <a:t>(Opcode is  = 111, </a:t>
              </a:r>
              <a:r>
                <a:rPr lang="en-US" altLang="en-US" b="1" i="1">
                  <a:latin typeface="Times New Roman" panose="02020603050405020304" pitchFamily="18" charset="0"/>
                </a:rPr>
                <a:t>I = 0)</a:t>
              </a:r>
              <a:endParaRPr lang="en-US" altLang="en-US" b="1">
                <a:latin typeface="Times New Roman" panose="02020603050405020304" pitchFamily="18" charset="0"/>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xmlns="" id="{67247495-D103-4555-B08C-45E6CAAC65BB}"/>
              </a:ext>
            </a:extLst>
          </p:cNvPr>
          <p:cNvSpPr>
            <a:spLocks noGrp="1"/>
          </p:cNvSpPr>
          <p:nvPr>
            <p:ph sz="quarter" idx="1"/>
          </p:nvPr>
        </p:nvSpPr>
        <p:spPr>
          <a:xfrm>
            <a:off x="1524000" y="1371600"/>
            <a:ext cx="8077200" cy="4572000"/>
          </a:xfrm>
        </p:spPr>
        <p:txBody>
          <a:bodyPr/>
          <a:lstStyle/>
          <a:p>
            <a:pPr eaLnBrk="1" hangingPunct="1">
              <a:spcBef>
                <a:spcPct val="50000"/>
              </a:spcBef>
            </a:pPr>
            <a:r>
              <a:rPr lang="en-US" altLang="en-US"/>
              <a:t>An operand from memory is not needed and therefore the other 12 bits are used to specify the operation or test to be executed on registers.</a:t>
            </a:r>
          </a:p>
          <a:p>
            <a:pPr eaLnBrk="1" hangingPunct="1"/>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xmlns="" id="{D5A180FD-D730-4A60-83FF-FB4B1E6B485B}"/>
              </a:ext>
            </a:extLst>
          </p:cNvPr>
          <p:cNvSpPr>
            <a:spLocks noGrp="1"/>
          </p:cNvSpPr>
          <p:nvPr>
            <p:ph type="title"/>
          </p:nvPr>
        </p:nvSpPr>
        <p:spPr/>
        <p:txBody>
          <a:bodyPr/>
          <a:lstStyle/>
          <a:p>
            <a:pPr eaLnBrk="1" hangingPunct="1"/>
            <a:endParaRPr lang="en-US" altLang="en-US">
              <a:solidFill>
                <a:srgbClr val="7B9899"/>
              </a:solidFill>
            </a:endParaRPr>
          </a:p>
        </p:txBody>
      </p:sp>
      <p:sp>
        <p:nvSpPr>
          <p:cNvPr id="33795" name="Rectangle 4">
            <a:extLst>
              <a:ext uri="{FF2B5EF4-FFF2-40B4-BE49-F238E27FC236}">
                <a16:creationId xmlns:a16="http://schemas.microsoft.com/office/drawing/2014/main" xmlns="" id="{844B53F3-3CB5-435B-90DF-E15C08CA9C85}"/>
              </a:ext>
            </a:extLst>
          </p:cNvPr>
          <p:cNvSpPr>
            <a:spLocks noChangeArrowheads="1"/>
          </p:cNvSpPr>
          <p:nvPr/>
        </p:nvSpPr>
        <p:spPr bwMode="auto">
          <a:xfrm>
            <a:off x="1524000" y="2376488"/>
            <a:ext cx="9220200" cy="2057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spcBef>
                <a:spcPct val="20000"/>
              </a:spcBef>
              <a:buFontTx/>
              <a:buChar char="•"/>
            </a:pPr>
            <a:r>
              <a:rPr lang="en-US" altLang="en-US" sz="2000"/>
              <a:t>Example:-</a:t>
            </a:r>
          </a:p>
          <a:p>
            <a:pPr eaLnBrk="1" hangingPunct="1">
              <a:spcBef>
                <a:spcPct val="20000"/>
              </a:spcBef>
            </a:pPr>
            <a:endParaRPr lang="en-US" altLang="en-US" sz="3200"/>
          </a:p>
        </p:txBody>
      </p:sp>
      <p:sp>
        <p:nvSpPr>
          <p:cNvPr id="33796" name="Rectangle 6">
            <a:extLst>
              <a:ext uri="{FF2B5EF4-FFF2-40B4-BE49-F238E27FC236}">
                <a16:creationId xmlns:a16="http://schemas.microsoft.com/office/drawing/2014/main" xmlns="" id="{3519967D-534D-48AB-9C49-3380BF987A60}"/>
              </a:ext>
            </a:extLst>
          </p:cNvPr>
          <p:cNvSpPr>
            <a:spLocks noChangeArrowheads="1"/>
          </p:cNvSpPr>
          <p:nvPr/>
        </p:nvSpPr>
        <p:spPr bwMode="auto">
          <a:xfrm>
            <a:off x="1581150" y="2743200"/>
            <a:ext cx="8839200" cy="1957388"/>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33797" name="Text Box 7">
            <a:extLst>
              <a:ext uri="{FF2B5EF4-FFF2-40B4-BE49-F238E27FC236}">
                <a16:creationId xmlns:a16="http://schemas.microsoft.com/office/drawing/2014/main" xmlns="" id="{83AC435F-5642-44F8-88C9-C7D2B123774C}"/>
              </a:ext>
            </a:extLst>
          </p:cNvPr>
          <p:cNvSpPr txBox="1">
            <a:spLocks noChangeArrowheads="1"/>
          </p:cNvSpPr>
          <p:nvPr/>
        </p:nvSpPr>
        <p:spPr bwMode="auto">
          <a:xfrm>
            <a:off x="1657350" y="2743201"/>
            <a:ext cx="8763000" cy="2289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latin typeface="Arial" panose="020B0604020202020204" pitchFamily="34" charset="0"/>
              </a:rPr>
              <a:t>SYMBOL	Hexadecimal Code	DESCRIPTION         </a:t>
            </a:r>
          </a:p>
          <a:p>
            <a:r>
              <a:rPr lang="en-US" altLang="en-US">
                <a:latin typeface="Arial" panose="020B0604020202020204" pitchFamily="34" charset="0"/>
              </a:rPr>
              <a:t>CLA		7800			Clear </a:t>
            </a:r>
            <a:r>
              <a:rPr lang="en-US" altLang="en-US" i="1">
                <a:latin typeface="Arial" panose="020B0604020202020204" pitchFamily="34" charset="0"/>
              </a:rPr>
              <a:t>AC</a:t>
            </a:r>
          </a:p>
          <a:p>
            <a:r>
              <a:rPr lang="en-US" altLang="en-US">
                <a:latin typeface="Arial" panose="020B0604020202020204" pitchFamily="34" charset="0"/>
              </a:rPr>
              <a:t>CLE		7400			Clear </a:t>
            </a:r>
            <a:r>
              <a:rPr lang="en-US" altLang="en-US" i="1">
                <a:latin typeface="Arial" panose="020B0604020202020204" pitchFamily="34" charset="0"/>
              </a:rPr>
              <a:t>E</a:t>
            </a:r>
          </a:p>
          <a:p>
            <a:r>
              <a:rPr lang="en-US" altLang="en-US">
                <a:latin typeface="Arial" panose="020B0604020202020204" pitchFamily="34" charset="0"/>
              </a:rPr>
              <a:t>CMA		7200			Complement </a:t>
            </a:r>
            <a:r>
              <a:rPr lang="en-US" altLang="en-US" i="1">
                <a:latin typeface="Arial" panose="020B0604020202020204" pitchFamily="34" charset="0"/>
              </a:rPr>
              <a:t>AC</a:t>
            </a:r>
          </a:p>
          <a:p>
            <a:r>
              <a:rPr lang="en-US" altLang="en-US">
                <a:latin typeface="Arial" panose="020B0604020202020204" pitchFamily="34" charset="0"/>
              </a:rPr>
              <a:t>CIR		7080			Circulate right AC and E</a:t>
            </a:r>
          </a:p>
          <a:p>
            <a:r>
              <a:rPr lang="en-US" altLang="en-US">
                <a:latin typeface="Arial" panose="020B0604020202020204" pitchFamily="34" charset="0"/>
              </a:rPr>
              <a:t>INC		7020			Increment AC</a:t>
            </a:r>
          </a:p>
          <a:p>
            <a:r>
              <a:rPr lang="en-US" altLang="en-US">
                <a:latin typeface="Arial" panose="020B0604020202020204" pitchFamily="34" charset="0"/>
              </a:rPr>
              <a:t>HLT		7001			Halt computer</a:t>
            </a:r>
          </a:p>
          <a:p>
            <a:endParaRPr lang="en-US" altLang="en-US">
              <a:latin typeface="Arial" panose="020B0604020202020204" pitchFamily="34" charset="0"/>
            </a:endParaRPr>
          </a:p>
        </p:txBody>
      </p:sp>
      <p:sp>
        <p:nvSpPr>
          <p:cNvPr id="33798" name="Line 8">
            <a:extLst>
              <a:ext uri="{FF2B5EF4-FFF2-40B4-BE49-F238E27FC236}">
                <a16:creationId xmlns:a16="http://schemas.microsoft.com/office/drawing/2014/main" xmlns="" id="{55F258A5-B6F6-46C1-A902-2523AB8FC37A}"/>
              </a:ext>
            </a:extLst>
          </p:cNvPr>
          <p:cNvSpPr>
            <a:spLocks noChangeShapeType="1"/>
          </p:cNvSpPr>
          <p:nvPr/>
        </p:nvSpPr>
        <p:spPr bwMode="auto">
          <a:xfrm>
            <a:off x="1581150" y="3057525"/>
            <a:ext cx="8839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3799" name="TextBox 1">
            <a:extLst>
              <a:ext uri="{FF2B5EF4-FFF2-40B4-BE49-F238E27FC236}">
                <a16:creationId xmlns:a16="http://schemas.microsoft.com/office/drawing/2014/main" xmlns="" id="{8C54F555-AC64-4A02-B7EE-BD581645AADB}"/>
              </a:ext>
            </a:extLst>
          </p:cNvPr>
          <p:cNvSpPr txBox="1">
            <a:spLocks noChangeArrowheads="1"/>
          </p:cNvSpPr>
          <p:nvPr/>
        </p:nvSpPr>
        <p:spPr bwMode="auto">
          <a:xfrm>
            <a:off x="4800600" y="1497013"/>
            <a:ext cx="4267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t>7800</a:t>
            </a:r>
          </a:p>
          <a:p>
            <a:r>
              <a:rPr lang="en-US" altLang="en-US"/>
              <a:t>0111 1000 0000 0000</a:t>
            </a:r>
            <a:endParaRPr lang="en-I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xmlns="" id="{E8EF27C1-81AA-43C2-8995-51F73230CBC6}"/>
              </a:ext>
            </a:extLst>
          </p:cNvPr>
          <p:cNvSpPr>
            <a:spLocks noGrp="1"/>
          </p:cNvSpPr>
          <p:nvPr>
            <p:ph sz="quarter" idx="1"/>
          </p:nvPr>
        </p:nvSpPr>
        <p:spPr>
          <a:xfrm>
            <a:off x="1752600" y="1524001"/>
            <a:ext cx="8229600" cy="4530725"/>
          </a:xfrm>
        </p:spPr>
        <p:txBody>
          <a:bodyPr/>
          <a:lstStyle/>
          <a:p>
            <a:pPr eaLnBrk="1" hangingPunct="1">
              <a:lnSpc>
                <a:spcPct val="90000"/>
              </a:lnSpc>
            </a:pPr>
            <a:r>
              <a:rPr lang="en-US" altLang="en-US" sz="3200"/>
              <a:t>Register reference instructions use 16 bits to specify an operation.</a:t>
            </a:r>
          </a:p>
          <a:p>
            <a:pPr eaLnBrk="1" hangingPunct="1">
              <a:lnSpc>
                <a:spcPct val="90000"/>
              </a:lnSpc>
            </a:pPr>
            <a:endParaRPr lang="en-US" altLang="en-US" sz="3200"/>
          </a:p>
          <a:p>
            <a:pPr eaLnBrk="1" hangingPunct="1">
              <a:lnSpc>
                <a:spcPct val="90000"/>
              </a:lnSpc>
            </a:pPr>
            <a:r>
              <a:rPr lang="en-US" altLang="en-US" sz="3200"/>
              <a:t>The left most bit is always 0111, which is equal hexadecimal 7.</a:t>
            </a:r>
          </a:p>
          <a:p>
            <a:pPr eaLnBrk="1" hangingPunct="1">
              <a:lnSpc>
                <a:spcPct val="90000"/>
              </a:lnSpc>
              <a:buFontTx/>
              <a:buNone/>
            </a:pPr>
            <a:endParaRPr lang="en-US" altLang="en-US" sz="3200"/>
          </a:p>
          <a:p>
            <a:pPr eaLnBrk="1" hangingPunct="1">
              <a:lnSpc>
                <a:spcPct val="90000"/>
              </a:lnSpc>
            </a:pPr>
            <a:r>
              <a:rPr lang="en-US" altLang="en-US" sz="3200"/>
              <a:t>The other three hexadecimal digits give the binary equivalent of the remaining 12 bits.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xmlns="" id="{1AE5EF7E-22D6-4454-9564-74270E2CCB48}"/>
              </a:ext>
            </a:extLst>
          </p:cNvPr>
          <p:cNvSpPr>
            <a:spLocks noGrp="1"/>
          </p:cNvSpPr>
          <p:nvPr>
            <p:ph type="title"/>
          </p:nvPr>
        </p:nvSpPr>
        <p:spPr>
          <a:xfrm>
            <a:off x="1981200" y="79376"/>
            <a:ext cx="8229600" cy="1139825"/>
          </a:xfrm>
        </p:spPr>
        <p:txBody>
          <a:bodyPr/>
          <a:lstStyle/>
          <a:p>
            <a:pPr eaLnBrk="1" hangingPunct="1"/>
            <a:r>
              <a:rPr lang="en-US" altLang="en-US">
                <a:solidFill>
                  <a:srgbClr val="0000FF"/>
                </a:solidFill>
              </a:rPr>
              <a:t>3. Input - output instruction</a:t>
            </a:r>
          </a:p>
        </p:txBody>
      </p:sp>
      <p:sp>
        <p:nvSpPr>
          <p:cNvPr id="36867" name="Rectangle 3">
            <a:extLst>
              <a:ext uri="{FF2B5EF4-FFF2-40B4-BE49-F238E27FC236}">
                <a16:creationId xmlns:a16="http://schemas.microsoft.com/office/drawing/2014/main" xmlns="" id="{2D1FD35C-7D5E-4C84-BD11-198DD8D30714}"/>
              </a:ext>
            </a:extLst>
          </p:cNvPr>
          <p:cNvSpPr>
            <a:spLocks noGrp="1"/>
          </p:cNvSpPr>
          <p:nvPr>
            <p:ph sz="quarter" idx="1"/>
          </p:nvPr>
        </p:nvSpPr>
        <p:spPr>
          <a:xfrm>
            <a:off x="1828800" y="1314450"/>
            <a:ext cx="8534400" cy="6305550"/>
          </a:xfrm>
        </p:spPr>
        <p:txBody>
          <a:bodyPr/>
          <a:lstStyle/>
          <a:p>
            <a:pPr eaLnBrk="1" hangingPunct="1"/>
            <a:r>
              <a:rPr lang="en-US" altLang="en-US"/>
              <a:t>An input-output instruction does not need a reference to memory and is </a:t>
            </a:r>
            <a:r>
              <a:rPr lang="en-US" altLang="en-US" u="sng">
                <a:solidFill>
                  <a:srgbClr val="C00000"/>
                </a:solidFill>
              </a:rPr>
              <a:t>recognized by the operation code 111 with a 1 in the left most bit of the instruction.</a:t>
            </a:r>
          </a:p>
          <a:p>
            <a:pPr eaLnBrk="1" hangingPunct="1"/>
            <a:r>
              <a:rPr lang="en-US" altLang="en-US"/>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xmlns="" id="{34CDA5D5-B901-4AC3-A137-8FE4B48DEC3E}"/>
              </a:ext>
            </a:extLst>
          </p:cNvPr>
          <p:cNvSpPr>
            <a:spLocks noGrp="1"/>
          </p:cNvSpPr>
          <p:nvPr>
            <p:ph type="title"/>
          </p:nvPr>
        </p:nvSpPr>
        <p:spPr/>
        <p:txBody>
          <a:bodyPr/>
          <a:lstStyle/>
          <a:p>
            <a:pPr eaLnBrk="1" hangingPunct="1"/>
            <a:endParaRPr lang="en-US" altLang="en-US">
              <a:solidFill>
                <a:srgbClr val="7B9899"/>
              </a:solidFill>
            </a:endParaRPr>
          </a:p>
        </p:txBody>
      </p:sp>
      <p:sp>
        <p:nvSpPr>
          <p:cNvPr id="38915" name="Content Placeholder 2">
            <a:extLst>
              <a:ext uri="{FF2B5EF4-FFF2-40B4-BE49-F238E27FC236}">
                <a16:creationId xmlns:a16="http://schemas.microsoft.com/office/drawing/2014/main" xmlns="" id="{1A690632-3D8F-4CEF-BC60-3A9F73560025}"/>
              </a:ext>
            </a:extLst>
          </p:cNvPr>
          <p:cNvSpPr>
            <a:spLocks noGrp="1"/>
          </p:cNvSpPr>
          <p:nvPr>
            <p:ph sz="quarter" idx="1"/>
          </p:nvPr>
        </p:nvSpPr>
        <p:spPr>
          <a:xfrm>
            <a:off x="1825626" y="1527175"/>
            <a:ext cx="7394575" cy="4572000"/>
          </a:xfrm>
        </p:spPr>
        <p:txBody>
          <a:bodyPr/>
          <a:lstStyle/>
          <a:p>
            <a:pPr eaLnBrk="1" hangingPunct="1"/>
            <a:r>
              <a:rPr lang="en-US" altLang="en-US"/>
              <a:t>The remaining 12 bits are used to specify the type of input-output operation or test to be performed.</a:t>
            </a:r>
          </a:p>
          <a:p>
            <a:pPr eaLnBrk="1" hangingPunct="1"/>
            <a:endParaRPr lang="en-US" altLang="en-US"/>
          </a:p>
        </p:txBody>
      </p:sp>
      <p:grpSp>
        <p:nvGrpSpPr>
          <p:cNvPr id="38916" name="Group 4">
            <a:extLst>
              <a:ext uri="{FF2B5EF4-FFF2-40B4-BE49-F238E27FC236}">
                <a16:creationId xmlns:a16="http://schemas.microsoft.com/office/drawing/2014/main" xmlns="" id="{8DC40017-66CA-495D-B446-C1901B9E58F0}"/>
              </a:ext>
            </a:extLst>
          </p:cNvPr>
          <p:cNvGrpSpPr>
            <a:grpSpLocks/>
          </p:cNvGrpSpPr>
          <p:nvPr/>
        </p:nvGrpSpPr>
        <p:grpSpPr bwMode="auto">
          <a:xfrm>
            <a:off x="1866901" y="5105401"/>
            <a:ext cx="8397875" cy="835025"/>
            <a:chOff x="216" y="1308"/>
            <a:chExt cx="5290" cy="526"/>
          </a:xfrm>
        </p:grpSpPr>
        <p:grpSp>
          <p:nvGrpSpPr>
            <p:cNvPr id="38917" name="Group 5">
              <a:extLst>
                <a:ext uri="{FF2B5EF4-FFF2-40B4-BE49-F238E27FC236}">
                  <a16:creationId xmlns:a16="http://schemas.microsoft.com/office/drawing/2014/main" xmlns="" id="{2C0F710F-CBE2-463B-BA3B-8432944BF0DE}"/>
                </a:ext>
              </a:extLst>
            </p:cNvPr>
            <p:cNvGrpSpPr>
              <a:grpSpLocks/>
            </p:cNvGrpSpPr>
            <p:nvPr/>
          </p:nvGrpSpPr>
          <p:grpSpPr bwMode="auto">
            <a:xfrm>
              <a:off x="216" y="1308"/>
              <a:ext cx="3700" cy="526"/>
              <a:chOff x="84" y="2052"/>
              <a:chExt cx="3700" cy="526"/>
            </a:xfrm>
          </p:grpSpPr>
          <p:grpSp>
            <p:nvGrpSpPr>
              <p:cNvPr id="38919" name="Group 6">
                <a:extLst>
                  <a:ext uri="{FF2B5EF4-FFF2-40B4-BE49-F238E27FC236}">
                    <a16:creationId xmlns:a16="http://schemas.microsoft.com/office/drawing/2014/main" xmlns="" id="{FF7BD397-BEFC-4963-9BBF-1D328D0381AE}"/>
                  </a:ext>
                </a:extLst>
              </p:cNvPr>
              <p:cNvGrpSpPr>
                <a:grpSpLocks/>
              </p:cNvGrpSpPr>
              <p:nvPr/>
            </p:nvGrpSpPr>
            <p:grpSpPr bwMode="auto">
              <a:xfrm>
                <a:off x="84" y="2052"/>
                <a:ext cx="3700" cy="526"/>
                <a:chOff x="924" y="2016"/>
                <a:chExt cx="3700" cy="526"/>
              </a:xfrm>
            </p:grpSpPr>
            <p:sp>
              <p:nvSpPr>
                <p:cNvPr id="38922" name="Rectangle 7">
                  <a:extLst>
                    <a:ext uri="{FF2B5EF4-FFF2-40B4-BE49-F238E27FC236}">
                      <a16:creationId xmlns:a16="http://schemas.microsoft.com/office/drawing/2014/main" xmlns="" id="{F01D914B-A24A-4A82-A9E0-9DE9009E34FC}"/>
                    </a:ext>
                  </a:extLst>
                </p:cNvPr>
                <p:cNvSpPr>
                  <a:spLocks noChangeArrowheads="1"/>
                </p:cNvSpPr>
                <p:nvPr/>
              </p:nvSpPr>
              <p:spPr bwMode="auto">
                <a:xfrm>
                  <a:off x="1036" y="2302"/>
                  <a:ext cx="3536"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38923" name="Line 8">
                  <a:extLst>
                    <a:ext uri="{FF2B5EF4-FFF2-40B4-BE49-F238E27FC236}">
                      <a16:creationId xmlns:a16="http://schemas.microsoft.com/office/drawing/2014/main" xmlns="" id="{A8751445-AC7B-4128-991A-03B625BAC070}"/>
                    </a:ext>
                  </a:extLst>
                </p:cNvPr>
                <p:cNvSpPr>
                  <a:spLocks noChangeShapeType="1"/>
                </p:cNvSpPr>
                <p:nvPr/>
              </p:nvSpPr>
              <p:spPr bwMode="auto">
                <a:xfrm>
                  <a:off x="1228" y="2302"/>
                  <a:ext cx="0" cy="24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8924" name="Line 9">
                  <a:extLst>
                    <a:ext uri="{FF2B5EF4-FFF2-40B4-BE49-F238E27FC236}">
                      <a16:creationId xmlns:a16="http://schemas.microsoft.com/office/drawing/2014/main" xmlns="" id="{91A37F38-3938-4591-BFE5-1094A8766D6C}"/>
                    </a:ext>
                  </a:extLst>
                </p:cNvPr>
                <p:cNvSpPr>
                  <a:spLocks noChangeShapeType="1"/>
                </p:cNvSpPr>
                <p:nvPr/>
              </p:nvSpPr>
              <p:spPr bwMode="auto">
                <a:xfrm>
                  <a:off x="2140" y="2302"/>
                  <a:ext cx="0" cy="24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38925" name="Text Box 10">
                  <a:extLst>
                    <a:ext uri="{FF2B5EF4-FFF2-40B4-BE49-F238E27FC236}">
                      <a16:creationId xmlns:a16="http://schemas.microsoft.com/office/drawing/2014/main" xmlns="" id="{DBDE9CC2-BD34-4E2F-B2F5-3AD8E80B9AAA}"/>
                    </a:ext>
                  </a:extLst>
                </p:cNvPr>
                <p:cNvSpPr txBox="1">
                  <a:spLocks noChangeArrowheads="1"/>
                </p:cNvSpPr>
                <p:nvPr/>
              </p:nvSpPr>
              <p:spPr bwMode="auto">
                <a:xfrm>
                  <a:off x="1047" y="2281"/>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a:t>
                  </a:r>
                </a:p>
              </p:txBody>
            </p:sp>
            <p:sp>
              <p:nvSpPr>
                <p:cNvPr id="38926" name="Text Box 11">
                  <a:extLst>
                    <a:ext uri="{FF2B5EF4-FFF2-40B4-BE49-F238E27FC236}">
                      <a16:creationId xmlns:a16="http://schemas.microsoft.com/office/drawing/2014/main" xmlns="" id="{76BDAA79-4630-4C7C-8303-FADADA906E3E}"/>
                    </a:ext>
                  </a:extLst>
                </p:cNvPr>
                <p:cNvSpPr txBox="1">
                  <a:spLocks noChangeArrowheads="1"/>
                </p:cNvSpPr>
                <p:nvPr/>
              </p:nvSpPr>
              <p:spPr bwMode="auto">
                <a:xfrm>
                  <a:off x="924"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15</a:t>
                  </a:r>
                </a:p>
              </p:txBody>
            </p:sp>
            <p:sp>
              <p:nvSpPr>
                <p:cNvPr id="38927" name="Text Box 12">
                  <a:extLst>
                    <a:ext uri="{FF2B5EF4-FFF2-40B4-BE49-F238E27FC236}">
                      <a16:creationId xmlns:a16="http://schemas.microsoft.com/office/drawing/2014/main" xmlns="" id="{579B02D7-2276-420C-839D-A2C7B2144E90}"/>
                    </a:ext>
                  </a:extLst>
                </p:cNvPr>
                <p:cNvSpPr txBox="1">
                  <a:spLocks noChangeArrowheads="1"/>
                </p:cNvSpPr>
                <p:nvPr/>
              </p:nvSpPr>
              <p:spPr bwMode="auto">
                <a:xfrm>
                  <a:off x="1210" y="2083"/>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14</a:t>
                  </a:r>
                </a:p>
              </p:txBody>
            </p:sp>
            <p:sp>
              <p:nvSpPr>
                <p:cNvPr id="38928" name="Text Box 13">
                  <a:extLst>
                    <a:ext uri="{FF2B5EF4-FFF2-40B4-BE49-F238E27FC236}">
                      <a16:creationId xmlns:a16="http://schemas.microsoft.com/office/drawing/2014/main" xmlns="" id="{C45A5FE4-A423-48A0-92DD-B167EFD0C981}"/>
                    </a:ext>
                  </a:extLst>
                </p:cNvPr>
                <p:cNvSpPr txBox="1">
                  <a:spLocks noChangeArrowheads="1"/>
                </p:cNvSpPr>
                <p:nvPr/>
              </p:nvSpPr>
              <p:spPr bwMode="auto">
                <a:xfrm>
                  <a:off x="1872"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12</a:t>
                  </a:r>
                </a:p>
              </p:txBody>
            </p:sp>
            <p:sp>
              <p:nvSpPr>
                <p:cNvPr id="38929" name="Text Box 14">
                  <a:extLst>
                    <a:ext uri="{FF2B5EF4-FFF2-40B4-BE49-F238E27FC236}">
                      <a16:creationId xmlns:a16="http://schemas.microsoft.com/office/drawing/2014/main" xmlns="" id="{E171ABDC-8C17-4730-96FA-FDE99EA89861}"/>
                    </a:ext>
                  </a:extLst>
                </p:cNvPr>
                <p:cNvSpPr txBox="1">
                  <a:spLocks noChangeArrowheads="1"/>
                </p:cNvSpPr>
                <p:nvPr/>
              </p:nvSpPr>
              <p:spPr bwMode="auto">
                <a:xfrm>
                  <a:off x="2131" y="2071"/>
                  <a:ext cx="27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11</a:t>
                  </a:r>
                </a:p>
              </p:txBody>
            </p:sp>
            <p:sp>
              <p:nvSpPr>
                <p:cNvPr id="38930" name="Text Box 15">
                  <a:extLst>
                    <a:ext uri="{FF2B5EF4-FFF2-40B4-BE49-F238E27FC236}">
                      <a16:creationId xmlns:a16="http://schemas.microsoft.com/office/drawing/2014/main" xmlns="" id="{7AB9E592-4287-4C83-9E61-3FB750C151BB}"/>
                    </a:ext>
                  </a:extLst>
                </p:cNvPr>
                <p:cNvSpPr txBox="1">
                  <a:spLocks noChangeArrowheads="1"/>
                </p:cNvSpPr>
                <p:nvPr/>
              </p:nvSpPr>
              <p:spPr bwMode="auto">
                <a:xfrm>
                  <a:off x="4428" y="2016"/>
                  <a:ext cx="19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2000" b="1">
                      <a:latin typeface="Times New Roman" panose="02020603050405020304" pitchFamily="18" charset="0"/>
                    </a:rPr>
                    <a:t>0</a:t>
                  </a:r>
                </a:p>
              </p:txBody>
            </p:sp>
          </p:grpSp>
          <p:sp>
            <p:nvSpPr>
              <p:cNvPr id="38920" name="Text Box 16">
                <a:extLst>
                  <a:ext uri="{FF2B5EF4-FFF2-40B4-BE49-F238E27FC236}">
                    <a16:creationId xmlns:a16="http://schemas.microsoft.com/office/drawing/2014/main" xmlns="" id="{F1A998A6-BA09-499A-8C78-0E0BF03D6F1E}"/>
                  </a:ext>
                </a:extLst>
              </p:cNvPr>
              <p:cNvSpPr txBox="1">
                <a:spLocks noChangeArrowheads="1"/>
              </p:cNvSpPr>
              <p:nvPr/>
            </p:nvSpPr>
            <p:spPr bwMode="auto">
              <a:xfrm>
                <a:off x="506" y="2339"/>
                <a:ext cx="35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b="1">
                    <a:latin typeface="Arial" panose="020B0604020202020204" pitchFamily="34" charset="0"/>
                  </a:rPr>
                  <a:t>111</a:t>
                </a:r>
              </a:p>
            </p:txBody>
          </p:sp>
          <p:sp>
            <p:nvSpPr>
              <p:cNvPr id="38921" name="Text Box 17">
                <a:extLst>
                  <a:ext uri="{FF2B5EF4-FFF2-40B4-BE49-F238E27FC236}">
                    <a16:creationId xmlns:a16="http://schemas.microsoft.com/office/drawing/2014/main" xmlns="" id="{DB402CAD-74A8-483C-BAEA-3D0422543929}"/>
                  </a:ext>
                </a:extLst>
              </p:cNvPr>
              <p:cNvSpPr txBox="1">
                <a:spLocks noChangeArrowheads="1"/>
              </p:cNvSpPr>
              <p:nvPr/>
            </p:nvSpPr>
            <p:spPr bwMode="auto">
              <a:xfrm>
                <a:off x="1848" y="2328"/>
                <a:ext cx="1004"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b="1">
                    <a:latin typeface="Arial" panose="020B0604020202020204" pitchFamily="34" charset="0"/>
                  </a:rPr>
                  <a:t>I/O operation</a:t>
                </a:r>
              </a:p>
            </p:txBody>
          </p:sp>
        </p:grpSp>
        <p:sp>
          <p:nvSpPr>
            <p:cNvPr id="38918" name="Text Box 18">
              <a:extLst>
                <a:ext uri="{FF2B5EF4-FFF2-40B4-BE49-F238E27FC236}">
                  <a16:creationId xmlns:a16="http://schemas.microsoft.com/office/drawing/2014/main" xmlns="" id="{87ABB295-4807-41A6-B126-97EAA3A7EC8C}"/>
                </a:ext>
              </a:extLst>
            </p:cNvPr>
            <p:cNvSpPr txBox="1">
              <a:spLocks noChangeArrowheads="1"/>
            </p:cNvSpPr>
            <p:nvPr/>
          </p:nvSpPr>
          <p:spPr bwMode="auto">
            <a:xfrm>
              <a:off x="3840" y="1596"/>
              <a:ext cx="166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latin typeface="Arial" panose="020B0604020202020204" pitchFamily="34" charset="0"/>
                </a:rPr>
                <a:t>(Opcode is  = 111, </a:t>
              </a:r>
              <a:r>
                <a:rPr lang="en-US" altLang="en-US" b="1" i="1">
                  <a:latin typeface="Times New Roman" panose="02020603050405020304" pitchFamily="18" charset="0"/>
                </a:rPr>
                <a:t>I = </a:t>
              </a:r>
              <a:r>
                <a:rPr lang="en-US" altLang="en-US" b="1">
                  <a:latin typeface="Times New Roman" panose="02020603050405020304" pitchFamily="18" charset="0"/>
                </a:rPr>
                <a:t>1</a:t>
              </a:r>
              <a:r>
                <a:rPr lang="en-US" altLang="en-US" b="1" i="1">
                  <a:latin typeface="Times New Roman" panose="02020603050405020304" pitchFamily="18" charset="0"/>
                </a:rPr>
                <a:t>)</a:t>
              </a:r>
              <a:endParaRPr lang="en-US" altLang="en-US" b="1">
                <a:latin typeface="Times New Roman" panose="02020603050405020304" pitchFamily="18" charset="0"/>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xmlns="" id="{AE8532E8-62EE-4DE3-9939-C1B626036E05}"/>
              </a:ext>
            </a:extLst>
          </p:cNvPr>
          <p:cNvSpPr>
            <a:spLocks noGrp="1"/>
          </p:cNvSpPr>
          <p:nvPr>
            <p:ph sz="quarter" idx="1"/>
          </p:nvPr>
        </p:nvSpPr>
        <p:spPr>
          <a:xfrm>
            <a:off x="1905000" y="1447801"/>
            <a:ext cx="8229600" cy="3616325"/>
          </a:xfrm>
        </p:spPr>
        <p:txBody>
          <a:bodyPr/>
          <a:lstStyle/>
          <a:p>
            <a:pPr eaLnBrk="1" hangingPunct="1"/>
            <a:r>
              <a:rPr lang="en-US" altLang="en-US"/>
              <a:t>The input-output instructions also use all 16 bits to specify an operation .</a:t>
            </a:r>
          </a:p>
          <a:p>
            <a:pPr eaLnBrk="1" hangingPunct="1"/>
            <a:r>
              <a:rPr lang="en-US" altLang="en-US"/>
              <a:t>The last four bits are always 1111, equivalent to hexadecimal F.</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xmlns="" id="{7242C360-7058-405B-8382-8BB7B842FF2D}"/>
              </a:ext>
            </a:extLst>
          </p:cNvPr>
          <p:cNvSpPr>
            <a:spLocks noGrp="1"/>
          </p:cNvSpPr>
          <p:nvPr>
            <p:ph type="title"/>
          </p:nvPr>
        </p:nvSpPr>
        <p:spPr/>
        <p:txBody>
          <a:bodyPr/>
          <a:lstStyle/>
          <a:p>
            <a:pPr eaLnBrk="1" hangingPunct="1"/>
            <a:endParaRPr lang="en-US" altLang="en-US">
              <a:solidFill>
                <a:srgbClr val="7B9899"/>
              </a:solidFill>
            </a:endParaRPr>
          </a:p>
        </p:txBody>
      </p:sp>
      <p:sp>
        <p:nvSpPr>
          <p:cNvPr id="41987" name="Content Placeholder 2">
            <a:extLst>
              <a:ext uri="{FF2B5EF4-FFF2-40B4-BE49-F238E27FC236}">
                <a16:creationId xmlns:a16="http://schemas.microsoft.com/office/drawing/2014/main" xmlns="" id="{26CA2CB3-7EFE-4C84-A39F-F6CAA7063FC4}"/>
              </a:ext>
            </a:extLst>
          </p:cNvPr>
          <p:cNvSpPr>
            <a:spLocks noGrp="1"/>
          </p:cNvSpPr>
          <p:nvPr>
            <p:ph sz="quarter" idx="1"/>
          </p:nvPr>
        </p:nvSpPr>
        <p:spPr>
          <a:xfrm>
            <a:off x="1825626" y="1527175"/>
            <a:ext cx="7394575" cy="4572000"/>
          </a:xfrm>
        </p:spPr>
        <p:txBody>
          <a:bodyPr/>
          <a:lstStyle/>
          <a:p>
            <a:pPr eaLnBrk="1" hangingPunct="1"/>
            <a:r>
              <a:rPr lang="en-US" altLang="en-US"/>
              <a:t>The type of instruction is recognized by the computer from the </a:t>
            </a:r>
            <a:r>
              <a:rPr lang="en-US" altLang="en-US" u="sng"/>
              <a:t>four bits in positions 12 through 15 of the instruction.</a:t>
            </a:r>
          </a:p>
          <a:p>
            <a:pPr eaLnBrk="1" hangingPunct="1"/>
            <a:endParaRPr lang="en-US"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a:extLst>
              <a:ext uri="{FF2B5EF4-FFF2-40B4-BE49-F238E27FC236}">
                <a16:creationId xmlns:a16="http://schemas.microsoft.com/office/drawing/2014/main" xmlns="" id="{8261E306-2BC4-44C8-A6C3-C1A8E96C9A25}"/>
              </a:ext>
            </a:extLst>
          </p:cNvPr>
          <p:cNvSpPr>
            <a:spLocks noGrp="1"/>
          </p:cNvSpPr>
          <p:nvPr>
            <p:ph sz="quarter" idx="1"/>
          </p:nvPr>
        </p:nvSpPr>
        <p:spPr>
          <a:xfrm>
            <a:off x="1828800" y="1447800"/>
            <a:ext cx="8229600" cy="5410200"/>
          </a:xfrm>
        </p:spPr>
        <p:txBody>
          <a:bodyPr/>
          <a:lstStyle/>
          <a:p>
            <a:pPr eaLnBrk="1" hangingPunct="1"/>
            <a:endParaRPr lang="en-US" altLang="en-US" u="sng"/>
          </a:p>
          <a:p>
            <a:pPr eaLnBrk="1" hangingPunct="1"/>
            <a:r>
              <a:rPr lang="en-US" altLang="en-US"/>
              <a:t>If the three opcode bits in positions </a:t>
            </a:r>
            <a:r>
              <a:rPr lang="en-US" altLang="en-US" u="sng"/>
              <a:t>12 through 14 are not equal to 111, the instruction is a memory-reference type</a:t>
            </a:r>
            <a:r>
              <a:rPr lang="en-US" altLang="en-US"/>
              <a:t> and the bit in position 15 is taken as the addressing mode </a:t>
            </a:r>
            <a:r>
              <a:rPr lang="en-US" altLang="en-US" i="1"/>
              <a:t>I. </a:t>
            </a:r>
            <a:r>
              <a:rPr lang="en-US" altLang="en-US"/>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ADB119-5896-41D9-9792-9B455ABD41E1}"/>
              </a:ext>
            </a:extLst>
          </p:cNvPr>
          <p:cNvSpPr>
            <a:spLocks noGrp="1"/>
          </p:cNvSpPr>
          <p:nvPr>
            <p:ph type="title"/>
          </p:nvPr>
        </p:nvSpPr>
        <p:spPr/>
        <p:txBody>
          <a:bodyPr/>
          <a:lstStyle/>
          <a:p>
            <a:pPr>
              <a:defRPr/>
            </a:pPr>
            <a:endParaRPr lang="en-US"/>
          </a:p>
        </p:txBody>
      </p:sp>
      <p:sp>
        <p:nvSpPr>
          <p:cNvPr id="45059" name="Content Placeholder 2">
            <a:extLst>
              <a:ext uri="{FF2B5EF4-FFF2-40B4-BE49-F238E27FC236}">
                <a16:creationId xmlns:a16="http://schemas.microsoft.com/office/drawing/2014/main" xmlns="" id="{7CFDE9AD-4FAC-4167-9590-4943276822F8}"/>
              </a:ext>
            </a:extLst>
          </p:cNvPr>
          <p:cNvSpPr>
            <a:spLocks noGrp="1"/>
          </p:cNvSpPr>
          <p:nvPr>
            <p:ph sz="quarter" idx="1"/>
          </p:nvPr>
        </p:nvSpPr>
        <p:spPr>
          <a:xfrm>
            <a:off x="1825626" y="1527175"/>
            <a:ext cx="7394575" cy="4572000"/>
          </a:xfrm>
        </p:spPr>
        <p:txBody>
          <a:bodyPr>
            <a:normAutofit lnSpcReduction="10000"/>
          </a:bodyPr>
          <a:lstStyle/>
          <a:p>
            <a:pPr eaLnBrk="1" hangingPunct="1">
              <a:lnSpc>
                <a:spcPct val="80000"/>
              </a:lnSpc>
            </a:pPr>
            <a:r>
              <a:rPr lang="en-US" altLang="en-US"/>
              <a:t>If the three bit opcode is equal to 111, control then inspects the bit in position 15.</a:t>
            </a:r>
          </a:p>
          <a:p>
            <a:pPr eaLnBrk="1" hangingPunct="1">
              <a:lnSpc>
                <a:spcPct val="80000"/>
              </a:lnSpc>
            </a:pPr>
            <a:endParaRPr lang="en-US" altLang="en-US"/>
          </a:p>
          <a:p>
            <a:pPr eaLnBrk="1" hangingPunct="1">
              <a:lnSpc>
                <a:spcPct val="80000"/>
              </a:lnSpc>
            </a:pPr>
            <a:r>
              <a:rPr lang="en-US" altLang="en-US" u="sng"/>
              <a:t>If this bit is 0</a:t>
            </a:r>
            <a:r>
              <a:rPr lang="en-US" altLang="en-US"/>
              <a:t>, then the instruction is a </a:t>
            </a:r>
            <a:r>
              <a:rPr lang="en-US" altLang="en-US" u="sng"/>
              <a:t>regiter-reference type.</a:t>
            </a:r>
          </a:p>
          <a:p>
            <a:pPr eaLnBrk="1" hangingPunct="1">
              <a:lnSpc>
                <a:spcPct val="80000"/>
              </a:lnSpc>
            </a:pPr>
            <a:endParaRPr lang="en-US" altLang="en-US"/>
          </a:p>
          <a:p>
            <a:pPr eaLnBrk="1" hangingPunct="1">
              <a:lnSpc>
                <a:spcPct val="80000"/>
              </a:lnSpc>
            </a:pPr>
            <a:r>
              <a:rPr lang="en-US" altLang="en-US" u="sng"/>
              <a:t>If the bit is 1</a:t>
            </a:r>
            <a:r>
              <a:rPr lang="en-US" altLang="en-US"/>
              <a:t>, the instruction is an </a:t>
            </a:r>
            <a:r>
              <a:rPr lang="en-US" altLang="en-US" u="sng"/>
              <a:t>input-output type.</a:t>
            </a:r>
            <a:r>
              <a:rPr lang="en-US" altLang="en-US"/>
              <a:t> </a:t>
            </a:r>
            <a:br>
              <a:rPr lang="en-US" altLang="en-US"/>
            </a:br>
            <a:r>
              <a:rPr lang="en-US" altLang="en-US"/>
              <a:t/>
            </a:r>
            <a:br>
              <a:rPr lang="en-US" altLang="en-US"/>
            </a:br>
            <a:r>
              <a:rPr lang="en-US" altLang="en-US"/>
              <a:t/>
            </a:r>
            <a:br>
              <a:rPr lang="en-US" altLang="en-US"/>
            </a:br>
            <a:r>
              <a:rPr lang="en-US" altLang="en-US"/>
              <a:t/>
            </a:r>
            <a:br>
              <a:rPr lang="en-US" altLang="en-US"/>
            </a:br>
            <a:endParaRPr lang="en-US"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BBE37A-23B1-4035-8166-9A6D963DD6B3}"/>
              </a:ext>
            </a:extLst>
          </p:cNvPr>
          <p:cNvSpPr>
            <a:spLocks noGrp="1"/>
          </p:cNvSpPr>
          <p:nvPr>
            <p:ph type="title"/>
          </p:nvPr>
        </p:nvSpPr>
        <p:spPr/>
        <p:txBody>
          <a:bodyPr/>
          <a:lstStyle/>
          <a:p>
            <a:pPr>
              <a:defRPr/>
            </a:pPr>
            <a:endParaRPr lang="en-US"/>
          </a:p>
        </p:txBody>
      </p:sp>
      <p:sp>
        <p:nvSpPr>
          <p:cNvPr id="46083" name="Text Box 7">
            <a:extLst>
              <a:ext uri="{FF2B5EF4-FFF2-40B4-BE49-F238E27FC236}">
                <a16:creationId xmlns:a16="http://schemas.microsoft.com/office/drawing/2014/main" xmlns="" id="{C6123FE7-DD2B-46E7-ACFA-CE46BE7E8ACE}"/>
              </a:ext>
            </a:extLst>
          </p:cNvPr>
          <p:cNvSpPr txBox="1">
            <a:spLocks noChangeArrowheads="1"/>
          </p:cNvSpPr>
          <p:nvPr/>
        </p:nvSpPr>
        <p:spPr bwMode="auto">
          <a:xfrm>
            <a:off x="1657350" y="2743201"/>
            <a:ext cx="8763000" cy="2308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a:latin typeface="Arial" panose="020B0604020202020204" pitchFamily="34" charset="0"/>
              </a:rPr>
              <a:t>SYMBOL	Hexadecimal Code	DESCRIPTION         </a:t>
            </a:r>
          </a:p>
          <a:p>
            <a:r>
              <a:rPr lang="en-US" altLang="en-US">
                <a:latin typeface="Arial" panose="020B0604020202020204" pitchFamily="34" charset="0"/>
              </a:rPr>
              <a:t>INP		F800			Input character to AC		</a:t>
            </a:r>
          </a:p>
          <a:p>
            <a:r>
              <a:rPr lang="en-US" altLang="en-US">
                <a:latin typeface="Arial" panose="020B0604020202020204" pitchFamily="34" charset="0"/>
              </a:rPr>
              <a:t>OUT		F400			Output character from AC</a:t>
            </a:r>
          </a:p>
          <a:p>
            <a:r>
              <a:rPr lang="en-US" altLang="en-US">
                <a:latin typeface="Arial" panose="020B0604020202020204" pitchFamily="34" charset="0"/>
              </a:rPr>
              <a:t>SKI		F200                                   Skip on input Flag</a:t>
            </a:r>
          </a:p>
          <a:p>
            <a:r>
              <a:rPr lang="en-US" altLang="en-US">
                <a:latin typeface="Arial" panose="020B0604020202020204" pitchFamily="34" charset="0"/>
              </a:rPr>
              <a:t>SKO		F100			Skip on output Flag</a:t>
            </a:r>
          </a:p>
          <a:p>
            <a:r>
              <a:rPr lang="en-US" altLang="en-US">
                <a:latin typeface="Arial" panose="020B0604020202020204" pitchFamily="34" charset="0"/>
              </a:rPr>
              <a:t>ION		F080			Interrupt ON</a:t>
            </a:r>
          </a:p>
          <a:p>
            <a:r>
              <a:rPr lang="en-US" altLang="en-US">
                <a:latin typeface="Arial" panose="020B0604020202020204" pitchFamily="34" charset="0"/>
              </a:rPr>
              <a:t>IOF		F040			Interrupt OFF</a:t>
            </a:r>
          </a:p>
          <a:p>
            <a:endParaRPr lang="en-US" altLang="en-US">
              <a:latin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xmlns="" id="{DE7B279A-34CC-447C-ABCC-3C702DDDB4AD}"/>
              </a:ext>
            </a:extLst>
          </p:cNvPr>
          <p:cNvSpPr>
            <a:spLocks noGrp="1"/>
          </p:cNvSpPr>
          <p:nvPr>
            <p:ph type="title"/>
          </p:nvPr>
        </p:nvSpPr>
        <p:spPr/>
        <p:txBody>
          <a:bodyPr/>
          <a:lstStyle/>
          <a:p>
            <a:pPr eaLnBrk="1" hangingPunct="1"/>
            <a:r>
              <a:rPr lang="en-US" altLang="en-US">
                <a:solidFill>
                  <a:srgbClr val="7B9899"/>
                </a:solidFill>
              </a:rPr>
              <a:t>Instruction Cycle</a:t>
            </a:r>
          </a:p>
        </p:txBody>
      </p:sp>
      <p:sp>
        <p:nvSpPr>
          <p:cNvPr id="47107" name="Rectangle 3">
            <a:extLst>
              <a:ext uri="{FF2B5EF4-FFF2-40B4-BE49-F238E27FC236}">
                <a16:creationId xmlns:a16="http://schemas.microsoft.com/office/drawing/2014/main" xmlns="" id="{9EF64F75-E595-467D-B8D9-238963408B58}"/>
              </a:ext>
            </a:extLst>
          </p:cNvPr>
          <p:cNvSpPr>
            <a:spLocks noGrp="1"/>
          </p:cNvSpPr>
          <p:nvPr>
            <p:ph sz="quarter" idx="1"/>
          </p:nvPr>
        </p:nvSpPr>
        <p:spPr>
          <a:xfrm>
            <a:off x="1825626" y="1527175"/>
            <a:ext cx="7394575" cy="4572000"/>
          </a:xfrm>
        </p:spPr>
        <p:txBody>
          <a:bodyPr/>
          <a:lstStyle/>
          <a:p>
            <a:pPr eaLnBrk="1" hangingPunct="1"/>
            <a:r>
              <a:rPr lang="en-US" altLang="en-US"/>
              <a:t>A program residing in memory unit of the </a:t>
            </a:r>
            <a:r>
              <a:rPr lang="en-US" altLang="en-US" u="sng"/>
              <a:t>computer consist of a sequence of instructions.</a:t>
            </a:r>
          </a:p>
          <a:p>
            <a:pPr eaLnBrk="1" hangingPunct="1"/>
            <a:endParaRPr lang="en-US" altLang="en-US"/>
          </a:p>
          <a:p>
            <a:pPr eaLnBrk="1" hangingPunct="1"/>
            <a:r>
              <a:rPr lang="en-US" altLang="en-US"/>
              <a:t>The program is executed  by going through a </a:t>
            </a:r>
            <a:r>
              <a:rPr lang="en-US" altLang="en-US" u="sng"/>
              <a:t>cycle</a:t>
            </a:r>
            <a:r>
              <a:rPr lang="en-US" altLang="en-US"/>
              <a:t> for each instruction.</a:t>
            </a:r>
          </a:p>
          <a:p>
            <a:pPr eaLnBrk="1" hangingPunct="1"/>
            <a:endParaRPr lang="en-US"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3" name="Rectangle 3">
            <a:extLst>
              <a:ext uri="{FF2B5EF4-FFF2-40B4-BE49-F238E27FC236}">
                <a16:creationId xmlns:a16="http://schemas.microsoft.com/office/drawing/2014/main" xmlns="" id="{0A76D642-304A-4E75-8C9D-8F5B3300688D}"/>
              </a:ext>
            </a:extLst>
          </p:cNvPr>
          <p:cNvSpPr>
            <a:spLocks noGrp="1" noChangeArrowheads="1"/>
          </p:cNvSpPr>
          <p:nvPr>
            <p:ph sz="quarter" idx="1"/>
          </p:nvPr>
        </p:nvSpPr>
        <p:spPr>
          <a:xfrm>
            <a:off x="2209800" y="1676401"/>
            <a:ext cx="8229600" cy="4530725"/>
          </a:xfrm>
        </p:spPr>
        <p:txBody>
          <a:bodyPr>
            <a:normAutofit/>
          </a:bodyPr>
          <a:lstStyle/>
          <a:p>
            <a:pPr marL="685800" indent="-685800">
              <a:lnSpc>
                <a:spcPct val="90000"/>
              </a:lnSpc>
              <a:buFont typeface="Wingdings 2"/>
              <a:buChar char=""/>
              <a:defRPr/>
            </a:pPr>
            <a:r>
              <a:rPr lang="en-US" dirty="0"/>
              <a:t>Each </a:t>
            </a:r>
            <a:r>
              <a:rPr lang="en-US" u="sng" dirty="0"/>
              <a:t>instruction cycle consist of the following phases</a:t>
            </a:r>
            <a:r>
              <a:rPr lang="en-US" dirty="0"/>
              <a:t>:</a:t>
            </a:r>
          </a:p>
          <a:p>
            <a:pPr marL="742950" indent="-742950">
              <a:lnSpc>
                <a:spcPct val="90000"/>
              </a:lnSpc>
              <a:buFont typeface="+mj-lt"/>
              <a:buAutoNum type="arabicPeriod"/>
              <a:defRPr/>
            </a:pPr>
            <a:r>
              <a:rPr lang="en-US" u="sng" dirty="0"/>
              <a:t>Fetch</a:t>
            </a:r>
            <a:r>
              <a:rPr lang="en-US" dirty="0"/>
              <a:t> an instruction from memory</a:t>
            </a:r>
          </a:p>
          <a:p>
            <a:pPr marL="685800" indent="-685800">
              <a:lnSpc>
                <a:spcPct val="90000"/>
              </a:lnSpc>
              <a:buClr>
                <a:srgbClr val="FF9999"/>
              </a:buClr>
              <a:buFont typeface="Wingdings" pitchFamily="2" charset="2"/>
              <a:buAutoNum type="arabicPeriod"/>
              <a:defRPr/>
            </a:pPr>
            <a:r>
              <a:rPr lang="en-US" u="sng" dirty="0"/>
              <a:t>Decode</a:t>
            </a:r>
            <a:r>
              <a:rPr lang="en-US" dirty="0"/>
              <a:t> the instruction</a:t>
            </a:r>
          </a:p>
          <a:p>
            <a:pPr marL="685800" indent="-685800">
              <a:lnSpc>
                <a:spcPct val="90000"/>
              </a:lnSpc>
              <a:buClr>
                <a:srgbClr val="FF9999"/>
              </a:buClr>
              <a:buFont typeface="Wingdings" pitchFamily="2" charset="2"/>
              <a:buAutoNum type="arabicPeriod"/>
              <a:defRPr/>
            </a:pPr>
            <a:r>
              <a:rPr lang="en-US" u="sng" dirty="0"/>
              <a:t>Read the effective address</a:t>
            </a:r>
            <a:r>
              <a:rPr lang="en-US" dirty="0"/>
              <a:t> from memory if the instruction has an indirect address.</a:t>
            </a:r>
          </a:p>
          <a:p>
            <a:pPr marL="685800" indent="-685800">
              <a:lnSpc>
                <a:spcPct val="90000"/>
              </a:lnSpc>
              <a:buClr>
                <a:srgbClr val="FF9999"/>
              </a:buClr>
              <a:buFont typeface="Wingdings" pitchFamily="2" charset="2"/>
              <a:buAutoNum type="arabicPeriod"/>
              <a:defRPr/>
            </a:pPr>
            <a:r>
              <a:rPr lang="en-US" u="sng" dirty="0"/>
              <a:t>Execute</a:t>
            </a:r>
            <a:r>
              <a:rPr lang="en-US" dirty="0"/>
              <a:t> the instruction.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r>
              <a:rPr lang="en-US">
                <a:solidFill>
                  <a:srgbClr val="7B9899"/>
                </a:solidFill>
              </a:rPr>
              <a:t>Control Unit of a basic Computer</a:t>
            </a:r>
          </a:p>
        </p:txBody>
      </p:sp>
      <p:sp>
        <p:nvSpPr>
          <p:cNvPr id="260099" name="Rectangle 3"/>
          <p:cNvSpPr>
            <a:spLocks noGrp="1" noChangeArrowheads="1"/>
          </p:cNvSpPr>
          <p:nvPr>
            <p:ph sz="quarter" idx="1"/>
          </p:nvPr>
        </p:nvSpPr>
        <p:spPr>
          <a:xfrm>
            <a:off x="609600" y="1892301"/>
            <a:ext cx="10972800" cy="3916363"/>
          </a:xfrm>
        </p:spPr>
        <p:txBody>
          <a:bodyPr>
            <a:normAutofit/>
          </a:bodyPr>
          <a:lstStyle/>
          <a:p>
            <a:pPr marL="274320" indent="-274320" eaLnBrk="1" fontAlgn="auto" hangingPunct="1">
              <a:spcAft>
                <a:spcPts val="0"/>
              </a:spcAft>
              <a:buFont typeface="Wingdings 2"/>
              <a:buChar char=""/>
              <a:defRPr/>
            </a:pPr>
            <a:r>
              <a:rPr lang="en-US" dirty="0"/>
              <a:t>The block diagram of a control unit is shown below.</a:t>
            </a:r>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r>
              <a:rPr lang="en-US" dirty="0"/>
              <a:t>It consist of two decoders (3x8 and 4x16), a sequence counter (SC), and a number of control logic gates.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p:cNvSpPr>
            <a:spLocks noChangeArrowheads="1"/>
          </p:cNvSpPr>
          <p:nvPr/>
        </p:nvSpPr>
        <p:spPr bwMode="auto">
          <a:xfrm>
            <a:off x="457200" y="381000"/>
            <a:ext cx="5994400" cy="457200"/>
          </a:xfrm>
          <a:prstGeom prst="rect">
            <a:avLst/>
          </a:prstGeom>
          <a:noFill/>
          <a:ln w="9525" algn="ctr">
            <a:solidFill>
              <a:schemeClr val="tx1"/>
            </a:solidFill>
            <a:miter lim="800000"/>
            <a:headEnd/>
            <a:tailEnd/>
          </a:ln>
        </p:spPr>
        <p:txBody>
          <a:bodyPr wrap="none" anchor="ctr"/>
          <a:lstStyle/>
          <a:p>
            <a:endParaRPr lang="en-US"/>
          </a:p>
        </p:txBody>
      </p:sp>
      <p:sp>
        <p:nvSpPr>
          <p:cNvPr id="119811" name="Line 8"/>
          <p:cNvSpPr>
            <a:spLocks noChangeShapeType="1"/>
          </p:cNvSpPr>
          <p:nvPr/>
        </p:nvSpPr>
        <p:spPr bwMode="auto">
          <a:xfrm>
            <a:off x="920751" y="381000"/>
            <a:ext cx="0" cy="457200"/>
          </a:xfrm>
          <a:prstGeom prst="line">
            <a:avLst/>
          </a:prstGeom>
          <a:noFill/>
          <a:ln w="9525">
            <a:solidFill>
              <a:schemeClr val="tx1"/>
            </a:solidFill>
            <a:round/>
            <a:headEnd/>
            <a:tailEnd/>
          </a:ln>
        </p:spPr>
        <p:txBody>
          <a:bodyPr/>
          <a:lstStyle/>
          <a:p>
            <a:endParaRPr lang="en-US"/>
          </a:p>
        </p:txBody>
      </p:sp>
      <p:sp>
        <p:nvSpPr>
          <p:cNvPr id="119812" name="Line 9"/>
          <p:cNvSpPr>
            <a:spLocks noChangeShapeType="1"/>
          </p:cNvSpPr>
          <p:nvPr/>
        </p:nvSpPr>
        <p:spPr bwMode="auto">
          <a:xfrm>
            <a:off x="3911600" y="381000"/>
            <a:ext cx="0" cy="457200"/>
          </a:xfrm>
          <a:prstGeom prst="line">
            <a:avLst/>
          </a:prstGeom>
          <a:noFill/>
          <a:ln w="9525">
            <a:solidFill>
              <a:schemeClr val="tx1"/>
            </a:solidFill>
            <a:round/>
            <a:headEnd/>
            <a:tailEnd/>
          </a:ln>
        </p:spPr>
        <p:txBody>
          <a:bodyPr/>
          <a:lstStyle/>
          <a:p>
            <a:endParaRPr lang="en-US"/>
          </a:p>
        </p:txBody>
      </p:sp>
      <p:sp>
        <p:nvSpPr>
          <p:cNvPr id="231436" name="Text Box 12"/>
          <p:cNvSpPr txBox="1">
            <a:spLocks noChangeArrowheads="1"/>
          </p:cNvSpPr>
          <p:nvPr/>
        </p:nvSpPr>
        <p:spPr bwMode="auto">
          <a:xfrm>
            <a:off x="336551" y="457201"/>
            <a:ext cx="450764" cy="369332"/>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15</a:t>
            </a:r>
          </a:p>
        </p:txBody>
      </p:sp>
      <p:sp>
        <p:nvSpPr>
          <p:cNvPr id="231437" name="Text Box 13"/>
          <p:cNvSpPr txBox="1">
            <a:spLocks noChangeArrowheads="1"/>
          </p:cNvSpPr>
          <p:nvPr/>
        </p:nvSpPr>
        <p:spPr bwMode="auto">
          <a:xfrm>
            <a:off x="1066800" y="457201"/>
            <a:ext cx="450764" cy="369332"/>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14</a:t>
            </a:r>
          </a:p>
        </p:txBody>
      </p:sp>
      <p:sp>
        <p:nvSpPr>
          <p:cNvPr id="231438" name="Text Box 14"/>
          <p:cNvSpPr txBox="1">
            <a:spLocks noChangeArrowheads="1"/>
          </p:cNvSpPr>
          <p:nvPr/>
        </p:nvSpPr>
        <p:spPr bwMode="auto">
          <a:xfrm>
            <a:off x="2082800" y="457201"/>
            <a:ext cx="450764" cy="369332"/>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13</a:t>
            </a:r>
          </a:p>
        </p:txBody>
      </p:sp>
      <p:sp>
        <p:nvSpPr>
          <p:cNvPr id="231439" name="Text Box 15"/>
          <p:cNvSpPr txBox="1">
            <a:spLocks noChangeArrowheads="1"/>
          </p:cNvSpPr>
          <p:nvPr/>
        </p:nvSpPr>
        <p:spPr bwMode="auto">
          <a:xfrm>
            <a:off x="3098800" y="457201"/>
            <a:ext cx="450764" cy="369332"/>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12</a:t>
            </a:r>
          </a:p>
        </p:txBody>
      </p:sp>
      <p:sp>
        <p:nvSpPr>
          <p:cNvPr id="231440" name="Text Box 16"/>
          <p:cNvSpPr txBox="1">
            <a:spLocks noChangeArrowheads="1"/>
          </p:cNvSpPr>
          <p:nvPr/>
        </p:nvSpPr>
        <p:spPr bwMode="auto">
          <a:xfrm>
            <a:off x="4419600" y="457201"/>
            <a:ext cx="1727200" cy="366713"/>
          </a:xfrm>
          <a:prstGeom prst="rect">
            <a:avLst/>
          </a:prstGeom>
          <a:noFill/>
          <a:ln w="9525" algn="ctr">
            <a:noFill/>
            <a:miter lim="800000"/>
            <a:headEnd/>
            <a:tailEnd/>
          </a:ln>
          <a:effectLst/>
        </p:spPr>
        <p:txBody>
          <a:bodyPr>
            <a:spAutoFit/>
          </a:bodyPr>
          <a:lstStyle/>
          <a:p>
            <a:pPr marL="342900" indent="-342900" algn="ctr"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11 - 0</a:t>
            </a:r>
          </a:p>
        </p:txBody>
      </p:sp>
      <p:sp>
        <p:nvSpPr>
          <p:cNvPr id="231441" name="Text Box 17"/>
          <p:cNvSpPr txBox="1">
            <a:spLocks noChangeArrowheads="1"/>
          </p:cNvSpPr>
          <p:nvPr/>
        </p:nvSpPr>
        <p:spPr bwMode="auto">
          <a:xfrm>
            <a:off x="1248834" y="26988"/>
            <a:ext cx="3983567" cy="336550"/>
          </a:xfrm>
          <a:prstGeom prst="rect">
            <a:avLst/>
          </a:prstGeom>
          <a:noFill/>
          <a:ln w="9525" algn="ctr">
            <a:noFill/>
            <a:miter lim="800000"/>
            <a:headEnd/>
            <a:tailEnd/>
          </a:ln>
          <a:effectLst/>
        </p:spPr>
        <p:txBody>
          <a:bodyPr>
            <a:spAutoFit/>
          </a:bodyPr>
          <a:lstStyle/>
          <a:p>
            <a:pPr marL="342900" indent="-342900" algn="ctr" eaLnBrk="1" hangingPunct="1">
              <a:spcBef>
                <a:spcPct val="20000"/>
              </a:spcBef>
              <a:buClr>
                <a:schemeClr val="hlink"/>
              </a:buClr>
              <a:buSzPct val="75000"/>
              <a:buFont typeface="Wingdings" pitchFamily="2" charset="2"/>
              <a:buNone/>
              <a:defRPr/>
            </a:pPr>
            <a:r>
              <a:rPr lang="en-US" sz="1600" b="1">
                <a:effectLst>
                  <a:outerShdw blurRad="38100" dist="38100" dir="2700000" algn="tl">
                    <a:srgbClr val="C0C0C0"/>
                  </a:outerShdw>
                </a:effectLst>
                <a:latin typeface="Batang" pitchFamily="18" charset="-127"/>
              </a:rPr>
              <a:t>Instruction Register (IR)</a:t>
            </a:r>
          </a:p>
        </p:txBody>
      </p:sp>
      <p:sp>
        <p:nvSpPr>
          <p:cNvPr id="119819" name="Line 18"/>
          <p:cNvSpPr>
            <a:spLocks noChangeShapeType="1"/>
          </p:cNvSpPr>
          <p:nvPr/>
        </p:nvSpPr>
        <p:spPr bwMode="auto">
          <a:xfrm>
            <a:off x="1473200" y="838200"/>
            <a:ext cx="0" cy="609600"/>
          </a:xfrm>
          <a:prstGeom prst="line">
            <a:avLst/>
          </a:prstGeom>
          <a:noFill/>
          <a:ln w="9525">
            <a:solidFill>
              <a:schemeClr val="tx1"/>
            </a:solidFill>
            <a:round/>
            <a:headEnd/>
            <a:tailEnd type="triangle" w="med" len="med"/>
          </a:ln>
        </p:spPr>
        <p:txBody>
          <a:bodyPr/>
          <a:lstStyle/>
          <a:p>
            <a:endParaRPr lang="en-US"/>
          </a:p>
        </p:txBody>
      </p:sp>
      <p:sp>
        <p:nvSpPr>
          <p:cNvPr id="119820" name="Line 19"/>
          <p:cNvSpPr>
            <a:spLocks noChangeShapeType="1"/>
          </p:cNvSpPr>
          <p:nvPr/>
        </p:nvSpPr>
        <p:spPr bwMode="auto">
          <a:xfrm>
            <a:off x="2387600" y="838200"/>
            <a:ext cx="0" cy="609600"/>
          </a:xfrm>
          <a:prstGeom prst="line">
            <a:avLst/>
          </a:prstGeom>
          <a:noFill/>
          <a:ln w="9525">
            <a:solidFill>
              <a:schemeClr val="tx1"/>
            </a:solidFill>
            <a:round/>
            <a:headEnd/>
            <a:tailEnd type="triangle" w="med" len="med"/>
          </a:ln>
        </p:spPr>
        <p:txBody>
          <a:bodyPr/>
          <a:lstStyle/>
          <a:p>
            <a:endParaRPr lang="en-US"/>
          </a:p>
        </p:txBody>
      </p:sp>
      <p:sp>
        <p:nvSpPr>
          <p:cNvPr id="119821" name="Line 20"/>
          <p:cNvSpPr>
            <a:spLocks noChangeShapeType="1"/>
          </p:cNvSpPr>
          <p:nvPr/>
        </p:nvSpPr>
        <p:spPr bwMode="auto">
          <a:xfrm>
            <a:off x="3378200" y="838200"/>
            <a:ext cx="0" cy="609600"/>
          </a:xfrm>
          <a:prstGeom prst="line">
            <a:avLst/>
          </a:prstGeom>
          <a:noFill/>
          <a:ln w="9525">
            <a:solidFill>
              <a:schemeClr val="tx1"/>
            </a:solidFill>
            <a:round/>
            <a:headEnd/>
            <a:tailEnd type="triangle" w="med" len="med"/>
          </a:ln>
        </p:spPr>
        <p:txBody>
          <a:bodyPr/>
          <a:lstStyle/>
          <a:p>
            <a:endParaRPr lang="en-US"/>
          </a:p>
        </p:txBody>
      </p:sp>
      <p:sp>
        <p:nvSpPr>
          <p:cNvPr id="119822" name="Rectangle 21"/>
          <p:cNvSpPr>
            <a:spLocks noChangeArrowheads="1"/>
          </p:cNvSpPr>
          <p:nvPr/>
        </p:nvSpPr>
        <p:spPr bwMode="auto">
          <a:xfrm>
            <a:off x="965200" y="1447800"/>
            <a:ext cx="3149600" cy="990600"/>
          </a:xfrm>
          <a:prstGeom prst="rect">
            <a:avLst/>
          </a:prstGeom>
          <a:solidFill>
            <a:srgbClr val="99CCFF"/>
          </a:solidFill>
          <a:ln w="9525" algn="ctr">
            <a:solidFill>
              <a:schemeClr val="tx1"/>
            </a:solidFill>
            <a:miter lim="800000"/>
            <a:headEnd/>
            <a:tailEnd/>
          </a:ln>
        </p:spPr>
        <p:txBody>
          <a:bodyPr wrap="none" anchor="ctr"/>
          <a:lstStyle/>
          <a:p>
            <a:endParaRPr lang="en-US"/>
          </a:p>
        </p:txBody>
      </p:sp>
      <p:sp>
        <p:nvSpPr>
          <p:cNvPr id="119823" name="Text Box 22"/>
          <p:cNvSpPr txBox="1">
            <a:spLocks noChangeArrowheads="1"/>
          </p:cNvSpPr>
          <p:nvPr/>
        </p:nvSpPr>
        <p:spPr bwMode="auto">
          <a:xfrm>
            <a:off x="3683000" y="2128838"/>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0</a:t>
            </a:r>
          </a:p>
        </p:txBody>
      </p:sp>
      <p:sp>
        <p:nvSpPr>
          <p:cNvPr id="119824" name="Text Box 23"/>
          <p:cNvSpPr txBox="1">
            <a:spLocks noChangeArrowheads="1"/>
          </p:cNvSpPr>
          <p:nvPr/>
        </p:nvSpPr>
        <p:spPr bwMode="auto">
          <a:xfrm>
            <a:off x="3403600" y="2128838"/>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1</a:t>
            </a:r>
          </a:p>
        </p:txBody>
      </p:sp>
      <p:sp>
        <p:nvSpPr>
          <p:cNvPr id="119825" name="Text Box 24"/>
          <p:cNvSpPr txBox="1">
            <a:spLocks noChangeArrowheads="1"/>
          </p:cNvSpPr>
          <p:nvPr/>
        </p:nvSpPr>
        <p:spPr bwMode="auto">
          <a:xfrm>
            <a:off x="3098800" y="2128838"/>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2</a:t>
            </a:r>
          </a:p>
        </p:txBody>
      </p:sp>
      <p:sp>
        <p:nvSpPr>
          <p:cNvPr id="119826" name="Text Box 25"/>
          <p:cNvSpPr txBox="1">
            <a:spLocks noChangeArrowheads="1"/>
          </p:cNvSpPr>
          <p:nvPr/>
        </p:nvSpPr>
        <p:spPr bwMode="auto">
          <a:xfrm>
            <a:off x="2692400" y="2128838"/>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3</a:t>
            </a:r>
          </a:p>
        </p:txBody>
      </p:sp>
      <p:sp>
        <p:nvSpPr>
          <p:cNvPr id="119827" name="Text Box 26"/>
          <p:cNvSpPr txBox="1">
            <a:spLocks noChangeArrowheads="1"/>
          </p:cNvSpPr>
          <p:nvPr/>
        </p:nvSpPr>
        <p:spPr bwMode="auto">
          <a:xfrm>
            <a:off x="2286000" y="2128838"/>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4</a:t>
            </a:r>
          </a:p>
        </p:txBody>
      </p:sp>
      <p:sp>
        <p:nvSpPr>
          <p:cNvPr id="119828" name="Text Box 27"/>
          <p:cNvSpPr txBox="1">
            <a:spLocks noChangeArrowheads="1"/>
          </p:cNvSpPr>
          <p:nvPr/>
        </p:nvSpPr>
        <p:spPr bwMode="auto">
          <a:xfrm>
            <a:off x="1879600" y="2128838"/>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5</a:t>
            </a:r>
          </a:p>
        </p:txBody>
      </p:sp>
      <p:sp>
        <p:nvSpPr>
          <p:cNvPr id="119829" name="Text Box 28"/>
          <p:cNvSpPr txBox="1">
            <a:spLocks noChangeArrowheads="1"/>
          </p:cNvSpPr>
          <p:nvPr/>
        </p:nvSpPr>
        <p:spPr bwMode="auto">
          <a:xfrm>
            <a:off x="1473200" y="2128838"/>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6</a:t>
            </a:r>
          </a:p>
        </p:txBody>
      </p:sp>
      <p:sp>
        <p:nvSpPr>
          <p:cNvPr id="119830" name="Text Box 29"/>
          <p:cNvSpPr txBox="1">
            <a:spLocks noChangeArrowheads="1"/>
          </p:cNvSpPr>
          <p:nvPr/>
        </p:nvSpPr>
        <p:spPr bwMode="auto">
          <a:xfrm>
            <a:off x="1066800" y="2128838"/>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7</a:t>
            </a:r>
          </a:p>
        </p:txBody>
      </p:sp>
      <p:sp>
        <p:nvSpPr>
          <p:cNvPr id="119831" name="Line 30"/>
          <p:cNvSpPr>
            <a:spLocks noChangeShapeType="1"/>
          </p:cNvSpPr>
          <p:nvPr/>
        </p:nvSpPr>
        <p:spPr bwMode="auto">
          <a:xfrm>
            <a:off x="1676400" y="2438400"/>
            <a:ext cx="0" cy="381000"/>
          </a:xfrm>
          <a:prstGeom prst="line">
            <a:avLst/>
          </a:prstGeom>
          <a:noFill/>
          <a:ln w="9525">
            <a:solidFill>
              <a:schemeClr val="tx1"/>
            </a:solidFill>
            <a:round/>
            <a:headEnd/>
            <a:tailEnd type="triangle" w="med" len="med"/>
          </a:ln>
        </p:spPr>
        <p:txBody>
          <a:bodyPr/>
          <a:lstStyle/>
          <a:p>
            <a:endParaRPr lang="en-US"/>
          </a:p>
        </p:txBody>
      </p:sp>
      <p:sp>
        <p:nvSpPr>
          <p:cNvPr id="119832" name="Line 31"/>
          <p:cNvSpPr>
            <a:spLocks noChangeShapeType="1"/>
          </p:cNvSpPr>
          <p:nvPr/>
        </p:nvSpPr>
        <p:spPr bwMode="auto">
          <a:xfrm>
            <a:off x="2082800" y="2438400"/>
            <a:ext cx="0" cy="381000"/>
          </a:xfrm>
          <a:prstGeom prst="line">
            <a:avLst/>
          </a:prstGeom>
          <a:noFill/>
          <a:ln w="9525">
            <a:solidFill>
              <a:schemeClr val="tx1"/>
            </a:solidFill>
            <a:round/>
            <a:headEnd/>
            <a:tailEnd type="triangle" w="med" len="med"/>
          </a:ln>
        </p:spPr>
        <p:txBody>
          <a:bodyPr/>
          <a:lstStyle/>
          <a:p>
            <a:endParaRPr lang="en-US"/>
          </a:p>
        </p:txBody>
      </p:sp>
      <p:sp>
        <p:nvSpPr>
          <p:cNvPr id="119833" name="Line 32"/>
          <p:cNvSpPr>
            <a:spLocks noChangeShapeType="1"/>
          </p:cNvSpPr>
          <p:nvPr/>
        </p:nvSpPr>
        <p:spPr bwMode="auto">
          <a:xfrm>
            <a:off x="2489200" y="2438400"/>
            <a:ext cx="0" cy="381000"/>
          </a:xfrm>
          <a:prstGeom prst="line">
            <a:avLst/>
          </a:prstGeom>
          <a:noFill/>
          <a:ln w="9525">
            <a:solidFill>
              <a:schemeClr val="tx1"/>
            </a:solidFill>
            <a:round/>
            <a:headEnd/>
            <a:tailEnd type="triangle" w="med" len="med"/>
          </a:ln>
        </p:spPr>
        <p:txBody>
          <a:bodyPr/>
          <a:lstStyle/>
          <a:p>
            <a:endParaRPr lang="en-US"/>
          </a:p>
        </p:txBody>
      </p:sp>
      <p:sp>
        <p:nvSpPr>
          <p:cNvPr id="119834" name="Line 33"/>
          <p:cNvSpPr>
            <a:spLocks noChangeShapeType="1"/>
          </p:cNvSpPr>
          <p:nvPr/>
        </p:nvSpPr>
        <p:spPr bwMode="auto">
          <a:xfrm>
            <a:off x="2895600" y="2438400"/>
            <a:ext cx="0" cy="381000"/>
          </a:xfrm>
          <a:prstGeom prst="line">
            <a:avLst/>
          </a:prstGeom>
          <a:noFill/>
          <a:ln w="9525">
            <a:solidFill>
              <a:schemeClr val="tx1"/>
            </a:solidFill>
            <a:round/>
            <a:headEnd/>
            <a:tailEnd type="triangle" w="med" len="med"/>
          </a:ln>
        </p:spPr>
        <p:txBody>
          <a:bodyPr/>
          <a:lstStyle/>
          <a:p>
            <a:endParaRPr lang="en-US"/>
          </a:p>
        </p:txBody>
      </p:sp>
      <p:sp>
        <p:nvSpPr>
          <p:cNvPr id="119835" name="Line 34"/>
          <p:cNvSpPr>
            <a:spLocks noChangeShapeType="1"/>
          </p:cNvSpPr>
          <p:nvPr/>
        </p:nvSpPr>
        <p:spPr bwMode="auto">
          <a:xfrm>
            <a:off x="3302000" y="2438400"/>
            <a:ext cx="0" cy="381000"/>
          </a:xfrm>
          <a:prstGeom prst="line">
            <a:avLst/>
          </a:prstGeom>
          <a:noFill/>
          <a:ln w="9525">
            <a:solidFill>
              <a:schemeClr val="tx1"/>
            </a:solidFill>
            <a:round/>
            <a:headEnd/>
            <a:tailEnd type="triangle" w="med" len="med"/>
          </a:ln>
        </p:spPr>
        <p:txBody>
          <a:bodyPr/>
          <a:lstStyle/>
          <a:p>
            <a:endParaRPr lang="en-US"/>
          </a:p>
        </p:txBody>
      </p:sp>
      <p:sp>
        <p:nvSpPr>
          <p:cNvPr id="119836" name="Line 35"/>
          <p:cNvSpPr>
            <a:spLocks noChangeShapeType="1"/>
          </p:cNvSpPr>
          <p:nvPr/>
        </p:nvSpPr>
        <p:spPr bwMode="auto">
          <a:xfrm>
            <a:off x="3606800" y="2438400"/>
            <a:ext cx="0" cy="381000"/>
          </a:xfrm>
          <a:prstGeom prst="line">
            <a:avLst/>
          </a:prstGeom>
          <a:noFill/>
          <a:ln w="9525">
            <a:solidFill>
              <a:schemeClr val="tx1"/>
            </a:solidFill>
            <a:round/>
            <a:headEnd/>
            <a:tailEnd type="triangle" w="med" len="med"/>
          </a:ln>
        </p:spPr>
        <p:txBody>
          <a:bodyPr/>
          <a:lstStyle/>
          <a:p>
            <a:endParaRPr lang="en-US"/>
          </a:p>
        </p:txBody>
      </p:sp>
      <p:sp>
        <p:nvSpPr>
          <p:cNvPr id="119837" name="Line 36"/>
          <p:cNvSpPr>
            <a:spLocks noChangeShapeType="1"/>
          </p:cNvSpPr>
          <p:nvPr/>
        </p:nvSpPr>
        <p:spPr bwMode="auto">
          <a:xfrm>
            <a:off x="1270000" y="2438400"/>
            <a:ext cx="0" cy="838200"/>
          </a:xfrm>
          <a:prstGeom prst="line">
            <a:avLst/>
          </a:prstGeom>
          <a:noFill/>
          <a:ln w="9525">
            <a:solidFill>
              <a:schemeClr val="tx1"/>
            </a:solidFill>
            <a:round/>
            <a:headEnd/>
            <a:tailEnd/>
          </a:ln>
        </p:spPr>
        <p:txBody>
          <a:bodyPr/>
          <a:lstStyle/>
          <a:p>
            <a:endParaRPr lang="en-US"/>
          </a:p>
        </p:txBody>
      </p:sp>
      <p:sp>
        <p:nvSpPr>
          <p:cNvPr id="119838" name="Rectangle 37"/>
          <p:cNvSpPr>
            <a:spLocks noChangeArrowheads="1"/>
          </p:cNvSpPr>
          <p:nvPr/>
        </p:nvSpPr>
        <p:spPr bwMode="auto">
          <a:xfrm>
            <a:off x="6553200" y="1143000"/>
            <a:ext cx="1930400" cy="3581400"/>
          </a:xfrm>
          <a:prstGeom prst="rect">
            <a:avLst/>
          </a:prstGeom>
          <a:solidFill>
            <a:srgbClr val="99CCFF"/>
          </a:solidFill>
          <a:ln w="9525" algn="ctr">
            <a:solidFill>
              <a:schemeClr val="tx1"/>
            </a:solidFill>
            <a:miter lim="800000"/>
            <a:headEnd/>
            <a:tailEnd/>
          </a:ln>
        </p:spPr>
        <p:txBody>
          <a:bodyPr wrap="none" anchor="ctr"/>
          <a:lstStyle/>
          <a:p>
            <a:endParaRPr lang="en-US"/>
          </a:p>
        </p:txBody>
      </p:sp>
      <p:sp>
        <p:nvSpPr>
          <p:cNvPr id="119839" name="Line 38"/>
          <p:cNvSpPr>
            <a:spLocks noChangeShapeType="1"/>
          </p:cNvSpPr>
          <p:nvPr/>
        </p:nvSpPr>
        <p:spPr bwMode="auto">
          <a:xfrm>
            <a:off x="5232400" y="838200"/>
            <a:ext cx="0" cy="990600"/>
          </a:xfrm>
          <a:prstGeom prst="line">
            <a:avLst/>
          </a:prstGeom>
          <a:noFill/>
          <a:ln w="9525">
            <a:solidFill>
              <a:schemeClr val="tx1"/>
            </a:solidFill>
            <a:round/>
            <a:headEnd/>
            <a:tailEnd/>
          </a:ln>
        </p:spPr>
        <p:txBody>
          <a:bodyPr/>
          <a:lstStyle/>
          <a:p>
            <a:endParaRPr lang="en-US"/>
          </a:p>
        </p:txBody>
      </p:sp>
      <p:sp>
        <p:nvSpPr>
          <p:cNvPr id="119840" name="Line 39"/>
          <p:cNvSpPr>
            <a:spLocks noChangeShapeType="1"/>
          </p:cNvSpPr>
          <p:nvPr/>
        </p:nvSpPr>
        <p:spPr bwMode="auto">
          <a:xfrm>
            <a:off x="5232400" y="1828800"/>
            <a:ext cx="1320800" cy="0"/>
          </a:xfrm>
          <a:prstGeom prst="line">
            <a:avLst/>
          </a:prstGeom>
          <a:noFill/>
          <a:ln w="9525">
            <a:solidFill>
              <a:schemeClr val="tx1"/>
            </a:solidFill>
            <a:round/>
            <a:headEnd/>
            <a:tailEnd type="triangle" w="med" len="med"/>
          </a:ln>
        </p:spPr>
        <p:txBody>
          <a:bodyPr/>
          <a:lstStyle/>
          <a:p>
            <a:endParaRPr lang="en-US"/>
          </a:p>
        </p:txBody>
      </p:sp>
      <p:sp>
        <p:nvSpPr>
          <p:cNvPr id="119841" name="Line 40"/>
          <p:cNvSpPr>
            <a:spLocks noChangeShapeType="1"/>
          </p:cNvSpPr>
          <p:nvPr/>
        </p:nvSpPr>
        <p:spPr bwMode="auto">
          <a:xfrm>
            <a:off x="1270000" y="2438400"/>
            <a:ext cx="0" cy="914400"/>
          </a:xfrm>
          <a:prstGeom prst="line">
            <a:avLst/>
          </a:prstGeom>
          <a:noFill/>
          <a:ln w="9525">
            <a:solidFill>
              <a:schemeClr val="tx1"/>
            </a:solidFill>
            <a:round/>
            <a:headEnd/>
            <a:tailEnd/>
          </a:ln>
        </p:spPr>
        <p:txBody>
          <a:bodyPr/>
          <a:lstStyle/>
          <a:p>
            <a:endParaRPr lang="en-US"/>
          </a:p>
        </p:txBody>
      </p:sp>
      <p:sp>
        <p:nvSpPr>
          <p:cNvPr id="119842" name="Line 41"/>
          <p:cNvSpPr>
            <a:spLocks noChangeShapeType="1"/>
          </p:cNvSpPr>
          <p:nvPr/>
        </p:nvSpPr>
        <p:spPr bwMode="auto">
          <a:xfrm>
            <a:off x="3911600" y="2438400"/>
            <a:ext cx="0" cy="381000"/>
          </a:xfrm>
          <a:prstGeom prst="line">
            <a:avLst/>
          </a:prstGeom>
          <a:noFill/>
          <a:ln w="9525">
            <a:solidFill>
              <a:schemeClr val="tx1"/>
            </a:solidFill>
            <a:round/>
            <a:headEnd/>
            <a:tailEnd/>
          </a:ln>
        </p:spPr>
        <p:txBody>
          <a:bodyPr/>
          <a:lstStyle/>
          <a:p>
            <a:endParaRPr lang="en-US"/>
          </a:p>
        </p:txBody>
      </p:sp>
      <p:sp>
        <p:nvSpPr>
          <p:cNvPr id="119843" name="Line 42"/>
          <p:cNvSpPr>
            <a:spLocks noChangeShapeType="1"/>
          </p:cNvSpPr>
          <p:nvPr/>
        </p:nvSpPr>
        <p:spPr bwMode="auto">
          <a:xfrm>
            <a:off x="3911600" y="2819400"/>
            <a:ext cx="2641600" cy="0"/>
          </a:xfrm>
          <a:prstGeom prst="line">
            <a:avLst/>
          </a:prstGeom>
          <a:noFill/>
          <a:ln w="9525">
            <a:solidFill>
              <a:schemeClr val="tx1"/>
            </a:solidFill>
            <a:round/>
            <a:headEnd/>
            <a:tailEnd type="triangle" w="med" len="med"/>
          </a:ln>
        </p:spPr>
        <p:txBody>
          <a:bodyPr/>
          <a:lstStyle/>
          <a:p>
            <a:endParaRPr lang="en-US"/>
          </a:p>
        </p:txBody>
      </p:sp>
      <p:sp>
        <p:nvSpPr>
          <p:cNvPr id="119844" name="Line 43"/>
          <p:cNvSpPr>
            <a:spLocks noChangeShapeType="1"/>
          </p:cNvSpPr>
          <p:nvPr/>
        </p:nvSpPr>
        <p:spPr bwMode="auto">
          <a:xfrm>
            <a:off x="1270000" y="3352800"/>
            <a:ext cx="5283200" cy="0"/>
          </a:xfrm>
          <a:prstGeom prst="line">
            <a:avLst/>
          </a:prstGeom>
          <a:noFill/>
          <a:ln w="9525">
            <a:solidFill>
              <a:schemeClr val="tx1"/>
            </a:solidFill>
            <a:round/>
            <a:headEnd/>
            <a:tailEnd type="triangle" w="med" len="med"/>
          </a:ln>
        </p:spPr>
        <p:txBody>
          <a:bodyPr/>
          <a:lstStyle/>
          <a:p>
            <a:endParaRPr lang="en-US"/>
          </a:p>
        </p:txBody>
      </p:sp>
      <p:sp>
        <p:nvSpPr>
          <p:cNvPr id="231468" name="Text Box 44"/>
          <p:cNvSpPr txBox="1">
            <a:spLocks noChangeArrowheads="1"/>
          </p:cNvSpPr>
          <p:nvPr/>
        </p:nvSpPr>
        <p:spPr bwMode="auto">
          <a:xfrm>
            <a:off x="4906433" y="2384426"/>
            <a:ext cx="445956" cy="369332"/>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D</a:t>
            </a:r>
            <a:r>
              <a:rPr lang="en-US" b="1" baseline="-25000">
                <a:effectLst>
                  <a:outerShdw blurRad="38100" dist="38100" dir="2700000" algn="tl">
                    <a:srgbClr val="C0C0C0"/>
                  </a:outerShdw>
                </a:effectLst>
                <a:latin typeface="Batang" pitchFamily="18" charset="-127"/>
              </a:rPr>
              <a:t>0</a:t>
            </a:r>
          </a:p>
        </p:txBody>
      </p:sp>
      <p:sp>
        <p:nvSpPr>
          <p:cNvPr id="231469" name="Text Box 45"/>
          <p:cNvSpPr txBox="1">
            <a:spLocks noChangeArrowheads="1"/>
          </p:cNvSpPr>
          <p:nvPr/>
        </p:nvSpPr>
        <p:spPr bwMode="auto">
          <a:xfrm>
            <a:off x="4906433" y="3000376"/>
            <a:ext cx="445956" cy="369332"/>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D</a:t>
            </a:r>
            <a:r>
              <a:rPr lang="en-US" b="1" baseline="-25000">
                <a:effectLst>
                  <a:outerShdw blurRad="38100" dist="38100" dir="2700000" algn="tl">
                    <a:srgbClr val="C0C0C0"/>
                  </a:outerShdw>
                </a:effectLst>
                <a:latin typeface="Batang" pitchFamily="18" charset="-127"/>
              </a:rPr>
              <a:t>7</a:t>
            </a:r>
          </a:p>
        </p:txBody>
      </p:sp>
      <p:sp>
        <p:nvSpPr>
          <p:cNvPr id="119847" name="Oval 47"/>
          <p:cNvSpPr>
            <a:spLocks noChangeArrowheads="1"/>
          </p:cNvSpPr>
          <p:nvPr/>
        </p:nvSpPr>
        <p:spPr bwMode="auto">
          <a:xfrm>
            <a:off x="5740400" y="2895600"/>
            <a:ext cx="101600" cy="76200"/>
          </a:xfrm>
          <a:prstGeom prst="ellipse">
            <a:avLst/>
          </a:prstGeom>
          <a:solidFill>
            <a:schemeClr val="tx2"/>
          </a:solidFill>
          <a:ln w="9525" algn="ctr">
            <a:noFill/>
            <a:round/>
            <a:headEnd/>
            <a:tailEnd/>
          </a:ln>
        </p:spPr>
        <p:txBody>
          <a:bodyPr wrap="none" anchor="ctr"/>
          <a:lstStyle/>
          <a:p>
            <a:endParaRPr lang="en-US"/>
          </a:p>
        </p:txBody>
      </p:sp>
      <p:sp>
        <p:nvSpPr>
          <p:cNvPr id="119848" name="Oval 48"/>
          <p:cNvSpPr>
            <a:spLocks noChangeArrowheads="1"/>
          </p:cNvSpPr>
          <p:nvPr/>
        </p:nvSpPr>
        <p:spPr bwMode="auto">
          <a:xfrm>
            <a:off x="5740400" y="3048000"/>
            <a:ext cx="101600" cy="76200"/>
          </a:xfrm>
          <a:prstGeom prst="ellipse">
            <a:avLst/>
          </a:prstGeom>
          <a:solidFill>
            <a:schemeClr val="tx2"/>
          </a:solidFill>
          <a:ln w="9525" algn="ctr">
            <a:noFill/>
            <a:round/>
            <a:headEnd/>
            <a:tailEnd/>
          </a:ln>
        </p:spPr>
        <p:txBody>
          <a:bodyPr wrap="none" anchor="ctr"/>
          <a:lstStyle/>
          <a:p>
            <a:endParaRPr lang="en-US"/>
          </a:p>
        </p:txBody>
      </p:sp>
      <p:sp>
        <p:nvSpPr>
          <p:cNvPr id="119849" name="Oval 49"/>
          <p:cNvSpPr>
            <a:spLocks noChangeArrowheads="1"/>
          </p:cNvSpPr>
          <p:nvPr/>
        </p:nvSpPr>
        <p:spPr bwMode="auto">
          <a:xfrm>
            <a:off x="5740400" y="3200400"/>
            <a:ext cx="101600" cy="76200"/>
          </a:xfrm>
          <a:prstGeom prst="ellipse">
            <a:avLst/>
          </a:prstGeom>
          <a:solidFill>
            <a:schemeClr val="tx2"/>
          </a:solidFill>
          <a:ln w="9525" algn="ctr">
            <a:noFill/>
            <a:round/>
            <a:headEnd/>
            <a:tailEnd/>
          </a:ln>
        </p:spPr>
        <p:txBody>
          <a:bodyPr wrap="none" anchor="ctr"/>
          <a:lstStyle/>
          <a:p>
            <a:endParaRPr lang="en-US"/>
          </a:p>
        </p:txBody>
      </p:sp>
      <p:sp>
        <p:nvSpPr>
          <p:cNvPr id="119850" name="Text Box 50"/>
          <p:cNvSpPr txBox="1">
            <a:spLocks noChangeArrowheads="1"/>
          </p:cNvSpPr>
          <p:nvPr/>
        </p:nvSpPr>
        <p:spPr bwMode="auto">
          <a:xfrm>
            <a:off x="1824567" y="1600200"/>
            <a:ext cx="877163" cy="566309"/>
          </a:xfrm>
          <a:prstGeom prst="rect">
            <a:avLst/>
          </a:prstGeom>
          <a:noFill/>
          <a:ln w="9525" algn="ctr">
            <a:noFill/>
            <a:miter lim="800000"/>
            <a:headEnd/>
            <a:tailEnd/>
          </a:ln>
        </p:spPr>
        <p:txBody>
          <a:bodyPr wrap="none">
            <a:spAutoFit/>
          </a:bodyPr>
          <a:lstStyle/>
          <a:p>
            <a:pPr marL="342900" indent="-342900" algn="ctr" eaLnBrk="1" hangingPunct="1">
              <a:spcBef>
                <a:spcPct val="20000"/>
              </a:spcBef>
              <a:buClr>
                <a:schemeClr val="hlink"/>
              </a:buClr>
              <a:buSzPct val="75000"/>
              <a:buFont typeface="Wingdings" pitchFamily="2" charset="2"/>
              <a:buNone/>
            </a:pPr>
            <a:r>
              <a:rPr lang="en-US" sz="1400" b="1">
                <a:solidFill>
                  <a:srgbClr val="0000FF"/>
                </a:solidFill>
                <a:latin typeface="Batang" pitchFamily="18" charset="-127"/>
              </a:rPr>
              <a:t>3 x 8 </a:t>
            </a:r>
          </a:p>
          <a:p>
            <a:pPr marL="342900" indent="-342900" algn="ctr" eaLnBrk="1" hangingPunct="1">
              <a:spcBef>
                <a:spcPct val="20000"/>
              </a:spcBef>
              <a:buClr>
                <a:schemeClr val="hlink"/>
              </a:buClr>
              <a:buSzPct val="75000"/>
              <a:buFont typeface="Wingdings" pitchFamily="2" charset="2"/>
              <a:buNone/>
            </a:pPr>
            <a:r>
              <a:rPr lang="en-US" sz="1400" b="1">
                <a:solidFill>
                  <a:srgbClr val="0000FF"/>
                </a:solidFill>
                <a:latin typeface="Batang" pitchFamily="18" charset="-127"/>
              </a:rPr>
              <a:t>decoder</a:t>
            </a:r>
          </a:p>
        </p:txBody>
      </p:sp>
      <p:sp>
        <p:nvSpPr>
          <p:cNvPr id="231475" name="Text Box 51"/>
          <p:cNvSpPr txBox="1">
            <a:spLocks noChangeArrowheads="1"/>
          </p:cNvSpPr>
          <p:nvPr/>
        </p:nvSpPr>
        <p:spPr bwMode="auto">
          <a:xfrm>
            <a:off x="2772834" y="4684713"/>
            <a:ext cx="184731" cy="230832"/>
          </a:xfrm>
          <a:prstGeom prst="rect">
            <a:avLst/>
          </a:prstGeom>
          <a:solidFill>
            <a:schemeClr val="bg1"/>
          </a:solid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endParaRPr lang="en-US" sz="900" b="1">
              <a:solidFill>
                <a:srgbClr val="0000FF"/>
              </a:solidFill>
              <a:effectLst>
                <a:outerShdw blurRad="38100" dist="38100" dir="2700000" algn="tl">
                  <a:srgbClr val="C0C0C0"/>
                </a:outerShdw>
              </a:effectLst>
              <a:latin typeface="Batang" pitchFamily="18" charset="-127"/>
            </a:endParaRPr>
          </a:p>
        </p:txBody>
      </p:sp>
      <p:sp>
        <p:nvSpPr>
          <p:cNvPr id="119852" name="Text Box 52"/>
          <p:cNvSpPr txBox="1">
            <a:spLocks noChangeArrowheads="1"/>
          </p:cNvSpPr>
          <p:nvPr/>
        </p:nvSpPr>
        <p:spPr bwMode="auto">
          <a:xfrm>
            <a:off x="6885517" y="2286001"/>
            <a:ext cx="980332" cy="929485"/>
          </a:xfrm>
          <a:prstGeom prst="rect">
            <a:avLst/>
          </a:prstGeom>
          <a:noFill/>
          <a:ln w="9525" algn="ctr">
            <a:noFill/>
            <a:miter lim="800000"/>
            <a:headEnd/>
            <a:tailEnd/>
          </a:ln>
        </p:spPr>
        <p:txBody>
          <a:bodyPr wrap="none">
            <a:spAutoFit/>
          </a:bodyPr>
          <a:lstStyle/>
          <a:p>
            <a:pPr marL="342900" indent="-342900" algn="ctr"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Control </a:t>
            </a:r>
          </a:p>
          <a:p>
            <a:pPr marL="342900" indent="-342900" algn="ctr"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logic</a:t>
            </a:r>
          </a:p>
          <a:p>
            <a:pPr marL="342900" indent="-342900" algn="ctr"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gates</a:t>
            </a:r>
          </a:p>
        </p:txBody>
      </p:sp>
      <p:sp>
        <p:nvSpPr>
          <p:cNvPr id="119853" name="Line 53"/>
          <p:cNvSpPr>
            <a:spLocks noChangeShapeType="1"/>
          </p:cNvSpPr>
          <p:nvPr/>
        </p:nvSpPr>
        <p:spPr bwMode="auto">
          <a:xfrm>
            <a:off x="660400" y="838200"/>
            <a:ext cx="0" cy="1752600"/>
          </a:xfrm>
          <a:prstGeom prst="line">
            <a:avLst/>
          </a:prstGeom>
          <a:noFill/>
          <a:ln w="9525">
            <a:solidFill>
              <a:schemeClr val="tx1"/>
            </a:solidFill>
            <a:round/>
            <a:headEnd/>
            <a:tailEnd type="triangle" w="med" len="med"/>
          </a:ln>
        </p:spPr>
        <p:txBody>
          <a:bodyPr/>
          <a:lstStyle/>
          <a:p>
            <a:endParaRPr lang="en-US"/>
          </a:p>
        </p:txBody>
      </p:sp>
      <p:sp>
        <p:nvSpPr>
          <p:cNvPr id="119854" name="Rectangle 54"/>
          <p:cNvSpPr>
            <a:spLocks noChangeArrowheads="1"/>
          </p:cNvSpPr>
          <p:nvPr/>
        </p:nvSpPr>
        <p:spPr bwMode="auto">
          <a:xfrm>
            <a:off x="457200" y="2590800"/>
            <a:ext cx="508000" cy="533400"/>
          </a:xfrm>
          <a:prstGeom prst="rect">
            <a:avLst/>
          </a:prstGeom>
          <a:solidFill>
            <a:srgbClr val="99CCFF"/>
          </a:solidFill>
          <a:ln w="9525" algn="ctr">
            <a:solidFill>
              <a:schemeClr val="tx1"/>
            </a:solidFill>
            <a:miter lim="800000"/>
            <a:headEnd/>
            <a:tailEnd/>
          </a:ln>
        </p:spPr>
        <p:txBody>
          <a:bodyPr wrap="none" anchor="ctr"/>
          <a:lstStyle/>
          <a:p>
            <a:endParaRPr lang="en-US"/>
          </a:p>
        </p:txBody>
      </p:sp>
      <p:sp>
        <p:nvSpPr>
          <p:cNvPr id="119855" name="Text Box 55"/>
          <p:cNvSpPr txBox="1">
            <a:spLocks noChangeArrowheads="1"/>
          </p:cNvSpPr>
          <p:nvPr/>
        </p:nvSpPr>
        <p:spPr bwMode="auto">
          <a:xfrm>
            <a:off x="493185" y="2668588"/>
            <a:ext cx="248786"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I</a:t>
            </a:r>
          </a:p>
        </p:txBody>
      </p:sp>
      <p:sp>
        <p:nvSpPr>
          <p:cNvPr id="119856" name="Line 56"/>
          <p:cNvSpPr>
            <a:spLocks noChangeShapeType="1"/>
          </p:cNvSpPr>
          <p:nvPr/>
        </p:nvSpPr>
        <p:spPr bwMode="auto">
          <a:xfrm>
            <a:off x="762000" y="3124200"/>
            <a:ext cx="0" cy="533400"/>
          </a:xfrm>
          <a:prstGeom prst="line">
            <a:avLst/>
          </a:prstGeom>
          <a:noFill/>
          <a:ln w="9525">
            <a:solidFill>
              <a:schemeClr val="tx1"/>
            </a:solidFill>
            <a:round/>
            <a:headEnd/>
            <a:tailEnd/>
          </a:ln>
        </p:spPr>
        <p:txBody>
          <a:bodyPr/>
          <a:lstStyle/>
          <a:p>
            <a:endParaRPr lang="en-US"/>
          </a:p>
        </p:txBody>
      </p:sp>
      <p:sp>
        <p:nvSpPr>
          <p:cNvPr id="119857" name="Line 59"/>
          <p:cNvSpPr>
            <a:spLocks noChangeShapeType="1"/>
          </p:cNvSpPr>
          <p:nvPr/>
        </p:nvSpPr>
        <p:spPr bwMode="auto">
          <a:xfrm>
            <a:off x="762000" y="3657600"/>
            <a:ext cx="5791200" cy="0"/>
          </a:xfrm>
          <a:prstGeom prst="line">
            <a:avLst/>
          </a:prstGeom>
          <a:noFill/>
          <a:ln w="9525">
            <a:solidFill>
              <a:schemeClr val="tx1"/>
            </a:solidFill>
            <a:round/>
            <a:headEnd/>
            <a:tailEnd type="triangle" w="med" len="med"/>
          </a:ln>
        </p:spPr>
        <p:txBody>
          <a:bodyPr/>
          <a:lstStyle/>
          <a:p>
            <a:endParaRPr lang="en-US"/>
          </a:p>
        </p:txBody>
      </p:sp>
      <p:sp>
        <p:nvSpPr>
          <p:cNvPr id="119858" name="Rectangle 60"/>
          <p:cNvSpPr>
            <a:spLocks noChangeArrowheads="1"/>
          </p:cNvSpPr>
          <p:nvPr/>
        </p:nvSpPr>
        <p:spPr bwMode="auto">
          <a:xfrm>
            <a:off x="965200" y="4695825"/>
            <a:ext cx="3149600" cy="990600"/>
          </a:xfrm>
          <a:prstGeom prst="rect">
            <a:avLst/>
          </a:prstGeom>
          <a:solidFill>
            <a:srgbClr val="99CCFF"/>
          </a:solidFill>
          <a:ln w="9525" algn="ctr">
            <a:solidFill>
              <a:schemeClr val="tx1"/>
            </a:solidFill>
            <a:miter lim="800000"/>
            <a:headEnd/>
            <a:tailEnd/>
          </a:ln>
        </p:spPr>
        <p:txBody>
          <a:bodyPr wrap="none" anchor="ctr"/>
          <a:lstStyle/>
          <a:p>
            <a:endParaRPr lang="en-US"/>
          </a:p>
        </p:txBody>
      </p:sp>
      <p:sp>
        <p:nvSpPr>
          <p:cNvPr id="119859" name="Text Box 61"/>
          <p:cNvSpPr txBox="1">
            <a:spLocks noChangeArrowheads="1"/>
          </p:cNvSpPr>
          <p:nvPr/>
        </p:nvSpPr>
        <p:spPr bwMode="auto">
          <a:xfrm>
            <a:off x="3683000" y="4638675"/>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0</a:t>
            </a:r>
          </a:p>
        </p:txBody>
      </p:sp>
      <p:sp>
        <p:nvSpPr>
          <p:cNvPr id="119860" name="Text Box 62"/>
          <p:cNvSpPr txBox="1">
            <a:spLocks noChangeArrowheads="1"/>
          </p:cNvSpPr>
          <p:nvPr/>
        </p:nvSpPr>
        <p:spPr bwMode="auto">
          <a:xfrm>
            <a:off x="3403600" y="4638675"/>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1</a:t>
            </a:r>
          </a:p>
        </p:txBody>
      </p:sp>
      <p:sp>
        <p:nvSpPr>
          <p:cNvPr id="119861" name="Text Box 63"/>
          <p:cNvSpPr txBox="1">
            <a:spLocks noChangeArrowheads="1"/>
          </p:cNvSpPr>
          <p:nvPr/>
        </p:nvSpPr>
        <p:spPr bwMode="auto">
          <a:xfrm>
            <a:off x="3098800" y="4638675"/>
            <a:ext cx="303288"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2</a:t>
            </a:r>
          </a:p>
        </p:txBody>
      </p:sp>
      <p:sp>
        <p:nvSpPr>
          <p:cNvPr id="231490" name="Text Box 66"/>
          <p:cNvSpPr txBox="1">
            <a:spLocks noChangeArrowheads="1"/>
          </p:cNvSpPr>
          <p:nvPr/>
        </p:nvSpPr>
        <p:spPr bwMode="auto">
          <a:xfrm>
            <a:off x="1879600" y="4768850"/>
            <a:ext cx="184731" cy="184666"/>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endParaRPr lang="en-US" sz="600" b="1">
              <a:solidFill>
                <a:srgbClr val="0000FF"/>
              </a:solidFill>
              <a:effectLst>
                <a:outerShdw blurRad="38100" dist="38100" dir="2700000" algn="tl">
                  <a:srgbClr val="C0C0C0"/>
                </a:outerShdw>
              </a:effectLst>
              <a:latin typeface="Batang" pitchFamily="18" charset="-127"/>
            </a:endParaRPr>
          </a:p>
        </p:txBody>
      </p:sp>
      <p:sp>
        <p:nvSpPr>
          <p:cNvPr id="119863" name="Text Box 68"/>
          <p:cNvSpPr txBox="1">
            <a:spLocks noChangeArrowheads="1"/>
          </p:cNvSpPr>
          <p:nvPr/>
        </p:nvSpPr>
        <p:spPr bwMode="auto">
          <a:xfrm>
            <a:off x="876300" y="4638675"/>
            <a:ext cx="421910"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15</a:t>
            </a:r>
          </a:p>
        </p:txBody>
      </p:sp>
      <p:sp>
        <p:nvSpPr>
          <p:cNvPr id="119864" name="Text Box 69"/>
          <p:cNvSpPr txBox="1">
            <a:spLocks noChangeArrowheads="1"/>
          </p:cNvSpPr>
          <p:nvPr/>
        </p:nvSpPr>
        <p:spPr bwMode="auto">
          <a:xfrm>
            <a:off x="1824567" y="4848225"/>
            <a:ext cx="877163" cy="566309"/>
          </a:xfrm>
          <a:prstGeom prst="rect">
            <a:avLst/>
          </a:prstGeom>
          <a:noFill/>
          <a:ln w="9525" algn="ctr">
            <a:noFill/>
            <a:miter lim="800000"/>
            <a:headEnd/>
            <a:tailEnd/>
          </a:ln>
        </p:spPr>
        <p:txBody>
          <a:bodyPr wrap="none">
            <a:spAutoFit/>
          </a:bodyPr>
          <a:lstStyle/>
          <a:p>
            <a:pPr marL="342900" indent="-342900" algn="ctr" eaLnBrk="1" hangingPunct="1">
              <a:spcBef>
                <a:spcPct val="20000"/>
              </a:spcBef>
              <a:buClr>
                <a:schemeClr val="hlink"/>
              </a:buClr>
              <a:buSzPct val="75000"/>
              <a:buFont typeface="Wingdings" pitchFamily="2" charset="2"/>
              <a:buNone/>
            </a:pPr>
            <a:r>
              <a:rPr lang="en-US" sz="1400" b="1">
                <a:solidFill>
                  <a:srgbClr val="0000FF"/>
                </a:solidFill>
                <a:latin typeface="Batang" pitchFamily="18" charset="-127"/>
              </a:rPr>
              <a:t>4 x 16</a:t>
            </a:r>
          </a:p>
          <a:p>
            <a:pPr marL="342900" indent="-342900" algn="ctr" eaLnBrk="1" hangingPunct="1">
              <a:spcBef>
                <a:spcPct val="20000"/>
              </a:spcBef>
              <a:buClr>
                <a:schemeClr val="hlink"/>
              </a:buClr>
              <a:buSzPct val="75000"/>
              <a:buFont typeface="Wingdings" pitchFamily="2" charset="2"/>
              <a:buNone/>
            </a:pPr>
            <a:r>
              <a:rPr lang="en-US" sz="1400" b="1">
                <a:solidFill>
                  <a:srgbClr val="0000FF"/>
                </a:solidFill>
                <a:latin typeface="Batang" pitchFamily="18" charset="-127"/>
              </a:rPr>
              <a:t>decoder</a:t>
            </a:r>
          </a:p>
        </p:txBody>
      </p:sp>
      <p:sp>
        <p:nvSpPr>
          <p:cNvPr id="119865" name="Text Box 70"/>
          <p:cNvSpPr txBox="1">
            <a:spLocks noChangeArrowheads="1"/>
          </p:cNvSpPr>
          <p:nvPr/>
        </p:nvSpPr>
        <p:spPr bwMode="auto">
          <a:xfrm>
            <a:off x="1371600" y="4638675"/>
            <a:ext cx="421910" cy="338554"/>
          </a:xfrm>
          <a:prstGeom prst="rect">
            <a:avLst/>
          </a:prstGeom>
          <a:noFill/>
          <a:ln w="9525" algn="ctr">
            <a:noFill/>
            <a:miter lim="800000"/>
            <a:headEnd/>
            <a:tailEnd/>
          </a:ln>
        </p:spPr>
        <p:txBody>
          <a:bodyPr wrap="none">
            <a:spAutoFit/>
          </a:bodyPr>
          <a:lstStyle/>
          <a:p>
            <a:pPr marL="342900" indent="-342900" algn="just" eaLnBrk="1" hangingPunct="1">
              <a:spcBef>
                <a:spcPct val="20000"/>
              </a:spcBef>
              <a:buClr>
                <a:schemeClr val="hlink"/>
              </a:buClr>
              <a:buSzPct val="75000"/>
              <a:buFont typeface="Wingdings" pitchFamily="2" charset="2"/>
              <a:buNone/>
            </a:pPr>
            <a:r>
              <a:rPr lang="en-US" sz="1600" b="1">
                <a:solidFill>
                  <a:srgbClr val="0000FF"/>
                </a:solidFill>
                <a:latin typeface="Batang" pitchFamily="18" charset="-127"/>
              </a:rPr>
              <a:t>14</a:t>
            </a:r>
          </a:p>
        </p:txBody>
      </p:sp>
      <p:sp>
        <p:nvSpPr>
          <p:cNvPr id="119866" name="Oval 71"/>
          <p:cNvSpPr>
            <a:spLocks noChangeArrowheads="1"/>
          </p:cNvSpPr>
          <p:nvPr/>
        </p:nvSpPr>
        <p:spPr bwMode="auto">
          <a:xfrm>
            <a:off x="2082800" y="4772025"/>
            <a:ext cx="101600" cy="76200"/>
          </a:xfrm>
          <a:prstGeom prst="ellipse">
            <a:avLst/>
          </a:prstGeom>
          <a:solidFill>
            <a:schemeClr val="bg1"/>
          </a:solidFill>
          <a:ln w="9525" algn="ctr">
            <a:noFill/>
            <a:round/>
            <a:headEnd/>
            <a:tailEnd/>
          </a:ln>
        </p:spPr>
        <p:txBody>
          <a:bodyPr wrap="none" anchor="ctr"/>
          <a:lstStyle/>
          <a:p>
            <a:endParaRPr lang="en-US"/>
          </a:p>
        </p:txBody>
      </p:sp>
      <p:sp>
        <p:nvSpPr>
          <p:cNvPr id="119867" name="Oval 72"/>
          <p:cNvSpPr>
            <a:spLocks noChangeArrowheads="1"/>
          </p:cNvSpPr>
          <p:nvPr/>
        </p:nvSpPr>
        <p:spPr bwMode="auto">
          <a:xfrm>
            <a:off x="2286000" y="4772025"/>
            <a:ext cx="101600" cy="76200"/>
          </a:xfrm>
          <a:prstGeom prst="ellipse">
            <a:avLst/>
          </a:prstGeom>
          <a:solidFill>
            <a:schemeClr val="bg1"/>
          </a:solidFill>
          <a:ln w="9525" algn="ctr">
            <a:noFill/>
            <a:round/>
            <a:headEnd/>
            <a:tailEnd/>
          </a:ln>
        </p:spPr>
        <p:txBody>
          <a:bodyPr wrap="none" anchor="ctr"/>
          <a:lstStyle/>
          <a:p>
            <a:endParaRPr lang="en-US"/>
          </a:p>
        </p:txBody>
      </p:sp>
      <p:sp>
        <p:nvSpPr>
          <p:cNvPr id="119868" name="Oval 73"/>
          <p:cNvSpPr>
            <a:spLocks noChangeArrowheads="1"/>
          </p:cNvSpPr>
          <p:nvPr/>
        </p:nvSpPr>
        <p:spPr bwMode="auto">
          <a:xfrm>
            <a:off x="2590800" y="4772025"/>
            <a:ext cx="101600" cy="76200"/>
          </a:xfrm>
          <a:prstGeom prst="ellipse">
            <a:avLst/>
          </a:prstGeom>
          <a:solidFill>
            <a:schemeClr val="bg1"/>
          </a:solidFill>
          <a:ln w="9525" algn="ctr">
            <a:noFill/>
            <a:round/>
            <a:headEnd/>
            <a:tailEnd/>
          </a:ln>
        </p:spPr>
        <p:txBody>
          <a:bodyPr wrap="none" anchor="ctr"/>
          <a:lstStyle/>
          <a:p>
            <a:endParaRPr lang="en-US"/>
          </a:p>
        </p:txBody>
      </p:sp>
      <p:sp>
        <p:nvSpPr>
          <p:cNvPr id="119869" name="Line 74"/>
          <p:cNvSpPr>
            <a:spLocks noChangeShapeType="1"/>
          </p:cNvSpPr>
          <p:nvPr/>
        </p:nvSpPr>
        <p:spPr bwMode="auto">
          <a:xfrm flipV="1">
            <a:off x="1155700" y="4205289"/>
            <a:ext cx="0" cy="466725"/>
          </a:xfrm>
          <a:prstGeom prst="line">
            <a:avLst/>
          </a:prstGeom>
          <a:noFill/>
          <a:ln w="9525">
            <a:solidFill>
              <a:schemeClr val="tx1"/>
            </a:solidFill>
            <a:round/>
            <a:headEnd/>
            <a:tailEnd/>
          </a:ln>
        </p:spPr>
        <p:txBody>
          <a:bodyPr/>
          <a:lstStyle/>
          <a:p>
            <a:endParaRPr lang="en-US"/>
          </a:p>
        </p:txBody>
      </p:sp>
      <p:sp>
        <p:nvSpPr>
          <p:cNvPr id="119870" name="Line 75"/>
          <p:cNvSpPr>
            <a:spLocks noChangeShapeType="1"/>
          </p:cNvSpPr>
          <p:nvPr/>
        </p:nvSpPr>
        <p:spPr bwMode="auto">
          <a:xfrm>
            <a:off x="1143000" y="4191000"/>
            <a:ext cx="5410200" cy="0"/>
          </a:xfrm>
          <a:prstGeom prst="line">
            <a:avLst/>
          </a:prstGeom>
          <a:noFill/>
          <a:ln w="9525">
            <a:solidFill>
              <a:schemeClr val="tx1"/>
            </a:solidFill>
            <a:round/>
            <a:headEnd/>
            <a:tailEnd type="triangle" w="med" len="med"/>
          </a:ln>
        </p:spPr>
        <p:txBody>
          <a:bodyPr/>
          <a:lstStyle/>
          <a:p>
            <a:endParaRPr lang="en-US"/>
          </a:p>
        </p:txBody>
      </p:sp>
      <p:sp>
        <p:nvSpPr>
          <p:cNvPr id="231500" name="Text Box 76"/>
          <p:cNvSpPr txBox="1">
            <a:spLocks noChangeArrowheads="1"/>
          </p:cNvSpPr>
          <p:nvPr/>
        </p:nvSpPr>
        <p:spPr bwMode="auto">
          <a:xfrm>
            <a:off x="4927601" y="3810001"/>
            <a:ext cx="706967" cy="366713"/>
          </a:xfrm>
          <a:prstGeom prst="rect">
            <a:avLst/>
          </a:prstGeom>
          <a:noFill/>
          <a:ln w="9525" algn="ctr">
            <a:noFill/>
            <a:miter lim="800000"/>
            <a:headEnd/>
            <a:tailEnd/>
          </a:ln>
          <a:effectLst/>
        </p:spPr>
        <p:txBody>
          <a:bodyPr>
            <a:spAutoFit/>
          </a:bodyPr>
          <a:lstStyle/>
          <a:p>
            <a:pPr marL="342900" indent="-342900" algn="just"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T</a:t>
            </a:r>
            <a:r>
              <a:rPr lang="en-US" b="1" baseline="-25000">
                <a:effectLst>
                  <a:outerShdw blurRad="38100" dist="38100" dir="2700000" algn="tl">
                    <a:srgbClr val="C0C0C0"/>
                  </a:outerShdw>
                </a:effectLst>
                <a:latin typeface="Batang" pitchFamily="18" charset="-127"/>
              </a:rPr>
              <a:t>15</a:t>
            </a:r>
          </a:p>
        </p:txBody>
      </p:sp>
      <p:sp>
        <p:nvSpPr>
          <p:cNvPr id="119872" name="Line 77"/>
          <p:cNvSpPr>
            <a:spLocks noChangeShapeType="1"/>
          </p:cNvSpPr>
          <p:nvPr/>
        </p:nvSpPr>
        <p:spPr bwMode="auto">
          <a:xfrm flipV="1">
            <a:off x="3911600" y="4495800"/>
            <a:ext cx="0" cy="228600"/>
          </a:xfrm>
          <a:prstGeom prst="line">
            <a:avLst/>
          </a:prstGeom>
          <a:noFill/>
          <a:ln w="9525">
            <a:solidFill>
              <a:schemeClr val="tx1"/>
            </a:solidFill>
            <a:round/>
            <a:headEnd/>
            <a:tailEnd/>
          </a:ln>
        </p:spPr>
        <p:txBody>
          <a:bodyPr/>
          <a:lstStyle/>
          <a:p>
            <a:endParaRPr lang="en-US"/>
          </a:p>
        </p:txBody>
      </p:sp>
      <p:sp>
        <p:nvSpPr>
          <p:cNvPr id="119873" name="Line 78"/>
          <p:cNvSpPr>
            <a:spLocks noChangeShapeType="1"/>
          </p:cNvSpPr>
          <p:nvPr/>
        </p:nvSpPr>
        <p:spPr bwMode="auto">
          <a:xfrm>
            <a:off x="3911600" y="4495800"/>
            <a:ext cx="2641600" cy="0"/>
          </a:xfrm>
          <a:prstGeom prst="line">
            <a:avLst/>
          </a:prstGeom>
          <a:noFill/>
          <a:ln w="9525">
            <a:solidFill>
              <a:schemeClr val="tx1"/>
            </a:solidFill>
            <a:round/>
            <a:headEnd/>
            <a:tailEnd type="triangle" w="med" len="med"/>
          </a:ln>
        </p:spPr>
        <p:txBody>
          <a:bodyPr/>
          <a:lstStyle/>
          <a:p>
            <a:endParaRPr lang="en-US"/>
          </a:p>
        </p:txBody>
      </p:sp>
      <p:sp>
        <p:nvSpPr>
          <p:cNvPr id="231503" name="Text Box 79"/>
          <p:cNvSpPr txBox="1">
            <a:spLocks noChangeArrowheads="1"/>
          </p:cNvSpPr>
          <p:nvPr/>
        </p:nvSpPr>
        <p:spPr bwMode="auto">
          <a:xfrm>
            <a:off x="5048251" y="4138613"/>
            <a:ext cx="706967" cy="366712"/>
          </a:xfrm>
          <a:prstGeom prst="rect">
            <a:avLst/>
          </a:prstGeom>
          <a:noFill/>
          <a:ln w="9525" algn="ctr">
            <a:noFill/>
            <a:miter lim="800000"/>
            <a:headEnd/>
            <a:tailEnd/>
          </a:ln>
          <a:effectLst/>
        </p:spPr>
        <p:txBody>
          <a:bodyPr>
            <a:spAutoFit/>
          </a:bodyPr>
          <a:lstStyle/>
          <a:p>
            <a:pPr marL="342900" indent="-342900" algn="just" eaLnBrk="1" hangingPunct="1">
              <a:spcBef>
                <a:spcPct val="20000"/>
              </a:spcBef>
              <a:buClr>
                <a:schemeClr val="hlink"/>
              </a:buClr>
              <a:buSzPct val="75000"/>
              <a:buFont typeface="Wingdings" pitchFamily="2" charset="2"/>
              <a:buNone/>
              <a:defRPr/>
            </a:pPr>
            <a:r>
              <a:rPr lang="en-US" b="1">
                <a:effectLst>
                  <a:outerShdw blurRad="38100" dist="38100" dir="2700000" algn="tl">
                    <a:srgbClr val="C0C0C0"/>
                  </a:outerShdw>
                </a:effectLst>
                <a:latin typeface="Batang" pitchFamily="18" charset="-127"/>
              </a:rPr>
              <a:t>T</a:t>
            </a:r>
            <a:r>
              <a:rPr lang="en-US" b="1" baseline="-25000">
                <a:effectLst>
                  <a:outerShdw blurRad="38100" dist="38100" dir="2700000" algn="tl">
                    <a:srgbClr val="C0C0C0"/>
                  </a:outerShdw>
                </a:effectLst>
                <a:latin typeface="Batang" pitchFamily="18" charset="-127"/>
              </a:rPr>
              <a:t>0</a:t>
            </a:r>
          </a:p>
        </p:txBody>
      </p:sp>
      <p:sp>
        <p:nvSpPr>
          <p:cNvPr id="119875" name="Line 80"/>
          <p:cNvSpPr>
            <a:spLocks noChangeShapeType="1"/>
          </p:cNvSpPr>
          <p:nvPr/>
        </p:nvSpPr>
        <p:spPr bwMode="auto">
          <a:xfrm flipV="1">
            <a:off x="3625851" y="4391025"/>
            <a:ext cx="0" cy="304800"/>
          </a:xfrm>
          <a:prstGeom prst="line">
            <a:avLst/>
          </a:prstGeom>
          <a:noFill/>
          <a:ln w="9525">
            <a:solidFill>
              <a:schemeClr val="tx1"/>
            </a:solidFill>
            <a:round/>
            <a:headEnd/>
            <a:tailEnd type="triangle" w="med" len="med"/>
          </a:ln>
        </p:spPr>
        <p:txBody>
          <a:bodyPr/>
          <a:lstStyle/>
          <a:p>
            <a:endParaRPr lang="en-US"/>
          </a:p>
        </p:txBody>
      </p:sp>
      <p:sp>
        <p:nvSpPr>
          <p:cNvPr id="119876" name="Line 81"/>
          <p:cNvSpPr>
            <a:spLocks noChangeShapeType="1"/>
          </p:cNvSpPr>
          <p:nvPr/>
        </p:nvSpPr>
        <p:spPr bwMode="auto">
          <a:xfrm flipV="1">
            <a:off x="3302000" y="4391025"/>
            <a:ext cx="0" cy="304800"/>
          </a:xfrm>
          <a:prstGeom prst="line">
            <a:avLst/>
          </a:prstGeom>
          <a:noFill/>
          <a:ln w="9525">
            <a:solidFill>
              <a:schemeClr val="tx1"/>
            </a:solidFill>
            <a:round/>
            <a:headEnd/>
            <a:tailEnd type="triangle" w="med" len="med"/>
          </a:ln>
        </p:spPr>
        <p:txBody>
          <a:bodyPr/>
          <a:lstStyle/>
          <a:p>
            <a:endParaRPr lang="en-US"/>
          </a:p>
        </p:txBody>
      </p:sp>
      <p:sp>
        <p:nvSpPr>
          <p:cNvPr id="119877" name="Line 82"/>
          <p:cNvSpPr>
            <a:spLocks noChangeShapeType="1"/>
          </p:cNvSpPr>
          <p:nvPr/>
        </p:nvSpPr>
        <p:spPr bwMode="auto">
          <a:xfrm flipV="1">
            <a:off x="1676400" y="4391025"/>
            <a:ext cx="0" cy="304800"/>
          </a:xfrm>
          <a:prstGeom prst="line">
            <a:avLst/>
          </a:prstGeom>
          <a:noFill/>
          <a:ln w="9525">
            <a:solidFill>
              <a:schemeClr val="tx1"/>
            </a:solidFill>
            <a:round/>
            <a:headEnd/>
            <a:tailEnd type="triangle" w="med" len="med"/>
          </a:ln>
        </p:spPr>
        <p:txBody>
          <a:bodyPr/>
          <a:lstStyle/>
          <a:p>
            <a:endParaRPr lang="en-US"/>
          </a:p>
        </p:txBody>
      </p:sp>
      <p:sp>
        <p:nvSpPr>
          <p:cNvPr id="119878" name="Oval 83"/>
          <p:cNvSpPr>
            <a:spLocks noChangeArrowheads="1"/>
          </p:cNvSpPr>
          <p:nvPr/>
        </p:nvSpPr>
        <p:spPr bwMode="auto">
          <a:xfrm>
            <a:off x="2082800" y="4495800"/>
            <a:ext cx="101600" cy="76200"/>
          </a:xfrm>
          <a:prstGeom prst="ellipse">
            <a:avLst/>
          </a:prstGeom>
          <a:solidFill>
            <a:schemeClr val="tx1"/>
          </a:solidFill>
          <a:ln w="9525" algn="ctr">
            <a:noFill/>
            <a:round/>
            <a:headEnd/>
            <a:tailEnd/>
          </a:ln>
        </p:spPr>
        <p:txBody>
          <a:bodyPr wrap="none" anchor="ctr"/>
          <a:lstStyle/>
          <a:p>
            <a:endParaRPr lang="en-US"/>
          </a:p>
        </p:txBody>
      </p:sp>
      <p:sp>
        <p:nvSpPr>
          <p:cNvPr id="119879" name="Oval 84"/>
          <p:cNvSpPr>
            <a:spLocks noChangeArrowheads="1"/>
          </p:cNvSpPr>
          <p:nvPr/>
        </p:nvSpPr>
        <p:spPr bwMode="auto">
          <a:xfrm>
            <a:off x="2286000" y="4495800"/>
            <a:ext cx="101600" cy="76200"/>
          </a:xfrm>
          <a:prstGeom prst="ellipse">
            <a:avLst/>
          </a:prstGeom>
          <a:solidFill>
            <a:schemeClr val="tx1"/>
          </a:solidFill>
          <a:ln w="9525" algn="ctr">
            <a:noFill/>
            <a:round/>
            <a:headEnd/>
            <a:tailEnd/>
          </a:ln>
        </p:spPr>
        <p:txBody>
          <a:bodyPr wrap="none" anchor="ctr"/>
          <a:lstStyle/>
          <a:p>
            <a:endParaRPr lang="en-US"/>
          </a:p>
        </p:txBody>
      </p:sp>
      <p:sp>
        <p:nvSpPr>
          <p:cNvPr id="119880" name="Oval 85"/>
          <p:cNvSpPr>
            <a:spLocks noChangeArrowheads="1"/>
          </p:cNvSpPr>
          <p:nvPr/>
        </p:nvSpPr>
        <p:spPr bwMode="auto">
          <a:xfrm>
            <a:off x="2590800" y="4495800"/>
            <a:ext cx="101600" cy="76200"/>
          </a:xfrm>
          <a:prstGeom prst="ellipse">
            <a:avLst/>
          </a:prstGeom>
          <a:solidFill>
            <a:schemeClr val="tx1"/>
          </a:solidFill>
          <a:ln w="9525" algn="ctr">
            <a:noFill/>
            <a:round/>
            <a:headEnd/>
            <a:tailEnd/>
          </a:ln>
        </p:spPr>
        <p:txBody>
          <a:bodyPr wrap="none" anchor="ctr"/>
          <a:lstStyle/>
          <a:p>
            <a:endParaRPr lang="en-US"/>
          </a:p>
        </p:txBody>
      </p:sp>
      <p:sp>
        <p:nvSpPr>
          <p:cNvPr id="119881" name="Rectangle 86"/>
          <p:cNvSpPr>
            <a:spLocks noChangeArrowheads="1"/>
          </p:cNvSpPr>
          <p:nvPr/>
        </p:nvSpPr>
        <p:spPr bwMode="auto">
          <a:xfrm>
            <a:off x="1778000" y="5986463"/>
            <a:ext cx="1422400" cy="838200"/>
          </a:xfrm>
          <a:prstGeom prst="rect">
            <a:avLst/>
          </a:prstGeom>
          <a:solidFill>
            <a:srgbClr val="99CCFF"/>
          </a:solidFill>
          <a:ln w="9525" algn="ctr">
            <a:solidFill>
              <a:schemeClr val="tx1"/>
            </a:solidFill>
            <a:miter lim="800000"/>
            <a:headEnd/>
            <a:tailEnd/>
          </a:ln>
        </p:spPr>
        <p:txBody>
          <a:bodyPr wrap="none" anchor="ctr"/>
          <a:lstStyle/>
          <a:p>
            <a:endParaRPr lang="en-US"/>
          </a:p>
        </p:txBody>
      </p:sp>
      <p:sp>
        <p:nvSpPr>
          <p:cNvPr id="119882" name="Line 87"/>
          <p:cNvSpPr>
            <a:spLocks noChangeShapeType="1"/>
          </p:cNvSpPr>
          <p:nvPr/>
        </p:nvSpPr>
        <p:spPr bwMode="auto">
          <a:xfrm flipV="1">
            <a:off x="1981200" y="5700713"/>
            <a:ext cx="0" cy="304800"/>
          </a:xfrm>
          <a:prstGeom prst="line">
            <a:avLst/>
          </a:prstGeom>
          <a:noFill/>
          <a:ln w="9525">
            <a:solidFill>
              <a:schemeClr val="tx1"/>
            </a:solidFill>
            <a:round/>
            <a:headEnd/>
            <a:tailEnd type="triangle" w="med" len="med"/>
          </a:ln>
        </p:spPr>
        <p:txBody>
          <a:bodyPr/>
          <a:lstStyle/>
          <a:p>
            <a:endParaRPr lang="en-US"/>
          </a:p>
        </p:txBody>
      </p:sp>
      <p:sp>
        <p:nvSpPr>
          <p:cNvPr id="119883" name="Line 88"/>
          <p:cNvSpPr>
            <a:spLocks noChangeShapeType="1"/>
          </p:cNvSpPr>
          <p:nvPr/>
        </p:nvSpPr>
        <p:spPr bwMode="auto">
          <a:xfrm flipV="1">
            <a:off x="2286000" y="5700713"/>
            <a:ext cx="0" cy="304800"/>
          </a:xfrm>
          <a:prstGeom prst="line">
            <a:avLst/>
          </a:prstGeom>
          <a:noFill/>
          <a:ln w="9525">
            <a:solidFill>
              <a:schemeClr val="tx1"/>
            </a:solidFill>
            <a:round/>
            <a:headEnd/>
            <a:tailEnd type="triangle" w="med" len="med"/>
          </a:ln>
        </p:spPr>
        <p:txBody>
          <a:bodyPr/>
          <a:lstStyle/>
          <a:p>
            <a:endParaRPr lang="en-US"/>
          </a:p>
        </p:txBody>
      </p:sp>
      <p:sp>
        <p:nvSpPr>
          <p:cNvPr id="119884" name="Line 89"/>
          <p:cNvSpPr>
            <a:spLocks noChangeShapeType="1"/>
          </p:cNvSpPr>
          <p:nvPr/>
        </p:nvSpPr>
        <p:spPr bwMode="auto">
          <a:xfrm flipV="1">
            <a:off x="2590800" y="5700713"/>
            <a:ext cx="0" cy="304800"/>
          </a:xfrm>
          <a:prstGeom prst="line">
            <a:avLst/>
          </a:prstGeom>
          <a:noFill/>
          <a:ln w="9525">
            <a:solidFill>
              <a:schemeClr val="tx1"/>
            </a:solidFill>
            <a:round/>
            <a:headEnd/>
            <a:tailEnd type="triangle" w="med" len="med"/>
          </a:ln>
        </p:spPr>
        <p:txBody>
          <a:bodyPr/>
          <a:lstStyle/>
          <a:p>
            <a:endParaRPr lang="en-US"/>
          </a:p>
        </p:txBody>
      </p:sp>
      <p:sp>
        <p:nvSpPr>
          <p:cNvPr id="119885" name="Line 90"/>
          <p:cNvSpPr>
            <a:spLocks noChangeShapeType="1"/>
          </p:cNvSpPr>
          <p:nvPr/>
        </p:nvSpPr>
        <p:spPr bwMode="auto">
          <a:xfrm flipV="1">
            <a:off x="2895600" y="5700713"/>
            <a:ext cx="0" cy="304800"/>
          </a:xfrm>
          <a:prstGeom prst="line">
            <a:avLst/>
          </a:prstGeom>
          <a:noFill/>
          <a:ln w="9525">
            <a:solidFill>
              <a:schemeClr val="tx1"/>
            </a:solidFill>
            <a:round/>
            <a:headEnd/>
            <a:tailEnd type="triangle" w="med" len="med"/>
          </a:ln>
        </p:spPr>
        <p:txBody>
          <a:bodyPr/>
          <a:lstStyle/>
          <a:p>
            <a:endParaRPr lang="en-US"/>
          </a:p>
        </p:txBody>
      </p:sp>
      <p:sp>
        <p:nvSpPr>
          <p:cNvPr id="119886" name="Text Box 91"/>
          <p:cNvSpPr txBox="1">
            <a:spLocks noChangeArrowheads="1"/>
          </p:cNvSpPr>
          <p:nvPr/>
        </p:nvSpPr>
        <p:spPr bwMode="auto">
          <a:xfrm>
            <a:off x="1828801" y="5986464"/>
            <a:ext cx="1047082" cy="824841"/>
          </a:xfrm>
          <a:prstGeom prst="rect">
            <a:avLst/>
          </a:prstGeom>
          <a:solidFill>
            <a:srgbClr val="99CCFF"/>
          </a:solidFill>
          <a:ln w="9525" algn="ctr">
            <a:noFill/>
            <a:miter lim="800000"/>
            <a:headEnd/>
            <a:tailEnd/>
          </a:ln>
        </p:spPr>
        <p:txBody>
          <a:bodyPr wrap="none">
            <a:spAutoFit/>
          </a:bodyPr>
          <a:lstStyle/>
          <a:p>
            <a:pPr marL="342900" indent="-342900" algn="ctr" eaLnBrk="1" hangingPunct="1">
              <a:spcBef>
                <a:spcPct val="20000"/>
              </a:spcBef>
              <a:buClr>
                <a:schemeClr val="hlink"/>
              </a:buClr>
              <a:buSzPct val="75000"/>
              <a:buFont typeface="Wingdings" pitchFamily="2" charset="2"/>
              <a:buNone/>
            </a:pPr>
            <a:r>
              <a:rPr lang="en-US" sz="1400" b="1">
                <a:solidFill>
                  <a:srgbClr val="0000FF"/>
                </a:solidFill>
                <a:latin typeface="Batang" pitchFamily="18" charset="-127"/>
              </a:rPr>
              <a:t>4-bit </a:t>
            </a:r>
          </a:p>
          <a:p>
            <a:pPr marL="342900" indent="-342900" algn="ctr" eaLnBrk="1" hangingPunct="1">
              <a:spcBef>
                <a:spcPct val="20000"/>
              </a:spcBef>
              <a:buClr>
                <a:schemeClr val="hlink"/>
              </a:buClr>
              <a:buSzPct val="75000"/>
              <a:buFont typeface="Wingdings" pitchFamily="2" charset="2"/>
              <a:buNone/>
            </a:pPr>
            <a:r>
              <a:rPr lang="en-US" sz="1400" b="1">
                <a:solidFill>
                  <a:srgbClr val="0000FF"/>
                </a:solidFill>
                <a:latin typeface="Batang" pitchFamily="18" charset="-127"/>
              </a:rPr>
              <a:t>sequence </a:t>
            </a:r>
          </a:p>
          <a:p>
            <a:pPr marL="342900" indent="-342900" algn="ctr" eaLnBrk="1" hangingPunct="1">
              <a:spcBef>
                <a:spcPct val="20000"/>
              </a:spcBef>
              <a:buClr>
                <a:schemeClr val="hlink"/>
              </a:buClr>
              <a:buSzPct val="75000"/>
              <a:buFont typeface="Wingdings" pitchFamily="2" charset="2"/>
              <a:buNone/>
            </a:pPr>
            <a:r>
              <a:rPr lang="en-US" sz="1400" b="1">
                <a:solidFill>
                  <a:srgbClr val="0000FF"/>
                </a:solidFill>
                <a:latin typeface="Batang" pitchFamily="18" charset="-127"/>
              </a:rPr>
              <a:t>counter</a:t>
            </a:r>
          </a:p>
        </p:txBody>
      </p:sp>
      <p:sp>
        <p:nvSpPr>
          <p:cNvPr id="119887" name="Line 92"/>
          <p:cNvSpPr>
            <a:spLocks noChangeShapeType="1"/>
          </p:cNvSpPr>
          <p:nvPr/>
        </p:nvSpPr>
        <p:spPr bwMode="auto">
          <a:xfrm flipH="1">
            <a:off x="3200400" y="6172200"/>
            <a:ext cx="914400" cy="0"/>
          </a:xfrm>
          <a:prstGeom prst="line">
            <a:avLst/>
          </a:prstGeom>
          <a:noFill/>
          <a:ln w="9525">
            <a:solidFill>
              <a:schemeClr val="tx1"/>
            </a:solidFill>
            <a:round/>
            <a:headEnd/>
            <a:tailEnd type="triangle" w="med" len="med"/>
          </a:ln>
        </p:spPr>
        <p:txBody>
          <a:bodyPr/>
          <a:lstStyle/>
          <a:p>
            <a:endParaRPr lang="en-US"/>
          </a:p>
        </p:txBody>
      </p:sp>
      <p:sp>
        <p:nvSpPr>
          <p:cNvPr id="119888" name="Line 93"/>
          <p:cNvSpPr>
            <a:spLocks noChangeShapeType="1"/>
          </p:cNvSpPr>
          <p:nvPr/>
        </p:nvSpPr>
        <p:spPr bwMode="auto">
          <a:xfrm flipH="1">
            <a:off x="3200400" y="6434138"/>
            <a:ext cx="914400" cy="0"/>
          </a:xfrm>
          <a:prstGeom prst="line">
            <a:avLst/>
          </a:prstGeom>
          <a:noFill/>
          <a:ln w="9525">
            <a:solidFill>
              <a:schemeClr val="tx1"/>
            </a:solidFill>
            <a:round/>
            <a:headEnd/>
            <a:tailEnd type="triangle" w="med" len="med"/>
          </a:ln>
        </p:spPr>
        <p:txBody>
          <a:bodyPr/>
          <a:lstStyle/>
          <a:p>
            <a:endParaRPr lang="en-US"/>
          </a:p>
        </p:txBody>
      </p:sp>
      <p:sp>
        <p:nvSpPr>
          <p:cNvPr id="119889" name="Line 94"/>
          <p:cNvSpPr>
            <a:spLocks noChangeShapeType="1"/>
          </p:cNvSpPr>
          <p:nvPr/>
        </p:nvSpPr>
        <p:spPr bwMode="auto">
          <a:xfrm flipH="1">
            <a:off x="3200400" y="6705600"/>
            <a:ext cx="914400" cy="0"/>
          </a:xfrm>
          <a:prstGeom prst="line">
            <a:avLst/>
          </a:prstGeom>
          <a:noFill/>
          <a:ln w="9525">
            <a:solidFill>
              <a:schemeClr val="tx1"/>
            </a:solidFill>
            <a:round/>
            <a:headEnd/>
            <a:tailEnd type="triangle" w="med" len="med"/>
          </a:ln>
        </p:spPr>
        <p:txBody>
          <a:bodyPr/>
          <a:lstStyle/>
          <a:p>
            <a:endParaRPr lang="en-US"/>
          </a:p>
        </p:txBody>
      </p:sp>
      <p:sp>
        <p:nvSpPr>
          <p:cNvPr id="231519" name="Text Box 95"/>
          <p:cNvSpPr txBox="1">
            <a:spLocks noChangeArrowheads="1"/>
          </p:cNvSpPr>
          <p:nvPr/>
        </p:nvSpPr>
        <p:spPr bwMode="auto">
          <a:xfrm>
            <a:off x="4112684" y="5973763"/>
            <a:ext cx="1751377" cy="338554"/>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sz="1600" b="1">
                <a:effectLst>
                  <a:outerShdw blurRad="38100" dist="38100" dir="2700000" algn="tl">
                    <a:srgbClr val="C0C0C0"/>
                  </a:outerShdw>
                </a:effectLst>
                <a:latin typeface="Batang" pitchFamily="18" charset="-127"/>
              </a:rPr>
              <a:t>Increment (INR)</a:t>
            </a:r>
          </a:p>
        </p:txBody>
      </p:sp>
      <p:sp>
        <p:nvSpPr>
          <p:cNvPr id="231520" name="Text Box 96"/>
          <p:cNvSpPr txBox="1">
            <a:spLocks noChangeArrowheads="1"/>
          </p:cNvSpPr>
          <p:nvPr/>
        </p:nvSpPr>
        <p:spPr bwMode="auto">
          <a:xfrm>
            <a:off x="4112684" y="6253163"/>
            <a:ext cx="1268296" cy="338554"/>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sz="1600" b="1">
                <a:effectLst>
                  <a:outerShdw blurRad="38100" dist="38100" dir="2700000" algn="tl">
                    <a:srgbClr val="C0C0C0"/>
                  </a:outerShdw>
                </a:effectLst>
                <a:latin typeface="Batang" pitchFamily="18" charset="-127"/>
              </a:rPr>
              <a:t>Clear (CLR)</a:t>
            </a:r>
          </a:p>
        </p:txBody>
      </p:sp>
      <p:sp>
        <p:nvSpPr>
          <p:cNvPr id="231521" name="Text Box 97"/>
          <p:cNvSpPr txBox="1">
            <a:spLocks noChangeArrowheads="1"/>
          </p:cNvSpPr>
          <p:nvPr/>
        </p:nvSpPr>
        <p:spPr bwMode="auto">
          <a:xfrm>
            <a:off x="4112685" y="6511925"/>
            <a:ext cx="712054" cy="338554"/>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sz="1600" b="1">
                <a:effectLst>
                  <a:outerShdw blurRad="38100" dist="38100" dir="2700000" algn="tl">
                    <a:srgbClr val="C0C0C0"/>
                  </a:outerShdw>
                </a:effectLst>
                <a:latin typeface="Batang" pitchFamily="18" charset="-127"/>
              </a:rPr>
              <a:t>Clock</a:t>
            </a:r>
          </a:p>
        </p:txBody>
      </p:sp>
      <p:sp>
        <p:nvSpPr>
          <p:cNvPr id="231522" name="Text Box 98"/>
          <p:cNvSpPr txBox="1">
            <a:spLocks noChangeArrowheads="1"/>
          </p:cNvSpPr>
          <p:nvPr/>
        </p:nvSpPr>
        <p:spPr bwMode="auto">
          <a:xfrm>
            <a:off x="6654801" y="457200"/>
            <a:ext cx="1418978" cy="338554"/>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sz="1600" b="1">
                <a:effectLst>
                  <a:outerShdw blurRad="38100" dist="38100" dir="2700000" algn="tl">
                    <a:srgbClr val="C0C0C0"/>
                  </a:outerShdw>
                </a:effectLst>
                <a:latin typeface="Batang" pitchFamily="18" charset="-127"/>
              </a:rPr>
              <a:t>Other inputs</a:t>
            </a:r>
          </a:p>
        </p:txBody>
      </p:sp>
      <p:sp>
        <p:nvSpPr>
          <p:cNvPr id="119894" name="Line 99"/>
          <p:cNvSpPr>
            <a:spLocks noChangeShapeType="1"/>
          </p:cNvSpPr>
          <p:nvPr/>
        </p:nvSpPr>
        <p:spPr bwMode="auto">
          <a:xfrm>
            <a:off x="7467600" y="762000"/>
            <a:ext cx="0" cy="381000"/>
          </a:xfrm>
          <a:prstGeom prst="line">
            <a:avLst/>
          </a:prstGeom>
          <a:noFill/>
          <a:ln w="9525">
            <a:solidFill>
              <a:schemeClr val="tx1"/>
            </a:solidFill>
            <a:round/>
            <a:headEnd/>
            <a:tailEnd type="triangle" w="med" len="med"/>
          </a:ln>
        </p:spPr>
        <p:txBody>
          <a:bodyPr/>
          <a:lstStyle/>
          <a:p>
            <a:endParaRPr lang="en-US"/>
          </a:p>
        </p:txBody>
      </p:sp>
      <p:sp>
        <p:nvSpPr>
          <p:cNvPr id="119895" name="Line 100"/>
          <p:cNvSpPr>
            <a:spLocks noChangeShapeType="1"/>
          </p:cNvSpPr>
          <p:nvPr/>
        </p:nvSpPr>
        <p:spPr bwMode="auto">
          <a:xfrm>
            <a:off x="8483600" y="2819400"/>
            <a:ext cx="1320800" cy="0"/>
          </a:xfrm>
          <a:prstGeom prst="line">
            <a:avLst/>
          </a:prstGeom>
          <a:noFill/>
          <a:ln w="9525">
            <a:solidFill>
              <a:schemeClr val="tx1"/>
            </a:solidFill>
            <a:round/>
            <a:headEnd/>
            <a:tailEnd type="triangle" w="med" len="med"/>
          </a:ln>
        </p:spPr>
        <p:txBody>
          <a:bodyPr/>
          <a:lstStyle/>
          <a:p>
            <a:endParaRPr lang="en-US"/>
          </a:p>
        </p:txBody>
      </p:sp>
      <p:sp>
        <p:nvSpPr>
          <p:cNvPr id="231526" name="Text Box 102"/>
          <p:cNvSpPr txBox="1">
            <a:spLocks noChangeArrowheads="1"/>
          </p:cNvSpPr>
          <p:nvPr/>
        </p:nvSpPr>
        <p:spPr bwMode="auto">
          <a:xfrm>
            <a:off x="8585200" y="2362200"/>
            <a:ext cx="1736950" cy="338554"/>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sz="1600" b="1">
                <a:effectLst>
                  <a:outerShdw blurRad="38100" dist="38100" dir="2700000" algn="tl">
                    <a:srgbClr val="C0C0C0"/>
                  </a:outerShdw>
                </a:effectLst>
                <a:latin typeface="Batang" pitchFamily="18" charset="-127"/>
              </a:rPr>
              <a:t>Control outputs</a:t>
            </a:r>
          </a:p>
        </p:txBody>
      </p:sp>
      <p:sp>
        <p:nvSpPr>
          <p:cNvPr id="119897" name="Oval 104"/>
          <p:cNvSpPr>
            <a:spLocks noChangeArrowheads="1"/>
          </p:cNvSpPr>
          <p:nvPr/>
        </p:nvSpPr>
        <p:spPr bwMode="auto">
          <a:xfrm>
            <a:off x="6019800" y="4248150"/>
            <a:ext cx="61384" cy="46038"/>
          </a:xfrm>
          <a:prstGeom prst="ellipse">
            <a:avLst/>
          </a:prstGeom>
          <a:solidFill>
            <a:schemeClr val="tx2"/>
          </a:solidFill>
          <a:ln w="9525" algn="ctr">
            <a:noFill/>
            <a:round/>
            <a:headEnd/>
            <a:tailEnd/>
          </a:ln>
        </p:spPr>
        <p:txBody>
          <a:bodyPr wrap="none" anchor="ctr"/>
          <a:lstStyle/>
          <a:p>
            <a:endParaRPr lang="en-US"/>
          </a:p>
        </p:txBody>
      </p:sp>
      <p:sp>
        <p:nvSpPr>
          <p:cNvPr id="119898" name="Oval 105"/>
          <p:cNvSpPr>
            <a:spLocks noChangeArrowheads="1"/>
          </p:cNvSpPr>
          <p:nvPr/>
        </p:nvSpPr>
        <p:spPr bwMode="auto">
          <a:xfrm>
            <a:off x="6019800" y="4324350"/>
            <a:ext cx="61384" cy="46038"/>
          </a:xfrm>
          <a:prstGeom prst="ellipse">
            <a:avLst/>
          </a:prstGeom>
          <a:solidFill>
            <a:schemeClr val="tx2"/>
          </a:solidFill>
          <a:ln w="9525" algn="ctr">
            <a:noFill/>
            <a:round/>
            <a:headEnd/>
            <a:tailEnd/>
          </a:ln>
        </p:spPr>
        <p:txBody>
          <a:bodyPr wrap="none" anchor="ctr"/>
          <a:lstStyle/>
          <a:p>
            <a:endParaRPr lang="en-US"/>
          </a:p>
        </p:txBody>
      </p:sp>
      <p:sp>
        <p:nvSpPr>
          <p:cNvPr id="119899" name="Oval 106"/>
          <p:cNvSpPr>
            <a:spLocks noChangeArrowheads="1"/>
          </p:cNvSpPr>
          <p:nvPr/>
        </p:nvSpPr>
        <p:spPr bwMode="auto">
          <a:xfrm>
            <a:off x="6019800" y="4400550"/>
            <a:ext cx="61384" cy="46038"/>
          </a:xfrm>
          <a:prstGeom prst="ellipse">
            <a:avLst/>
          </a:prstGeom>
          <a:solidFill>
            <a:schemeClr val="tx2"/>
          </a:solidFill>
          <a:ln w="9525" algn="ctr">
            <a:noFill/>
            <a:round/>
            <a:headEnd/>
            <a:tailEnd/>
          </a:ln>
        </p:spPr>
        <p:txBody>
          <a:bodyPr wrap="none" anchor="ctr"/>
          <a:lstStyle/>
          <a:p>
            <a:endParaRPr lang="en-US"/>
          </a:p>
        </p:txBody>
      </p:sp>
      <p:sp>
        <p:nvSpPr>
          <p:cNvPr id="231532" name="Text Box 108"/>
          <p:cNvSpPr txBox="1">
            <a:spLocks noChangeArrowheads="1"/>
          </p:cNvSpPr>
          <p:nvPr/>
        </p:nvSpPr>
        <p:spPr bwMode="auto">
          <a:xfrm>
            <a:off x="8695267" y="28575"/>
            <a:ext cx="2579873" cy="769441"/>
          </a:xfrm>
          <a:prstGeom prst="rect">
            <a:avLst/>
          </a:prstGeom>
          <a:noFill/>
          <a:ln w="9525" algn="ctr">
            <a:noFill/>
            <a:miter lim="800000"/>
            <a:headEnd/>
            <a:tailEnd/>
          </a:ln>
          <a:effectLst/>
        </p:spPr>
        <p:txBody>
          <a:bodyPr wrap="none">
            <a:spAutoFit/>
          </a:bodyPr>
          <a:lstStyle/>
          <a:p>
            <a:pPr marL="342900" indent="-342900" algn="just" eaLnBrk="1" hangingPunct="1">
              <a:spcBef>
                <a:spcPct val="20000"/>
              </a:spcBef>
              <a:buClr>
                <a:schemeClr val="hlink"/>
              </a:buClr>
              <a:buSzPct val="75000"/>
              <a:buFont typeface="Wingdings" pitchFamily="2" charset="2"/>
              <a:buNone/>
              <a:defRPr/>
            </a:pPr>
            <a:r>
              <a:rPr lang="en-US" sz="2000" b="1">
                <a:solidFill>
                  <a:srgbClr val="FF3300"/>
                </a:solidFill>
                <a:effectLst>
                  <a:outerShdw blurRad="38100" dist="38100" dir="2700000" algn="tl">
                    <a:srgbClr val="C0C0C0"/>
                  </a:outerShdw>
                </a:effectLst>
                <a:latin typeface="Batang" pitchFamily="18" charset="-127"/>
              </a:rPr>
              <a:t>Fig-1  </a:t>
            </a:r>
            <a:r>
              <a:rPr lang="en-US" sz="2000" b="1" u="sng">
                <a:solidFill>
                  <a:srgbClr val="FF3300"/>
                </a:solidFill>
                <a:effectLst>
                  <a:outerShdw blurRad="38100" dist="38100" dir="2700000" algn="tl">
                    <a:srgbClr val="C0C0C0"/>
                  </a:outerShdw>
                </a:effectLst>
                <a:latin typeface="Batang" pitchFamily="18" charset="-127"/>
              </a:rPr>
              <a:t>Control Unit </a:t>
            </a:r>
          </a:p>
          <a:p>
            <a:pPr marL="342900" indent="-342900" algn="just" eaLnBrk="1" hangingPunct="1">
              <a:spcBef>
                <a:spcPct val="20000"/>
              </a:spcBef>
              <a:buClr>
                <a:schemeClr val="hlink"/>
              </a:buClr>
              <a:buSzPct val="75000"/>
              <a:buFont typeface="Wingdings" pitchFamily="2" charset="2"/>
              <a:buNone/>
              <a:defRPr/>
            </a:pPr>
            <a:r>
              <a:rPr lang="en-US" sz="2000" b="1" u="sng">
                <a:solidFill>
                  <a:srgbClr val="FF3300"/>
                </a:solidFill>
                <a:effectLst>
                  <a:outerShdw blurRad="38100" dist="38100" dir="2700000" algn="tl">
                    <a:srgbClr val="C0C0C0"/>
                  </a:outerShdw>
                </a:effectLst>
                <a:latin typeface="Batang" pitchFamily="18" charset="-127"/>
              </a:rPr>
              <a:t>of Basic Computer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xmlns="" id="{331D0A49-1781-4642-B3D9-5ED6E98E2214}"/>
              </a:ext>
            </a:extLst>
          </p:cNvPr>
          <p:cNvSpPr>
            <a:spLocks noGrp="1"/>
          </p:cNvSpPr>
          <p:nvPr>
            <p:ph sz="quarter" idx="1"/>
          </p:nvPr>
        </p:nvSpPr>
        <p:spPr>
          <a:xfrm>
            <a:off x="1828800" y="1371600"/>
            <a:ext cx="8610600" cy="3733800"/>
          </a:xfrm>
        </p:spPr>
        <p:txBody>
          <a:bodyPr/>
          <a:lstStyle/>
          <a:p>
            <a:pPr eaLnBrk="1" hangingPunct="1"/>
            <a:r>
              <a:rPr lang="en-US" altLang="en-US"/>
              <a:t>Upon the completion of step 4, the control goes back to step 1 to fetch, decode, and execute the next instruction.</a:t>
            </a:r>
          </a:p>
          <a:p>
            <a:pPr eaLnBrk="1" hangingPunct="1"/>
            <a:endParaRPr lang="en-US" altLang="en-US"/>
          </a:p>
          <a:p>
            <a:pPr eaLnBrk="1" hangingPunct="1"/>
            <a:r>
              <a:rPr lang="en-US" altLang="en-US"/>
              <a:t>This process continues indefinitely unless a HALT instruction is encountered.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xmlns="" id="{7FE14DBC-5AC9-4C83-963E-1996A52075EE}"/>
              </a:ext>
            </a:extLst>
          </p:cNvPr>
          <p:cNvSpPr>
            <a:spLocks noGrp="1"/>
          </p:cNvSpPr>
          <p:nvPr>
            <p:ph type="title"/>
          </p:nvPr>
        </p:nvSpPr>
        <p:spPr/>
        <p:txBody>
          <a:bodyPr/>
          <a:lstStyle/>
          <a:p>
            <a:pPr eaLnBrk="1" hangingPunct="1"/>
            <a:r>
              <a:rPr lang="en-US" altLang="en-US">
                <a:solidFill>
                  <a:srgbClr val="7B9899"/>
                </a:solidFill>
              </a:rPr>
              <a:t>Fetch and Decode</a:t>
            </a:r>
          </a:p>
        </p:txBody>
      </p:sp>
      <p:sp>
        <p:nvSpPr>
          <p:cNvPr id="53251" name="Rectangle 3">
            <a:extLst>
              <a:ext uri="{FF2B5EF4-FFF2-40B4-BE49-F238E27FC236}">
                <a16:creationId xmlns:a16="http://schemas.microsoft.com/office/drawing/2014/main" xmlns="" id="{A1685885-D4A7-4045-A557-460726A483A9}"/>
              </a:ext>
            </a:extLst>
          </p:cNvPr>
          <p:cNvSpPr>
            <a:spLocks noGrp="1"/>
          </p:cNvSpPr>
          <p:nvPr>
            <p:ph sz="quarter" idx="1"/>
          </p:nvPr>
        </p:nvSpPr>
        <p:spPr>
          <a:xfrm>
            <a:off x="1981200" y="1600200"/>
            <a:ext cx="8229600" cy="5257800"/>
          </a:xfrm>
        </p:spPr>
        <p:txBody>
          <a:bodyPr/>
          <a:lstStyle/>
          <a:p>
            <a:pPr eaLnBrk="1" hangingPunct="1"/>
            <a:r>
              <a:rPr lang="en-US" altLang="en-US"/>
              <a:t>Initially, the program counter is loaded with the address of the first instruction in the program.</a:t>
            </a:r>
          </a:p>
          <a:p>
            <a:pPr eaLnBrk="1" hangingPunct="1"/>
            <a:endParaRPr lang="en-US" altLang="en-US"/>
          </a:p>
          <a:p>
            <a:pPr eaLnBrk="1" hangingPunct="1"/>
            <a:r>
              <a:rPr lang="en-US" altLang="en-US"/>
              <a:t>The sequence counter SC is cleared to 0, providing a decoding timing signal T</a:t>
            </a:r>
            <a:r>
              <a:rPr lang="en-US" altLang="en-US" baseline="-25000"/>
              <a:t>0</a:t>
            </a:r>
            <a:r>
              <a:rPr lang="en-US" altLang="en-US"/>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xmlns="" id="{AD44687B-A2E9-48C1-997C-7C9A1E87BE9F}"/>
              </a:ext>
            </a:extLst>
          </p:cNvPr>
          <p:cNvSpPr>
            <a:spLocks noGrp="1"/>
          </p:cNvSpPr>
          <p:nvPr>
            <p:ph sz="quarter" idx="1"/>
          </p:nvPr>
        </p:nvSpPr>
        <p:spPr>
          <a:xfrm>
            <a:off x="1828800" y="2209800"/>
            <a:ext cx="7848600" cy="2362200"/>
          </a:xfrm>
        </p:spPr>
        <p:txBody>
          <a:bodyPr/>
          <a:lstStyle/>
          <a:p>
            <a:pPr eaLnBrk="1" hangingPunct="1"/>
            <a:r>
              <a:rPr lang="en-US" altLang="en-US"/>
              <a:t>After each clock pulse, SC is incremented  by one, so that the timing signals go through a sequence T</a:t>
            </a:r>
            <a:r>
              <a:rPr lang="en-US" altLang="en-US" baseline="-25000"/>
              <a:t>0</a:t>
            </a:r>
            <a:r>
              <a:rPr lang="en-US" altLang="en-US"/>
              <a:t>,T</a:t>
            </a:r>
            <a:r>
              <a:rPr lang="en-US" altLang="en-US" baseline="-25000"/>
              <a:t>1</a:t>
            </a:r>
            <a:r>
              <a:rPr lang="en-US" altLang="en-US"/>
              <a:t>,T</a:t>
            </a:r>
            <a:r>
              <a:rPr lang="en-US" altLang="en-US" baseline="-25000"/>
              <a:t>2</a:t>
            </a:r>
            <a:r>
              <a:rPr lang="en-US" altLang="en-US"/>
              <a:t> and so 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xmlns="" id="{197CF651-7E12-4601-BD2A-C5EA73F1E5F2}"/>
              </a:ext>
            </a:extLst>
          </p:cNvPr>
          <p:cNvSpPr>
            <a:spLocks noGrp="1"/>
          </p:cNvSpPr>
          <p:nvPr>
            <p:ph sz="quarter" idx="1"/>
          </p:nvPr>
        </p:nvSpPr>
        <p:spPr>
          <a:xfrm>
            <a:off x="1825626" y="1527175"/>
            <a:ext cx="7394575" cy="4572000"/>
          </a:xfrm>
        </p:spPr>
        <p:txBody>
          <a:bodyPr/>
          <a:lstStyle/>
          <a:p>
            <a:pPr eaLnBrk="1" hangingPunct="1">
              <a:lnSpc>
                <a:spcPct val="90000"/>
              </a:lnSpc>
            </a:pPr>
            <a:r>
              <a:rPr lang="en-US" altLang="en-US"/>
              <a:t>The microoperations for the fetch and decode phases can be specified by the following register transfer statements.</a:t>
            </a:r>
          </a:p>
          <a:p>
            <a:pPr eaLnBrk="1" hangingPunct="1">
              <a:lnSpc>
                <a:spcPct val="90000"/>
              </a:lnSpc>
            </a:pPr>
            <a:endParaRPr lang="en-US" altLang="en-US"/>
          </a:p>
          <a:p>
            <a:pPr eaLnBrk="1" hangingPunct="1">
              <a:lnSpc>
                <a:spcPct val="90000"/>
              </a:lnSpc>
            </a:pPr>
            <a:r>
              <a:rPr lang="en-US" altLang="en-US" sz="2400"/>
              <a:t>T</a:t>
            </a:r>
            <a:r>
              <a:rPr lang="en-US" altLang="en-US" sz="2400" baseline="-25000"/>
              <a:t>0</a:t>
            </a:r>
            <a:r>
              <a:rPr lang="en-US" altLang="en-US" sz="2400"/>
              <a:t>:   AR </a:t>
            </a:r>
            <a:r>
              <a:rPr lang="en-US" altLang="en-US" sz="2400">
                <a:sym typeface="Symbol" panose="05050102010706020507" pitchFamily="18" charset="2"/>
              </a:rPr>
              <a:t> </a:t>
            </a:r>
            <a:r>
              <a:rPr lang="en-US" altLang="en-US" sz="2400"/>
              <a:t>PC</a:t>
            </a:r>
          </a:p>
          <a:p>
            <a:pPr eaLnBrk="1" hangingPunct="1">
              <a:lnSpc>
                <a:spcPct val="90000"/>
              </a:lnSpc>
            </a:pPr>
            <a:r>
              <a:rPr lang="en-US" altLang="en-US" sz="2400"/>
              <a:t>T</a:t>
            </a:r>
            <a:r>
              <a:rPr lang="en-US" altLang="en-US" sz="2400" baseline="-25000"/>
              <a:t>1</a:t>
            </a:r>
            <a:r>
              <a:rPr lang="en-US" altLang="en-US" sz="2400"/>
              <a:t>:   IR </a:t>
            </a:r>
            <a:r>
              <a:rPr lang="en-US" altLang="en-US" sz="2400">
                <a:sym typeface="Symbol" panose="05050102010706020507" pitchFamily="18" charset="2"/>
              </a:rPr>
              <a:t></a:t>
            </a:r>
            <a:r>
              <a:rPr lang="en-US" altLang="en-US" sz="2400"/>
              <a:t> M[AR], PC </a:t>
            </a:r>
            <a:r>
              <a:rPr lang="en-US" altLang="en-US" sz="2400">
                <a:sym typeface="Symbol" panose="05050102010706020507" pitchFamily="18" charset="2"/>
              </a:rPr>
              <a:t></a:t>
            </a:r>
            <a:r>
              <a:rPr lang="en-US" altLang="en-US" sz="2400"/>
              <a:t>PC+1</a:t>
            </a:r>
          </a:p>
          <a:p>
            <a:pPr eaLnBrk="1" hangingPunct="1">
              <a:lnSpc>
                <a:spcPct val="90000"/>
              </a:lnSpc>
            </a:pPr>
            <a:r>
              <a:rPr lang="en-US" altLang="en-US" sz="2400"/>
              <a:t>T</a:t>
            </a:r>
            <a:r>
              <a:rPr lang="en-US" altLang="en-US" sz="2400" baseline="-25000"/>
              <a:t>2</a:t>
            </a:r>
            <a:r>
              <a:rPr lang="en-US" altLang="en-US" sz="2400"/>
              <a:t>: D0, … D7</a:t>
            </a:r>
            <a:r>
              <a:rPr lang="en-US" altLang="en-US" sz="2400">
                <a:sym typeface="Symbol" panose="05050102010706020507" pitchFamily="18" charset="2"/>
              </a:rPr>
              <a:t></a:t>
            </a:r>
            <a:r>
              <a:rPr lang="en-US" altLang="en-US" sz="2400"/>
              <a:t>Decode IR(12-14), AR</a:t>
            </a:r>
            <a:r>
              <a:rPr lang="en-US" altLang="en-US" sz="2400">
                <a:sym typeface="Symbol" panose="05050102010706020507" pitchFamily="18" charset="2"/>
              </a:rPr>
              <a:t></a:t>
            </a:r>
            <a:r>
              <a:rPr lang="en-US" altLang="en-US" sz="2400"/>
              <a:t>IR(0-11),                     	  I </a:t>
            </a:r>
            <a:r>
              <a:rPr lang="en-US" altLang="en-US" sz="2400">
                <a:sym typeface="Symbol" panose="05050102010706020507" pitchFamily="18" charset="2"/>
              </a:rPr>
              <a:t></a:t>
            </a:r>
            <a:r>
              <a:rPr lang="en-US" altLang="en-US" sz="2400"/>
              <a:t> IR(15)</a:t>
            </a:r>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xmlns="" id="{3599CD77-0ECC-4D76-B7EA-E918D136DA87}"/>
              </a:ext>
            </a:extLst>
          </p:cNvPr>
          <p:cNvSpPr>
            <a:spLocks noGrp="1"/>
          </p:cNvSpPr>
          <p:nvPr>
            <p:ph sz="quarter" idx="1"/>
          </p:nvPr>
        </p:nvSpPr>
        <p:spPr>
          <a:xfrm>
            <a:off x="1524000" y="914400"/>
            <a:ext cx="8153400" cy="4953000"/>
          </a:xfrm>
        </p:spPr>
        <p:txBody>
          <a:bodyPr/>
          <a:lstStyle/>
          <a:p>
            <a:pPr marL="685800" indent="-685800"/>
            <a:r>
              <a:rPr lang="en-US" altLang="en-US" u="sng"/>
              <a:t>To provide the data path for the transfer of PC to AR</a:t>
            </a:r>
            <a:r>
              <a:rPr lang="en-US" altLang="en-US"/>
              <a:t> the following signals are required.</a:t>
            </a:r>
          </a:p>
          <a:p>
            <a:pPr marL="685800" indent="-685800">
              <a:buFont typeface="Wingdings" panose="05000000000000000000" pitchFamily="2" charset="2"/>
              <a:buAutoNum type="arabicPeriod"/>
            </a:pPr>
            <a:endParaRPr lang="en-US" altLang="en-US"/>
          </a:p>
          <a:p>
            <a:pPr marL="685800" indent="-685800">
              <a:buFont typeface="Wingdings" panose="05000000000000000000" pitchFamily="2" charset="2"/>
              <a:buAutoNum type="arabicPeriod"/>
            </a:pPr>
            <a:r>
              <a:rPr lang="en-US" altLang="en-US"/>
              <a:t>Place the content of PC onto the bus by making the bus selection inputs                 S</a:t>
            </a:r>
            <a:r>
              <a:rPr lang="en-US" altLang="en-US" baseline="-25000"/>
              <a:t>2</a:t>
            </a:r>
            <a:r>
              <a:rPr lang="en-US" altLang="en-US"/>
              <a:t>S</a:t>
            </a:r>
            <a:r>
              <a:rPr lang="en-US" altLang="en-US" baseline="-25000"/>
              <a:t>1</a:t>
            </a:r>
            <a:r>
              <a:rPr lang="en-US" altLang="en-US"/>
              <a:t>S</a:t>
            </a:r>
            <a:r>
              <a:rPr lang="en-US" altLang="en-US" baseline="-25000"/>
              <a:t>0</a:t>
            </a:r>
            <a:r>
              <a:rPr lang="en-US" altLang="en-US"/>
              <a:t> = 010.</a:t>
            </a:r>
          </a:p>
          <a:p>
            <a:pPr marL="685800" indent="-685800">
              <a:buFont typeface="Wingdings" panose="05000000000000000000" pitchFamily="2" charset="2"/>
              <a:buAutoNum type="arabicPeriod" startAt="2"/>
            </a:pPr>
            <a:endParaRPr lang="en-US" altLang="en-US"/>
          </a:p>
          <a:p>
            <a:pPr marL="685800" indent="-685800">
              <a:buFont typeface="Wingdings" panose="05000000000000000000" pitchFamily="2" charset="2"/>
              <a:buAutoNum type="arabicPeriod" startAt="2"/>
            </a:pPr>
            <a:r>
              <a:rPr lang="en-US" altLang="en-US"/>
              <a:t>Transfer the content of the bus to AR by enabling the LD input of AR.</a:t>
            </a:r>
          </a:p>
          <a:p>
            <a:pPr marL="685800" indent="-685800">
              <a:buNone/>
            </a:pPr>
            <a:endParaRPr lang="en-US"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B0E2C5E5-9E22-4F27-8F96-ACA63613793C}"/>
              </a:ext>
            </a:extLst>
          </p:cNvPr>
          <p:cNvSpPr/>
          <p:nvPr/>
        </p:nvSpPr>
        <p:spPr>
          <a:xfrm>
            <a:off x="-87312" y="78104"/>
            <a:ext cx="12192000" cy="67513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1" name="Group 70">
            <a:extLst>
              <a:ext uri="{FF2B5EF4-FFF2-40B4-BE49-F238E27FC236}">
                <a16:creationId xmlns:a16="http://schemas.microsoft.com/office/drawing/2014/main" xmlns="" id="{66E19950-455A-462A-B182-318AE3C5DD4D}"/>
              </a:ext>
            </a:extLst>
          </p:cNvPr>
          <p:cNvGrpSpPr/>
          <p:nvPr/>
        </p:nvGrpSpPr>
        <p:grpSpPr>
          <a:xfrm>
            <a:off x="2438400" y="-34925"/>
            <a:ext cx="6877050" cy="6835776"/>
            <a:chOff x="2438400" y="-34925"/>
            <a:chExt cx="6877050" cy="6835776"/>
          </a:xfrm>
        </p:grpSpPr>
        <p:sp>
          <p:nvSpPr>
            <p:cNvPr id="72" name="Rectangle 8">
              <a:extLst>
                <a:ext uri="{FF2B5EF4-FFF2-40B4-BE49-F238E27FC236}">
                  <a16:creationId xmlns:a16="http://schemas.microsoft.com/office/drawing/2014/main" xmlns="" id="{016B6665-99D1-4A6C-93B8-A572B38A1CAF}"/>
                </a:ext>
              </a:extLst>
            </p:cNvPr>
            <p:cNvSpPr>
              <a:spLocks noChangeArrowheads="1"/>
            </p:cNvSpPr>
            <p:nvPr/>
          </p:nvSpPr>
          <p:spPr bwMode="auto">
            <a:xfrm>
              <a:off x="5257800" y="561975"/>
              <a:ext cx="1447800" cy="533400"/>
            </a:xfrm>
            <a:prstGeom prst="rect">
              <a:avLst/>
            </a:prstGeom>
            <a:solidFill>
              <a:schemeClr val="tx2"/>
            </a:solidFill>
            <a:ln w="38100">
              <a:solidFill>
                <a:srgbClr val="990000"/>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sz="1400" b="1">
                  <a:solidFill>
                    <a:schemeClr val="bg2"/>
                  </a:solidFill>
                  <a:latin typeface="Times New Roman MT Extra Bold" pitchFamily="18" charset="0"/>
                </a:rPr>
                <a:t>Memory Unit</a:t>
              </a:r>
            </a:p>
            <a:p>
              <a:pPr algn="ctr"/>
              <a:r>
                <a:rPr lang="en-US" altLang="en-US" sz="1400" b="1">
                  <a:solidFill>
                    <a:schemeClr val="bg2"/>
                  </a:solidFill>
                  <a:latin typeface="Times New Roman MT Extra Bold" pitchFamily="18" charset="0"/>
                </a:rPr>
                <a:t>4096 x 16</a:t>
              </a:r>
            </a:p>
          </p:txBody>
        </p:sp>
        <p:sp>
          <p:nvSpPr>
            <p:cNvPr id="73" name="Rectangle 9">
              <a:extLst>
                <a:ext uri="{FF2B5EF4-FFF2-40B4-BE49-F238E27FC236}">
                  <a16:creationId xmlns:a16="http://schemas.microsoft.com/office/drawing/2014/main" xmlns="" id="{27EA9CA1-7807-479D-9F17-E146744D99EE}"/>
                </a:ext>
              </a:extLst>
            </p:cNvPr>
            <p:cNvSpPr>
              <a:spLocks noChangeArrowheads="1"/>
            </p:cNvSpPr>
            <p:nvPr/>
          </p:nvSpPr>
          <p:spPr bwMode="auto">
            <a:xfrm>
              <a:off x="2438400" y="498475"/>
              <a:ext cx="228600" cy="6172200"/>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74" name="Rectangle 10">
              <a:extLst>
                <a:ext uri="{FF2B5EF4-FFF2-40B4-BE49-F238E27FC236}">
                  <a16:creationId xmlns:a16="http://schemas.microsoft.com/office/drawing/2014/main" xmlns="" id="{C227DF29-2451-4CCC-9A90-DF5DC72ACC61}"/>
                </a:ext>
              </a:extLst>
            </p:cNvPr>
            <p:cNvSpPr>
              <a:spLocks noChangeArrowheads="1"/>
            </p:cNvSpPr>
            <p:nvPr/>
          </p:nvSpPr>
          <p:spPr bwMode="auto">
            <a:xfrm>
              <a:off x="8839200" y="485776"/>
              <a:ext cx="228600" cy="6315075"/>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endParaRPr lang="en-US" altLang="en-US" sz="1600" b="1">
                <a:latin typeface="Arial" panose="020B0604020202020204" pitchFamily="34" charset="0"/>
              </a:endParaRPr>
            </a:p>
          </p:txBody>
        </p:sp>
        <p:sp>
          <p:nvSpPr>
            <p:cNvPr id="75" name="Rectangle 11">
              <a:extLst>
                <a:ext uri="{FF2B5EF4-FFF2-40B4-BE49-F238E27FC236}">
                  <a16:creationId xmlns:a16="http://schemas.microsoft.com/office/drawing/2014/main" xmlns="" id="{5C6EFE09-78F0-4B28-950D-B55D30AC3E44}"/>
                </a:ext>
              </a:extLst>
            </p:cNvPr>
            <p:cNvSpPr>
              <a:spLocks noChangeArrowheads="1"/>
            </p:cNvSpPr>
            <p:nvPr/>
          </p:nvSpPr>
          <p:spPr bwMode="auto">
            <a:xfrm>
              <a:off x="2438400" y="6556375"/>
              <a:ext cx="6629400" cy="228600"/>
            </a:xfrm>
            <a:prstGeom prst="rect">
              <a:avLst/>
            </a:prstGeom>
            <a:solidFill>
              <a:schemeClr val="tx2"/>
            </a:solidFill>
            <a:ln>
              <a:noFill/>
            </a:ln>
            <a:extLst>
              <a:ext uri="{91240B29-F687-4F45-9708-019B960494DF}">
                <a14:hiddenLine xmlns:a14="http://schemas.microsoft.com/office/drawing/2010/main" xmlns="" w="317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a:solidFill>
                    <a:schemeClr val="bg2"/>
                  </a:solidFill>
                  <a:latin typeface="Arial" panose="020B0604020202020204" pitchFamily="34" charset="0"/>
                </a:rPr>
                <a:t>16-bit common bus</a:t>
              </a:r>
            </a:p>
          </p:txBody>
        </p:sp>
        <p:sp>
          <p:nvSpPr>
            <p:cNvPr id="76" name="Line 12">
              <a:extLst>
                <a:ext uri="{FF2B5EF4-FFF2-40B4-BE49-F238E27FC236}">
                  <a16:creationId xmlns:a16="http://schemas.microsoft.com/office/drawing/2014/main" xmlns="" id="{61AC31CD-5472-4BA1-8676-2EA585E18B41}"/>
                </a:ext>
              </a:extLst>
            </p:cNvPr>
            <p:cNvSpPr>
              <a:spLocks noChangeShapeType="1"/>
            </p:cNvSpPr>
            <p:nvPr/>
          </p:nvSpPr>
          <p:spPr bwMode="auto">
            <a:xfrm>
              <a:off x="7086600" y="6642100"/>
              <a:ext cx="1219200" cy="0"/>
            </a:xfrm>
            <a:prstGeom prst="line">
              <a:avLst/>
            </a:prstGeom>
            <a:noFill/>
            <a:ln w="38100">
              <a:solidFill>
                <a:srgbClr val="CC3300"/>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77" name="Line 13">
              <a:extLst>
                <a:ext uri="{FF2B5EF4-FFF2-40B4-BE49-F238E27FC236}">
                  <a16:creationId xmlns:a16="http://schemas.microsoft.com/office/drawing/2014/main" xmlns="" id="{CB2D9E83-2275-4092-8263-13C4C995ABD5}"/>
                </a:ext>
              </a:extLst>
            </p:cNvPr>
            <p:cNvSpPr>
              <a:spLocks noChangeShapeType="1"/>
            </p:cNvSpPr>
            <p:nvPr/>
          </p:nvSpPr>
          <p:spPr bwMode="auto">
            <a:xfrm flipH="1">
              <a:off x="3352800" y="6650038"/>
              <a:ext cx="1143000" cy="0"/>
            </a:xfrm>
            <a:prstGeom prst="line">
              <a:avLst/>
            </a:prstGeom>
            <a:noFill/>
            <a:ln w="38100">
              <a:solidFill>
                <a:srgbClr val="CC3300"/>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78" name="Rectangle 14">
              <a:extLst>
                <a:ext uri="{FF2B5EF4-FFF2-40B4-BE49-F238E27FC236}">
                  <a16:creationId xmlns:a16="http://schemas.microsoft.com/office/drawing/2014/main" xmlns="" id="{6FF06BD6-2410-4D08-9144-C3D7988987D9}"/>
                </a:ext>
              </a:extLst>
            </p:cNvPr>
            <p:cNvSpPr>
              <a:spLocks noChangeArrowheads="1"/>
            </p:cNvSpPr>
            <p:nvPr/>
          </p:nvSpPr>
          <p:spPr bwMode="auto">
            <a:xfrm>
              <a:off x="8648700" y="28576"/>
              <a:ext cx="666750" cy="447675"/>
            </a:xfrm>
            <a:prstGeom prst="rect">
              <a:avLst/>
            </a:prstGeom>
            <a:solidFill>
              <a:schemeClr val="tx2"/>
            </a:solidFill>
            <a:ln w="28575">
              <a:solidFill>
                <a:schemeClr val="bg2"/>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a:solidFill>
                    <a:schemeClr val="bg2"/>
                  </a:solidFill>
                  <a:latin typeface="Times New Roman MT Extra Bold" pitchFamily="18" charset="0"/>
                </a:rPr>
                <a:t>BUS</a:t>
              </a:r>
            </a:p>
          </p:txBody>
        </p:sp>
        <p:sp>
          <p:nvSpPr>
            <p:cNvPr id="79" name="Text Box 15">
              <a:extLst>
                <a:ext uri="{FF2B5EF4-FFF2-40B4-BE49-F238E27FC236}">
                  <a16:creationId xmlns:a16="http://schemas.microsoft.com/office/drawing/2014/main" xmlns="" id="{EE59E17E-17E5-46DD-AAD4-91F479EEBA4C}"/>
                </a:ext>
              </a:extLst>
            </p:cNvPr>
            <p:cNvSpPr txBox="1">
              <a:spLocks noChangeArrowheads="1"/>
            </p:cNvSpPr>
            <p:nvPr/>
          </p:nvSpPr>
          <p:spPr bwMode="auto">
            <a:xfrm>
              <a:off x="7924800" y="257175"/>
              <a:ext cx="342900"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b="1">
                  <a:latin typeface="Arial" panose="020B0604020202020204" pitchFamily="34" charset="0"/>
                </a:rPr>
                <a:t>S</a:t>
              </a:r>
              <a:r>
                <a:rPr lang="en-US" altLang="en-US" sz="1200" b="1" baseline="-25000">
                  <a:latin typeface="Arial" panose="020B0604020202020204" pitchFamily="34" charset="0"/>
                </a:rPr>
                <a:t>0</a:t>
              </a:r>
            </a:p>
          </p:txBody>
        </p:sp>
        <p:sp>
          <p:nvSpPr>
            <p:cNvPr id="80" name="Line 16">
              <a:extLst>
                <a:ext uri="{FF2B5EF4-FFF2-40B4-BE49-F238E27FC236}">
                  <a16:creationId xmlns:a16="http://schemas.microsoft.com/office/drawing/2014/main" xmlns="" id="{578DDCBB-598A-43E6-9070-F393BE891438}"/>
                </a:ext>
              </a:extLst>
            </p:cNvPr>
            <p:cNvSpPr>
              <a:spLocks noChangeShapeType="1"/>
            </p:cNvSpPr>
            <p:nvPr/>
          </p:nvSpPr>
          <p:spPr bwMode="auto">
            <a:xfrm>
              <a:off x="6705600" y="714375"/>
              <a:ext cx="2133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81" name="Line 17">
              <a:extLst>
                <a:ext uri="{FF2B5EF4-FFF2-40B4-BE49-F238E27FC236}">
                  <a16:creationId xmlns:a16="http://schemas.microsoft.com/office/drawing/2014/main" xmlns="" id="{2C1BBB98-B570-458B-AD10-4F9EE27BC669}"/>
                </a:ext>
              </a:extLst>
            </p:cNvPr>
            <p:cNvSpPr>
              <a:spLocks noChangeShapeType="1"/>
            </p:cNvSpPr>
            <p:nvPr/>
          </p:nvSpPr>
          <p:spPr bwMode="auto">
            <a:xfrm>
              <a:off x="6705600" y="1019175"/>
              <a:ext cx="1447800" cy="0"/>
            </a:xfrm>
            <a:prstGeom prst="line">
              <a:avLst/>
            </a:prstGeom>
            <a:noFill/>
            <a:ln w="38100">
              <a:solidFill>
                <a:srgbClr val="990000"/>
              </a:solidFill>
              <a:round/>
              <a:headEnd type="triangle" w="med" len="med"/>
              <a:tailEnd/>
            </a:ln>
            <a:extLst>
              <a:ext uri="{909E8E84-426E-40DD-AFC4-6F175D3DCCD1}">
                <a14:hiddenFill xmlns:a14="http://schemas.microsoft.com/office/drawing/2010/main" xmlns="">
                  <a:noFill/>
                </a14:hiddenFill>
              </a:ext>
            </a:extLst>
          </p:spPr>
          <p:txBody>
            <a:bodyPr/>
            <a:lstStyle/>
            <a:p>
              <a:endParaRPr lang="en-IN"/>
            </a:p>
          </p:txBody>
        </p:sp>
        <p:sp>
          <p:nvSpPr>
            <p:cNvPr id="82" name="Rectangle 18">
              <a:extLst>
                <a:ext uri="{FF2B5EF4-FFF2-40B4-BE49-F238E27FC236}">
                  <a16:creationId xmlns:a16="http://schemas.microsoft.com/office/drawing/2014/main" xmlns="" id="{BCB76417-F633-43EE-9975-86C49C48CAD1}"/>
                </a:ext>
              </a:extLst>
            </p:cNvPr>
            <p:cNvSpPr>
              <a:spLocks noChangeArrowheads="1"/>
            </p:cNvSpPr>
            <p:nvPr/>
          </p:nvSpPr>
          <p:spPr bwMode="auto">
            <a:xfrm>
              <a:off x="5181600" y="1614489"/>
              <a:ext cx="1595438" cy="242887"/>
            </a:xfrm>
            <a:prstGeom prst="rect">
              <a:avLst/>
            </a:prstGeom>
            <a:solidFill>
              <a:schemeClr val="tx2"/>
            </a:solidFill>
            <a:ln w="38100">
              <a:solidFill>
                <a:srgbClr val="990000"/>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i="1">
                  <a:solidFill>
                    <a:schemeClr val="bg2"/>
                  </a:solidFill>
                  <a:latin typeface="Times New Roman MT Extra Bold" pitchFamily="18" charset="0"/>
                </a:rPr>
                <a:t>AR</a:t>
              </a:r>
            </a:p>
          </p:txBody>
        </p:sp>
        <p:sp>
          <p:nvSpPr>
            <p:cNvPr id="83" name="Line 19">
              <a:extLst>
                <a:ext uri="{FF2B5EF4-FFF2-40B4-BE49-F238E27FC236}">
                  <a16:creationId xmlns:a16="http://schemas.microsoft.com/office/drawing/2014/main" xmlns="" id="{6FF37A70-9E51-49BD-B93E-981313F06C84}"/>
                </a:ext>
              </a:extLst>
            </p:cNvPr>
            <p:cNvSpPr>
              <a:spLocks noChangeShapeType="1"/>
            </p:cNvSpPr>
            <p:nvPr/>
          </p:nvSpPr>
          <p:spPr bwMode="auto">
            <a:xfrm flipV="1">
              <a:off x="5329238" y="1095376"/>
              <a:ext cx="0" cy="21431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84" name="Text Box 20">
              <a:extLst>
                <a:ext uri="{FF2B5EF4-FFF2-40B4-BE49-F238E27FC236}">
                  <a16:creationId xmlns:a16="http://schemas.microsoft.com/office/drawing/2014/main" xmlns="" id="{0BF4B0BD-33CB-4BFD-B066-B049F866824A}"/>
                </a:ext>
              </a:extLst>
            </p:cNvPr>
            <p:cNvSpPr txBox="1">
              <a:spLocks noChangeArrowheads="1"/>
            </p:cNvSpPr>
            <p:nvPr/>
          </p:nvSpPr>
          <p:spPr bwMode="auto">
            <a:xfrm>
              <a:off x="5051425" y="1235075"/>
              <a:ext cx="6286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400" b="1" dirty="0">
                  <a:latin typeface="Times New Roman" panose="02020603050405020304" pitchFamily="18" charset="0"/>
                </a:rPr>
                <a:t>Write</a:t>
              </a:r>
            </a:p>
          </p:txBody>
        </p:sp>
        <p:sp>
          <p:nvSpPr>
            <p:cNvPr id="85" name="Text Box 21">
              <a:extLst>
                <a:ext uri="{FF2B5EF4-FFF2-40B4-BE49-F238E27FC236}">
                  <a16:creationId xmlns:a16="http://schemas.microsoft.com/office/drawing/2014/main" xmlns="" id="{AA62C7FE-CB48-4A84-B1CA-AC9832B65089}"/>
                </a:ext>
              </a:extLst>
            </p:cNvPr>
            <p:cNvSpPr txBox="1">
              <a:spLocks noChangeArrowheads="1"/>
            </p:cNvSpPr>
            <p:nvPr/>
          </p:nvSpPr>
          <p:spPr bwMode="auto">
            <a:xfrm>
              <a:off x="6210300" y="1235075"/>
              <a:ext cx="57943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400" b="1">
                  <a:latin typeface="Times New Roman" panose="02020603050405020304" pitchFamily="18" charset="0"/>
                </a:rPr>
                <a:t>Read</a:t>
              </a:r>
            </a:p>
          </p:txBody>
        </p:sp>
        <p:sp>
          <p:nvSpPr>
            <p:cNvPr id="86" name="Line 22">
              <a:extLst>
                <a:ext uri="{FF2B5EF4-FFF2-40B4-BE49-F238E27FC236}">
                  <a16:creationId xmlns:a16="http://schemas.microsoft.com/office/drawing/2014/main" xmlns="" id="{E4AD9393-F99D-4449-8406-85C5205EC283}"/>
                </a:ext>
              </a:extLst>
            </p:cNvPr>
            <p:cNvSpPr>
              <a:spLocks noChangeShapeType="1"/>
            </p:cNvSpPr>
            <p:nvPr/>
          </p:nvSpPr>
          <p:spPr bwMode="auto">
            <a:xfrm>
              <a:off x="2667000" y="866775"/>
              <a:ext cx="2514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87" name="Line 23">
              <a:extLst>
                <a:ext uri="{FF2B5EF4-FFF2-40B4-BE49-F238E27FC236}">
                  <a16:creationId xmlns:a16="http://schemas.microsoft.com/office/drawing/2014/main" xmlns="" id="{67892461-0829-4776-B11B-CEFD6874F91D}"/>
                </a:ext>
              </a:extLst>
            </p:cNvPr>
            <p:cNvSpPr>
              <a:spLocks noChangeShapeType="1"/>
            </p:cNvSpPr>
            <p:nvPr/>
          </p:nvSpPr>
          <p:spPr bwMode="auto">
            <a:xfrm flipV="1">
              <a:off x="6548438" y="1095376"/>
              <a:ext cx="0" cy="21431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88" name="Rectangle 24">
              <a:extLst>
                <a:ext uri="{FF2B5EF4-FFF2-40B4-BE49-F238E27FC236}">
                  <a16:creationId xmlns:a16="http://schemas.microsoft.com/office/drawing/2014/main" xmlns="" id="{FFE156DA-D22D-4B13-86AA-1E4A06AA5EFA}"/>
                </a:ext>
              </a:extLst>
            </p:cNvPr>
            <p:cNvSpPr>
              <a:spLocks noChangeArrowheads="1"/>
            </p:cNvSpPr>
            <p:nvPr/>
          </p:nvSpPr>
          <p:spPr bwMode="auto">
            <a:xfrm>
              <a:off x="5181600" y="2314575"/>
              <a:ext cx="1595438" cy="242888"/>
            </a:xfrm>
            <a:prstGeom prst="rect">
              <a:avLst/>
            </a:prstGeom>
            <a:solidFill>
              <a:schemeClr val="tx2"/>
            </a:solidFill>
            <a:ln w="38100">
              <a:solidFill>
                <a:srgbClr val="990000"/>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i="1">
                  <a:solidFill>
                    <a:schemeClr val="bg2"/>
                  </a:solidFill>
                  <a:latin typeface="Times New Roman MT Extra Bold" pitchFamily="18" charset="0"/>
                </a:rPr>
                <a:t>PC</a:t>
              </a:r>
            </a:p>
          </p:txBody>
        </p:sp>
        <p:sp>
          <p:nvSpPr>
            <p:cNvPr id="89" name="Rectangle 27">
              <a:extLst>
                <a:ext uri="{FF2B5EF4-FFF2-40B4-BE49-F238E27FC236}">
                  <a16:creationId xmlns:a16="http://schemas.microsoft.com/office/drawing/2014/main" xmlns="" id="{BD2C044B-4237-4E9E-979E-0D30DFD448B6}"/>
                </a:ext>
              </a:extLst>
            </p:cNvPr>
            <p:cNvSpPr>
              <a:spLocks noChangeArrowheads="1"/>
            </p:cNvSpPr>
            <p:nvPr/>
          </p:nvSpPr>
          <p:spPr bwMode="auto">
            <a:xfrm>
              <a:off x="5181600" y="4676775"/>
              <a:ext cx="1595438" cy="228600"/>
            </a:xfrm>
            <a:prstGeom prst="rect">
              <a:avLst/>
            </a:prstGeom>
            <a:solidFill>
              <a:schemeClr val="tx2"/>
            </a:solidFill>
            <a:ln w="38100">
              <a:solidFill>
                <a:srgbClr val="990000"/>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i="1">
                  <a:solidFill>
                    <a:schemeClr val="bg2"/>
                  </a:solidFill>
                  <a:latin typeface="Times New Roman MT Extra Bold" pitchFamily="18" charset="0"/>
                </a:rPr>
                <a:t>IR</a:t>
              </a:r>
            </a:p>
          </p:txBody>
        </p:sp>
        <p:sp>
          <p:nvSpPr>
            <p:cNvPr id="90" name="Line 37">
              <a:extLst>
                <a:ext uri="{FF2B5EF4-FFF2-40B4-BE49-F238E27FC236}">
                  <a16:creationId xmlns:a16="http://schemas.microsoft.com/office/drawing/2014/main" xmlns="" id="{0C7206CE-1CAC-42BA-9242-03C8DD374AA7}"/>
                </a:ext>
              </a:extLst>
            </p:cNvPr>
            <p:cNvSpPr>
              <a:spLocks noChangeShapeType="1"/>
            </p:cNvSpPr>
            <p:nvPr/>
          </p:nvSpPr>
          <p:spPr bwMode="auto">
            <a:xfrm flipV="1">
              <a:off x="5257800" y="4886325"/>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1" name="Line 39">
              <a:extLst>
                <a:ext uri="{FF2B5EF4-FFF2-40B4-BE49-F238E27FC236}">
                  <a16:creationId xmlns:a16="http://schemas.microsoft.com/office/drawing/2014/main" xmlns="" id="{B75C69ED-A1F6-4DF7-946B-A70E2CDB8202}"/>
                </a:ext>
              </a:extLst>
            </p:cNvPr>
            <p:cNvSpPr>
              <a:spLocks noChangeShapeType="1"/>
            </p:cNvSpPr>
            <p:nvPr/>
          </p:nvSpPr>
          <p:spPr bwMode="auto">
            <a:xfrm>
              <a:off x="7620000" y="2085976"/>
              <a:ext cx="0" cy="4219575"/>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2" name="Line 40">
              <a:extLst>
                <a:ext uri="{FF2B5EF4-FFF2-40B4-BE49-F238E27FC236}">
                  <a16:creationId xmlns:a16="http://schemas.microsoft.com/office/drawing/2014/main" xmlns="" id="{1F6C56BF-2F2C-4A54-9A9A-791EB478B76F}"/>
                </a:ext>
              </a:extLst>
            </p:cNvPr>
            <p:cNvSpPr>
              <a:spLocks noChangeShapeType="1"/>
            </p:cNvSpPr>
            <p:nvPr/>
          </p:nvSpPr>
          <p:spPr bwMode="auto">
            <a:xfrm>
              <a:off x="7620001" y="6310313"/>
              <a:ext cx="442913" cy="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3" name="Text Box 42">
              <a:extLst>
                <a:ext uri="{FF2B5EF4-FFF2-40B4-BE49-F238E27FC236}">
                  <a16:creationId xmlns:a16="http://schemas.microsoft.com/office/drawing/2014/main" xmlns="" id="{FE8A206B-BAEC-4424-9509-A4474650BB56}"/>
                </a:ext>
              </a:extLst>
            </p:cNvPr>
            <p:cNvSpPr txBox="1">
              <a:spLocks noChangeArrowheads="1"/>
            </p:cNvSpPr>
            <p:nvPr/>
          </p:nvSpPr>
          <p:spPr bwMode="auto">
            <a:xfrm>
              <a:off x="8077200" y="6132513"/>
              <a:ext cx="6667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400" b="1">
                  <a:latin typeface="Arial" panose="020B0604020202020204" pitchFamily="34" charset="0"/>
                </a:rPr>
                <a:t>Clock</a:t>
              </a:r>
            </a:p>
          </p:txBody>
        </p:sp>
        <p:sp>
          <p:nvSpPr>
            <p:cNvPr id="94" name="Line 48">
              <a:extLst>
                <a:ext uri="{FF2B5EF4-FFF2-40B4-BE49-F238E27FC236}">
                  <a16:creationId xmlns:a16="http://schemas.microsoft.com/office/drawing/2014/main" xmlns="" id="{28DE97F6-EF95-4620-996D-F3D44D6CC882}"/>
                </a:ext>
              </a:extLst>
            </p:cNvPr>
            <p:cNvSpPr>
              <a:spLocks noChangeShapeType="1"/>
            </p:cNvSpPr>
            <p:nvPr/>
          </p:nvSpPr>
          <p:spPr bwMode="auto">
            <a:xfrm>
              <a:off x="6567488" y="4905375"/>
              <a:ext cx="0" cy="15240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5" name="Text Box 52">
              <a:extLst>
                <a:ext uri="{FF2B5EF4-FFF2-40B4-BE49-F238E27FC236}">
                  <a16:creationId xmlns:a16="http://schemas.microsoft.com/office/drawing/2014/main" xmlns="" id="{AC349858-D12D-41D7-BBE2-385936EDFE07}"/>
                </a:ext>
              </a:extLst>
            </p:cNvPr>
            <p:cNvSpPr txBox="1">
              <a:spLocks noChangeArrowheads="1"/>
            </p:cNvSpPr>
            <p:nvPr/>
          </p:nvSpPr>
          <p:spPr bwMode="auto">
            <a:xfrm>
              <a:off x="5086351" y="5000625"/>
              <a:ext cx="377825"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LD</a:t>
              </a:r>
            </a:p>
          </p:txBody>
        </p:sp>
        <p:sp>
          <p:nvSpPr>
            <p:cNvPr id="96" name="Oval 57">
              <a:extLst>
                <a:ext uri="{FF2B5EF4-FFF2-40B4-BE49-F238E27FC236}">
                  <a16:creationId xmlns:a16="http://schemas.microsoft.com/office/drawing/2014/main" xmlns="" id="{5FA75BA5-7871-4060-8662-F1ED68D46C03}"/>
                </a:ext>
              </a:extLst>
            </p:cNvPr>
            <p:cNvSpPr>
              <a:spLocks noChangeArrowheads="1"/>
            </p:cNvSpPr>
            <p:nvPr/>
          </p:nvSpPr>
          <p:spPr bwMode="auto">
            <a:xfrm>
              <a:off x="7586663" y="6262688"/>
              <a:ext cx="76200" cy="76200"/>
            </a:xfrm>
            <a:prstGeom prst="ellipse">
              <a:avLst/>
            </a:prstGeom>
            <a:solidFill>
              <a:srgbClr val="CC3300"/>
            </a:solidFill>
            <a:ln w="44450">
              <a:solidFill>
                <a:srgbClr val="CC3300"/>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97" name="Line 65">
              <a:extLst>
                <a:ext uri="{FF2B5EF4-FFF2-40B4-BE49-F238E27FC236}">
                  <a16:creationId xmlns:a16="http://schemas.microsoft.com/office/drawing/2014/main" xmlns="" id="{E79CFB07-1733-42CF-A8B1-B255725B0B16}"/>
                </a:ext>
              </a:extLst>
            </p:cNvPr>
            <p:cNvSpPr>
              <a:spLocks noChangeShapeType="1"/>
            </p:cNvSpPr>
            <p:nvPr/>
          </p:nvSpPr>
          <p:spPr bwMode="auto">
            <a:xfrm>
              <a:off x="6781800" y="1704975"/>
              <a:ext cx="20574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98" name="Oval 66">
              <a:extLst>
                <a:ext uri="{FF2B5EF4-FFF2-40B4-BE49-F238E27FC236}">
                  <a16:creationId xmlns:a16="http://schemas.microsoft.com/office/drawing/2014/main" xmlns="" id="{6CBFC5F9-D07A-438B-82EC-C98F037B383C}"/>
                </a:ext>
              </a:extLst>
            </p:cNvPr>
            <p:cNvSpPr>
              <a:spLocks noChangeArrowheads="1"/>
            </p:cNvSpPr>
            <p:nvPr/>
          </p:nvSpPr>
          <p:spPr bwMode="auto">
            <a:xfrm>
              <a:off x="8105775" y="1676400"/>
              <a:ext cx="76200" cy="76200"/>
            </a:xfrm>
            <a:prstGeom prst="ellipse">
              <a:avLst/>
            </a:prstGeom>
            <a:solidFill>
              <a:srgbClr val="CC3300"/>
            </a:solidFill>
            <a:ln w="9525">
              <a:solidFill>
                <a:srgbClr val="CC3300"/>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99" name="Line 67">
              <a:extLst>
                <a:ext uri="{FF2B5EF4-FFF2-40B4-BE49-F238E27FC236}">
                  <a16:creationId xmlns:a16="http://schemas.microsoft.com/office/drawing/2014/main" xmlns="" id="{37B91EBD-350B-43A8-A7CA-110C12C492D6}"/>
                </a:ext>
              </a:extLst>
            </p:cNvPr>
            <p:cNvSpPr>
              <a:spLocks noChangeShapeType="1"/>
            </p:cNvSpPr>
            <p:nvPr/>
          </p:nvSpPr>
          <p:spPr bwMode="auto">
            <a:xfrm flipV="1">
              <a:off x="8153400" y="1004888"/>
              <a:ext cx="0" cy="685800"/>
            </a:xfrm>
            <a:prstGeom prst="line">
              <a:avLst/>
            </a:prstGeom>
            <a:noFill/>
            <a:ln w="38100">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00" name="Text Box 68">
              <a:extLst>
                <a:ext uri="{FF2B5EF4-FFF2-40B4-BE49-F238E27FC236}">
                  <a16:creationId xmlns:a16="http://schemas.microsoft.com/office/drawing/2014/main" xmlns="" id="{2A3E75DA-AC11-464A-BB31-A55F65F973DA}"/>
                </a:ext>
              </a:extLst>
            </p:cNvPr>
            <p:cNvSpPr txBox="1">
              <a:spLocks noChangeArrowheads="1"/>
            </p:cNvSpPr>
            <p:nvPr/>
          </p:nvSpPr>
          <p:spPr bwMode="auto">
            <a:xfrm>
              <a:off x="7070725" y="1004888"/>
              <a:ext cx="8509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i="1">
                  <a:latin typeface="Times New Roman" panose="02020603050405020304" pitchFamily="18" charset="0"/>
                </a:rPr>
                <a:t>Address</a:t>
              </a:r>
            </a:p>
          </p:txBody>
        </p:sp>
        <p:sp>
          <p:nvSpPr>
            <p:cNvPr id="101" name="Line 69">
              <a:extLst>
                <a:ext uri="{FF2B5EF4-FFF2-40B4-BE49-F238E27FC236}">
                  <a16:creationId xmlns:a16="http://schemas.microsoft.com/office/drawing/2014/main" xmlns="" id="{656790F2-7FB5-4B99-A58C-9259EF2EE559}"/>
                </a:ext>
              </a:extLst>
            </p:cNvPr>
            <p:cNvSpPr>
              <a:spLocks noChangeShapeType="1"/>
            </p:cNvSpPr>
            <p:nvPr/>
          </p:nvSpPr>
          <p:spPr bwMode="auto">
            <a:xfrm>
              <a:off x="2667000" y="1704975"/>
              <a:ext cx="2514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02" name="Line 70">
              <a:extLst>
                <a:ext uri="{FF2B5EF4-FFF2-40B4-BE49-F238E27FC236}">
                  <a16:creationId xmlns:a16="http://schemas.microsoft.com/office/drawing/2014/main" xmlns="" id="{7F251472-0D7C-474D-AB2C-A4DEB24A9004}"/>
                </a:ext>
              </a:extLst>
            </p:cNvPr>
            <p:cNvSpPr>
              <a:spLocks noChangeShapeType="1"/>
            </p:cNvSpPr>
            <p:nvPr/>
          </p:nvSpPr>
          <p:spPr bwMode="auto">
            <a:xfrm>
              <a:off x="2667000" y="2438400"/>
              <a:ext cx="2514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03" name="AutoShape 72">
              <a:extLst>
                <a:ext uri="{FF2B5EF4-FFF2-40B4-BE49-F238E27FC236}">
                  <a16:creationId xmlns:a16="http://schemas.microsoft.com/office/drawing/2014/main" xmlns="" id="{E9454F2F-0748-4F90-ADC6-9F28488D329E}"/>
                </a:ext>
              </a:extLst>
            </p:cNvPr>
            <p:cNvSpPr>
              <a:spLocks noChangeArrowheads="1"/>
            </p:cNvSpPr>
            <p:nvPr/>
          </p:nvSpPr>
          <p:spPr bwMode="auto">
            <a:xfrm>
              <a:off x="6491288" y="2428876"/>
              <a:ext cx="152400" cy="100013"/>
            </a:xfrm>
            <a:prstGeom prst="triangle">
              <a:avLst>
                <a:gd name="adj" fmla="val 50000"/>
              </a:avLst>
            </a:prstGeom>
            <a:noFill/>
            <a:ln w="28575">
              <a:solidFill>
                <a:srgbClr val="99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04" name="Line 73">
              <a:extLst>
                <a:ext uri="{FF2B5EF4-FFF2-40B4-BE49-F238E27FC236}">
                  <a16:creationId xmlns:a16="http://schemas.microsoft.com/office/drawing/2014/main" xmlns="" id="{959AD710-0665-4970-8BA8-6F63460D0330}"/>
                </a:ext>
              </a:extLst>
            </p:cNvPr>
            <p:cNvSpPr>
              <a:spLocks noChangeShapeType="1"/>
            </p:cNvSpPr>
            <p:nvPr/>
          </p:nvSpPr>
          <p:spPr bwMode="auto">
            <a:xfrm>
              <a:off x="6553200" y="2695575"/>
              <a:ext cx="1066800" cy="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05" name="Line 74">
              <a:extLst>
                <a:ext uri="{FF2B5EF4-FFF2-40B4-BE49-F238E27FC236}">
                  <a16:creationId xmlns:a16="http://schemas.microsoft.com/office/drawing/2014/main" xmlns="" id="{05D3588D-0F29-4EE1-A44B-9F709108979D}"/>
                </a:ext>
              </a:extLst>
            </p:cNvPr>
            <p:cNvSpPr>
              <a:spLocks noChangeShapeType="1"/>
            </p:cNvSpPr>
            <p:nvPr/>
          </p:nvSpPr>
          <p:spPr bwMode="auto">
            <a:xfrm>
              <a:off x="6567488" y="2568575"/>
              <a:ext cx="0" cy="15240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06" name="Oval 75">
              <a:extLst>
                <a:ext uri="{FF2B5EF4-FFF2-40B4-BE49-F238E27FC236}">
                  <a16:creationId xmlns:a16="http://schemas.microsoft.com/office/drawing/2014/main" xmlns="" id="{70171866-5731-4423-8BF3-92716A5EAFC5}"/>
                </a:ext>
              </a:extLst>
            </p:cNvPr>
            <p:cNvSpPr>
              <a:spLocks noChangeArrowheads="1"/>
            </p:cNvSpPr>
            <p:nvPr/>
          </p:nvSpPr>
          <p:spPr bwMode="auto">
            <a:xfrm>
              <a:off x="7591425" y="2652713"/>
              <a:ext cx="76200" cy="76200"/>
            </a:xfrm>
            <a:prstGeom prst="ellipse">
              <a:avLst/>
            </a:prstGeom>
            <a:solidFill>
              <a:srgbClr val="CC3300"/>
            </a:solidFill>
            <a:ln w="44450">
              <a:solidFill>
                <a:srgbClr val="CC3300"/>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07" name="AutoShape 77">
              <a:extLst>
                <a:ext uri="{FF2B5EF4-FFF2-40B4-BE49-F238E27FC236}">
                  <a16:creationId xmlns:a16="http://schemas.microsoft.com/office/drawing/2014/main" xmlns="" id="{B84A1338-8735-4CB8-BD24-5B590C90F86E}"/>
                </a:ext>
              </a:extLst>
            </p:cNvPr>
            <p:cNvSpPr>
              <a:spLocks noChangeArrowheads="1"/>
            </p:cNvSpPr>
            <p:nvPr/>
          </p:nvSpPr>
          <p:spPr bwMode="auto">
            <a:xfrm>
              <a:off x="6491288" y="4795838"/>
              <a:ext cx="152400" cy="100012"/>
            </a:xfrm>
            <a:prstGeom prst="triangle">
              <a:avLst>
                <a:gd name="adj" fmla="val 50000"/>
              </a:avLst>
            </a:prstGeom>
            <a:noFill/>
            <a:ln w="28575">
              <a:solidFill>
                <a:srgbClr val="99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08" name="AutoShape 80">
              <a:extLst>
                <a:ext uri="{FF2B5EF4-FFF2-40B4-BE49-F238E27FC236}">
                  <a16:creationId xmlns:a16="http://schemas.microsoft.com/office/drawing/2014/main" xmlns="" id="{912463D4-60C2-4882-82BA-98DB2EC5C394}"/>
                </a:ext>
              </a:extLst>
            </p:cNvPr>
            <p:cNvSpPr>
              <a:spLocks noChangeArrowheads="1"/>
            </p:cNvSpPr>
            <p:nvPr/>
          </p:nvSpPr>
          <p:spPr bwMode="auto">
            <a:xfrm>
              <a:off x="6505575" y="1733551"/>
              <a:ext cx="152400" cy="100013"/>
            </a:xfrm>
            <a:prstGeom prst="triangle">
              <a:avLst>
                <a:gd name="adj" fmla="val 50000"/>
              </a:avLst>
            </a:prstGeom>
            <a:noFill/>
            <a:ln w="28575">
              <a:solidFill>
                <a:srgbClr val="99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09" name="Line 81">
              <a:extLst>
                <a:ext uri="{FF2B5EF4-FFF2-40B4-BE49-F238E27FC236}">
                  <a16:creationId xmlns:a16="http://schemas.microsoft.com/office/drawing/2014/main" xmlns="" id="{88B21B6D-21A9-4A15-A0FC-1865FA025D7E}"/>
                </a:ext>
              </a:extLst>
            </p:cNvPr>
            <p:cNvSpPr>
              <a:spLocks noChangeShapeType="1"/>
            </p:cNvSpPr>
            <p:nvPr/>
          </p:nvSpPr>
          <p:spPr bwMode="auto">
            <a:xfrm>
              <a:off x="6553200" y="2085975"/>
              <a:ext cx="1066800" cy="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10" name="Line 82">
              <a:extLst>
                <a:ext uri="{FF2B5EF4-FFF2-40B4-BE49-F238E27FC236}">
                  <a16:creationId xmlns:a16="http://schemas.microsoft.com/office/drawing/2014/main" xmlns="" id="{BB8893FE-70B6-4A5D-8E2D-EF0FA3D8D74D}"/>
                </a:ext>
              </a:extLst>
            </p:cNvPr>
            <p:cNvSpPr>
              <a:spLocks noChangeShapeType="1"/>
            </p:cNvSpPr>
            <p:nvPr/>
          </p:nvSpPr>
          <p:spPr bwMode="auto">
            <a:xfrm>
              <a:off x="6567488" y="1857375"/>
              <a:ext cx="0" cy="22860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11" name="Text Box 86">
              <a:extLst>
                <a:ext uri="{FF2B5EF4-FFF2-40B4-BE49-F238E27FC236}">
                  <a16:creationId xmlns:a16="http://schemas.microsoft.com/office/drawing/2014/main" xmlns="" id="{D89B9E35-B7C9-48A3-AB9D-EB8DB574D54E}"/>
                </a:ext>
              </a:extLst>
            </p:cNvPr>
            <p:cNvSpPr txBox="1">
              <a:spLocks noChangeArrowheads="1"/>
            </p:cNvSpPr>
            <p:nvPr/>
          </p:nvSpPr>
          <p:spPr bwMode="auto">
            <a:xfrm>
              <a:off x="8777288" y="1495425"/>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a:solidFill>
                    <a:schemeClr val="bg2"/>
                  </a:solidFill>
                  <a:latin typeface="Times New Roman MT Extra Bold" pitchFamily="18" charset="0"/>
                </a:rPr>
                <a:t>1</a:t>
              </a:r>
            </a:p>
          </p:txBody>
        </p:sp>
        <p:sp>
          <p:nvSpPr>
            <p:cNvPr id="112" name="Line 87">
              <a:extLst>
                <a:ext uri="{FF2B5EF4-FFF2-40B4-BE49-F238E27FC236}">
                  <a16:creationId xmlns:a16="http://schemas.microsoft.com/office/drawing/2014/main" xmlns="" id="{327F6B2D-4D72-4A3A-8082-B0FCEBC363A3}"/>
                </a:ext>
              </a:extLst>
            </p:cNvPr>
            <p:cNvSpPr>
              <a:spLocks noChangeShapeType="1"/>
            </p:cNvSpPr>
            <p:nvPr/>
          </p:nvSpPr>
          <p:spPr bwMode="auto">
            <a:xfrm>
              <a:off x="6781800" y="2390775"/>
              <a:ext cx="20574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13" name="Text Box 88">
              <a:extLst>
                <a:ext uri="{FF2B5EF4-FFF2-40B4-BE49-F238E27FC236}">
                  <a16:creationId xmlns:a16="http://schemas.microsoft.com/office/drawing/2014/main" xmlns="" id="{812C3EC1-E59A-4231-9130-36B235B84352}"/>
                </a:ext>
              </a:extLst>
            </p:cNvPr>
            <p:cNvSpPr txBox="1">
              <a:spLocks noChangeArrowheads="1"/>
            </p:cNvSpPr>
            <p:nvPr/>
          </p:nvSpPr>
          <p:spPr bwMode="auto">
            <a:xfrm>
              <a:off x="8777288" y="2257425"/>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a:solidFill>
                    <a:schemeClr val="bg2"/>
                  </a:solidFill>
                  <a:latin typeface="Times New Roman MT Extra Bold" pitchFamily="18" charset="0"/>
                </a:rPr>
                <a:t>2</a:t>
              </a:r>
            </a:p>
          </p:txBody>
        </p:sp>
        <p:sp>
          <p:nvSpPr>
            <p:cNvPr id="114" name="Text Box 90">
              <a:extLst>
                <a:ext uri="{FF2B5EF4-FFF2-40B4-BE49-F238E27FC236}">
                  <a16:creationId xmlns:a16="http://schemas.microsoft.com/office/drawing/2014/main" xmlns="" id="{7450650F-4F33-4E9E-A3E4-60040F964571}"/>
                </a:ext>
              </a:extLst>
            </p:cNvPr>
            <p:cNvSpPr txBox="1">
              <a:spLocks noChangeArrowheads="1"/>
            </p:cNvSpPr>
            <p:nvPr/>
          </p:nvSpPr>
          <p:spPr bwMode="auto">
            <a:xfrm>
              <a:off x="8777288" y="561975"/>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a:solidFill>
                    <a:schemeClr val="bg2"/>
                  </a:solidFill>
                  <a:latin typeface="Times New Roman MT Extra Bold" pitchFamily="18" charset="0"/>
                </a:rPr>
                <a:t>7</a:t>
              </a:r>
            </a:p>
          </p:txBody>
        </p:sp>
        <p:sp>
          <p:nvSpPr>
            <p:cNvPr id="115" name="Line 94">
              <a:extLst>
                <a:ext uri="{FF2B5EF4-FFF2-40B4-BE49-F238E27FC236}">
                  <a16:creationId xmlns:a16="http://schemas.microsoft.com/office/drawing/2014/main" xmlns="" id="{B4BA45BF-7DF0-4701-A5F3-7A9F2547D45B}"/>
                </a:ext>
              </a:extLst>
            </p:cNvPr>
            <p:cNvSpPr>
              <a:spLocks noChangeShapeType="1"/>
            </p:cNvSpPr>
            <p:nvPr/>
          </p:nvSpPr>
          <p:spPr bwMode="auto">
            <a:xfrm>
              <a:off x="6781800" y="4762500"/>
              <a:ext cx="20574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16" name="Text Box 95">
              <a:extLst>
                <a:ext uri="{FF2B5EF4-FFF2-40B4-BE49-F238E27FC236}">
                  <a16:creationId xmlns:a16="http://schemas.microsoft.com/office/drawing/2014/main" xmlns="" id="{F6EE4134-2B70-4885-9BB8-04B2079ED206}"/>
                </a:ext>
              </a:extLst>
            </p:cNvPr>
            <p:cNvSpPr txBox="1">
              <a:spLocks noChangeArrowheads="1"/>
            </p:cNvSpPr>
            <p:nvPr/>
          </p:nvSpPr>
          <p:spPr bwMode="auto">
            <a:xfrm>
              <a:off x="8777288" y="4581525"/>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a:solidFill>
                    <a:schemeClr val="bg2"/>
                  </a:solidFill>
                  <a:latin typeface="Times New Roman MT Extra Bold" pitchFamily="18" charset="0"/>
                </a:rPr>
                <a:t>5</a:t>
              </a:r>
            </a:p>
          </p:txBody>
        </p:sp>
        <p:sp>
          <p:nvSpPr>
            <p:cNvPr id="117" name="Line 104">
              <a:extLst>
                <a:ext uri="{FF2B5EF4-FFF2-40B4-BE49-F238E27FC236}">
                  <a16:creationId xmlns:a16="http://schemas.microsoft.com/office/drawing/2014/main" xmlns="" id="{AACD5805-D5B1-4106-9E2A-77C31B5081BF}"/>
                </a:ext>
              </a:extLst>
            </p:cNvPr>
            <p:cNvSpPr>
              <a:spLocks noChangeShapeType="1"/>
            </p:cNvSpPr>
            <p:nvPr/>
          </p:nvSpPr>
          <p:spPr bwMode="auto">
            <a:xfrm flipV="1">
              <a:off x="5257800" y="1836738"/>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18" name="Text Box 105">
              <a:extLst>
                <a:ext uri="{FF2B5EF4-FFF2-40B4-BE49-F238E27FC236}">
                  <a16:creationId xmlns:a16="http://schemas.microsoft.com/office/drawing/2014/main" xmlns="" id="{822E8ADF-88D1-4838-926E-70BED08474E9}"/>
                </a:ext>
              </a:extLst>
            </p:cNvPr>
            <p:cNvSpPr txBox="1">
              <a:spLocks noChangeArrowheads="1"/>
            </p:cNvSpPr>
            <p:nvPr/>
          </p:nvSpPr>
          <p:spPr bwMode="auto">
            <a:xfrm>
              <a:off x="5089526" y="1946275"/>
              <a:ext cx="377825"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LD</a:t>
              </a:r>
            </a:p>
          </p:txBody>
        </p:sp>
        <p:sp>
          <p:nvSpPr>
            <p:cNvPr id="119" name="Line 106">
              <a:extLst>
                <a:ext uri="{FF2B5EF4-FFF2-40B4-BE49-F238E27FC236}">
                  <a16:creationId xmlns:a16="http://schemas.microsoft.com/office/drawing/2014/main" xmlns="" id="{ABD58287-2DA5-4912-8762-C2681F4B7770}"/>
                </a:ext>
              </a:extLst>
            </p:cNvPr>
            <p:cNvSpPr>
              <a:spLocks noChangeShapeType="1"/>
            </p:cNvSpPr>
            <p:nvPr/>
          </p:nvSpPr>
          <p:spPr bwMode="auto">
            <a:xfrm flipV="1">
              <a:off x="5730875" y="1836738"/>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0" name="Text Box 107">
              <a:extLst>
                <a:ext uri="{FF2B5EF4-FFF2-40B4-BE49-F238E27FC236}">
                  <a16:creationId xmlns:a16="http://schemas.microsoft.com/office/drawing/2014/main" xmlns="" id="{F5EF885D-8F76-4E95-8752-52B835B60074}"/>
                </a:ext>
              </a:extLst>
            </p:cNvPr>
            <p:cNvSpPr txBox="1">
              <a:spLocks noChangeArrowheads="1"/>
            </p:cNvSpPr>
            <p:nvPr/>
          </p:nvSpPr>
          <p:spPr bwMode="auto">
            <a:xfrm>
              <a:off x="5562600" y="1946275"/>
              <a:ext cx="446088"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INR</a:t>
              </a:r>
            </a:p>
          </p:txBody>
        </p:sp>
        <p:sp>
          <p:nvSpPr>
            <p:cNvPr id="121" name="Line 108">
              <a:extLst>
                <a:ext uri="{FF2B5EF4-FFF2-40B4-BE49-F238E27FC236}">
                  <a16:creationId xmlns:a16="http://schemas.microsoft.com/office/drawing/2014/main" xmlns="" id="{1E700267-81F8-4B62-8793-AC65C169BE91}"/>
                </a:ext>
              </a:extLst>
            </p:cNvPr>
            <p:cNvSpPr>
              <a:spLocks noChangeShapeType="1"/>
            </p:cNvSpPr>
            <p:nvPr/>
          </p:nvSpPr>
          <p:spPr bwMode="auto">
            <a:xfrm flipV="1">
              <a:off x="6188075" y="1836738"/>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2" name="Text Box 109">
              <a:extLst>
                <a:ext uri="{FF2B5EF4-FFF2-40B4-BE49-F238E27FC236}">
                  <a16:creationId xmlns:a16="http://schemas.microsoft.com/office/drawing/2014/main" xmlns="" id="{E1D8735A-9AF0-4AC7-8AFE-709A6AAD4DFB}"/>
                </a:ext>
              </a:extLst>
            </p:cNvPr>
            <p:cNvSpPr txBox="1">
              <a:spLocks noChangeArrowheads="1"/>
            </p:cNvSpPr>
            <p:nvPr/>
          </p:nvSpPr>
          <p:spPr bwMode="auto">
            <a:xfrm>
              <a:off x="6019801" y="1946275"/>
              <a:ext cx="487363"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CLR</a:t>
              </a:r>
            </a:p>
          </p:txBody>
        </p:sp>
        <p:sp>
          <p:nvSpPr>
            <p:cNvPr id="123" name="Line 110">
              <a:extLst>
                <a:ext uri="{FF2B5EF4-FFF2-40B4-BE49-F238E27FC236}">
                  <a16:creationId xmlns:a16="http://schemas.microsoft.com/office/drawing/2014/main" xmlns="" id="{1707E0E1-4202-47CB-9019-4512B668218F}"/>
                </a:ext>
              </a:extLst>
            </p:cNvPr>
            <p:cNvSpPr>
              <a:spLocks noChangeShapeType="1"/>
            </p:cNvSpPr>
            <p:nvPr/>
          </p:nvSpPr>
          <p:spPr bwMode="auto">
            <a:xfrm flipH="1">
              <a:off x="6553201" y="2670175"/>
              <a:ext cx="28575" cy="2540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4" name="Line 111">
              <a:extLst>
                <a:ext uri="{FF2B5EF4-FFF2-40B4-BE49-F238E27FC236}">
                  <a16:creationId xmlns:a16="http://schemas.microsoft.com/office/drawing/2014/main" xmlns="" id="{07A1A85A-E0F7-4EF0-BC8B-1E70B4F57FA9}"/>
                </a:ext>
              </a:extLst>
            </p:cNvPr>
            <p:cNvSpPr>
              <a:spLocks noChangeShapeType="1"/>
            </p:cNvSpPr>
            <p:nvPr/>
          </p:nvSpPr>
          <p:spPr bwMode="auto">
            <a:xfrm flipV="1">
              <a:off x="5257800" y="2547938"/>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5" name="Text Box 112">
              <a:extLst>
                <a:ext uri="{FF2B5EF4-FFF2-40B4-BE49-F238E27FC236}">
                  <a16:creationId xmlns:a16="http://schemas.microsoft.com/office/drawing/2014/main" xmlns="" id="{E98D09FE-9BFC-4B5A-BFE4-BB3FEB21DFEC}"/>
                </a:ext>
              </a:extLst>
            </p:cNvPr>
            <p:cNvSpPr txBox="1">
              <a:spLocks noChangeArrowheads="1"/>
            </p:cNvSpPr>
            <p:nvPr/>
          </p:nvSpPr>
          <p:spPr bwMode="auto">
            <a:xfrm>
              <a:off x="5089526" y="2657475"/>
              <a:ext cx="377825"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LD</a:t>
              </a:r>
            </a:p>
          </p:txBody>
        </p:sp>
        <p:sp>
          <p:nvSpPr>
            <p:cNvPr id="126" name="Line 113">
              <a:extLst>
                <a:ext uri="{FF2B5EF4-FFF2-40B4-BE49-F238E27FC236}">
                  <a16:creationId xmlns:a16="http://schemas.microsoft.com/office/drawing/2014/main" xmlns="" id="{D31082C4-5928-444E-9446-A67913C54D1E}"/>
                </a:ext>
              </a:extLst>
            </p:cNvPr>
            <p:cNvSpPr>
              <a:spLocks noChangeShapeType="1"/>
            </p:cNvSpPr>
            <p:nvPr/>
          </p:nvSpPr>
          <p:spPr bwMode="auto">
            <a:xfrm flipV="1">
              <a:off x="5730875" y="2547938"/>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7" name="Text Box 114">
              <a:extLst>
                <a:ext uri="{FF2B5EF4-FFF2-40B4-BE49-F238E27FC236}">
                  <a16:creationId xmlns:a16="http://schemas.microsoft.com/office/drawing/2014/main" xmlns="" id="{CB83B8D5-DB71-4CDA-88ED-2C2F92DE5206}"/>
                </a:ext>
              </a:extLst>
            </p:cNvPr>
            <p:cNvSpPr txBox="1">
              <a:spLocks noChangeArrowheads="1"/>
            </p:cNvSpPr>
            <p:nvPr/>
          </p:nvSpPr>
          <p:spPr bwMode="auto">
            <a:xfrm>
              <a:off x="5562600" y="2657475"/>
              <a:ext cx="446088"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INR</a:t>
              </a:r>
            </a:p>
          </p:txBody>
        </p:sp>
        <p:sp>
          <p:nvSpPr>
            <p:cNvPr id="128" name="Line 115">
              <a:extLst>
                <a:ext uri="{FF2B5EF4-FFF2-40B4-BE49-F238E27FC236}">
                  <a16:creationId xmlns:a16="http://schemas.microsoft.com/office/drawing/2014/main" xmlns="" id="{E21ACB18-6097-41E2-B588-9B64E221AC47}"/>
                </a:ext>
              </a:extLst>
            </p:cNvPr>
            <p:cNvSpPr>
              <a:spLocks noChangeShapeType="1"/>
            </p:cNvSpPr>
            <p:nvPr/>
          </p:nvSpPr>
          <p:spPr bwMode="auto">
            <a:xfrm flipV="1">
              <a:off x="6188075" y="2547938"/>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9" name="Text Box 116">
              <a:extLst>
                <a:ext uri="{FF2B5EF4-FFF2-40B4-BE49-F238E27FC236}">
                  <a16:creationId xmlns:a16="http://schemas.microsoft.com/office/drawing/2014/main" xmlns="" id="{6B3B1C45-5AAB-4533-9BEA-CD0178ABD4D4}"/>
                </a:ext>
              </a:extLst>
            </p:cNvPr>
            <p:cNvSpPr txBox="1">
              <a:spLocks noChangeArrowheads="1"/>
            </p:cNvSpPr>
            <p:nvPr/>
          </p:nvSpPr>
          <p:spPr bwMode="auto">
            <a:xfrm>
              <a:off x="6019801" y="2657475"/>
              <a:ext cx="487363"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CLR</a:t>
              </a:r>
            </a:p>
          </p:txBody>
        </p:sp>
        <p:sp>
          <p:nvSpPr>
            <p:cNvPr id="130" name="Line 130">
              <a:extLst>
                <a:ext uri="{FF2B5EF4-FFF2-40B4-BE49-F238E27FC236}">
                  <a16:creationId xmlns:a16="http://schemas.microsoft.com/office/drawing/2014/main" xmlns="" id="{A7929A59-C937-47CD-AFD6-7BAF920C941B}"/>
                </a:ext>
              </a:extLst>
            </p:cNvPr>
            <p:cNvSpPr>
              <a:spLocks noChangeShapeType="1"/>
            </p:cNvSpPr>
            <p:nvPr/>
          </p:nvSpPr>
          <p:spPr bwMode="auto">
            <a:xfrm>
              <a:off x="2667000" y="4778375"/>
              <a:ext cx="2514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1" name="Line 134">
              <a:extLst>
                <a:ext uri="{FF2B5EF4-FFF2-40B4-BE49-F238E27FC236}">
                  <a16:creationId xmlns:a16="http://schemas.microsoft.com/office/drawing/2014/main" xmlns="" id="{EA8A5C84-1186-42DE-8E1C-778EAA434E4E}"/>
                </a:ext>
              </a:extLst>
            </p:cNvPr>
            <p:cNvSpPr>
              <a:spLocks noChangeShapeType="1"/>
            </p:cNvSpPr>
            <p:nvPr/>
          </p:nvSpPr>
          <p:spPr bwMode="auto">
            <a:xfrm>
              <a:off x="8229600" y="409575"/>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2" name="Text Box 135">
              <a:extLst>
                <a:ext uri="{FF2B5EF4-FFF2-40B4-BE49-F238E27FC236}">
                  <a16:creationId xmlns:a16="http://schemas.microsoft.com/office/drawing/2014/main" xmlns="" id="{5423A75C-9A53-4D70-8398-0D7FF3093A80}"/>
                </a:ext>
              </a:extLst>
            </p:cNvPr>
            <p:cNvSpPr txBox="1">
              <a:spLocks noChangeArrowheads="1"/>
            </p:cNvSpPr>
            <p:nvPr/>
          </p:nvSpPr>
          <p:spPr bwMode="auto">
            <a:xfrm>
              <a:off x="7924800" y="92075"/>
              <a:ext cx="342900"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b="1">
                  <a:latin typeface="Arial" panose="020B0604020202020204" pitchFamily="34" charset="0"/>
                </a:rPr>
                <a:t>S</a:t>
              </a:r>
              <a:r>
                <a:rPr lang="en-US" altLang="en-US" sz="1200" b="1" baseline="-25000">
                  <a:latin typeface="Arial" panose="020B0604020202020204" pitchFamily="34" charset="0"/>
                </a:rPr>
                <a:t>1</a:t>
              </a:r>
            </a:p>
          </p:txBody>
        </p:sp>
        <p:sp>
          <p:nvSpPr>
            <p:cNvPr id="133" name="Line 136">
              <a:extLst>
                <a:ext uri="{FF2B5EF4-FFF2-40B4-BE49-F238E27FC236}">
                  <a16:creationId xmlns:a16="http://schemas.microsoft.com/office/drawing/2014/main" xmlns="" id="{2B5D4F01-5A64-404B-A4A7-15982B86132D}"/>
                </a:ext>
              </a:extLst>
            </p:cNvPr>
            <p:cNvSpPr>
              <a:spLocks noChangeShapeType="1"/>
            </p:cNvSpPr>
            <p:nvPr/>
          </p:nvSpPr>
          <p:spPr bwMode="auto">
            <a:xfrm>
              <a:off x="8229600" y="282575"/>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4" name="Text Box 137">
              <a:extLst>
                <a:ext uri="{FF2B5EF4-FFF2-40B4-BE49-F238E27FC236}">
                  <a16:creationId xmlns:a16="http://schemas.microsoft.com/office/drawing/2014/main" xmlns="" id="{B8D335A9-5361-4103-8585-89546E14F61A}"/>
                </a:ext>
              </a:extLst>
            </p:cNvPr>
            <p:cNvSpPr txBox="1">
              <a:spLocks noChangeArrowheads="1"/>
            </p:cNvSpPr>
            <p:nvPr/>
          </p:nvSpPr>
          <p:spPr bwMode="auto">
            <a:xfrm>
              <a:off x="7924800" y="-34925"/>
              <a:ext cx="342900"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b="1">
                  <a:latin typeface="Arial" panose="020B0604020202020204" pitchFamily="34" charset="0"/>
                </a:rPr>
                <a:t>S</a:t>
              </a:r>
              <a:r>
                <a:rPr lang="en-US" altLang="en-US" sz="1200" b="1" baseline="-25000">
                  <a:latin typeface="Arial" panose="020B0604020202020204" pitchFamily="34" charset="0"/>
                </a:rPr>
                <a:t>2</a:t>
              </a:r>
            </a:p>
          </p:txBody>
        </p:sp>
        <p:sp>
          <p:nvSpPr>
            <p:cNvPr id="135" name="Line 138">
              <a:extLst>
                <a:ext uri="{FF2B5EF4-FFF2-40B4-BE49-F238E27FC236}">
                  <a16:creationId xmlns:a16="http://schemas.microsoft.com/office/drawing/2014/main" xmlns="" id="{3A70BB0A-5905-473E-B849-D95790F73708}"/>
                </a:ext>
              </a:extLst>
            </p:cNvPr>
            <p:cNvSpPr>
              <a:spLocks noChangeShapeType="1"/>
            </p:cNvSpPr>
            <p:nvPr/>
          </p:nvSpPr>
          <p:spPr bwMode="auto">
            <a:xfrm>
              <a:off x="8229600" y="117475"/>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6" name="Line 151">
              <a:extLst>
                <a:ext uri="{FF2B5EF4-FFF2-40B4-BE49-F238E27FC236}">
                  <a16:creationId xmlns:a16="http://schemas.microsoft.com/office/drawing/2014/main" xmlns="" id="{CF28314C-FA08-4202-92BA-17120A872223}"/>
                </a:ext>
              </a:extLst>
            </p:cNvPr>
            <p:cNvSpPr>
              <a:spLocks noChangeShapeType="1"/>
            </p:cNvSpPr>
            <p:nvPr/>
          </p:nvSpPr>
          <p:spPr bwMode="auto">
            <a:xfrm>
              <a:off x="6553200" y="5029200"/>
              <a:ext cx="1066800" cy="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37" name="Oval 152">
              <a:extLst>
                <a:ext uri="{FF2B5EF4-FFF2-40B4-BE49-F238E27FC236}">
                  <a16:creationId xmlns:a16="http://schemas.microsoft.com/office/drawing/2014/main" xmlns="" id="{F89A4DB8-CB69-4526-81D4-2E8F7ECD048D}"/>
                </a:ext>
              </a:extLst>
            </p:cNvPr>
            <p:cNvSpPr>
              <a:spLocks noChangeArrowheads="1"/>
            </p:cNvSpPr>
            <p:nvPr/>
          </p:nvSpPr>
          <p:spPr bwMode="auto">
            <a:xfrm>
              <a:off x="7591425" y="4981575"/>
              <a:ext cx="76200" cy="76200"/>
            </a:xfrm>
            <a:prstGeom prst="ellipse">
              <a:avLst/>
            </a:prstGeom>
            <a:solidFill>
              <a:srgbClr val="CC3300"/>
            </a:solidFill>
            <a:ln w="44450">
              <a:solidFill>
                <a:srgbClr val="CC3300"/>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38" name="Text Box 154">
              <a:extLst>
                <a:ext uri="{FF2B5EF4-FFF2-40B4-BE49-F238E27FC236}">
                  <a16:creationId xmlns:a16="http://schemas.microsoft.com/office/drawing/2014/main" xmlns="" id="{ADC6EF98-8177-4069-A3A3-871079CB6CF9}"/>
                </a:ext>
              </a:extLst>
            </p:cNvPr>
            <p:cNvSpPr txBox="1">
              <a:spLocks noChangeArrowheads="1"/>
            </p:cNvSpPr>
            <p:nvPr/>
          </p:nvSpPr>
          <p:spPr bwMode="auto">
            <a:xfrm>
              <a:off x="2781300" y="300038"/>
              <a:ext cx="1339850" cy="501650"/>
            </a:xfrm>
            <a:prstGeom prst="rect">
              <a:avLst/>
            </a:prstGeom>
            <a:noFill/>
            <a:ln w="9525" algn="ctr">
              <a:noFill/>
              <a:miter lim="800000"/>
              <a:headEnd/>
              <a:tailEnd/>
            </a:ln>
            <a:effectLst/>
          </p:spPr>
          <p:txBody>
            <a:bodyPr wrap="none">
              <a:spAutoFit/>
            </a:bodyPr>
            <a:lstStyle/>
            <a:p>
              <a:pPr marL="342900" indent="-342900" algn="just">
                <a:spcBef>
                  <a:spcPct val="20000"/>
                </a:spcBef>
                <a:buClr>
                  <a:schemeClr val="hlink"/>
                </a:buClr>
                <a:buSzPct val="75000"/>
                <a:defRPr/>
              </a:pPr>
              <a:r>
                <a:rPr lang="en-US" sz="1600" b="1" dirty="0">
                  <a:effectLst>
                    <a:outerShdw blurRad="38100" dist="38100" dir="2700000" algn="tl">
                      <a:srgbClr val="C0C0C0"/>
                    </a:outerShdw>
                  </a:effectLst>
                  <a:latin typeface="Batang" pitchFamily="18" charset="-127"/>
                  <a:sym typeface="Symbol" pitchFamily="18" charset="2"/>
                </a:rPr>
                <a:t>T0: AR</a:t>
              </a:r>
              <a:r>
                <a:rPr lang="en-US" sz="1600" b="1" dirty="0">
                  <a:effectLst>
                    <a:outerShdw blurRad="38100" dist="38100" dir="2700000" algn="tl">
                      <a:srgbClr val="C0C0C0"/>
                    </a:outerShdw>
                  </a:effectLst>
                  <a:latin typeface="Batang" pitchFamily="18" charset="-127"/>
                </a:rPr>
                <a:t>PC</a:t>
              </a:r>
            </a:p>
            <a:p>
              <a:pPr marL="342900" indent="-342900" algn="just">
                <a:spcBef>
                  <a:spcPct val="20000"/>
                </a:spcBef>
                <a:buClr>
                  <a:schemeClr val="hlink"/>
                </a:buClr>
                <a:buSzPct val="75000"/>
                <a:defRPr/>
              </a:pPr>
              <a:endParaRPr lang="en-US" sz="900" b="1" dirty="0">
                <a:effectLst>
                  <a:outerShdw blurRad="38100" dist="38100" dir="2700000" algn="tl">
                    <a:srgbClr val="C0C0C0"/>
                  </a:outerShdw>
                </a:effectLst>
                <a:latin typeface="Batang" pitchFamily="18" charset="-127"/>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xmlns="" id="{EAEBD98A-BEA9-419C-8CE8-FD02800942ED}"/>
              </a:ext>
            </a:extLst>
          </p:cNvPr>
          <p:cNvSpPr>
            <a:spLocks noGrp="1"/>
          </p:cNvSpPr>
          <p:nvPr>
            <p:ph sz="quarter" idx="1"/>
          </p:nvPr>
        </p:nvSpPr>
        <p:spPr>
          <a:xfrm>
            <a:off x="1524000" y="1524000"/>
            <a:ext cx="8534400" cy="3276600"/>
          </a:xfrm>
        </p:spPr>
        <p:txBody>
          <a:bodyPr>
            <a:normAutofit lnSpcReduction="10000"/>
          </a:bodyPr>
          <a:lstStyle/>
          <a:p>
            <a:pPr marL="685800" indent="-685800"/>
            <a:r>
              <a:rPr lang="en-US" altLang="en-US"/>
              <a:t>In order to implement the second statement</a:t>
            </a:r>
          </a:p>
          <a:p>
            <a:pPr marL="685800" indent="-685800" algn="ctr">
              <a:buNone/>
            </a:pPr>
            <a:endParaRPr lang="en-US" altLang="en-US" sz="2400"/>
          </a:p>
          <a:p>
            <a:pPr marL="685800" indent="-685800" algn="ctr">
              <a:buNone/>
            </a:pPr>
            <a:r>
              <a:rPr lang="en-US" altLang="en-US" sz="2400"/>
              <a:t>(Read)                T</a:t>
            </a:r>
            <a:r>
              <a:rPr lang="en-US" altLang="en-US" sz="2400" baseline="-25000"/>
              <a:t>1</a:t>
            </a:r>
            <a:r>
              <a:rPr lang="en-US" altLang="en-US" sz="2400"/>
              <a:t>:IR </a:t>
            </a:r>
            <a:r>
              <a:rPr lang="en-US" altLang="en-US" sz="2400">
                <a:sym typeface="Symbol" panose="05050102010706020507" pitchFamily="18" charset="2"/>
              </a:rPr>
              <a:t></a:t>
            </a:r>
            <a:r>
              <a:rPr lang="en-US" altLang="en-US" sz="2400"/>
              <a:t> M[AR], PC </a:t>
            </a:r>
            <a:r>
              <a:rPr lang="en-US" altLang="en-US" sz="2400">
                <a:sym typeface="Symbol" panose="05050102010706020507" pitchFamily="18" charset="2"/>
              </a:rPr>
              <a:t></a:t>
            </a:r>
            <a:r>
              <a:rPr lang="en-US" altLang="en-US" sz="2400"/>
              <a:t>PC+1</a:t>
            </a:r>
          </a:p>
          <a:p>
            <a:pPr marL="685800" indent="-685800"/>
            <a:r>
              <a:rPr lang="en-US" altLang="en-US"/>
              <a:t>It is necessary to use the timing signal T1 to provide the following connections in the bus system.</a:t>
            </a:r>
          </a:p>
          <a:p>
            <a:pPr marL="685800" indent="-685800">
              <a:buNone/>
            </a:pPr>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xmlns="" id="{1555BB76-2EDE-41CF-9E34-149B248CDD73}"/>
              </a:ext>
            </a:extLst>
          </p:cNvPr>
          <p:cNvSpPr>
            <a:spLocks noGrp="1"/>
          </p:cNvSpPr>
          <p:nvPr>
            <p:ph sz="quarter" idx="1"/>
          </p:nvPr>
        </p:nvSpPr>
        <p:spPr>
          <a:xfrm>
            <a:off x="1524000" y="228600"/>
            <a:ext cx="8458200" cy="5791200"/>
          </a:xfrm>
        </p:spPr>
        <p:txBody>
          <a:bodyPr/>
          <a:lstStyle/>
          <a:p>
            <a:pPr marL="685800" indent="-685800">
              <a:buFont typeface="Wingdings" panose="05000000000000000000" pitchFamily="2" charset="2"/>
              <a:buAutoNum type="arabicPeriod"/>
            </a:pPr>
            <a:r>
              <a:rPr lang="en-US" altLang="en-US"/>
              <a:t>Enable the read input of memory</a:t>
            </a:r>
          </a:p>
          <a:p>
            <a:pPr marL="685800" indent="-685800">
              <a:buFont typeface="Wingdings" panose="05000000000000000000" pitchFamily="2" charset="2"/>
              <a:buAutoNum type="arabicPeriod"/>
            </a:pPr>
            <a:r>
              <a:rPr lang="en-US" altLang="en-US"/>
              <a:t>Place the content of memory onto the bus by making S</a:t>
            </a:r>
            <a:r>
              <a:rPr lang="en-US" altLang="en-US" baseline="-25000"/>
              <a:t>2</a:t>
            </a:r>
            <a:r>
              <a:rPr lang="en-US" altLang="en-US"/>
              <a:t>S</a:t>
            </a:r>
            <a:r>
              <a:rPr lang="en-US" altLang="en-US" baseline="-25000"/>
              <a:t>1</a:t>
            </a:r>
            <a:r>
              <a:rPr lang="en-US" altLang="en-US"/>
              <a:t>S</a:t>
            </a:r>
            <a:r>
              <a:rPr lang="en-US" altLang="en-US" baseline="-25000"/>
              <a:t>0</a:t>
            </a:r>
            <a:r>
              <a:rPr lang="en-US" altLang="en-US"/>
              <a:t> = 111.</a:t>
            </a:r>
          </a:p>
          <a:p>
            <a:pPr marL="685800" indent="-685800">
              <a:buFont typeface="Wingdings" panose="05000000000000000000" pitchFamily="2" charset="2"/>
              <a:buAutoNum type="arabicPeriod"/>
            </a:pPr>
            <a:r>
              <a:rPr lang="en-US" altLang="en-US"/>
              <a:t>Transfer the content of the bus to IR by enabling the LD input of IR.</a:t>
            </a:r>
          </a:p>
          <a:p>
            <a:pPr marL="685800" indent="-685800">
              <a:buFont typeface="Wingdings" panose="05000000000000000000" pitchFamily="2" charset="2"/>
              <a:buAutoNum type="arabicPeriod"/>
            </a:pPr>
            <a:r>
              <a:rPr lang="en-US" altLang="en-US"/>
              <a:t>Increment PC by enabling the INR input of PC.</a:t>
            </a:r>
          </a:p>
          <a:p>
            <a:pPr marL="685800" indent="-685800" algn="ctr">
              <a:buNone/>
            </a:pPr>
            <a:r>
              <a:rPr lang="en-US" altLang="en-US" sz="2400"/>
              <a:t>T</a:t>
            </a:r>
            <a:r>
              <a:rPr lang="en-US" altLang="en-US" sz="2400" baseline="-25000"/>
              <a:t>1</a:t>
            </a:r>
            <a:r>
              <a:rPr lang="en-US" altLang="en-US" sz="2400"/>
              <a:t>:IR </a:t>
            </a:r>
            <a:r>
              <a:rPr lang="en-US" altLang="en-US" sz="2400">
                <a:sym typeface="Symbol" panose="05050102010706020507" pitchFamily="18" charset="2"/>
              </a:rPr>
              <a:t></a:t>
            </a:r>
            <a:r>
              <a:rPr lang="en-US" altLang="en-US" sz="2400"/>
              <a:t> M[AR], PC </a:t>
            </a:r>
            <a:r>
              <a:rPr lang="en-US" altLang="en-US" sz="2400">
                <a:sym typeface="Symbol" panose="05050102010706020507" pitchFamily="18" charset="2"/>
              </a:rPr>
              <a:t></a:t>
            </a:r>
            <a:r>
              <a:rPr lang="en-US" altLang="en-US" sz="2400"/>
              <a:t>PC+1</a:t>
            </a:r>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677AA973-B954-4247-8934-7BA3FE7BF22E}"/>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Text Box 151">
            <a:extLst>
              <a:ext uri="{FF2B5EF4-FFF2-40B4-BE49-F238E27FC236}">
                <a16:creationId xmlns:a16="http://schemas.microsoft.com/office/drawing/2014/main" xmlns="" id="{DB11065B-B090-487D-B13A-040E867BB6B5}"/>
              </a:ext>
            </a:extLst>
          </p:cNvPr>
          <p:cNvSpPr txBox="1">
            <a:spLocks noChangeArrowheads="1"/>
          </p:cNvSpPr>
          <p:nvPr/>
        </p:nvSpPr>
        <p:spPr bwMode="auto">
          <a:xfrm>
            <a:off x="1869862" y="-407988"/>
            <a:ext cx="4115229" cy="1101840"/>
          </a:xfrm>
          <a:prstGeom prst="rect">
            <a:avLst/>
          </a:prstGeom>
          <a:noFill/>
          <a:ln w="9525" algn="ctr">
            <a:noFill/>
            <a:miter lim="800000"/>
            <a:headEnd/>
            <a:tailEnd/>
          </a:ln>
          <a:effectLst/>
        </p:spPr>
        <p:txBody>
          <a:bodyPr wrap="none">
            <a:spAutoFit/>
          </a:bodyPr>
          <a:lstStyle/>
          <a:p>
            <a:pPr marL="342900" indent="-342900" algn="just">
              <a:spcBef>
                <a:spcPct val="20000"/>
              </a:spcBef>
              <a:buClr>
                <a:schemeClr val="hlink"/>
              </a:buClr>
              <a:buSzPct val="75000"/>
              <a:buFont typeface="Wingdings" pitchFamily="2" charset="2"/>
              <a:buChar char="l"/>
              <a:defRPr/>
            </a:pPr>
            <a:endParaRPr lang="en-US" sz="3200" b="1">
              <a:effectLst>
                <a:outerShdw blurRad="38100" dist="38100" dir="2700000" algn="tl">
                  <a:srgbClr val="C0C0C0"/>
                </a:outerShdw>
              </a:effectLst>
              <a:latin typeface="Batang" pitchFamily="18" charset="-127"/>
            </a:endParaRPr>
          </a:p>
          <a:p>
            <a:pPr marL="342900" indent="-342900" algn="just">
              <a:spcBef>
                <a:spcPct val="20000"/>
              </a:spcBef>
              <a:buClr>
                <a:schemeClr val="hlink"/>
              </a:buClr>
              <a:buSzPct val="75000"/>
              <a:defRPr/>
            </a:pPr>
            <a:r>
              <a:rPr lang="en-US" sz="1400" b="1">
                <a:effectLst>
                  <a:outerShdw blurRad="38100" dist="38100" dir="2700000" algn="tl">
                    <a:srgbClr val="C0C0C0"/>
                  </a:outerShdw>
                </a:effectLst>
                <a:latin typeface="Batang" pitchFamily="18" charset="-127"/>
              </a:rPr>
              <a:t>(Read)                T1:IR </a:t>
            </a:r>
            <a:r>
              <a:rPr lang="en-US" sz="1400" b="1">
                <a:effectLst>
                  <a:outerShdw blurRad="38100" dist="38100" dir="2700000" algn="tl">
                    <a:srgbClr val="C0C0C0"/>
                  </a:outerShdw>
                </a:effectLst>
                <a:latin typeface="Batang" pitchFamily="18" charset="-127"/>
                <a:sym typeface="Symbol" pitchFamily="18" charset="2"/>
              </a:rPr>
              <a:t></a:t>
            </a:r>
            <a:r>
              <a:rPr lang="en-US" sz="1400" b="1">
                <a:effectLst>
                  <a:outerShdw blurRad="38100" dist="38100" dir="2700000" algn="tl">
                    <a:srgbClr val="C0C0C0"/>
                  </a:outerShdw>
                </a:effectLst>
                <a:latin typeface="Batang" pitchFamily="18" charset="-127"/>
              </a:rPr>
              <a:t> M[AR], PC </a:t>
            </a:r>
            <a:r>
              <a:rPr lang="en-US" sz="1400" b="1">
                <a:effectLst>
                  <a:outerShdw blurRad="38100" dist="38100" dir="2700000" algn="tl">
                    <a:srgbClr val="C0C0C0"/>
                  </a:outerShdw>
                </a:effectLst>
                <a:latin typeface="Batang" pitchFamily="18" charset="-127"/>
                <a:sym typeface="Symbol" pitchFamily="18" charset="2"/>
              </a:rPr>
              <a:t></a:t>
            </a:r>
            <a:r>
              <a:rPr lang="en-US" sz="1400" b="1">
                <a:effectLst>
                  <a:outerShdw blurRad="38100" dist="38100" dir="2700000" algn="tl">
                    <a:srgbClr val="C0C0C0"/>
                  </a:outerShdw>
                </a:effectLst>
                <a:latin typeface="Batang" pitchFamily="18" charset="-127"/>
              </a:rPr>
              <a:t>PC+1</a:t>
            </a:r>
          </a:p>
          <a:p>
            <a:pPr marL="342900" indent="-342900" algn="just">
              <a:spcBef>
                <a:spcPct val="20000"/>
              </a:spcBef>
              <a:buClr>
                <a:schemeClr val="hlink"/>
              </a:buClr>
              <a:buSzPct val="75000"/>
              <a:buFont typeface="Wingdings" pitchFamily="2" charset="2"/>
              <a:buChar char="l"/>
              <a:defRPr/>
            </a:pPr>
            <a:endParaRPr lang="en-US" sz="1400" b="1">
              <a:effectLst>
                <a:outerShdw blurRad="38100" dist="38100" dir="2700000" algn="tl">
                  <a:srgbClr val="C0C0C0"/>
                </a:outerShdw>
              </a:effectLst>
              <a:latin typeface="Batang" pitchFamily="18" charset="-127"/>
            </a:endParaRPr>
          </a:p>
        </p:txBody>
      </p:sp>
      <p:sp>
        <p:nvSpPr>
          <p:cNvPr id="73" name="Rectangle 153">
            <a:extLst>
              <a:ext uri="{FF2B5EF4-FFF2-40B4-BE49-F238E27FC236}">
                <a16:creationId xmlns:a16="http://schemas.microsoft.com/office/drawing/2014/main" xmlns="" id="{52152600-7188-4EF5-86D3-F95090D0ED75}"/>
              </a:ext>
            </a:extLst>
          </p:cNvPr>
          <p:cNvSpPr>
            <a:spLocks noChangeArrowheads="1"/>
          </p:cNvSpPr>
          <p:nvPr/>
        </p:nvSpPr>
        <p:spPr bwMode="auto">
          <a:xfrm>
            <a:off x="5257800" y="619126"/>
            <a:ext cx="1447800" cy="533400"/>
          </a:xfrm>
          <a:prstGeom prst="rect">
            <a:avLst/>
          </a:prstGeom>
          <a:solidFill>
            <a:schemeClr val="tx2"/>
          </a:solidFill>
          <a:ln w="38100">
            <a:solidFill>
              <a:srgbClr val="990000"/>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sz="1400" b="1">
                <a:solidFill>
                  <a:schemeClr val="bg2"/>
                </a:solidFill>
                <a:latin typeface="Times New Roman MT Extra Bold" pitchFamily="18" charset="0"/>
              </a:rPr>
              <a:t>Memory Unit</a:t>
            </a:r>
          </a:p>
          <a:p>
            <a:pPr algn="ctr"/>
            <a:r>
              <a:rPr lang="en-US" altLang="en-US" sz="1400" b="1">
                <a:solidFill>
                  <a:schemeClr val="bg2"/>
                </a:solidFill>
                <a:latin typeface="Times New Roman MT Extra Bold" pitchFamily="18" charset="0"/>
              </a:rPr>
              <a:t>4096 x 16</a:t>
            </a:r>
          </a:p>
        </p:txBody>
      </p:sp>
      <p:sp>
        <p:nvSpPr>
          <p:cNvPr id="74" name="Rectangle 154">
            <a:extLst>
              <a:ext uri="{FF2B5EF4-FFF2-40B4-BE49-F238E27FC236}">
                <a16:creationId xmlns:a16="http://schemas.microsoft.com/office/drawing/2014/main" xmlns="" id="{3BE1233F-5157-47A0-827C-F8063A6DEDAD}"/>
              </a:ext>
            </a:extLst>
          </p:cNvPr>
          <p:cNvSpPr>
            <a:spLocks noChangeArrowheads="1"/>
          </p:cNvSpPr>
          <p:nvPr/>
        </p:nvSpPr>
        <p:spPr bwMode="auto">
          <a:xfrm>
            <a:off x="2438400" y="555626"/>
            <a:ext cx="228600" cy="6172200"/>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75" name="Rectangle 155">
            <a:extLst>
              <a:ext uri="{FF2B5EF4-FFF2-40B4-BE49-F238E27FC236}">
                <a16:creationId xmlns:a16="http://schemas.microsoft.com/office/drawing/2014/main" xmlns="" id="{7B8C73D3-5BBD-4A83-A8F4-9E8018798707}"/>
              </a:ext>
            </a:extLst>
          </p:cNvPr>
          <p:cNvSpPr>
            <a:spLocks noChangeArrowheads="1"/>
          </p:cNvSpPr>
          <p:nvPr/>
        </p:nvSpPr>
        <p:spPr bwMode="auto">
          <a:xfrm>
            <a:off x="8839200" y="542926"/>
            <a:ext cx="228600" cy="6315075"/>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endParaRPr lang="en-US" altLang="en-US" sz="1600" b="1">
              <a:latin typeface="Arial" panose="020B0604020202020204" pitchFamily="34" charset="0"/>
            </a:endParaRPr>
          </a:p>
        </p:txBody>
      </p:sp>
      <p:sp>
        <p:nvSpPr>
          <p:cNvPr id="76" name="Rectangle 156">
            <a:extLst>
              <a:ext uri="{FF2B5EF4-FFF2-40B4-BE49-F238E27FC236}">
                <a16:creationId xmlns:a16="http://schemas.microsoft.com/office/drawing/2014/main" xmlns="" id="{5AA49A85-2F40-402A-99E7-185EC44A93E3}"/>
              </a:ext>
            </a:extLst>
          </p:cNvPr>
          <p:cNvSpPr>
            <a:spLocks noChangeArrowheads="1"/>
          </p:cNvSpPr>
          <p:nvPr/>
        </p:nvSpPr>
        <p:spPr bwMode="auto">
          <a:xfrm>
            <a:off x="2438400" y="6613526"/>
            <a:ext cx="6629400" cy="228600"/>
          </a:xfrm>
          <a:prstGeom prst="rect">
            <a:avLst/>
          </a:prstGeom>
          <a:solidFill>
            <a:schemeClr val="tx2"/>
          </a:solidFill>
          <a:ln>
            <a:noFill/>
          </a:ln>
          <a:extLst>
            <a:ext uri="{91240B29-F687-4F45-9708-019B960494DF}">
              <a14:hiddenLine xmlns:a14="http://schemas.microsoft.com/office/drawing/2010/main" xmlns="" w="317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a:solidFill>
                  <a:schemeClr val="bg2"/>
                </a:solidFill>
                <a:latin typeface="Arial" panose="020B0604020202020204" pitchFamily="34" charset="0"/>
              </a:rPr>
              <a:t>16-bit common bus</a:t>
            </a:r>
          </a:p>
        </p:txBody>
      </p:sp>
      <p:sp>
        <p:nvSpPr>
          <p:cNvPr id="77" name="Line 157">
            <a:extLst>
              <a:ext uri="{FF2B5EF4-FFF2-40B4-BE49-F238E27FC236}">
                <a16:creationId xmlns:a16="http://schemas.microsoft.com/office/drawing/2014/main" xmlns="" id="{A9E49C50-13FC-4564-9A02-2723C6ED205E}"/>
              </a:ext>
            </a:extLst>
          </p:cNvPr>
          <p:cNvSpPr>
            <a:spLocks noChangeShapeType="1"/>
          </p:cNvSpPr>
          <p:nvPr/>
        </p:nvSpPr>
        <p:spPr bwMode="auto">
          <a:xfrm>
            <a:off x="7086600" y="6699251"/>
            <a:ext cx="1219200" cy="0"/>
          </a:xfrm>
          <a:prstGeom prst="line">
            <a:avLst/>
          </a:prstGeom>
          <a:noFill/>
          <a:ln w="38100">
            <a:solidFill>
              <a:srgbClr val="CC3300"/>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78" name="Line 158">
            <a:extLst>
              <a:ext uri="{FF2B5EF4-FFF2-40B4-BE49-F238E27FC236}">
                <a16:creationId xmlns:a16="http://schemas.microsoft.com/office/drawing/2014/main" xmlns="" id="{0B1145BE-C443-478A-848B-8B941340E4DA}"/>
              </a:ext>
            </a:extLst>
          </p:cNvPr>
          <p:cNvSpPr>
            <a:spLocks noChangeShapeType="1"/>
          </p:cNvSpPr>
          <p:nvPr/>
        </p:nvSpPr>
        <p:spPr bwMode="auto">
          <a:xfrm flipH="1">
            <a:off x="3352800" y="6707189"/>
            <a:ext cx="1143000" cy="0"/>
          </a:xfrm>
          <a:prstGeom prst="line">
            <a:avLst/>
          </a:prstGeom>
          <a:noFill/>
          <a:ln w="38100">
            <a:solidFill>
              <a:srgbClr val="CC3300"/>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79" name="Rectangle 159">
            <a:extLst>
              <a:ext uri="{FF2B5EF4-FFF2-40B4-BE49-F238E27FC236}">
                <a16:creationId xmlns:a16="http://schemas.microsoft.com/office/drawing/2014/main" xmlns="" id="{DE59CFC5-79AD-469C-B8D5-C34DD78744D1}"/>
              </a:ext>
            </a:extLst>
          </p:cNvPr>
          <p:cNvSpPr>
            <a:spLocks noChangeArrowheads="1"/>
          </p:cNvSpPr>
          <p:nvPr/>
        </p:nvSpPr>
        <p:spPr bwMode="auto">
          <a:xfrm>
            <a:off x="8648700" y="85726"/>
            <a:ext cx="666750" cy="447675"/>
          </a:xfrm>
          <a:prstGeom prst="rect">
            <a:avLst/>
          </a:prstGeom>
          <a:solidFill>
            <a:schemeClr val="tx2"/>
          </a:solidFill>
          <a:ln w="28575">
            <a:solidFill>
              <a:schemeClr val="bg2"/>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a:solidFill>
                  <a:schemeClr val="bg2"/>
                </a:solidFill>
                <a:latin typeface="Times New Roman MT Extra Bold" pitchFamily="18" charset="0"/>
              </a:rPr>
              <a:t>BUS</a:t>
            </a:r>
          </a:p>
        </p:txBody>
      </p:sp>
      <p:sp>
        <p:nvSpPr>
          <p:cNvPr id="80" name="Text Box 160">
            <a:extLst>
              <a:ext uri="{FF2B5EF4-FFF2-40B4-BE49-F238E27FC236}">
                <a16:creationId xmlns:a16="http://schemas.microsoft.com/office/drawing/2014/main" xmlns="" id="{8DD0A1A6-6D30-4B1D-A5B5-2BA7A5E2EB1D}"/>
              </a:ext>
            </a:extLst>
          </p:cNvPr>
          <p:cNvSpPr txBox="1">
            <a:spLocks noChangeArrowheads="1"/>
          </p:cNvSpPr>
          <p:nvPr/>
        </p:nvSpPr>
        <p:spPr bwMode="auto">
          <a:xfrm>
            <a:off x="7924800" y="314326"/>
            <a:ext cx="342900"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b="1">
                <a:latin typeface="Arial" panose="020B0604020202020204" pitchFamily="34" charset="0"/>
              </a:rPr>
              <a:t>S</a:t>
            </a:r>
            <a:r>
              <a:rPr lang="en-US" altLang="en-US" sz="1200" b="1" baseline="-25000">
                <a:latin typeface="Arial" panose="020B0604020202020204" pitchFamily="34" charset="0"/>
              </a:rPr>
              <a:t>0</a:t>
            </a:r>
          </a:p>
        </p:txBody>
      </p:sp>
      <p:sp>
        <p:nvSpPr>
          <p:cNvPr id="81" name="Line 161">
            <a:extLst>
              <a:ext uri="{FF2B5EF4-FFF2-40B4-BE49-F238E27FC236}">
                <a16:creationId xmlns:a16="http://schemas.microsoft.com/office/drawing/2014/main" xmlns="" id="{F2CD9486-21AA-4C66-A9EF-03BA993055BE}"/>
              </a:ext>
            </a:extLst>
          </p:cNvPr>
          <p:cNvSpPr>
            <a:spLocks noChangeShapeType="1"/>
          </p:cNvSpPr>
          <p:nvPr/>
        </p:nvSpPr>
        <p:spPr bwMode="auto">
          <a:xfrm>
            <a:off x="6705600" y="771526"/>
            <a:ext cx="2133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82" name="Line 162">
            <a:extLst>
              <a:ext uri="{FF2B5EF4-FFF2-40B4-BE49-F238E27FC236}">
                <a16:creationId xmlns:a16="http://schemas.microsoft.com/office/drawing/2014/main" xmlns="" id="{45EB654C-4229-4434-B6B3-B84FE6206347}"/>
              </a:ext>
            </a:extLst>
          </p:cNvPr>
          <p:cNvSpPr>
            <a:spLocks noChangeShapeType="1"/>
          </p:cNvSpPr>
          <p:nvPr/>
        </p:nvSpPr>
        <p:spPr bwMode="auto">
          <a:xfrm>
            <a:off x="6705600" y="1076326"/>
            <a:ext cx="1447800" cy="0"/>
          </a:xfrm>
          <a:prstGeom prst="line">
            <a:avLst/>
          </a:prstGeom>
          <a:noFill/>
          <a:ln w="38100">
            <a:solidFill>
              <a:srgbClr val="990000"/>
            </a:solidFill>
            <a:round/>
            <a:headEnd type="triangle" w="med" len="med"/>
            <a:tailEnd/>
          </a:ln>
          <a:extLst>
            <a:ext uri="{909E8E84-426E-40DD-AFC4-6F175D3DCCD1}">
              <a14:hiddenFill xmlns:a14="http://schemas.microsoft.com/office/drawing/2010/main" xmlns="">
                <a:noFill/>
              </a14:hiddenFill>
            </a:ext>
          </a:extLst>
        </p:spPr>
        <p:txBody>
          <a:bodyPr/>
          <a:lstStyle/>
          <a:p>
            <a:endParaRPr lang="en-IN"/>
          </a:p>
        </p:txBody>
      </p:sp>
      <p:sp>
        <p:nvSpPr>
          <p:cNvPr id="83" name="Rectangle 163">
            <a:extLst>
              <a:ext uri="{FF2B5EF4-FFF2-40B4-BE49-F238E27FC236}">
                <a16:creationId xmlns:a16="http://schemas.microsoft.com/office/drawing/2014/main" xmlns="" id="{B2E5FDAB-1FFE-4849-8559-E74CC79928D1}"/>
              </a:ext>
            </a:extLst>
          </p:cNvPr>
          <p:cNvSpPr>
            <a:spLocks noChangeArrowheads="1"/>
          </p:cNvSpPr>
          <p:nvPr/>
        </p:nvSpPr>
        <p:spPr bwMode="auto">
          <a:xfrm>
            <a:off x="5181600" y="1671639"/>
            <a:ext cx="1595438" cy="242888"/>
          </a:xfrm>
          <a:prstGeom prst="rect">
            <a:avLst/>
          </a:prstGeom>
          <a:solidFill>
            <a:schemeClr val="tx2"/>
          </a:solidFill>
          <a:ln w="38100">
            <a:solidFill>
              <a:srgbClr val="990000"/>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i="1">
                <a:solidFill>
                  <a:schemeClr val="bg2"/>
                </a:solidFill>
                <a:latin typeface="Times New Roman MT Extra Bold" pitchFamily="18" charset="0"/>
              </a:rPr>
              <a:t>AR</a:t>
            </a:r>
          </a:p>
        </p:txBody>
      </p:sp>
      <p:sp>
        <p:nvSpPr>
          <p:cNvPr id="84" name="Line 164">
            <a:extLst>
              <a:ext uri="{FF2B5EF4-FFF2-40B4-BE49-F238E27FC236}">
                <a16:creationId xmlns:a16="http://schemas.microsoft.com/office/drawing/2014/main" xmlns="" id="{D5CDC327-BF3C-4B36-B083-1989E175905D}"/>
              </a:ext>
            </a:extLst>
          </p:cNvPr>
          <p:cNvSpPr>
            <a:spLocks noChangeShapeType="1"/>
          </p:cNvSpPr>
          <p:nvPr/>
        </p:nvSpPr>
        <p:spPr bwMode="auto">
          <a:xfrm flipV="1">
            <a:off x="5329238" y="1152526"/>
            <a:ext cx="0" cy="21431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85" name="Text Box 165">
            <a:extLst>
              <a:ext uri="{FF2B5EF4-FFF2-40B4-BE49-F238E27FC236}">
                <a16:creationId xmlns:a16="http://schemas.microsoft.com/office/drawing/2014/main" xmlns="" id="{E4D02C71-E375-463A-9527-859A11D27B23}"/>
              </a:ext>
            </a:extLst>
          </p:cNvPr>
          <p:cNvSpPr txBox="1">
            <a:spLocks noChangeArrowheads="1"/>
          </p:cNvSpPr>
          <p:nvPr/>
        </p:nvSpPr>
        <p:spPr bwMode="auto">
          <a:xfrm>
            <a:off x="5051425" y="1292226"/>
            <a:ext cx="6286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400" b="1">
                <a:latin typeface="Times New Roman" panose="02020603050405020304" pitchFamily="18" charset="0"/>
              </a:rPr>
              <a:t>Write</a:t>
            </a:r>
          </a:p>
        </p:txBody>
      </p:sp>
      <p:sp>
        <p:nvSpPr>
          <p:cNvPr id="86" name="Text Box 166">
            <a:extLst>
              <a:ext uri="{FF2B5EF4-FFF2-40B4-BE49-F238E27FC236}">
                <a16:creationId xmlns:a16="http://schemas.microsoft.com/office/drawing/2014/main" xmlns="" id="{565908A4-6D55-4A72-BDD2-A6CE274DFDBF}"/>
              </a:ext>
            </a:extLst>
          </p:cNvPr>
          <p:cNvSpPr txBox="1">
            <a:spLocks noChangeArrowheads="1"/>
          </p:cNvSpPr>
          <p:nvPr/>
        </p:nvSpPr>
        <p:spPr bwMode="auto">
          <a:xfrm>
            <a:off x="6210300" y="1292226"/>
            <a:ext cx="57943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400" b="1">
                <a:latin typeface="Times New Roman" panose="02020603050405020304" pitchFamily="18" charset="0"/>
              </a:rPr>
              <a:t>Read</a:t>
            </a:r>
          </a:p>
        </p:txBody>
      </p:sp>
      <p:sp>
        <p:nvSpPr>
          <p:cNvPr id="87" name="Line 167">
            <a:extLst>
              <a:ext uri="{FF2B5EF4-FFF2-40B4-BE49-F238E27FC236}">
                <a16:creationId xmlns:a16="http://schemas.microsoft.com/office/drawing/2014/main" xmlns="" id="{7147723E-8942-41D9-A6B5-09B5EEE922FE}"/>
              </a:ext>
            </a:extLst>
          </p:cNvPr>
          <p:cNvSpPr>
            <a:spLocks noChangeShapeType="1"/>
          </p:cNvSpPr>
          <p:nvPr/>
        </p:nvSpPr>
        <p:spPr bwMode="auto">
          <a:xfrm>
            <a:off x="2667000" y="923926"/>
            <a:ext cx="2514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88" name="Line 168">
            <a:extLst>
              <a:ext uri="{FF2B5EF4-FFF2-40B4-BE49-F238E27FC236}">
                <a16:creationId xmlns:a16="http://schemas.microsoft.com/office/drawing/2014/main" xmlns="" id="{7BC11E43-5CA5-4825-9681-A4004A14D7BD}"/>
              </a:ext>
            </a:extLst>
          </p:cNvPr>
          <p:cNvSpPr>
            <a:spLocks noChangeShapeType="1"/>
          </p:cNvSpPr>
          <p:nvPr/>
        </p:nvSpPr>
        <p:spPr bwMode="auto">
          <a:xfrm flipV="1">
            <a:off x="6548438" y="1152526"/>
            <a:ext cx="0" cy="21431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89" name="Rectangle 169">
            <a:extLst>
              <a:ext uri="{FF2B5EF4-FFF2-40B4-BE49-F238E27FC236}">
                <a16:creationId xmlns:a16="http://schemas.microsoft.com/office/drawing/2014/main" xmlns="" id="{ADE955A1-0892-4DE6-9A49-751CF362E19D}"/>
              </a:ext>
            </a:extLst>
          </p:cNvPr>
          <p:cNvSpPr>
            <a:spLocks noChangeArrowheads="1"/>
          </p:cNvSpPr>
          <p:nvPr/>
        </p:nvSpPr>
        <p:spPr bwMode="auto">
          <a:xfrm>
            <a:off x="5181600" y="2371726"/>
            <a:ext cx="1595438" cy="242888"/>
          </a:xfrm>
          <a:prstGeom prst="rect">
            <a:avLst/>
          </a:prstGeom>
          <a:solidFill>
            <a:schemeClr val="tx2"/>
          </a:solidFill>
          <a:ln w="38100">
            <a:solidFill>
              <a:srgbClr val="990000"/>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i="1">
                <a:solidFill>
                  <a:schemeClr val="bg2"/>
                </a:solidFill>
                <a:latin typeface="Times New Roman MT Extra Bold" pitchFamily="18" charset="0"/>
              </a:rPr>
              <a:t>PC</a:t>
            </a:r>
          </a:p>
        </p:txBody>
      </p:sp>
      <p:sp>
        <p:nvSpPr>
          <p:cNvPr id="90" name="Rectangle 170">
            <a:extLst>
              <a:ext uri="{FF2B5EF4-FFF2-40B4-BE49-F238E27FC236}">
                <a16:creationId xmlns:a16="http://schemas.microsoft.com/office/drawing/2014/main" xmlns="" id="{4A0C54BA-7C1C-482C-A31D-9E229863F4D2}"/>
              </a:ext>
            </a:extLst>
          </p:cNvPr>
          <p:cNvSpPr>
            <a:spLocks noChangeArrowheads="1"/>
          </p:cNvSpPr>
          <p:nvPr/>
        </p:nvSpPr>
        <p:spPr bwMode="auto">
          <a:xfrm>
            <a:off x="5181600" y="4733926"/>
            <a:ext cx="1595438" cy="228600"/>
          </a:xfrm>
          <a:prstGeom prst="rect">
            <a:avLst/>
          </a:prstGeom>
          <a:solidFill>
            <a:schemeClr val="tx2"/>
          </a:solidFill>
          <a:ln w="38100">
            <a:solidFill>
              <a:srgbClr val="990000"/>
            </a:solidFill>
            <a:miter lim="800000"/>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US" altLang="en-US" b="1" i="1">
                <a:solidFill>
                  <a:schemeClr val="bg2"/>
                </a:solidFill>
                <a:latin typeface="Times New Roman MT Extra Bold" pitchFamily="18" charset="0"/>
              </a:rPr>
              <a:t>IR</a:t>
            </a:r>
          </a:p>
        </p:txBody>
      </p:sp>
      <p:sp>
        <p:nvSpPr>
          <p:cNvPr id="91" name="Line 171">
            <a:extLst>
              <a:ext uri="{FF2B5EF4-FFF2-40B4-BE49-F238E27FC236}">
                <a16:creationId xmlns:a16="http://schemas.microsoft.com/office/drawing/2014/main" xmlns="" id="{CFBB9FE9-B7EC-40D1-BA99-D9D68846DA24}"/>
              </a:ext>
            </a:extLst>
          </p:cNvPr>
          <p:cNvSpPr>
            <a:spLocks noChangeShapeType="1"/>
          </p:cNvSpPr>
          <p:nvPr/>
        </p:nvSpPr>
        <p:spPr bwMode="auto">
          <a:xfrm flipV="1">
            <a:off x="5257800" y="4943476"/>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2" name="Line 172">
            <a:extLst>
              <a:ext uri="{FF2B5EF4-FFF2-40B4-BE49-F238E27FC236}">
                <a16:creationId xmlns:a16="http://schemas.microsoft.com/office/drawing/2014/main" xmlns="" id="{6276ADC2-3A65-4F5F-9836-F0E898800973}"/>
              </a:ext>
            </a:extLst>
          </p:cNvPr>
          <p:cNvSpPr>
            <a:spLocks noChangeShapeType="1"/>
          </p:cNvSpPr>
          <p:nvPr/>
        </p:nvSpPr>
        <p:spPr bwMode="auto">
          <a:xfrm>
            <a:off x="7620000" y="2143126"/>
            <a:ext cx="0" cy="4219575"/>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3" name="Line 173">
            <a:extLst>
              <a:ext uri="{FF2B5EF4-FFF2-40B4-BE49-F238E27FC236}">
                <a16:creationId xmlns:a16="http://schemas.microsoft.com/office/drawing/2014/main" xmlns="" id="{A87AD617-6A6F-4E0D-B2FA-FC9919F3B0A5}"/>
              </a:ext>
            </a:extLst>
          </p:cNvPr>
          <p:cNvSpPr>
            <a:spLocks noChangeShapeType="1"/>
          </p:cNvSpPr>
          <p:nvPr/>
        </p:nvSpPr>
        <p:spPr bwMode="auto">
          <a:xfrm>
            <a:off x="7620000" y="6367464"/>
            <a:ext cx="442913" cy="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4" name="Text Box 174">
            <a:extLst>
              <a:ext uri="{FF2B5EF4-FFF2-40B4-BE49-F238E27FC236}">
                <a16:creationId xmlns:a16="http://schemas.microsoft.com/office/drawing/2014/main" xmlns="" id="{68D92D0D-0BC4-452C-AD3E-29FBD8C0111F}"/>
              </a:ext>
            </a:extLst>
          </p:cNvPr>
          <p:cNvSpPr txBox="1">
            <a:spLocks noChangeArrowheads="1"/>
          </p:cNvSpPr>
          <p:nvPr/>
        </p:nvSpPr>
        <p:spPr bwMode="auto">
          <a:xfrm>
            <a:off x="8077200" y="6189664"/>
            <a:ext cx="6667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400" b="1">
                <a:latin typeface="Arial" panose="020B0604020202020204" pitchFamily="34" charset="0"/>
              </a:rPr>
              <a:t>Clock</a:t>
            </a:r>
          </a:p>
        </p:txBody>
      </p:sp>
      <p:sp>
        <p:nvSpPr>
          <p:cNvPr id="95" name="Line 175">
            <a:extLst>
              <a:ext uri="{FF2B5EF4-FFF2-40B4-BE49-F238E27FC236}">
                <a16:creationId xmlns:a16="http://schemas.microsoft.com/office/drawing/2014/main" xmlns="" id="{4B21C224-CE41-4648-8C7F-770212F60F04}"/>
              </a:ext>
            </a:extLst>
          </p:cNvPr>
          <p:cNvSpPr>
            <a:spLocks noChangeShapeType="1"/>
          </p:cNvSpPr>
          <p:nvPr/>
        </p:nvSpPr>
        <p:spPr bwMode="auto">
          <a:xfrm>
            <a:off x="6567488" y="4962526"/>
            <a:ext cx="0" cy="15240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6" name="Text Box 176">
            <a:extLst>
              <a:ext uri="{FF2B5EF4-FFF2-40B4-BE49-F238E27FC236}">
                <a16:creationId xmlns:a16="http://schemas.microsoft.com/office/drawing/2014/main" xmlns="" id="{199C1AC7-2499-48BD-8B01-527886504518}"/>
              </a:ext>
            </a:extLst>
          </p:cNvPr>
          <p:cNvSpPr txBox="1">
            <a:spLocks noChangeArrowheads="1"/>
          </p:cNvSpPr>
          <p:nvPr/>
        </p:nvSpPr>
        <p:spPr bwMode="auto">
          <a:xfrm>
            <a:off x="5086350" y="5057776"/>
            <a:ext cx="377825"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LD</a:t>
            </a:r>
          </a:p>
        </p:txBody>
      </p:sp>
      <p:sp>
        <p:nvSpPr>
          <p:cNvPr id="97" name="Oval 177">
            <a:extLst>
              <a:ext uri="{FF2B5EF4-FFF2-40B4-BE49-F238E27FC236}">
                <a16:creationId xmlns:a16="http://schemas.microsoft.com/office/drawing/2014/main" xmlns="" id="{F6E2703D-AE93-4352-AF49-1543D3F2F7F6}"/>
              </a:ext>
            </a:extLst>
          </p:cNvPr>
          <p:cNvSpPr>
            <a:spLocks noChangeArrowheads="1"/>
          </p:cNvSpPr>
          <p:nvPr/>
        </p:nvSpPr>
        <p:spPr bwMode="auto">
          <a:xfrm>
            <a:off x="7586663" y="6319839"/>
            <a:ext cx="76200" cy="76200"/>
          </a:xfrm>
          <a:prstGeom prst="ellipse">
            <a:avLst/>
          </a:prstGeom>
          <a:solidFill>
            <a:srgbClr val="CC3300"/>
          </a:solidFill>
          <a:ln w="44450">
            <a:solidFill>
              <a:srgbClr val="CC3300"/>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98" name="Line 179">
            <a:extLst>
              <a:ext uri="{FF2B5EF4-FFF2-40B4-BE49-F238E27FC236}">
                <a16:creationId xmlns:a16="http://schemas.microsoft.com/office/drawing/2014/main" xmlns="" id="{EFEC5B19-6A6E-4531-A99B-70999B7D5F95}"/>
              </a:ext>
            </a:extLst>
          </p:cNvPr>
          <p:cNvSpPr>
            <a:spLocks noChangeShapeType="1"/>
          </p:cNvSpPr>
          <p:nvPr/>
        </p:nvSpPr>
        <p:spPr bwMode="auto">
          <a:xfrm>
            <a:off x="6781800" y="1762126"/>
            <a:ext cx="20574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99" name="Oval 180">
            <a:extLst>
              <a:ext uri="{FF2B5EF4-FFF2-40B4-BE49-F238E27FC236}">
                <a16:creationId xmlns:a16="http://schemas.microsoft.com/office/drawing/2014/main" xmlns="" id="{1271A269-4265-4F5F-85F1-CA0CBD85AF08}"/>
              </a:ext>
            </a:extLst>
          </p:cNvPr>
          <p:cNvSpPr>
            <a:spLocks noChangeArrowheads="1"/>
          </p:cNvSpPr>
          <p:nvPr/>
        </p:nvSpPr>
        <p:spPr bwMode="auto">
          <a:xfrm>
            <a:off x="8105775" y="1733551"/>
            <a:ext cx="76200" cy="76200"/>
          </a:xfrm>
          <a:prstGeom prst="ellipse">
            <a:avLst/>
          </a:prstGeom>
          <a:solidFill>
            <a:srgbClr val="CC3300"/>
          </a:solidFill>
          <a:ln w="9525">
            <a:solidFill>
              <a:srgbClr val="CC3300"/>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00" name="Line 181">
            <a:extLst>
              <a:ext uri="{FF2B5EF4-FFF2-40B4-BE49-F238E27FC236}">
                <a16:creationId xmlns:a16="http://schemas.microsoft.com/office/drawing/2014/main" xmlns="" id="{E42A0FF0-3E35-4CDD-BAB7-2D7BAA09CDC8}"/>
              </a:ext>
            </a:extLst>
          </p:cNvPr>
          <p:cNvSpPr>
            <a:spLocks noChangeShapeType="1"/>
          </p:cNvSpPr>
          <p:nvPr/>
        </p:nvSpPr>
        <p:spPr bwMode="auto">
          <a:xfrm flipV="1">
            <a:off x="8153400" y="1062039"/>
            <a:ext cx="0" cy="685800"/>
          </a:xfrm>
          <a:prstGeom prst="line">
            <a:avLst/>
          </a:prstGeom>
          <a:noFill/>
          <a:ln w="38100">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01" name="Text Box 182">
            <a:extLst>
              <a:ext uri="{FF2B5EF4-FFF2-40B4-BE49-F238E27FC236}">
                <a16:creationId xmlns:a16="http://schemas.microsoft.com/office/drawing/2014/main" xmlns="" id="{380202C5-00E4-44B5-840D-9EF6546B1E12}"/>
              </a:ext>
            </a:extLst>
          </p:cNvPr>
          <p:cNvSpPr txBox="1">
            <a:spLocks noChangeArrowheads="1"/>
          </p:cNvSpPr>
          <p:nvPr/>
        </p:nvSpPr>
        <p:spPr bwMode="auto">
          <a:xfrm>
            <a:off x="7070725" y="1062039"/>
            <a:ext cx="8509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i="1">
                <a:latin typeface="Times New Roman" panose="02020603050405020304" pitchFamily="18" charset="0"/>
              </a:rPr>
              <a:t>Address</a:t>
            </a:r>
          </a:p>
        </p:txBody>
      </p:sp>
      <p:sp>
        <p:nvSpPr>
          <p:cNvPr id="102" name="Line 183">
            <a:extLst>
              <a:ext uri="{FF2B5EF4-FFF2-40B4-BE49-F238E27FC236}">
                <a16:creationId xmlns:a16="http://schemas.microsoft.com/office/drawing/2014/main" xmlns="" id="{85D7FC50-D58A-4F46-AB19-E5F1EBD04797}"/>
              </a:ext>
            </a:extLst>
          </p:cNvPr>
          <p:cNvSpPr>
            <a:spLocks noChangeShapeType="1"/>
          </p:cNvSpPr>
          <p:nvPr/>
        </p:nvSpPr>
        <p:spPr bwMode="auto">
          <a:xfrm>
            <a:off x="2667000" y="1762126"/>
            <a:ext cx="2514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03" name="Line 184">
            <a:extLst>
              <a:ext uri="{FF2B5EF4-FFF2-40B4-BE49-F238E27FC236}">
                <a16:creationId xmlns:a16="http://schemas.microsoft.com/office/drawing/2014/main" xmlns="" id="{3B8ECC77-7A60-47CA-8E74-140EEC5E3E3B}"/>
              </a:ext>
            </a:extLst>
          </p:cNvPr>
          <p:cNvSpPr>
            <a:spLocks noChangeShapeType="1"/>
          </p:cNvSpPr>
          <p:nvPr/>
        </p:nvSpPr>
        <p:spPr bwMode="auto">
          <a:xfrm>
            <a:off x="2667000" y="2495551"/>
            <a:ext cx="2514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04" name="AutoShape 185">
            <a:extLst>
              <a:ext uri="{FF2B5EF4-FFF2-40B4-BE49-F238E27FC236}">
                <a16:creationId xmlns:a16="http://schemas.microsoft.com/office/drawing/2014/main" xmlns="" id="{77986C03-084D-4553-B9F5-F173EDEE6127}"/>
              </a:ext>
            </a:extLst>
          </p:cNvPr>
          <p:cNvSpPr>
            <a:spLocks noChangeArrowheads="1"/>
          </p:cNvSpPr>
          <p:nvPr/>
        </p:nvSpPr>
        <p:spPr bwMode="auto">
          <a:xfrm>
            <a:off x="6491288" y="2486026"/>
            <a:ext cx="152400" cy="100013"/>
          </a:xfrm>
          <a:prstGeom prst="triangle">
            <a:avLst>
              <a:gd name="adj" fmla="val 50000"/>
            </a:avLst>
          </a:prstGeom>
          <a:noFill/>
          <a:ln w="28575">
            <a:solidFill>
              <a:srgbClr val="99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05" name="Line 186">
            <a:extLst>
              <a:ext uri="{FF2B5EF4-FFF2-40B4-BE49-F238E27FC236}">
                <a16:creationId xmlns:a16="http://schemas.microsoft.com/office/drawing/2014/main" xmlns="" id="{8030ADA7-F781-4D4E-BBF5-88E1C36132B3}"/>
              </a:ext>
            </a:extLst>
          </p:cNvPr>
          <p:cNvSpPr>
            <a:spLocks noChangeShapeType="1"/>
          </p:cNvSpPr>
          <p:nvPr/>
        </p:nvSpPr>
        <p:spPr bwMode="auto">
          <a:xfrm>
            <a:off x="6553200" y="2752726"/>
            <a:ext cx="1066800" cy="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06" name="Line 187">
            <a:extLst>
              <a:ext uri="{FF2B5EF4-FFF2-40B4-BE49-F238E27FC236}">
                <a16:creationId xmlns:a16="http://schemas.microsoft.com/office/drawing/2014/main" xmlns="" id="{E19633BB-9DF3-44D3-AA5B-2DEFEC2E763D}"/>
              </a:ext>
            </a:extLst>
          </p:cNvPr>
          <p:cNvSpPr>
            <a:spLocks noChangeShapeType="1"/>
          </p:cNvSpPr>
          <p:nvPr/>
        </p:nvSpPr>
        <p:spPr bwMode="auto">
          <a:xfrm>
            <a:off x="6567488" y="2625726"/>
            <a:ext cx="0" cy="15240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07" name="Oval 188">
            <a:extLst>
              <a:ext uri="{FF2B5EF4-FFF2-40B4-BE49-F238E27FC236}">
                <a16:creationId xmlns:a16="http://schemas.microsoft.com/office/drawing/2014/main" xmlns="" id="{27088FFA-7165-42C0-B0FD-35952B1595EE}"/>
              </a:ext>
            </a:extLst>
          </p:cNvPr>
          <p:cNvSpPr>
            <a:spLocks noChangeArrowheads="1"/>
          </p:cNvSpPr>
          <p:nvPr/>
        </p:nvSpPr>
        <p:spPr bwMode="auto">
          <a:xfrm>
            <a:off x="7591425" y="2709864"/>
            <a:ext cx="76200" cy="76200"/>
          </a:xfrm>
          <a:prstGeom prst="ellipse">
            <a:avLst/>
          </a:prstGeom>
          <a:solidFill>
            <a:srgbClr val="CC3300"/>
          </a:solidFill>
          <a:ln w="44450">
            <a:solidFill>
              <a:srgbClr val="CC3300"/>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08" name="AutoShape 189">
            <a:extLst>
              <a:ext uri="{FF2B5EF4-FFF2-40B4-BE49-F238E27FC236}">
                <a16:creationId xmlns:a16="http://schemas.microsoft.com/office/drawing/2014/main" xmlns="" id="{5CDEC475-7C67-4442-AC74-EA3C0BBC45B4}"/>
              </a:ext>
            </a:extLst>
          </p:cNvPr>
          <p:cNvSpPr>
            <a:spLocks noChangeArrowheads="1"/>
          </p:cNvSpPr>
          <p:nvPr/>
        </p:nvSpPr>
        <p:spPr bwMode="auto">
          <a:xfrm>
            <a:off x="6491288" y="4852989"/>
            <a:ext cx="152400" cy="100013"/>
          </a:xfrm>
          <a:prstGeom prst="triangle">
            <a:avLst>
              <a:gd name="adj" fmla="val 50000"/>
            </a:avLst>
          </a:prstGeom>
          <a:noFill/>
          <a:ln w="28575">
            <a:solidFill>
              <a:srgbClr val="99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09" name="AutoShape 190">
            <a:extLst>
              <a:ext uri="{FF2B5EF4-FFF2-40B4-BE49-F238E27FC236}">
                <a16:creationId xmlns:a16="http://schemas.microsoft.com/office/drawing/2014/main" xmlns="" id="{3287FA97-CC5C-4E9F-9B0B-C8D057EC65CE}"/>
              </a:ext>
            </a:extLst>
          </p:cNvPr>
          <p:cNvSpPr>
            <a:spLocks noChangeArrowheads="1"/>
          </p:cNvSpPr>
          <p:nvPr/>
        </p:nvSpPr>
        <p:spPr bwMode="auto">
          <a:xfrm>
            <a:off x="6505575" y="1790701"/>
            <a:ext cx="152400" cy="100013"/>
          </a:xfrm>
          <a:prstGeom prst="triangle">
            <a:avLst>
              <a:gd name="adj" fmla="val 50000"/>
            </a:avLst>
          </a:prstGeom>
          <a:noFill/>
          <a:ln w="28575">
            <a:solidFill>
              <a:srgbClr val="99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10" name="Line 191">
            <a:extLst>
              <a:ext uri="{FF2B5EF4-FFF2-40B4-BE49-F238E27FC236}">
                <a16:creationId xmlns:a16="http://schemas.microsoft.com/office/drawing/2014/main" xmlns="" id="{59F3BF79-7ABB-47B3-8C45-5FD31CB8A64F}"/>
              </a:ext>
            </a:extLst>
          </p:cNvPr>
          <p:cNvSpPr>
            <a:spLocks noChangeShapeType="1"/>
          </p:cNvSpPr>
          <p:nvPr/>
        </p:nvSpPr>
        <p:spPr bwMode="auto">
          <a:xfrm>
            <a:off x="6553200" y="2143126"/>
            <a:ext cx="1066800" cy="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11" name="Line 192">
            <a:extLst>
              <a:ext uri="{FF2B5EF4-FFF2-40B4-BE49-F238E27FC236}">
                <a16:creationId xmlns:a16="http://schemas.microsoft.com/office/drawing/2014/main" xmlns="" id="{21D0E53D-C71A-4F56-9CF0-21E183C0F6F3}"/>
              </a:ext>
            </a:extLst>
          </p:cNvPr>
          <p:cNvSpPr>
            <a:spLocks noChangeShapeType="1"/>
          </p:cNvSpPr>
          <p:nvPr/>
        </p:nvSpPr>
        <p:spPr bwMode="auto">
          <a:xfrm>
            <a:off x="6567488" y="1914526"/>
            <a:ext cx="0" cy="22860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12" name="Text Box 193">
            <a:extLst>
              <a:ext uri="{FF2B5EF4-FFF2-40B4-BE49-F238E27FC236}">
                <a16:creationId xmlns:a16="http://schemas.microsoft.com/office/drawing/2014/main" xmlns="" id="{36106F70-6F29-4393-BD8B-FE127D389333}"/>
              </a:ext>
            </a:extLst>
          </p:cNvPr>
          <p:cNvSpPr txBox="1">
            <a:spLocks noChangeArrowheads="1"/>
          </p:cNvSpPr>
          <p:nvPr/>
        </p:nvSpPr>
        <p:spPr bwMode="auto">
          <a:xfrm>
            <a:off x="8777288" y="1552576"/>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a:solidFill>
                  <a:schemeClr val="bg2"/>
                </a:solidFill>
                <a:latin typeface="Times New Roman MT Extra Bold" pitchFamily="18" charset="0"/>
              </a:rPr>
              <a:t>1</a:t>
            </a:r>
          </a:p>
        </p:txBody>
      </p:sp>
      <p:sp>
        <p:nvSpPr>
          <p:cNvPr id="113" name="Line 194">
            <a:extLst>
              <a:ext uri="{FF2B5EF4-FFF2-40B4-BE49-F238E27FC236}">
                <a16:creationId xmlns:a16="http://schemas.microsoft.com/office/drawing/2014/main" xmlns="" id="{89B0A322-6935-4251-AFF9-22C5D073B1BC}"/>
              </a:ext>
            </a:extLst>
          </p:cNvPr>
          <p:cNvSpPr>
            <a:spLocks noChangeShapeType="1"/>
          </p:cNvSpPr>
          <p:nvPr/>
        </p:nvSpPr>
        <p:spPr bwMode="auto">
          <a:xfrm>
            <a:off x="6781800" y="2447926"/>
            <a:ext cx="20574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14" name="Text Box 195">
            <a:extLst>
              <a:ext uri="{FF2B5EF4-FFF2-40B4-BE49-F238E27FC236}">
                <a16:creationId xmlns:a16="http://schemas.microsoft.com/office/drawing/2014/main" xmlns="" id="{87B21EE8-7CE6-427A-BBA7-411B2FCBF870}"/>
              </a:ext>
            </a:extLst>
          </p:cNvPr>
          <p:cNvSpPr txBox="1">
            <a:spLocks noChangeArrowheads="1"/>
          </p:cNvSpPr>
          <p:nvPr/>
        </p:nvSpPr>
        <p:spPr bwMode="auto">
          <a:xfrm>
            <a:off x="8777288" y="2314576"/>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a:solidFill>
                  <a:schemeClr val="bg2"/>
                </a:solidFill>
                <a:latin typeface="Times New Roman MT Extra Bold" pitchFamily="18" charset="0"/>
              </a:rPr>
              <a:t>2</a:t>
            </a:r>
          </a:p>
        </p:txBody>
      </p:sp>
      <p:sp>
        <p:nvSpPr>
          <p:cNvPr id="115" name="Text Box 196">
            <a:extLst>
              <a:ext uri="{FF2B5EF4-FFF2-40B4-BE49-F238E27FC236}">
                <a16:creationId xmlns:a16="http://schemas.microsoft.com/office/drawing/2014/main" xmlns="" id="{CDF431CD-FD4A-4F4C-83E4-F02F195D90A6}"/>
              </a:ext>
            </a:extLst>
          </p:cNvPr>
          <p:cNvSpPr txBox="1">
            <a:spLocks noChangeArrowheads="1"/>
          </p:cNvSpPr>
          <p:nvPr/>
        </p:nvSpPr>
        <p:spPr bwMode="auto">
          <a:xfrm>
            <a:off x="8777288" y="619126"/>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a:solidFill>
                  <a:schemeClr val="bg2"/>
                </a:solidFill>
                <a:latin typeface="Times New Roman MT Extra Bold" pitchFamily="18" charset="0"/>
              </a:rPr>
              <a:t>7</a:t>
            </a:r>
          </a:p>
        </p:txBody>
      </p:sp>
      <p:sp>
        <p:nvSpPr>
          <p:cNvPr id="116" name="Line 197">
            <a:extLst>
              <a:ext uri="{FF2B5EF4-FFF2-40B4-BE49-F238E27FC236}">
                <a16:creationId xmlns:a16="http://schemas.microsoft.com/office/drawing/2014/main" xmlns="" id="{56DE9BB0-676A-49EE-BCD2-FB0A1E391C64}"/>
              </a:ext>
            </a:extLst>
          </p:cNvPr>
          <p:cNvSpPr>
            <a:spLocks noChangeShapeType="1"/>
          </p:cNvSpPr>
          <p:nvPr/>
        </p:nvSpPr>
        <p:spPr bwMode="auto">
          <a:xfrm>
            <a:off x="6781800" y="4819651"/>
            <a:ext cx="20574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17" name="Text Box 198">
            <a:extLst>
              <a:ext uri="{FF2B5EF4-FFF2-40B4-BE49-F238E27FC236}">
                <a16:creationId xmlns:a16="http://schemas.microsoft.com/office/drawing/2014/main" xmlns="" id="{F5C27F69-407F-49CF-AB10-F4FA09FF68A3}"/>
              </a:ext>
            </a:extLst>
          </p:cNvPr>
          <p:cNvSpPr txBox="1">
            <a:spLocks noChangeArrowheads="1"/>
          </p:cNvSpPr>
          <p:nvPr/>
        </p:nvSpPr>
        <p:spPr bwMode="auto">
          <a:xfrm>
            <a:off x="8777288" y="4638676"/>
            <a:ext cx="2857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600" b="1">
                <a:solidFill>
                  <a:schemeClr val="bg2"/>
                </a:solidFill>
                <a:latin typeface="Times New Roman MT Extra Bold" pitchFamily="18" charset="0"/>
              </a:rPr>
              <a:t>5</a:t>
            </a:r>
          </a:p>
        </p:txBody>
      </p:sp>
      <p:sp>
        <p:nvSpPr>
          <p:cNvPr id="118" name="Line 199">
            <a:extLst>
              <a:ext uri="{FF2B5EF4-FFF2-40B4-BE49-F238E27FC236}">
                <a16:creationId xmlns:a16="http://schemas.microsoft.com/office/drawing/2014/main" xmlns="" id="{8287D828-2315-48BF-B2BB-F19524538D5E}"/>
              </a:ext>
            </a:extLst>
          </p:cNvPr>
          <p:cNvSpPr>
            <a:spLocks noChangeShapeType="1"/>
          </p:cNvSpPr>
          <p:nvPr/>
        </p:nvSpPr>
        <p:spPr bwMode="auto">
          <a:xfrm flipV="1">
            <a:off x="5257800" y="1893889"/>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19" name="Text Box 200">
            <a:extLst>
              <a:ext uri="{FF2B5EF4-FFF2-40B4-BE49-F238E27FC236}">
                <a16:creationId xmlns:a16="http://schemas.microsoft.com/office/drawing/2014/main" xmlns="" id="{101763BB-4AA3-441A-B6E4-C5437DAA40DA}"/>
              </a:ext>
            </a:extLst>
          </p:cNvPr>
          <p:cNvSpPr txBox="1">
            <a:spLocks noChangeArrowheads="1"/>
          </p:cNvSpPr>
          <p:nvPr/>
        </p:nvSpPr>
        <p:spPr bwMode="auto">
          <a:xfrm>
            <a:off x="5089525" y="2003426"/>
            <a:ext cx="377825"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LD</a:t>
            </a:r>
          </a:p>
        </p:txBody>
      </p:sp>
      <p:sp>
        <p:nvSpPr>
          <p:cNvPr id="120" name="Line 201">
            <a:extLst>
              <a:ext uri="{FF2B5EF4-FFF2-40B4-BE49-F238E27FC236}">
                <a16:creationId xmlns:a16="http://schemas.microsoft.com/office/drawing/2014/main" xmlns="" id="{ED810112-B76B-4B94-9847-37A8726BC476}"/>
              </a:ext>
            </a:extLst>
          </p:cNvPr>
          <p:cNvSpPr>
            <a:spLocks noChangeShapeType="1"/>
          </p:cNvSpPr>
          <p:nvPr/>
        </p:nvSpPr>
        <p:spPr bwMode="auto">
          <a:xfrm flipV="1">
            <a:off x="5730875" y="1893889"/>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1" name="Text Box 202">
            <a:extLst>
              <a:ext uri="{FF2B5EF4-FFF2-40B4-BE49-F238E27FC236}">
                <a16:creationId xmlns:a16="http://schemas.microsoft.com/office/drawing/2014/main" xmlns="" id="{5E38F227-4276-494B-99E3-F065A40DF283}"/>
              </a:ext>
            </a:extLst>
          </p:cNvPr>
          <p:cNvSpPr txBox="1">
            <a:spLocks noChangeArrowheads="1"/>
          </p:cNvSpPr>
          <p:nvPr/>
        </p:nvSpPr>
        <p:spPr bwMode="auto">
          <a:xfrm>
            <a:off x="5562600" y="2003426"/>
            <a:ext cx="446088"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INR</a:t>
            </a:r>
          </a:p>
        </p:txBody>
      </p:sp>
      <p:sp>
        <p:nvSpPr>
          <p:cNvPr id="122" name="Line 203">
            <a:extLst>
              <a:ext uri="{FF2B5EF4-FFF2-40B4-BE49-F238E27FC236}">
                <a16:creationId xmlns:a16="http://schemas.microsoft.com/office/drawing/2014/main" xmlns="" id="{F14733D0-4FB6-4621-84E3-BF644254A3A6}"/>
              </a:ext>
            </a:extLst>
          </p:cNvPr>
          <p:cNvSpPr>
            <a:spLocks noChangeShapeType="1"/>
          </p:cNvSpPr>
          <p:nvPr/>
        </p:nvSpPr>
        <p:spPr bwMode="auto">
          <a:xfrm flipV="1">
            <a:off x="6188075" y="1893889"/>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3" name="Text Box 204">
            <a:extLst>
              <a:ext uri="{FF2B5EF4-FFF2-40B4-BE49-F238E27FC236}">
                <a16:creationId xmlns:a16="http://schemas.microsoft.com/office/drawing/2014/main" xmlns="" id="{B58AEC88-ED2F-453C-A536-344D0A264C47}"/>
              </a:ext>
            </a:extLst>
          </p:cNvPr>
          <p:cNvSpPr txBox="1">
            <a:spLocks noChangeArrowheads="1"/>
          </p:cNvSpPr>
          <p:nvPr/>
        </p:nvSpPr>
        <p:spPr bwMode="auto">
          <a:xfrm>
            <a:off x="6019800" y="2003426"/>
            <a:ext cx="487363"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CLR</a:t>
            </a:r>
          </a:p>
        </p:txBody>
      </p:sp>
      <p:sp>
        <p:nvSpPr>
          <p:cNvPr id="124" name="Line 205">
            <a:extLst>
              <a:ext uri="{FF2B5EF4-FFF2-40B4-BE49-F238E27FC236}">
                <a16:creationId xmlns:a16="http://schemas.microsoft.com/office/drawing/2014/main" xmlns="" id="{412B8B27-5E5A-43A6-96F3-A4D70FC3177E}"/>
              </a:ext>
            </a:extLst>
          </p:cNvPr>
          <p:cNvSpPr>
            <a:spLocks noChangeShapeType="1"/>
          </p:cNvSpPr>
          <p:nvPr/>
        </p:nvSpPr>
        <p:spPr bwMode="auto">
          <a:xfrm flipH="1">
            <a:off x="6553200" y="2727326"/>
            <a:ext cx="28575" cy="2540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5" name="Line 206">
            <a:extLst>
              <a:ext uri="{FF2B5EF4-FFF2-40B4-BE49-F238E27FC236}">
                <a16:creationId xmlns:a16="http://schemas.microsoft.com/office/drawing/2014/main" xmlns="" id="{19FF6B64-C59D-41EA-885D-0B372D0F6B4A}"/>
              </a:ext>
            </a:extLst>
          </p:cNvPr>
          <p:cNvSpPr>
            <a:spLocks noChangeShapeType="1"/>
          </p:cNvSpPr>
          <p:nvPr/>
        </p:nvSpPr>
        <p:spPr bwMode="auto">
          <a:xfrm flipV="1">
            <a:off x="5257800" y="2605089"/>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6" name="Text Box 207">
            <a:extLst>
              <a:ext uri="{FF2B5EF4-FFF2-40B4-BE49-F238E27FC236}">
                <a16:creationId xmlns:a16="http://schemas.microsoft.com/office/drawing/2014/main" xmlns="" id="{10D780E4-32D0-41BB-89BB-711CBC0C87B4}"/>
              </a:ext>
            </a:extLst>
          </p:cNvPr>
          <p:cNvSpPr txBox="1">
            <a:spLocks noChangeArrowheads="1"/>
          </p:cNvSpPr>
          <p:nvPr/>
        </p:nvSpPr>
        <p:spPr bwMode="auto">
          <a:xfrm>
            <a:off x="5089525" y="2714626"/>
            <a:ext cx="377825"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LD</a:t>
            </a:r>
          </a:p>
        </p:txBody>
      </p:sp>
      <p:sp>
        <p:nvSpPr>
          <p:cNvPr id="127" name="Line 208">
            <a:extLst>
              <a:ext uri="{FF2B5EF4-FFF2-40B4-BE49-F238E27FC236}">
                <a16:creationId xmlns:a16="http://schemas.microsoft.com/office/drawing/2014/main" xmlns="" id="{EC47B0CE-BA62-46C3-B08A-273012CE3FC2}"/>
              </a:ext>
            </a:extLst>
          </p:cNvPr>
          <p:cNvSpPr>
            <a:spLocks noChangeShapeType="1"/>
          </p:cNvSpPr>
          <p:nvPr/>
        </p:nvSpPr>
        <p:spPr bwMode="auto">
          <a:xfrm flipV="1">
            <a:off x="5730875" y="2605089"/>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8" name="Text Box 209">
            <a:extLst>
              <a:ext uri="{FF2B5EF4-FFF2-40B4-BE49-F238E27FC236}">
                <a16:creationId xmlns:a16="http://schemas.microsoft.com/office/drawing/2014/main" xmlns="" id="{57F94E58-EC09-430C-9738-8265E6EBD94C}"/>
              </a:ext>
            </a:extLst>
          </p:cNvPr>
          <p:cNvSpPr txBox="1">
            <a:spLocks noChangeArrowheads="1"/>
          </p:cNvSpPr>
          <p:nvPr/>
        </p:nvSpPr>
        <p:spPr bwMode="auto">
          <a:xfrm>
            <a:off x="5562600" y="2714626"/>
            <a:ext cx="446088"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INR</a:t>
            </a:r>
          </a:p>
        </p:txBody>
      </p:sp>
      <p:sp>
        <p:nvSpPr>
          <p:cNvPr id="129" name="Line 210">
            <a:extLst>
              <a:ext uri="{FF2B5EF4-FFF2-40B4-BE49-F238E27FC236}">
                <a16:creationId xmlns:a16="http://schemas.microsoft.com/office/drawing/2014/main" xmlns="" id="{1A733DA3-F9C6-4378-86AA-AC9F7134EF60}"/>
              </a:ext>
            </a:extLst>
          </p:cNvPr>
          <p:cNvSpPr>
            <a:spLocks noChangeShapeType="1"/>
          </p:cNvSpPr>
          <p:nvPr/>
        </p:nvSpPr>
        <p:spPr bwMode="auto">
          <a:xfrm flipV="1">
            <a:off x="6188075" y="2605089"/>
            <a:ext cx="0" cy="152400"/>
          </a:xfrm>
          <a:prstGeom prst="line">
            <a:avLst/>
          </a:prstGeom>
          <a:noFill/>
          <a:ln w="28575">
            <a:solidFill>
              <a:srgbClr val="CC33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30" name="Text Box 211">
            <a:extLst>
              <a:ext uri="{FF2B5EF4-FFF2-40B4-BE49-F238E27FC236}">
                <a16:creationId xmlns:a16="http://schemas.microsoft.com/office/drawing/2014/main" xmlns="" id="{6663785D-38F4-483E-87ED-A3E66F6C2CC9}"/>
              </a:ext>
            </a:extLst>
          </p:cNvPr>
          <p:cNvSpPr txBox="1">
            <a:spLocks noChangeArrowheads="1"/>
          </p:cNvSpPr>
          <p:nvPr/>
        </p:nvSpPr>
        <p:spPr bwMode="auto">
          <a:xfrm>
            <a:off x="6019800" y="2714626"/>
            <a:ext cx="487363"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a:latin typeface="Arial" panose="020B0604020202020204" pitchFamily="34" charset="0"/>
              </a:rPr>
              <a:t>CLR</a:t>
            </a:r>
          </a:p>
        </p:txBody>
      </p:sp>
      <p:sp>
        <p:nvSpPr>
          <p:cNvPr id="131" name="Line 212">
            <a:extLst>
              <a:ext uri="{FF2B5EF4-FFF2-40B4-BE49-F238E27FC236}">
                <a16:creationId xmlns:a16="http://schemas.microsoft.com/office/drawing/2014/main" xmlns="" id="{020670B3-4147-44F3-B097-0A9C9C6C69FE}"/>
              </a:ext>
            </a:extLst>
          </p:cNvPr>
          <p:cNvSpPr>
            <a:spLocks noChangeShapeType="1"/>
          </p:cNvSpPr>
          <p:nvPr/>
        </p:nvSpPr>
        <p:spPr bwMode="auto">
          <a:xfrm>
            <a:off x="2667000" y="4835526"/>
            <a:ext cx="2514600"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2" name="Line 213">
            <a:extLst>
              <a:ext uri="{FF2B5EF4-FFF2-40B4-BE49-F238E27FC236}">
                <a16:creationId xmlns:a16="http://schemas.microsoft.com/office/drawing/2014/main" xmlns="" id="{7F95F734-993F-464B-B967-ADA993825147}"/>
              </a:ext>
            </a:extLst>
          </p:cNvPr>
          <p:cNvSpPr>
            <a:spLocks noChangeShapeType="1"/>
          </p:cNvSpPr>
          <p:nvPr/>
        </p:nvSpPr>
        <p:spPr bwMode="auto">
          <a:xfrm>
            <a:off x="8229600" y="466726"/>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3" name="Text Box 214">
            <a:extLst>
              <a:ext uri="{FF2B5EF4-FFF2-40B4-BE49-F238E27FC236}">
                <a16:creationId xmlns:a16="http://schemas.microsoft.com/office/drawing/2014/main" xmlns="" id="{8FB04E56-A04C-4B5C-AF83-07399933B4A3}"/>
              </a:ext>
            </a:extLst>
          </p:cNvPr>
          <p:cNvSpPr txBox="1">
            <a:spLocks noChangeArrowheads="1"/>
          </p:cNvSpPr>
          <p:nvPr/>
        </p:nvSpPr>
        <p:spPr bwMode="auto">
          <a:xfrm>
            <a:off x="7924800" y="149226"/>
            <a:ext cx="342900"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b="1">
                <a:latin typeface="Arial" panose="020B0604020202020204" pitchFamily="34" charset="0"/>
              </a:rPr>
              <a:t>S</a:t>
            </a:r>
            <a:r>
              <a:rPr lang="en-US" altLang="en-US" sz="1200" b="1" baseline="-25000">
                <a:latin typeface="Arial" panose="020B0604020202020204" pitchFamily="34" charset="0"/>
              </a:rPr>
              <a:t>1</a:t>
            </a:r>
          </a:p>
        </p:txBody>
      </p:sp>
      <p:sp>
        <p:nvSpPr>
          <p:cNvPr id="134" name="Line 215">
            <a:extLst>
              <a:ext uri="{FF2B5EF4-FFF2-40B4-BE49-F238E27FC236}">
                <a16:creationId xmlns:a16="http://schemas.microsoft.com/office/drawing/2014/main" xmlns="" id="{503F9ACD-1973-4EF4-A14C-19EA421AF206}"/>
              </a:ext>
            </a:extLst>
          </p:cNvPr>
          <p:cNvSpPr>
            <a:spLocks noChangeShapeType="1"/>
          </p:cNvSpPr>
          <p:nvPr/>
        </p:nvSpPr>
        <p:spPr bwMode="auto">
          <a:xfrm>
            <a:off x="8229600" y="339726"/>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5" name="Text Box 216">
            <a:extLst>
              <a:ext uri="{FF2B5EF4-FFF2-40B4-BE49-F238E27FC236}">
                <a16:creationId xmlns:a16="http://schemas.microsoft.com/office/drawing/2014/main" xmlns="" id="{74801649-C1F1-4F8F-8EFA-F3D6E7DD4F69}"/>
              </a:ext>
            </a:extLst>
          </p:cNvPr>
          <p:cNvSpPr txBox="1">
            <a:spLocks noChangeArrowheads="1"/>
          </p:cNvSpPr>
          <p:nvPr/>
        </p:nvSpPr>
        <p:spPr bwMode="auto">
          <a:xfrm>
            <a:off x="7924800" y="22226"/>
            <a:ext cx="342900"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US" altLang="en-US" sz="1200" b="1">
                <a:latin typeface="Arial" panose="020B0604020202020204" pitchFamily="34" charset="0"/>
              </a:rPr>
              <a:t>S</a:t>
            </a:r>
            <a:r>
              <a:rPr lang="en-US" altLang="en-US" sz="1200" b="1" baseline="-25000">
                <a:latin typeface="Arial" panose="020B0604020202020204" pitchFamily="34" charset="0"/>
              </a:rPr>
              <a:t>2</a:t>
            </a:r>
          </a:p>
        </p:txBody>
      </p:sp>
      <p:sp>
        <p:nvSpPr>
          <p:cNvPr id="136" name="Line 217">
            <a:extLst>
              <a:ext uri="{FF2B5EF4-FFF2-40B4-BE49-F238E27FC236}">
                <a16:creationId xmlns:a16="http://schemas.microsoft.com/office/drawing/2014/main" xmlns="" id="{C3054DB7-80E8-45EF-9F67-AF06B85B6A24}"/>
              </a:ext>
            </a:extLst>
          </p:cNvPr>
          <p:cNvSpPr>
            <a:spLocks noChangeShapeType="1"/>
          </p:cNvSpPr>
          <p:nvPr/>
        </p:nvSpPr>
        <p:spPr bwMode="auto">
          <a:xfrm>
            <a:off x="8229600" y="174626"/>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7" name="Line 218">
            <a:extLst>
              <a:ext uri="{FF2B5EF4-FFF2-40B4-BE49-F238E27FC236}">
                <a16:creationId xmlns:a16="http://schemas.microsoft.com/office/drawing/2014/main" xmlns="" id="{0578673A-E6F5-436A-A498-78CB503C9B41}"/>
              </a:ext>
            </a:extLst>
          </p:cNvPr>
          <p:cNvSpPr>
            <a:spLocks noChangeShapeType="1"/>
          </p:cNvSpPr>
          <p:nvPr/>
        </p:nvSpPr>
        <p:spPr bwMode="auto">
          <a:xfrm>
            <a:off x="6553200" y="5086351"/>
            <a:ext cx="1066800" cy="0"/>
          </a:xfrm>
          <a:prstGeom prst="line">
            <a:avLst/>
          </a:prstGeom>
          <a:noFill/>
          <a:ln w="38100">
            <a:solidFill>
              <a:srgbClr val="990000"/>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38" name="Oval 219">
            <a:extLst>
              <a:ext uri="{FF2B5EF4-FFF2-40B4-BE49-F238E27FC236}">
                <a16:creationId xmlns:a16="http://schemas.microsoft.com/office/drawing/2014/main" xmlns="" id="{6A79D0AB-B289-4439-9745-049BEFF3D9B2}"/>
              </a:ext>
            </a:extLst>
          </p:cNvPr>
          <p:cNvSpPr>
            <a:spLocks noChangeArrowheads="1"/>
          </p:cNvSpPr>
          <p:nvPr/>
        </p:nvSpPr>
        <p:spPr bwMode="auto">
          <a:xfrm>
            <a:off x="7591425" y="5038726"/>
            <a:ext cx="76200" cy="76200"/>
          </a:xfrm>
          <a:prstGeom prst="ellipse">
            <a:avLst/>
          </a:prstGeom>
          <a:solidFill>
            <a:srgbClr val="CC3300"/>
          </a:solidFill>
          <a:ln w="44450">
            <a:solidFill>
              <a:srgbClr val="CC3300"/>
            </a:solidFill>
            <a:round/>
            <a:headEnd/>
            <a:tailEnd/>
          </a:ln>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79302453-764C-43F4-8406-967B1C895D44}"/>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Rectangle 68">
            <a:extLst>
              <a:ext uri="{FF2B5EF4-FFF2-40B4-BE49-F238E27FC236}">
                <a16:creationId xmlns:a16="http://schemas.microsoft.com/office/drawing/2014/main" xmlns="" id="{E3509583-76EB-43DF-B633-FEE138A05CEB}"/>
              </a:ext>
            </a:extLst>
          </p:cNvPr>
          <p:cNvSpPr/>
          <p:nvPr/>
        </p:nvSpPr>
        <p:spPr>
          <a:xfrm>
            <a:off x="5791200" y="914400"/>
            <a:ext cx="6096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1" name="Rectangle 70">
            <a:extLst>
              <a:ext uri="{FF2B5EF4-FFF2-40B4-BE49-F238E27FC236}">
                <a16:creationId xmlns:a16="http://schemas.microsoft.com/office/drawing/2014/main" xmlns="" id="{EDB2EDF7-CADD-4636-A257-D5BE2931461F}"/>
              </a:ext>
            </a:extLst>
          </p:cNvPr>
          <p:cNvSpPr/>
          <p:nvPr/>
        </p:nvSpPr>
        <p:spPr>
          <a:xfrm>
            <a:off x="5638800" y="1371600"/>
            <a:ext cx="914400" cy="304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72" name="Group 67">
            <a:extLst>
              <a:ext uri="{FF2B5EF4-FFF2-40B4-BE49-F238E27FC236}">
                <a16:creationId xmlns:a16="http://schemas.microsoft.com/office/drawing/2014/main" xmlns="" id="{36416C93-5AB3-4588-AED8-EC244C7AECB8}"/>
              </a:ext>
            </a:extLst>
          </p:cNvPr>
          <p:cNvGrpSpPr>
            <a:grpSpLocks/>
          </p:cNvGrpSpPr>
          <p:nvPr/>
        </p:nvGrpSpPr>
        <p:grpSpPr bwMode="auto">
          <a:xfrm>
            <a:off x="1690688" y="73026"/>
            <a:ext cx="8977312" cy="6632575"/>
            <a:chOff x="166688" y="73025"/>
            <a:chExt cx="8977312" cy="6632575"/>
          </a:xfrm>
        </p:grpSpPr>
        <p:sp>
          <p:nvSpPr>
            <p:cNvPr id="74" name="Rectangle 4">
              <a:extLst>
                <a:ext uri="{FF2B5EF4-FFF2-40B4-BE49-F238E27FC236}">
                  <a16:creationId xmlns:a16="http://schemas.microsoft.com/office/drawing/2014/main" xmlns="" id="{7D57AA04-DDE9-424B-A916-04ECD6F277F8}"/>
                </a:ext>
              </a:extLst>
            </p:cNvPr>
            <p:cNvSpPr>
              <a:spLocks noChangeArrowheads="1"/>
            </p:cNvSpPr>
            <p:nvPr/>
          </p:nvSpPr>
          <p:spPr bwMode="auto">
            <a:xfrm>
              <a:off x="4105275" y="100013"/>
              <a:ext cx="990600" cy="457200"/>
            </a:xfrm>
            <a:prstGeom prst="rect">
              <a:avLst/>
            </a:prstGeom>
            <a:noFill/>
            <a:ln w="9525" algn="ctr">
              <a:solidFill>
                <a:srgbClr val="FFFF66"/>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75" name="Text Box 5">
              <a:extLst>
                <a:ext uri="{FF2B5EF4-FFF2-40B4-BE49-F238E27FC236}">
                  <a16:creationId xmlns:a16="http://schemas.microsoft.com/office/drawing/2014/main" xmlns="" id="{4E6AE14A-B771-4D90-B6C6-6824F0A2146D}"/>
                </a:ext>
              </a:extLst>
            </p:cNvPr>
            <p:cNvSpPr txBox="1">
              <a:spLocks noChangeArrowheads="1"/>
            </p:cNvSpPr>
            <p:nvPr/>
          </p:nvSpPr>
          <p:spPr bwMode="auto">
            <a:xfrm>
              <a:off x="4105275" y="73025"/>
              <a:ext cx="990600" cy="503238"/>
            </a:xfrm>
            <a:prstGeom prst="rect">
              <a:avLst/>
            </a:prstGeom>
            <a:noFill/>
            <a:ln w="9525" algn="ctr">
              <a:solidFill>
                <a:schemeClr val="tx1"/>
              </a:solidFill>
              <a:miter lim="800000"/>
              <a:headEnd/>
              <a:tailEnd/>
            </a:ln>
            <a:effectLst/>
          </p:spPr>
          <p:txBody>
            <a:bodyPr>
              <a:spAutoFit/>
            </a:bodyPr>
            <a:lstStyle/>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Start    </a:t>
              </a:r>
            </a:p>
            <a:p>
              <a:pPr marL="342900" indent="-342900" algn="ctr">
                <a:spcBef>
                  <a:spcPct val="20000"/>
                </a:spcBef>
                <a:buClr>
                  <a:schemeClr val="hlink"/>
                </a:buClr>
                <a:buSzPct val="75000"/>
                <a:defRPr/>
              </a:pPr>
              <a:r>
                <a:rPr lang="en-US" sz="1200" b="1" i="1" dirty="0">
                  <a:effectLst>
                    <a:outerShdw blurRad="38100" dist="38100" dir="2700000" algn="tl">
                      <a:srgbClr val="C0C0C0"/>
                    </a:outerShdw>
                  </a:effectLst>
                  <a:latin typeface="Times New Roman" pitchFamily="18" charset="0"/>
                </a:rPr>
                <a:t>SC </a:t>
              </a:r>
              <a:r>
                <a:rPr lang="en-US" sz="1200" b="1" i="1" dirty="0">
                  <a:effectLst>
                    <a:outerShdw blurRad="38100" dist="38100" dir="2700000" algn="tl">
                      <a:srgbClr val="C0C0C0"/>
                    </a:outerShdw>
                  </a:effectLst>
                  <a:latin typeface="Times New Roman" pitchFamily="18" charset="0"/>
                  <a:sym typeface="Symbol" pitchFamily="18" charset="2"/>
                </a:rPr>
                <a:t> 0</a:t>
              </a:r>
            </a:p>
          </p:txBody>
        </p:sp>
        <p:sp>
          <p:nvSpPr>
            <p:cNvPr id="77" name="Line 6">
              <a:extLst>
                <a:ext uri="{FF2B5EF4-FFF2-40B4-BE49-F238E27FC236}">
                  <a16:creationId xmlns:a16="http://schemas.microsoft.com/office/drawing/2014/main" xmlns="" id="{20F9376B-2B89-4AE0-89CB-0A54E51958C4}"/>
                </a:ext>
              </a:extLst>
            </p:cNvPr>
            <p:cNvSpPr>
              <a:spLocks noChangeShapeType="1"/>
            </p:cNvSpPr>
            <p:nvPr/>
          </p:nvSpPr>
          <p:spPr bwMode="auto">
            <a:xfrm>
              <a:off x="4572000" y="538163"/>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78" name="Rectangle 7">
              <a:extLst>
                <a:ext uri="{FF2B5EF4-FFF2-40B4-BE49-F238E27FC236}">
                  <a16:creationId xmlns:a16="http://schemas.microsoft.com/office/drawing/2014/main" xmlns="" id="{7B6275DE-0D5D-4FCF-BB12-1BDC8DDDB8D9}"/>
                </a:ext>
              </a:extLst>
            </p:cNvPr>
            <p:cNvSpPr>
              <a:spLocks noChangeArrowheads="1"/>
            </p:cNvSpPr>
            <p:nvPr/>
          </p:nvSpPr>
          <p:spPr bwMode="auto">
            <a:xfrm>
              <a:off x="3833813" y="766763"/>
              <a:ext cx="1681162" cy="295275"/>
            </a:xfrm>
            <a:prstGeom prst="rect">
              <a:avLst/>
            </a:prstGeom>
            <a:noFill/>
            <a:ln w="9525" algn="ctr">
              <a:solidFill>
                <a:srgbClr val="FFFF66"/>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80" name="Text Box 8">
              <a:extLst>
                <a:ext uri="{FF2B5EF4-FFF2-40B4-BE49-F238E27FC236}">
                  <a16:creationId xmlns:a16="http://schemas.microsoft.com/office/drawing/2014/main" xmlns="" id="{F03F684E-4545-4BD8-BCAE-027B4E19C628}"/>
                </a:ext>
              </a:extLst>
            </p:cNvPr>
            <p:cNvSpPr txBox="1">
              <a:spLocks noChangeArrowheads="1"/>
            </p:cNvSpPr>
            <p:nvPr/>
          </p:nvSpPr>
          <p:spPr bwMode="auto">
            <a:xfrm>
              <a:off x="3808413" y="738188"/>
              <a:ext cx="1530350" cy="346075"/>
            </a:xfrm>
            <a:prstGeom prst="rect">
              <a:avLst/>
            </a:prstGeom>
            <a:noFill/>
            <a:ln w="9525" algn="ctr">
              <a:solidFill>
                <a:schemeClr val="tx1"/>
              </a:solidFill>
              <a:miter lim="800000"/>
              <a:headEnd/>
              <a:tailEnd/>
            </a:ln>
            <a:effectLst/>
          </p:spPr>
          <p:txBody>
            <a:bodyPr>
              <a:spAutoFit/>
            </a:bodyPr>
            <a:lstStyle/>
            <a:p>
              <a:pPr marL="342900" indent="-342900" algn="ctr">
                <a:spcBef>
                  <a:spcPct val="20000"/>
                </a:spcBef>
                <a:buClr>
                  <a:schemeClr val="hlink"/>
                </a:buClr>
                <a:buSzPct val="75000"/>
                <a:defRPr/>
              </a:pPr>
              <a:r>
                <a:rPr lang="en-US" sz="1600" b="1" i="1" dirty="0">
                  <a:effectLst>
                    <a:outerShdw blurRad="38100" dist="38100" dir="2700000" algn="tl">
                      <a:srgbClr val="C0C0C0"/>
                    </a:outerShdw>
                  </a:effectLst>
                  <a:latin typeface="Times New Roman" pitchFamily="18" charset="0"/>
                </a:rPr>
                <a:t>AR </a:t>
              </a:r>
              <a:r>
                <a:rPr lang="en-US" sz="1600" b="1" i="1" dirty="0">
                  <a:effectLst>
                    <a:outerShdw blurRad="38100" dist="38100" dir="2700000" algn="tl">
                      <a:srgbClr val="C0C0C0"/>
                    </a:outerShdw>
                  </a:effectLst>
                  <a:latin typeface="Times New Roman" pitchFamily="18" charset="0"/>
                  <a:sym typeface="Symbol" pitchFamily="18" charset="2"/>
                </a:rPr>
                <a:t> PC</a:t>
              </a:r>
            </a:p>
          </p:txBody>
        </p:sp>
        <p:sp>
          <p:nvSpPr>
            <p:cNvPr id="81" name="Text Box 10">
              <a:extLst>
                <a:ext uri="{FF2B5EF4-FFF2-40B4-BE49-F238E27FC236}">
                  <a16:creationId xmlns:a16="http://schemas.microsoft.com/office/drawing/2014/main" xmlns="" id="{BF85C8C5-61A1-4C50-B03A-3B01923053F0}"/>
                </a:ext>
              </a:extLst>
            </p:cNvPr>
            <p:cNvSpPr txBox="1">
              <a:spLocks noChangeArrowheads="1"/>
            </p:cNvSpPr>
            <p:nvPr/>
          </p:nvSpPr>
          <p:spPr bwMode="auto">
            <a:xfrm>
              <a:off x="5375275" y="425450"/>
              <a:ext cx="4143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20000"/>
                </a:spcBef>
                <a:buClr>
                  <a:schemeClr val="hlink"/>
                </a:buClr>
                <a:buSzPct val="75000"/>
                <a:buFont typeface="Wingdings" panose="05000000000000000000" pitchFamily="2" charset="2"/>
                <a:buNone/>
              </a:pPr>
              <a:r>
                <a:rPr lang="en-US" altLang="en-US" sz="1600" b="1" i="1">
                  <a:solidFill>
                    <a:srgbClr val="FF3300"/>
                  </a:solidFill>
                  <a:latin typeface="Batang" panose="02030600000101010101" pitchFamily="18" charset="-127"/>
                </a:rPr>
                <a:t>T</a:t>
              </a:r>
              <a:r>
                <a:rPr lang="en-US" altLang="en-US" sz="1600" b="1" i="1" baseline="-25000">
                  <a:solidFill>
                    <a:srgbClr val="FF3300"/>
                  </a:solidFill>
                  <a:latin typeface="Batang" panose="02030600000101010101" pitchFamily="18" charset="-127"/>
                </a:rPr>
                <a:t>0</a:t>
              </a:r>
            </a:p>
          </p:txBody>
        </p:sp>
        <p:sp>
          <p:nvSpPr>
            <p:cNvPr id="83" name="Rectangle 13">
              <a:extLst>
                <a:ext uri="{FF2B5EF4-FFF2-40B4-BE49-F238E27FC236}">
                  <a16:creationId xmlns:a16="http://schemas.microsoft.com/office/drawing/2014/main" xmlns="" id="{5ADB43B9-1984-4D34-8B1F-943C9D169C84}"/>
                </a:ext>
              </a:extLst>
            </p:cNvPr>
            <p:cNvSpPr>
              <a:spLocks noChangeArrowheads="1"/>
            </p:cNvSpPr>
            <p:nvPr/>
          </p:nvSpPr>
          <p:spPr bwMode="auto">
            <a:xfrm>
              <a:off x="3200400" y="1300163"/>
              <a:ext cx="2895600" cy="276225"/>
            </a:xfrm>
            <a:prstGeom prst="rect">
              <a:avLst/>
            </a:prstGeom>
            <a:noFill/>
            <a:ln w="9525" algn="ctr">
              <a:solidFill>
                <a:srgbClr val="FFFF66"/>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86" name="Text Box 14">
              <a:extLst>
                <a:ext uri="{FF2B5EF4-FFF2-40B4-BE49-F238E27FC236}">
                  <a16:creationId xmlns:a16="http://schemas.microsoft.com/office/drawing/2014/main" xmlns="" id="{620C921E-B409-438E-A718-F12327BBEBDB}"/>
                </a:ext>
              </a:extLst>
            </p:cNvPr>
            <p:cNvSpPr txBox="1">
              <a:spLocks noChangeArrowheads="1"/>
            </p:cNvSpPr>
            <p:nvPr/>
          </p:nvSpPr>
          <p:spPr bwMode="auto">
            <a:xfrm>
              <a:off x="3276600" y="1262063"/>
              <a:ext cx="2819400" cy="346075"/>
            </a:xfrm>
            <a:prstGeom prst="rect">
              <a:avLst/>
            </a:prstGeom>
            <a:noFill/>
            <a:ln w="9525" algn="ctr">
              <a:solidFill>
                <a:schemeClr val="tx1"/>
              </a:solidFill>
              <a:miter lim="800000"/>
              <a:headEnd/>
              <a:tailEnd/>
            </a:ln>
            <a:effectLst/>
          </p:spPr>
          <p:txBody>
            <a:bodyPr>
              <a:spAutoFit/>
            </a:bodyPr>
            <a:lstStyle/>
            <a:p>
              <a:pPr marL="342900" indent="-342900" algn="ctr">
                <a:spcBef>
                  <a:spcPct val="20000"/>
                </a:spcBef>
                <a:buClr>
                  <a:schemeClr val="hlink"/>
                </a:buClr>
                <a:buSzPct val="75000"/>
                <a:defRPr/>
              </a:pPr>
              <a:r>
                <a:rPr lang="en-US" sz="1600" b="1" i="1">
                  <a:effectLst>
                    <a:outerShdw blurRad="38100" dist="38100" dir="2700000" algn="tl">
                      <a:srgbClr val="C0C0C0"/>
                    </a:outerShdw>
                  </a:effectLst>
                  <a:latin typeface="Times New Roman" pitchFamily="18" charset="0"/>
                </a:rPr>
                <a:t>IR </a:t>
              </a:r>
              <a:r>
                <a:rPr lang="en-US" sz="1600" b="1" i="1">
                  <a:effectLst>
                    <a:outerShdw blurRad="38100" dist="38100" dir="2700000" algn="tl">
                      <a:srgbClr val="C0C0C0"/>
                    </a:outerShdw>
                  </a:effectLst>
                  <a:latin typeface="Times New Roman" pitchFamily="18" charset="0"/>
                  <a:sym typeface="Symbol" pitchFamily="18" charset="2"/>
                </a:rPr>
                <a:t> M[AR], PC  PC+1</a:t>
              </a:r>
            </a:p>
          </p:txBody>
        </p:sp>
        <p:sp>
          <p:nvSpPr>
            <p:cNvPr id="87" name="Text Box 16">
              <a:extLst>
                <a:ext uri="{FF2B5EF4-FFF2-40B4-BE49-F238E27FC236}">
                  <a16:creationId xmlns:a16="http://schemas.microsoft.com/office/drawing/2014/main" xmlns="" id="{51C07916-DAE8-415D-8FCC-955B05948DE9}"/>
                </a:ext>
              </a:extLst>
            </p:cNvPr>
            <p:cNvSpPr txBox="1">
              <a:spLocks noChangeArrowheads="1"/>
            </p:cNvSpPr>
            <p:nvPr/>
          </p:nvSpPr>
          <p:spPr bwMode="auto">
            <a:xfrm>
              <a:off x="5715000" y="923925"/>
              <a:ext cx="4143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20000"/>
                </a:spcBef>
                <a:buClr>
                  <a:schemeClr val="hlink"/>
                </a:buClr>
                <a:buSzPct val="75000"/>
                <a:buFont typeface="Wingdings" panose="05000000000000000000" pitchFamily="2" charset="2"/>
                <a:buNone/>
              </a:pPr>
              <a:r>
                <a:rPr lang="en-US" altLang="en-US" sz="1600" b="1" i="1">
                  <a:solidFill>
                    <a:srgbClr val="FF3300"/>
                  </a:solidFill>
                  <a:latin typeface="Batang" panose="02030600000101010101" pitchFamily="18" charset="-127"/>
                </a:rPr>
                <a:t>T</a:t>
              </a:r>
              <a:r>
                <a:rPr lang="en-US" altLang="en-US" sz="1600" b="1" i="1" baseline="-25000">
                  <a:solidFill>
                    <a:srgbClr val="FF3300"/>
                  </a:solidFill>
                  <a:latin typeface="Batang" panose="02030600000101010101" pitchFamily="18" charset="-127"/>
                </a:rPr>
                <a:t>1</a:t>
              </a:r>
            </a:p>
          </p:txBody>
        </p:sp>
        <p:sp>
          <p:nvSpPr>
            <p:cNvPr id="88" name="Rectangle 17">
              <a:extLst>
                <a:ext uri="{FF2B5EF4-FFF2-40B4-BE49-F238E27FC236}">
                  <a16:creationId xmlns:a16="http://schemas.microsoft.com/office/drawing/2014/main" xmlns="" id="{C3508917-BFA0-447A-9AD6-9977682BD007}"/>
                </a:ext>
              </a:extLst>
            </p:cNvPr>
            <p:cNvSpPr>
              <a:spLocks noChangeArrowheads="1"/>
            </p:cNvSpPr>
            <p:nvPr/>
          </p:nvSpPr>
          <p:spPr bwMode="auto">
            <a:xfrm>
              <a:off x="2095500" y="1866900"/>
              <a:ext cx="4953000" cy="490538"/>
            </a:xfrm>
            <a:prstGeom prst="rect">
              <a:avLst/>
            </a:prstGeom>
            <a:noFill/>
            <a:ln w="9525" algn="ctr">
              <a:solidFill>
                <a:srgbClr val="FFFF66"/>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89" name="Text Box 18">
              <a:extLst>
                <a:ext uri="{FF2B5EF4-FFF2-40B4-BE49-F238E27FC236}">
                  <a16:creationId xmlns:a16="http://schemas.microsoft.com/office/drawing/2014/main" xmlns="" id="{0888C46C-7E48-45E8-86A8-FDBCE50C6E35}"/>
                </a:ext>
              </a:extLst>
            </p:cNvPr>
            <p:cNvSpPr txBox="1">
              <a:spLocks noChangeArrowheads="1"/>
            </p:cNvSpPr>
            <p:nvPr/>
          </p:nvSpPr>
          <p:spPr bwMode="auto">
            <a:xfrm>
              <a:off x="2095500" y="1790700"/>
              <a:ext cx="4953000" cy="639763"/>
            </a:xfrm>
            <a:prstGeom prst="rect">
              <a:avLst/>
            </a:prstGeom>
            <a:noFill/>
            <a:ln w="9525" algn="ctr">
              <a:solidFill>
                <a:schemeClr val="tx1"/>
              </a:solidFill>
              <a:miter lim="800000"/>
              <a:headEnd/>
              <a:tailEnd/>
            </a:ln>
            <a:effectLst/>
          </p:spPr>
          <p:txBody>
            <a:bodyPr>
              <a:spAutoFit/>
            </a:bodyPr>
            <a:lstStyle/>
            <a:p>
              <a:pPr marL="342900" indent="-342900" algn="ctr">
                <a:spcBef>
                  <a:spcPct val="20000"/>
                </a:spcBef>
                <a:buClr>
                  <a:schemeClr val="hlink"/>
                </a:buClr>
                <a:buSzPct val="75000"/>
                <a:defRPr/>
              </a:pPr>
              <a:r>
                <a:rPr lang="en-US" sz="1400" b="1" i="1" dirty="0">
                  <a:effectLst>
                    <a:outerShdw blurRad="38100" dist="38100" dir="2700000" algn="tl">
                      <a:srgbClr val="C0C0C0"/>
                    </a:outerShdw>
                  </a:effectLst>
                  <a:latin typeface="Times New Roman" pitchFamily="18" charset="0"/>
                  <a:sym typeface="Symbol" pitchFamily="18" charset="2"/>
                </a:rPr>
                <a:t>Decode opcode in  </a:t>
              </a:r>
              <a:r>
                <a:rPr lang="en-US" sz="1600" b="1" i="1" dirty="0">
                  <a:effectLst>
                    <a:outerShdw blurRad="38100" dist="38100" dir="2700000" algn="tl">
                      <a:srgbClr val="C0C0C0"/>
                    </a:outerShdw>
                  </a:effectLst>
                  <a:latin typeface="Times New Roman" pitchFamily="18" charset="0"/>
                  <a:sym typeface="Symbol" pitchFamily="18" charset="2"/>
                </a:rPr>
                <a:t>IR(12-14)</a:t>
              </a:r>
            </a:p>
            <a:p>
              <a:pPr marL="342900" indent="-342900" algn="ctr">
                <a:spcBef>
                  <a:spcPct val="20000"/>
                </a:spcBef>
                <a:buClr>
                  <a:schemeClr val="hlink"/>
                </a:buClr>
                <a:buSzPct val="75000"/>
                <a:defRPr/>
              </a:pPr>
              <a:r>
                <a:rPr lang="en-US" sz="1600" b="1" i="1" dirty="0">
                  <a:effectLst>
                    <a:outerShdw blurRad="38100" dist="38100" dir="2700000" algn="tl">
                      <a:srgbClr val="C0C0C0"/>
                    </a:outerShdw>
                  </a:effectLst>
                  <a:latin typeface="Times New Roman" pitchFamily="18" charset="0"/>
                  <a:sym typeface="Symbol" pitchFamily="18" charset="2"/>
                </a:rPr>
                <a:t>AR  IR(0-11), I  IR(15)</a:t>
              </a:r>
            </a:p>
          </p:txBody>
        </p:sp>
        <p:sp>
          <p:nvSpPr>
            <p:cNvPr id="90" name="Text Box 20">
              <a:extLst>
                <a:ext uri="{FF2B5EF4-FFF2-40B4-BE49-F238E27FC236}">
                  <a16:creationId xmlns:a16="http://schemas.microsoft.com/office/drawing/2014/main" xmlns="" id="{25FE6491-D242-42AF-BDD8-374EC364AAD9}"/>
                </a:ext>
              </a:extLst>
            </p:cNvPr>
            <p:cNvSpPr txBox="1">
              <a:spLocks noChangeArrowheads="1"/>
            </p:cNvSpPr>
            <p:nvPr/>
          </p:nvSpPr>
          <p:spPr bwMode="auto">
            <a:xfrm>
              <a:off x="6591300" y="1516063"/>
              <a:ext cx="4143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20000"/>
                </a:spcBef>
                <a:buClr>
                  <a:schemeClr val="hlink"/>
                </a:buClr>
                <a:buSzPct val="75000"/>
                <a:buFont typeface="Wingdings" panose="05000000000000000000" pitchFamily="2" charset="2"/>
                <a:buNone/>
              </a:pPr>
              <a:r>
                <a:rPr lang="en-US" altLang="en-US" sz="1600" b="1" i="1">
                  <a:solidFill>
                    <a:srgbClr val="FF3300"/>
                  </a:solidFill>
                  <a:latin typeface="Batang" panose="02030600000101010101" pitchFamily="18" charset="-127"/>
                </a:rPr>
                <a:t>T</a:t>
              </a:r>
              <a:r>
                <a:rPr lang="en-US" altLang="en-US" sz="1600" b="1" i="1" baseline="-25000">
                  <a:solidFill>
                    <a:srgbClr val="FF3300"/>
                  </a:solidFill>
                  <a:latin typeface="Batang" panose="02030600000101010101" pitchFamily="18" charset="-127"/>
                </a:rPr>
                <a:t>2</a:t>
              </a:r>
            </a:p>
          </p:txBody>
        </p:sp>
        <p:sp>
          <p:nvSpPr>
            <p:cNvPr id="91" name="AutoShape 22">
              <a:extLst>
                <a:ext uri="{FF2B5EF4-FFF2-40B4-BE49-F238E27FC236}">
                  <a16:creationId xmlns:a16="http://schemas.microsoft.com/office/drawing/2014/main" xmlns="" id="{162A9EFD-EE95-4E98-B957-ACAFEB1BE700}"/>
                </a:ext>
              </a:extLst>
            </p:cNvPr>
            <p:cNvSpPr>
              <a:spLocks noChangeArrowheads="1"/>
            </p:cNvSpPr>
            <p:nvPr/>
          </p:nvSpPr>
          <p:spPr bwMode="auto">
            <a:xfrm>
              <a:off x="4267200" y="3119438"/>
              <a:ext cx="609600" cy="447675"/>
            </a:xfrm>
            <a:prstGeom prst="diamond">
              <a:avLst/>
            </a:prstGeom>
            <a:noFill/>
            <a:ln w="2857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93" name="Text Box 23">
              <a:extLst>
                <a:ext uri="{FF2B5EF4-FFF2-40B4-BE49-F238E27FC236}">
                  <a16:creationId xmlns:a16="http://schemas.microsoft.com/office/drawing/2014/main" xmlns="" id="{5B043726-ED1A-47E8-8158-47709E63265F}"/>
                </a:ext>
              </a:extLst>
            </p:cNvPr>
            <p:cNvSpPr txBox="1">
              <a:spLocks noChangeArrowheads="1"/>
            </p:cNvSpPr>
            <p:nvPr/>
          </p:nvSpPr>
          <p:spPr bwMode="auto">
            <a:xfrm>
              <a:off x="4394200" y="3105150"/>
              <a:ext cx="777875" cy="338138"/>
            </a:xfrm>
            <a:prstGeom prst="rect">
              <a:avLst/>
            </a:prstGeom>
            <a:noFill/>
            <a:ln w="9525" algn="ctr">
              <a:noFill/>
              <a:miter lim="800000"/>
              <a:headEnd/>
              <a:tailEnd/>
            </a:ln>
            <a:effectLst/>
          </p:spPr>
          <p:txBody>
            <a:bodyPr>
              <a:spAutoFit/>
            </a:bodyPr>
            <a:lstStyle/>
            <a:p>
              <a:pPr marL="342900" indent="-342900" algn="just">
                <a:spcBef>
                  <a:spcPct val="20000"/>
                </a:spcBef>
                <a:buClr>
                  <a:schemeClr val="hlink"/>
                </a:buClr>
                <a:buSzPct val="75000"/>
                <a:defRPr/>
              </a:pPr>
              <a:r>
                <a:rPr lang="en-US" sz="1600" b="1" dirty="0">
                  <a:effectLst>
                    <a:outerShdw blurRad="38100" dist="38100" dir="2700000" algn="tl">
                      <a:srgbClr val="C0C0C0"/>
                    </a:outerShdw>
                  </a:effectLst>
                  <a:latin typeface="Batang" pitchFamily="18" charset="-127"/>
                </a:rPr>
                <a:t>D</a:t>
              </a:r>
              <a:r>
                <a:rPr lang="en-US" sz="1600" b="1" baseline="-25000" dirty="0">
                  <a:effectLst>
                    <a:outerShdw blurRad="38100" dist="38100" dir="2700000" algn="tl">
                      <a:srgbClr val="C0C0C0"/>
                    </a:outerShdw>
                  </a:effectLst>
                  <a:latin typeface="Batang" pitchFamily="18" charset="-127"/>
                </a:rPr>
                <a:t>7</a:t>
              </a:r>
            </a:p>
          </p:txBody>
        </p:sp>
        <p:sp>
          <p:nvSpPr>
            <p:cNvPr id="95" name="Line 26">
              <a:extLst>
                <a:ext uri="{FF2B5EF4-FFF2-40B4-BE49-F238E27FC236}">
                  <a16:creationId xmlns:a16="http://schemas.microsoft.com/office/drawing/2014/main" xmlns="" id="{B6DEC585-B23F-4015-B310-343F174230AB}"/>
                </a:ext>
              </a:extLst>
            </p:cNvPr>
            <p:cNvSpPr>
              <a:spLocks noChangeShapeType="1"/>
            </p:cNvSpPr>
            <p:nvPr/>
          </p:nvSpPr>
          <p:spPr bwMode="auto">
            <a:xfrm flipH="1">
              <a:off x="1905000" y="3333750"/>
              <a:ext cx="2362200"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97" name="Text Box 29">
              <a:extLst>
                <a:ext uri="{FF2B5EF4-FFF2-40B4-BE49-F238E27FC236}">
                  <a16:creationId xmlns:a16="http://schemas.microsoft.com/office/drawing/2014/main" xmlns="" id="{71A417A3-8D44-4AB2-908B-7E3703D9DDD3}"/>
                </a:ext>
              </a:extLst>
            </p:cNvPr>
            <p:cNvSpPr txBox="1">
              <a:spLocks noChangeArrowheads="1"/>
            </p:cNvSpPr>
            <p:nvPr/>
          </p:nvSpPr>
          <p:spPr bwMode="auto">
            <a:xfrm>
              <a:off x="2043113" y="3008313"/>
              <a:ext cx="1741487" cy="336550"/>
            </a:xfrm>
            <a:prstGeom prst="rect">
              <a:avLst/>
            </a:prstGeom>
            <a:noFill/>
            <a:ln w="9525" algn="ctr">
              <a:noFill/>
              <a:miter lim="800000"/>
              <a:headEnd/>
              <a:tailEnd/>
            </a:ln>
            <a:effectLst/>
          </p:spPr>
          <p:txBody>
            <a:bodyPr wrap="none">
              <a:spAutoFit/>
            </a:bodyPr>
            <a:lstStyle/>
            <a:p>
              <a:pPr marL="342900" indent="-342900" algn="just">
                <a:spcBef>
                  <a:spcPct val="20000"/>
                </a:spcBef>
                <a:buClr>
                  <a:schemeClr val="hlink"/>
                </a:buClr>
                <a:buSzPct val="75000"/>
                <a:defRPr/>
              </a:pPr>
              <a:r>
                <a:rPr lang="en-US" sz="1400" b="1" dirty="0">
                  <a:effectLst>
                    <a:outerShdw blurRad="38100" dist="38100" dir="2700000" algn="tl">
                      <a:srgbClr val="C0C0C0"/>
                    </a:outerShdw>
                  </a:effectLst>
                  <a:latin typeface="Times New Roman" pitchFamily="18" charset="0"/>
                </a:rPr>
                <a:t>(Register or I/O) = </a:t>
              </a:r>
              <a:r>
                <a:rPr lang="en-US" sz="1600" b="1" dirty="0">
                  <a:effectLst>
                    <a:outerShdw blurRad="38100" dist="38100" dir="2700000" algn="tl">
                      <a:srgbClr val="C0C0C0"/>
                    </a:outerShdw>
                  </a:effectLst>
                  <a:latin typeface="Times New Roman" pitchFamily="18" charset="0"/>
                </a:rPr>
                <a:t>1</a:t>
              </a:r>
            </a:p>
          </p:txBody>
        </p:sp>
        <p:sp>
          <p:nvSpPr>
            <p:cNvPr id="98" name="Text Box 30">
              <a:extLst>
                <a:ext uri="{FF2B5EF4-FFF2-40B4-BE49-F238E27FC236}">
                  <a16:creationId xmlns:a16="http://schemas.microsoft.com/office/drawing/2014/main" xmlns="" id="{BF6B73AF-A777-4E07-B561-4C9B0CD7D8BD}"/>
                </a:ext>
              </a:extLst>
            </p:cNvPr>
            <p:cNvSpPr txBox="1">
              <a:spLocks noChangeArrowheads="1"/>
            </p:cNvSpPr>
            <p:nvPr/>
          </p:nvSpPr>
          <p:spPr bwMode="auto">
            <a:xfrm>
              <a:off x="4876800" y="2994025"/>
              <a:ext cx="2136775" cy="336550"/>
            </a:xfrm>
            <a:prstGeom prst="rect">
              <a:avLst/>
            </a:prstGeom>
            <a:noFill/>
            <a:ln w="9525" algn="ctr">
              <a:noFill/>
              <a:miter lim="800000"/>
              <a:headEnd/>
              <a:tailEnd/>
            </a:ln>
            <a:effectLst/>
          </p:spPr>
          <p:txBody>
            <a:bodyPr wrap="none">
              <a:spAutoFit/>
            </a:bodyPr>
            <a:lstStyle/>
            <a:p>
              <a:pPr marL="342900" indent="-342900" algn="just">
                <a:spcBef>
                  <a:spcPct val="20000"/>
                </a:spcBef>
                <a:buClr>
                  <a:schemeClr val="hlink"/>
                </a:buClr>
                <a:buSzPct val="75000"/>
                <a:defRPr/>
              </a:pPr>
              <a:r>
                <a:rPr lang="en-US" sz="1400" b="1" dirty="0">
                  <a:effectLst>
                    <a:outerShdw blurRad="38100" dist="38100" dir="2700000" algn="tl">
                      <a:srgbClr val="C0C0C0"/>
                    </a:outerShdw>
                  </a:effectLst>
                  <a:latin typeface="Times New Roman" pitchFamily="18" charset="0"/>
                </a:rPr>
                <a:t>= </a:t>
              </a:r>
              <a:r>
                <a:rPr lang="en-US" sz="1600" b="1" dirty="0">
                  <a:effectLst>
                    <a:outerShdw blurRad="38100" dist="38100" dir="2700000" algn="tl">
                      <a:srgbClr val="C0C0C0"/>
                    </a:outerShdw>
                  </a:effectLst>
                  <a:latin typeface="Times New Roman" pitchFamily="18" charset="0"/>
                </a:rPr>
                <a:t>0</a:t>
              </a:r>
              <a:r>
                <a:rPr lang="en-US" sz="1400" b="1" dirty="0">
                  <a:effectLst>
                    <a:outerShdw blurRad="38100" dist="38100" dir="2700000" algn="tl">
                      <a:srgbClr val="C0C0C0"/>
                    </a:outerShdw>
                  </a:effectLst>
                  <a:latin typeface="Times New Roman" pitchFamily="18" charset="0"/>
                </a:rPr>
                <a:t>  (Memory –reference)</a:t>
              </a:r>
            </a:p>
          </p:txBody>
        </p:sp>
        <p:sp>
          <p:nvSpPr>
            <p:cNvPr id="100" name="Line 31">
              <a:extLst>
                <a:ext uri="{FF2B5EF4-FFF2-40B4-BE49-F238E27FC236}">
                  <a16:creationId xmlns:a16="http://schemas.microsoft.com/office/drawing/2014/main" xmlns="" id="{C7FB9CC5-71AE-4B8F-A23C-866115214AFC}"/>
                </a:ext>
              </a:extLst>
            </p:cNvPr>
            <p:cNvSpPr>
              <a:spLocks noChangeShapeType="1"/>
            </p:cNvSpPr>
            <p:nvPr/>
          </p:nvSpPr>
          <p:spPr bwMode="auto">
            <a:xfrm>
              <a:off x="4572000" y="10668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01" name="Line 32">
              <a:extLst>
                <a:ext uri="{FF2B5EF4-FFF2-40B4-BE49-F238E27FC236}">
                  <a16:creationId xmlns:a16="http://schemas.microsoft.com/office/drawing/2014/main" xmlns="" id="{7C75C7A0-F7D9-4B51-88E1-07523D9D8383}"/>
                </a:ext>
              </a:extLst>
            </p:cNvPr>
            <p:cNvSpPr>
              <a:spLocks noChangeShapeType="1"/>
            </p:cNvSpPr>
            <p:nvPr/>
          </p:nvSpPr>
          <p:spPr bwMode="auto">
            <a:xfrm>
              <a:off x="4572000" y="1600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02" name="Line 33">
              <a:extLst>
                <a:ext uri="{FF2B5EF4-FFF2-40B4-BE49-F238E27FC236}">
                  <a16:creationId xmlns:a16="http://schemas.microsoft.com/office/drawing/2014/main" xmlns="" id="{A775109F-FB79-482D-B943-506D72BF6BB8}"/>
                </a:ext>
              </a:extLst>
            </p:cNvPr>
            <p:cNvSpPr>
              <a:spLocks noChangeShapeType="1"/>
            </p:cNvSpPr>
            <p:nvPr/>
          </p:nvSpPr>
          <p:spPr bwMode="auto">
            <a:xfrm>
              <a:off x="4572000" y="2362200"/>
              <a:ext cx="0" cy="757238"/>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04" name="Line 35">
              <a:extLst>
                <a:ext uri="{FF2B5EF4-FFF2-40B4-BE49-F238E27FC236}">
                  <a16:creationId xmlns:a16="http://schemas.microsoft.com/office/drawing/2014/main" xmlns="" id="{CF7D5804-FDC4-4758-BB48-75122011607D}"/>
                </a:ext>
              </a:extLst>
            </p:cNvPr>
            <p:cNvSpPr>
              <a:spLocks noChangeShapeType="1"/>
            </p:cNvSpPr>
            <p:nvPr/>
          </p:nvSpPr>
          <p:spPr bwMode="auto">
            <a:xfrm>
              <a:off x="1919288" y="3319463"/>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07" name="Line 40">
              <a:extLst>
                <a:ext uri="{FF2B5EF4-FFF2-40B4-BE49-F238E27FC236}">
                  <a16:creationId xmlns:a16="http://schemas.microsoft.com/office/drawing/2014/main" xmlns="" id="{BC1E2338-58EB-4BA0-88FD-D8185D75754F}"/>
                </a:ext>
              </a:extLst>
            </p:cNvPr>
            <p:cNvSpPr>
              <a:spLocks noChangeShapeType="1"/>
            </p:cNvSpPr>
            <p:nvPr/>
          </p:nvSpPr>
          <p:spPr bwMode="auto">
            <a:xfrm flipH="1">
              <a:off x="4895850" y="3319463"/>
              <a:ext cx="2362200"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08" name="AutoShape 42">
              <a:extLst>
                <a:ext uri="{FF2B5EF4-FFF2-40B4-BE49-F238E27FC236}">
                  <a16:creationId xmlns:a16="http://schemas.microsoft.com/office/drawing/2014/main" xmlns="" id="{C635A76D-95F2-455C-93C5-BC79FCE89D3F}"/>
                </a:ext>
              </a:extLst>
            </p:cNvPr>
            <p:cNvSpPr>
              <a:spLocks noChangeArrowheads="1"/>
            </p:cNvSpPr>
            <p:nvPr/>
          </p:nvSpPr>
          <p:spPr bwMode="auto">
            <a:xfrm>
              <a:off x="1628775" y="3562350"/>
              <a:ext cx="609600" cy="447675"/>
            </a:xfrm>
            <a:prstGeom prst="diamond">
              <a:avLst/>
            </a:prstGeom>
            <a:noFill/>
            <a:ln w="2857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10" name="Text Box 43">
              <a:extLst>
                <a:ext uri="{FF2B5EF4-FFF2-40B4-BE49-F238E27FC236}">
                  <a16:creationId xmlns:a16="http://schemas.microsoft.com/office/drawing/2014/main" xmlns="" id="{5D782A70-A506-4F13-BA48-EEDCF1FD5E9D}"/>
                </a:ext>
              </a:extLst>
            </p:cNvPr>
            <p:cNvSpPr txBox="1">
              <a:spLocks noChangeArrowheads="1"/>
            </p:cNvSpPr>
            <p:nvPr/>
          </p:nvSpPr>
          <p:spPr bwMode="auto">
            <a:xfrm>
              <a:off x="1724025" y="3567113"/>
              <a:ext cx="411163" cy="336550"/>
            </a:xfrm>
            <a:prstGeom prst="rect">
              <a:avLst/>
            </a:prstGeom>
            <a:noFill/>
            <a:ln w="9525" algn="ctr">
              <a:noFill/>
              <a:miter lim="800000"/>
              <a:headEnd/>
              <a:tailEnd/>
            </a:ln>
            <a:effectLst/>
          </p:spPr>
          <p:txBody>
            <a:bodyPr>
              <a:spAutoFit/>
            </a:bodyPr>
            <a:lstStyle/>
            <a:p>
              <a:pPr marL="342900" indent="-342900" algn="ctr">
                <a:spcBef>
                  <a:spcPct val="20000"/>
                </a:spcBef>
                <a:buClr>
                  <a:schemeClr val="hlink"/>
                </a:buClr>
                <a:buSzPct val="75000"/>
                <a:defRPr/>
              </a:pPr>
              <a:r>
                <a:rPr lang="en-US" sz="1600" b="1">
                  <a:effectLst>
                    <a:outerShdw blurRad="38100" dist="38100" dir="2700000" algn="tl">
                      <a:srgbClr val="C0C0C0"/>
                    </a:outerShdw>
                  </a:effectLst>
                  <a:latin typeface="Batang" pitchFamily="18" charset="-127"/>
                </a:rPr>
                <a:t>I</a:t>
              </a:r>
              <a:endParaRPr lang="en-US" sz="1600" b="1" baseline="-25000">
                <a:effectLst>
                  <a:outerShdw blurRad="38100" dist="38100" dir="2700000" algn="tl">
                    <a:srgbClr val="C0C0C0"/>
                  </a:outerShdw>
                </a:effectLst>
                <a:latin typeface="Batang" pitchFamily="18" charset="-127"/>
              </a:endParaRPr>
            </a:p>
          </p:txBody>
        </p:sp>
        <p:sp>
          <p:nvSpPr>
            <p:cNvPr id="111" name="AutoShape 44">
              <a:extLst>
                <a:ext uri="{FF2B5EF4-FFF2-40B4-BE49-F238E27FC236}">
                  <a16:creationId xmlns:a16="http://schemas.microsoft.com/office/drawing/2014/main" xmlns="" id="{A915DD73-122E-4F35-ADD6-34275F204675}"/>
                </a:ext>
              </a:extLst>
            </p:cNvPr>
            <p:cNvSpPr>
              <a:spLocks noChangeArrowheads="1"/>
            </p:cNvSpPr>
            <p:nvPr/>
          </p:nvSpPr>
          <p:spPr bwMode="auto">
            <a:xfrm>
              <a:off x="6958013" y="3519488"/>
              <a:ext cx="609600" cy="447675"/>
            </a:xfrm>
            <a:prstGeom prst="diamond">
              <a:avLst/>
            </a:prstGeom>
            <a:noFill/>
            <a:ln w="2857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12" name="Text Box 45">
              <a:extLst>
                <a:ext uri="{FF2B5EF4-FFF2-40B4-BE49-F238E27FC236}">
                  <a16:creationId xmlns:a16="http://schemas.microsoft.com/office/drawing/2014/main" xmlns="" id="{A97D1414-6AE3-4C94-8A77-E643DA5DE985}"/>
                </a:ext>
              </a:extLst>
            </p:cNvPr>
            <p:cNvSpPr txBox="1">
              <a:spLocks noChangeArrowheads="1"/>
            </p:cNvSpPr>
            <p:nvPr/>
          </p:nvSpPr>
          <p:spPr bwMode="auto">
            <a:xfrm>
              <a:off x="7010400" y="3581400"/>
              <a:ext cx="411163" cy="336550"/>
            </a:xfrm>
            <a:prstGeom prst="rect">
              <a:avLst/>
            </a:prstGeom>
            <a:noFill/>
            <a:ln w="9525" algn="ctr">
              <a:noFill/>
              <a:miter lim="800000"/>
              <a:headEnd/>
              <a:tailEnd/>
            </a:ln>
            <a:effectLst/>
          </p:spPr>
          <p:txBody>
            <a:bodyPr>
              <a:spAutoFit/>
            </a:bodyPr>
            <a:lstStyle/>
            <a:p>
              <a:pPr marL="342900" indent="-342900" algn="ctr">
                <a:spcBef>
                  <a:spcPct val="20000"/>
                </a:spcBef>
                <a:buClr>
                  <a:schemeClr val="hlink"/>
                </a:buClr>
                <a:buSzPct val="75000"/>
                <a:defRPr/>
              </a:pPr>
              <a:r>
                <a:rPr lang="en-US" sz="1600" b="1">
                  <a:effectLst>
                    <a:outerShdw blurRad="38100" dist="38100" dir="2700000" algn="tl">
                      <a:srgbClr val="C0C0C0"/>
                    </a:outerShdw>
                  </a:effectLst>
                  <a:latin typeface="Batang" pitchFamily="18" charset="-127"/>
                </a:rPr>
                <a:t>I</a:t>
              </a:r>
              <a:endParaRPr lang="en-US" sz="1600" b="1" baseline="-25000">
                <a:effectLst>
                  <a:outerShdw blurRad="38100" dist="38100" dir="2700000" algn="tl">
                    <a:srgbClr val="C0C0C0"/>
                  </a:outerShdw>
                </a:effectLst>
                <a:latin typeface="Batang" pitchFamily="18" charset="-127"/>
              </a:endParaRPr>
            </a:p>
          </p:txBody>
        </p:sp>
        <p:sp>
          <p:nvSpPr>
            <p:cNvPr id="114" name="Line 46">
              <a:extLst>
                <a:ext uri="{FF2B5EF4-FFF2-40B4-BE49-F238E27FC236}">
                  <a16:creationId xmlns:a16="http://schemas.microsoft.com/office/drawing/2014/main" xmlns="" id="{88B94223-9F3C-4A77-ACCF-0C936B21D515}"/>
                </a:ext>
              </a:extLst>
            </p:cNvPr>
            <p:cNvSpPr>
              <a:spLocks noChangeShapeType="1"/>
            </p:cNvSpPr>
            <p:nvPr/>
          </p:nvSpPr>
          <p:spPr bwMode="auto">
            <a:xfrm>
              <a:off x="7253288" y="3305175"/>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16" name="Text Box 48">
              <a:extLst>
                <a:ext uri="{FF2B5EF4-FFF2-40B4-BE49-F238E27FC236}">
                  <a16:creationId xmlns:a16="http://schemas.microsoft.com/office/drawing/2014/main" xmlns="" id="{2DC27EEF-74CD-4582-B988-CA52B1DD8BB0}"/>
                </a:ext>
              </a:extLst>
            </p:cNvPr>
            <p:cNvSpPr txBox="1">
              <a:spLocks noChangeArrowheads="1"/>
            </p:cNvSpPr>
            <p:nvPr/>
          </p:nvSpPr>
          <p:spPr bwMode="auto">
            <a:xfrm>
              <a:off x="619125" y="3452813"/>
              <a:ext cx="1219200" cy="336550"/>
            </a:xfrm>
            <a:prstGeom prst="rect">
              <a:avLst/>
            </a:prstGeom>
            <a:noFill/>
            <a:ln w="9525" algn="ctr">
              <a:noFill/>
              <a:miter lim="800000"/>
              <a:headEnd/>
              <a:tailEnd/>
            </a:ln>
            <a:effectLst/>
          </p:spPr>
          <p:txBody>
            <a:bodyPr>
              <a:spAutoFit/>
            </a:bodyPr>
            <a:lstStyle/>
            <a:p>
              <a:pPr marL="342900" indent="-342900" algn="just">
                <a:spcBef>
                  <a:spcPct val="20000"/>
                </a:spcBef>
                <a:buClr>
                  <a:schemeClr val="hlink"/>
                </a:buClr>
                <a:buSzPct val="75000"/>
                <a:defRPr/>
              </a:pPr>
              <a:r>
                <a:rPr lang="en-US" sz="1600" b="1">
                  <a:effectLst>
                    <a:outerShdw blurRad="38100" dist="38100" dir="2700000" algn="tl">
                      <a:srgbClr val="C0C0C0"/>
                    </a:outerShdw>
                  </a:effectLst>
                  <a:latin typeface="Times New Roman" pitchFamily="18" charset="0"/>
                </a:rPr>
                <a:t>(I/O) = 1</a:t>
              </a:r>
            </a:p>
          </p:txBody>
        </p:sp>
        <p:sp>
          <p:nvSpPr>
            <p:cNvPr id="117" name="Line 49">
              <a:extLst>
                <a:ext uri="{FF2B5EF4-FFF2-40B4-BE49-F238E27FC236}">
                  <a16:creationId xmlns:a16="http://schemas.microsoft.com/office/drawing/2014/main" xmlns="" id="{E2F3EC1F-BBAB-4EF3-BB9C-5D946B8B7068}"/>
                </a:ext>
              </a:extLst>
            </p:cNvPr>
            <p:cNvSpPr>
              <a:spLocks noChangeShapeType="1"/>
            </p:cNvSpPr>
            <p:nvPr/>
          </p:nvSpPr>
          <p:spPr bwMode="auto">
            <a:xfrm flipH="1">
              <a:off x="776288" y="3790950"/>
              <a:ext cx="838200"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18" name="Line 50">
              <a:extLst>
                <a:ext uri="{FF2B5EF4-FFF2-40B4-BE49-F238E27FC236}">
                  <a16:creationId xmlns:a16="http://schemas.microsoft.com/office/drawing/2014/main" xmlns="" id="{91DBB74A-53D3-4942-99CB-8B099A7B3D78}"/>
                </a:ext>
              </a:extLst>
            </p:cNvPr>
            <p:cNvSpPr>
              <a:spLocks noChangeShapeType="1"/>
            </p:cNvSpPr>
            <p:nvPr/>
          </p:nvSpPr>
          <p:spPr bwMode="auto">
            <a:xfrm flipH="1">
              <a:off x="2257425" y="3790950"/>
              <a:ext cx="838200"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0" name="Text Box 51">
              <a:extLst>
                <a:ext uri="{FF2B5EF4-FFF2-40B4-BE49-F238E27FC236}">
                  <a16:creationId xmlns:a16="http://schemas.microsoft.com/office/drawing/2014/main" xmlns="" id="{5762DC96-5869-4479-984B-91687394280B}"/>
                </a:ext>
              </a:extLst>
            </p:cNvPr>
            <p:cNvSpPr txBox="1">
              <a:spLocks noChangeArrowheads="1"/>
            </p:cNvSpPr>
            <p:nvPr/>
          </p:nvSpPr>
          <p:spPr bwMode="auto">
            <a:xfrm>
              <a:off x="2133600" y="3463925"/>
              <a:ext cx="1524000" cy="336550"/>
            </a:xfrm>
            <a:prstGeom prst="rect">
              <a:avLst/>
            </a:prstGeom>
            <a:noFill/>
            <a:ln w="9525" algn="ctr">
              <a:noFill/>
              <a:miter lim="800000"/>
              <a:headEnd/>
              <a:tailEnd/>
            </a:ln>
            <a:effectLst/>
          </p:spPr>
          <p:txBody>
            <a:bodyPr>
              <a:spAutoFit/>
            </a:bodyPr>
            <a:lstStyle/>
            <a:p>
              <a:pPr marL="342900" indent="-342900" algn="just">
                <a:spcBef>
                  <a:spcPct val="20000"/>
                </a:spcBef>
                <a:buClr>
                  <a:schemeClr val="hlink"/>
                </a:buClr>
                <a:buSzPct val="75000"/>
                <a:defRPr/>
              </a:pPr>
              <a:r>
                <a:rPr lang="en-US" sz="1600" b="1">
                  <a:effectLst>
                    <a:outerShdw blurRad="38100" dist="38100" dir="2700000" algn="tl">
                      <a:srgbClr val="C0C0C0"/>
                    </a:outerShdw>
                  </a:effectLst>
                  <a:latin typeface="Times New Roman" pitchFamily="18" charset="0"/>
                </a:rPr>
                <a:t>= 0 (register)</a:t>
              </a:r>
            </a:p>
          </p:txBody>
        </p:sp>
        <p:sp>
          <p:nvSpPr>
            <p:cNvPr id="121" name="Line 52">
              <a:extLst>
                <a:ext uri="{FF2B5EF4-FFF2-40B4-BE49-F238E27FC236}">
                  <a16:creationId xmlns:a16="http://schemas.microsoft.com/office/drawing/2014/main" xmlns="" id="{23DFC11E-30AD-45A6-A43A-2C597C143F93}"/>
                </a:ext>
              </a:extLst>
            </p:cNvPr>
            <p:cNvSpPr>
              <a:spLocks noChangeShapeType="1"/>
            </p:cNvSpPr>
            <p:nvPr/>
          </p:nvSpPr>
          <p:spPr bwMode="auto">
            <a:xfrm>
              <a:off x="795338" y="3805238"/>
              <a:ext cx="0" cy="9144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22" name="Line 53">
              <a:extLst>
                <a:ext uri="{FF2B5EF4-FFF2-40B4-BE49-F238E27FC236}">
                  <a16:creationId xmlns:a16="http://schemas.microsoft.com/office/drawing/2014/main" xmlns="" id="{6ED7A6B4-2994-4A5A-A7FA-E2B310CF9B26}"/>
                </a:ext>
              </a:extLst>
            </p:cNvPr>
            <p:cNvSpPr>
              <a:spLocks noChangeShapeType="1"/>
            </p:cNvSpPr>
            <p:nvPr/>
          </p:nvSpPr>
          <p:spPr bwMode="auto">
            <a:xfrm>
              <a:off x="3076575" y="3805238"/>
              <a:ext cx="0" cy="9144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23" name="Rectangle 54">
              <a:extLst>
                <a:ext uri="{FF2B5EF4-FFF2-40B4-BE49-F238E27FC236}">
                  <a16:creationId xmlns:a16="http://schemas.microsoft.com/office/drawing/2014/main" xmlns="" id="{A620D033-737C-4DBB-B453-D0C1C13B52CB}"/>
                </a:ext>
              </a:extLst>
            </p:cNvPr>
            <p:cNvSpPr>
              <a:spLocks noChangeArrowheads="1"/>
            </p:cNvSpPr>
            <p:nvPr/>
          </p:nvSpPr>
          <p:spPr bwMode="auto">
            <a:xfrm>
              <a:off x="295275" y="4718050"/>
              <a:ext cx="1066800" cy="887413"/>
            </a:xfrm>
            <a:prstGeom prst="rect">
              <a:avLst/>
            </a:prstGeom>
            <a:noFill/>
            <a:ln w="9525" algn="ctr">
              <a:solidFill>
                <a:srgbClr val="FFFF66"/>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24" name="Text Box 55">
              <a:extLst>
                <a:ext uri="{FF2B5EF4-FFF2-40B4-BE49-F238E27FC236}">
                  <a16:creationId xmlns:a16="http://schemas.microsoft.com/office/drawing/2014/main" xmlns="" id="{1BE4BDB0-7ED1-4FE7-965C-6511677928C2}"/>
                </a:ext>
              </a:extLst>
            </p:cNvPr>
            <p:cNvSpPr txBox="1">
              <a:spLocks noChangeArrowheads="1"/>
            </p:cNvSpPr>
            <p:nvPr/>
          </p:nvSpPr>
          <p:spPr bwMode="auto">
            <a:xfrm>
              <a:off x="280988" y="4691063"/>
              <a:ext cx="1066800" cy="941387"/>
            </a:xfrm>
            <a:prstGeom prst="rect">
              <a:avLst/>
            </a:prstGeom>
            <a:noFill/>
            <a:ln w="9525" algn="ctr">
              <a:solidFill>
                <a:schemeClr val="tx1"/>
              </a:solidFill>
              <a:miter lim="800000"/>
              <a:headEnd/>
              <a:tailEnd/>
            </a:ln>
            <a:effectLst/>
          </p:spPr>
          <p:txBody>
            <a:bodyPr>
              <a:spAutoFit/>
            </a:bodyPr>
            <a:lstStyle/>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Execute </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I/O </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Instructions</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SC </a:t>
              </a:r>
              <a:r>
                <a:rPr lang="en-US" sz="1200" b="1" dirty="0">
                  <a:effectLst>
                    <a:outerShdw blurRad="38100" dist="38100" dir="2700000" algn="tl">
                      <a:srgbClr val="C0C0C0"/>
                    </a:outerShdw>
                  </a:effectLst>
                  <a:latin typeface="Times New Roman" pitchFamily="18" charset="0"/>
                  <a:sym typeface="Symbol" pitchFamily="18" charset="2"/>
                </a:rPr>
                <a:t> 0 </a:t>
              </a:r>
            </a:p>
          </p:txBody>
        </p:sp>
        <p:sp>
          <p:nvSpPr>
            <p:cNvPr id="125" name="Rectangle 59">
              <a:extLst>
                <a:ext uri="{FF2B5EF4-FFF2-40B4-BE49-F238E27FC236}">
                  <a16:creationId xmlns:a16="http://schemas.microsoft.com/office/drawing/2014/main" xmlns="" id="{CCF1DEC3-227A-4F8C-AD52-7FEDCC9A9895}"/>
                </a:ext>
              </a:extLst>
            </p:cNvPr>
            <p:cNvSpPr>
              <a:spLocks noChangeArrowheads="1"/>
            </p:cNvSpPr>
            <p:nvPr/>
          </p:nvSpPr>
          <p:spPr bwMode="auto">
            <a:xfrm>
              <a:off x="2286000" y="4718050"/>
              <a:ext cx="1600200" cy="887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26" name="Text Box 60">
              <a:extLst>
                <a:ext uri="{FF2B5EF4-FFF2-40B4-BE49-F238E27FC236}">
                  <a16:creationId xmlns:a16="http://schemas.microsoft.com/office/drawing/2014/main" xmlns="" id="{EE630789-B201-4FFE-80C6-06417D612C7D}"/>
                </a:ext>
              </a:extLst>
            </p:cNvPr>
            <p:cNvSpPr txBox="1">
              <a:spLocks noChangeArrowheads="1"/>
            </p:cNvSpPr>
            <p:nvPr/>
          </p:nvSpPr>
          <p:spPr bwMode="auto">
            <a:xfrm>
              <a:off x="2209800" y="4691063"/>
              <a:ext cx="1752600" cy="941387"/>
            </a:xfrm>
            <a:prstGeom prst="rect">
              <a:avLst/>
            </a:prstGeom>
            <a:noFill/>
            <a:ln w="9525" algn="ctr">
              <a:solidFill>
                <a:schemeClr val="tx1"/>
              </a:solidFill>
              <a:miter lim="800000"/>
              <a:headEnd/>
              <a:tailEnd/>
            </a:ln>
            <a:effectLst/>
          </p:spPr>
          <p:txBody>
            <a:bodyPr>
              <a:spAutoFit/>
            </a:bodyPr>
            <a:lstStyle/>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Execute </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Register-reference</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Instructions</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SC </a:t>
              </a:r>
              <a:r>
                <a:rPr lang="en-US" sz="1200" b="1" dirty="0">
                  <a:effectLst>
                    <a:outerShdw blurRad="38100" dist="38100" dir="2700000" algn="tl">
                      <a:srgbClr val="C0C0C0"/>
                    </a:outerShdw>
                  </a:effectLst>
                  <a:latin typeface="Times New Roman" pitchFamily="18" charset="0"/>
                  <a:sym typeface="Symbol" pitchFamily="18" charset="2"/>
                </a:rPr>
                <a:t> 0 </a:t>
              </a:r>
            </a:p>
          </p:txBody>
        </p:sp>
        <p:sp>
          <p:nvSpPr>
            <p:cNvPr id="127" name="Text Box 61">
              <a:extLst>
                <a:ext uri="{FF2B5EF4-FFF2-40B4-BE49-F238E27FC236}">
                  <a16:creationId xmlns:a16="http://schemas.microsoft.com/office/drawing/2014/main" xmlns="" id="{2657803C-343A-43A5-B13F-607081924202}"/>
                </a:ext>
              </a:extLst>
            </p:cNvPr>
            <p:cNvSpPr txBox="1">
              <a:spLocks noChangeArrowheads="1"/>
            </p:cNvSpPr>
            <p:nvPr/>
          </p:nvSpPr>
          <p:spPr bwMode="auto">
            <a:xfrm>
              <a:off x="5486400" y="3409950"/>
              <a:ext cx="1657350" cy="336550"/>
            </a:xfrm>
            <a:prstGeom prst="rect">
              <a:avLst/>
            </a:prstGeom>
            <a:noFill/>
            <a:ln w="9525" algn="ctr">
              <a:noFill/>
              <a:miter lim="800000"/>
              <a:headEnd/>
              <a:tailEnd/>
            </a:ln>
            <a:effectLst/>
          </p:spPr>
          <p:txBody>
            <a:bodyPr>
              <a:spAutoFit/>
            </a:bodyPr>
            <a:lstStyle/>
            <a:p>
              <a:pPr marL="342900" indent="-342900" algn="just">
                <a:spcBef>
                  <a:spcPct val="20000"/>
                </a:spcBef>
                <a:buClr>
                  <a:schemeClr val="hlink"/>
                </a:buClr>
                <a:buSzPct val="75000"/>
                <a:defRPr/>
              </a:pPr>
              <a:r>
                <a:rPr lang="en-US" sz="1600" b="1">
                  <a:effectLst>
                    <a:outerShdw blurRad="38100" dist="38100" dir="2700000" algn="tl">
                      <a:srgbClr val="C0C0C0"/>
                    </a:outerShdw>
                  </a:effectLst>
                  <a:latin typeface="Times New Roman" pitchFamily="18" charset="0"/>
                </a:rPr>
                <a:t>(indirect) = 1</a:t>
              </a:r>
            </a:p>
          </p:txBody>
        </p:sp>
        <p:sp>
          <p:nvSpPr>
            <p:cNvPr id="128" name="Line 62">
              <a:extLst>
                <a:ext uri="{FF2B5EF4-FFF2-40B4-BE49-F238E27FC236}">
                  <a16:creationId xmlns:a16="http://schemas.microsoft.com/office/drawing/2014/main" xmlns="" id="{7B6590E2-6D95-4D0F-8DAD-A0DBA2746273}"/>
                </a:ext>
              </a:extLst>
            </p:cNvPr>
            <p:cNvSpPr>
              <a:spLocks noChangeShapeType="1"/>
            </p:cNvSpPr>
            <p:nvPr/>
          </p:nvSpPr>
          <p:spPr bwMode="auto">
            <a:xfrm flipH="1">
              <a:off x="6081713" y="3748088"/>
              <a:ext cx="838200"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29" name="Line 63">
              <a:extLst>
                <a:ext uri="{FF2B5EF4-FFF2-40B4-BE49-F238E27FC236}">
                  <a16:creationId xmlns:a16="http://schemas.microsoft.com/office/drawing/2014/main" xmlns="" id="{97CEEF71-BF1F-4A56-A299-B08229F8A057}"/>
                </a:ext>
              </a:extLst>
            </p:cNvPr>
            <p:cNvSpPr>
              <a:spLocks noChangeShapeType="1"/>
            </p:cNvSpPr>
            <p:nvPr/>
          </p:nvSpPr>
          <p:spPr bwMode="auto">
            <a:xfrm flipH="1">
              <a:off x="7562850" y="3748088"/>
              <a:ext cx="838200"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30" name="Text Box 64">
              <a:extLst>
                <a:ext uri="{FF2B5EF4-FFF2-40B4-BE49-F238E27FC236}">
                  <a16:creationId xmlns:a16="http://schemas.microsoft.com/office/drawing/2014/main" xmlns="" id="{C510C1B9-AB26-422A-A6BC-7E5486F44354}"/>
                </a:ext>
              </a:extLst>
            </p:cNvPr>
            <p:cNvSpPr txBox="1">
              <a:spLocks noChangeArrowheads="1"/>
            </p:cNvSpPr>
            <p:nvPr/>
          </p:nvSpPr>
          <p:spPr bwMode="auto">
            <a:xfrm>
              <a:off x="7439025" y="3421063"/>
              <a:ext cx="1524000" cy="336550"/>
            </a:xfrm>
            <a:prstGeom prst="rect">
              <a:avLst/>
            </a:prstGeom>
            <a:noFill/>
            <a:ln w="9525" algn="ctr">
              <a:noFill/>
              <a:miter lim="800000"/>
              <a:headEnd/>
              <a:tailEnd/>
            </a:ln>
            <a:effectLst/>
          </p:spPr>
          <p:txBody>
            <a:bodyPr>
              <a:spAutoFit/>
            </a:bodyPr>
            <a:lstStyle/>
            <a:p>
              <a:pPr marL="342900" indent="-342900" algn="just">
                <a:spcBef>
                  <a:spcPct val="20000"/>
                </a:spcBef>
                <a:buClr>
                  <a:schemeClr val="hlink"/>
                </a:buClr>
                <a:buSzPct val="75000"/>
                <a:defRPr/>
              </a:pPr>
              <a:r>
                <a:rPr lang="en-US" sz="1600" b="1">
                  <a:effectLst>
                    <a:outerShdw blurRad="38100" dist="38100" dir="2700000" algn="tl">
                      <a:srgbClr val="C0C0C0"/>
                    </a:outerShdw>
                  </a:effectLst>
                  <a:latin typeface="Times New Roman" pitchFamily="18" charset="0"/>
                </a:rPr>
                <a:t>= 0 (direct)</a:t>
              </a:r>
            </a:p>
          </p:txBody>
        </p:sp>
        <p:sp>
          <p:nvSpPr>
            <p:cNvPr id="132" name="Line 65">
              <a:extLst>
                <a:ext uri="{FF2B5EF4-FFF2-40B4-BE49-F238E27FC236}">
                  <a16:creationId xmlns:a16="http://schemas.microsoft.com/office/drawing/2014/main" xmlns="" id="{ECE7EB44-BABC-4E44-963C-9366AA387838}"/>
                </a:ext>
              </a:extLst>
            </p:cNvPr>
            <p:cNvSpPr>
              <a:spLocks noChangeShapeType="1"/>
            </p:cNvSpPr>
            <p:nvPr/>
          </p:nvSpPr>
          <p:spPr bwMode="auto">
            <a:xfrm>
              <a:off x="6100763" y="3762375"/>
              <a:ext cx="0" cy="9144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3" name="Line 66">
              <a:extLst>
                <a:ext uri="{FF2B5EF4-FFF2-40B4-BE49-F238E27FC236}">
                  <a16:creationId xmlns:a16="http://schemas.microsoft.com/office/drawing/2014/main" xmlns="" id="{D0323EFB-003E-4B82-BBD7-8C6D6FA7BDBA}"/>
                </a:ext>
              </a:extLst>
            </p:cNvPr>
            <p:cNvSpPr>
              <a:spLocks noChangeShapeType="1"/>
            </p:cNvSpPr>
            <p:nvPr/>
          </p:nvSpPr>
          <p:spPr bwMode="auto">
            <a:xfrm>
              <a:off x="8382000" y="3762375"/>
              <a:ext cx="0" cy="9144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4" name="Rectangle 67">
              <a:extLst>
                <a:ext uri="{FF2B5EF4-FFF2-40B4-BE49-F238E27FC236}">
                  <a16:creationId xmlns:a16="http://schemas.microsoft.com/office/drawing/2014/main" xmlns="" id="{22282BB3-FF27-492F-8B3E-3E6C47093A09}"/>
                </a:ext>
              </a:extLst>
            </p:cNvPr>
            <p:cNvSpPr>
              <a:spLocks noChangeArrowheads="1"/>
            </p:cNvSpPr>
            <p:nvPr/>
          </p:nvSpPr>
          <p:spPr bwMode="auto">
            <a:xfrm>
              <a:off x="5500688" y="4675188"/>
              <a:ext cx="1295400" cy="457200"/>
            </a:xfrm>
            <a:prstGeom prst="rect">
              <a:avLst/>
            </a:prstGeom>
            <a:noFill/>
            <a:ln w="952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35" name="Text Box 68">
              <a:extLst>
                <a:ext uri="{FF2B5EF4-FFF2-40B4-BE49-F238E27FC236}">
                  <a16:creationId xmlns:a16="http://schemas.microsoft.com/office/drawing/2014/main" xmlns="" id="{75EE9176-FD91-4AFA-91C9-224D7FF5BEBD}"/>
                </a:ext>
              </a:extLst>
            </p:cNvPr>
            <p:cNvSpPr txBox="1">
              <a:spLocks noChangeArrowheads="1"/>
            </p:cNvSpPr>
            <p:nvPr/>
          </p:nvSpPr>
          <p:spPr bwMode="auto">
            <a:xfrm>
              <a:off x="5457825" y="4533900"/>
              <a:ext cx="1362075" cy="503238"/>
            </a:xfrm>
            <a:prstGeom prst="rect">
              <a:avLst/>
            </a:prstGeom>
            <a:noFill/>
            <a:ln w="9525" algn="ctr">
              <a:noFill/>
              <a:miter lim="800000"/>
              <a:headEnd/>
              <a:tailEnd/>
            </a:ln>
            <a:effectLst/>
          </p:spPr>
          <p:txBody>
            <a:bodyPr>
              <a:spAutoFit/>
            </a:bodyPr>
            <a:lstStyle/>
            <a:p>
              <a:pPr marL="342900" indent="-342900" algn="ctr">
                <a:spcBef>
                  <a:spcPct val="20000"/>
                </a:spcBef>
                <a:buClr>
                  <a:schemeClr val="hlink"/>
                </a:buClr>
                <a:buSzPct val="75000"/>
                <a:defRPr/>
              </a:pPr>
              <a:endParaRPr lang="en-US" sz="1200" b="1">
                <a:effectLst>
                  <a:outerShdw blurRad="38100" dist="38100" dir="2700000" algn="tl">
                    <a:srgbClr val="C0C0C0"/>
                  </a:outerShdw>
                </a:effectLst>
                <a:latin typeface="Times New Roman" pitchFamily="18" charset="0"/>
              </a:endParaRPr>
            </a:p>
            <a:p>
              <a:pPr marL="342900" indent="-342900" algn="ctr">
                <a:spcBef>
                  <a:spcPct val="20000"/>
                </a:spcBef>
                <a:buClr>
                  <a:schemeClr val="hlink"/>
                </a:buClr>
                <a:buSzPct val="75000"/>
                <a:defRPr/>
              </a:pPr>
              <a:r>
                <a:rPr lang="en-US" sz="1200" b="1">
                  <a:effectLst>
                    <a:outerShdw blurRad="38100" dist="38100" dir="2700000" algn="tl">
                      <a:srgbClr val="C0C0C0"/>
                    </a:outerShdw>
                  </a:effectLst>
                  <a:latin typeface="Times New Roman" pitchFamily="18" charset="0"/>
                </a:rPr>
                <a:t>AR </a:t>
              </a:r>
              <a:r>
                <a:rPr lang="en-US" sz="1200" b="1">
                  <a:effectLst>
                    <a:outerShdw blurRad="38100" dist="38100" dir="2700000" algn="tl">
                      <a:srgbClr val="C0C0C0"/>
                    </a:outerShdw>
                  </a:effectLst>
                  <a:latin typeface="Times New Roman" pitchFamily="18" charset="0"/>
                  <a:sym typeface="Symbol" pitchFamily="18" charset="2"/>
                </a:rPr>
                <a:t> M[AR]</a:t>
              </a:r>
            </a:p>
          </p:txBody>
        </p:sp>
        <p:sp>
          <p:nvSpPr>
            <p:cNvPr id="136" name="Rectangle 69">
              <a:extLst>
                <a:ext uri="{FF2B5EF4-FFF2-40B4-BE49-F238E27FC236}">
                  <a16:creationId xmlns:a16="http://schemas.microsoft.com/office/drawing/2014/main" xmlns="" id="{84C56710-9D73-4074-BFB7-03356F090485}"/>
                </a:ext>
              </a:extLst>
            </p:cNvPr>
            <p:cNvSpPr>
              <a:spLocks noChangeArrowheads="1"/>
            </p:cNvSpPr>
            <p:nvPr/>
          </p:nvSpPr>
          <p:spPr bwMode="auto">
            <a:xfrm>
              <a:off x="7739063" y="4660900"/>
              <a:ext cx="1295400" cy="457200"/>
            </a:xfrm>
            <a:prstGeom prst="rect">
              <a:avLst/>
            </a:prstGeom>
            <a:noFill/>
            <a:ln w="952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37" name="Text Box 70">
              <a:extLst>
                <a:ext uri="{FF2B5EF4-FFF2-40B4-BE49-F238E27FC236}">
                  <a16:creationId xmlns:a16="http://schemas.microsoft.com/office/drawing/2014/main" xmlns="" id="{327AA10F-DE9A-4900-86C3-C805BC5DF5D6}"/>
                </a:ext>
              </a:extLst>
            </p:cNvPr>
            <p:cNvSpPr txBox="1">
              <a:spLocks noChangeArrowheads="1"/>
            </p:cNvSpPr>
            <p:nvPr/>
          </p:nvSpPr>
          <p:spPr bwMode="auto">
            <a:xfrm>
              <a:off x="7696200" y="4519613"/>
              <a:ext cx="1362075" cy="503237"/>
            </a:xfrm>
            <a:prstGeom prst="rect">
              <a:avLst/>
            </a:prstGeom>
            <a:noFill/>
            <a:ln w="9525" algn="ctr">
              <a:noFill/>
              <a:miter lim="800000"/>
              <a:headEnd/>
              <a:tailEnd/>
            </a:ln>
            <a:effectLst/>
          </p:spPr>
          <p:txBody>
            <a:bodyPr>
              <a:spAutoFit/>
            </a:bodyPr>
            <a:lstStyle/>
            <a:p>
              <a:pPr marL="342900" indent="-342900" algn="ctr">
                <a:spcBef>
                  <a:spcPct val="20000"/>
                </a:spcBef>
                <a:buClr>
                  <a:schemeClr val="hlink"/>
                </a:buClr>
                <a:buSzPct val="75000"/>
                <a:defRPr/>
              </a:pPr>
              <a:endParaRPr lang="en-US" sz="1200" b="1" dirty="0">
                <a:effectLst>
                  <a:outerShdw blurRad="38100" dist="38100" dir="2700000" algn="tl">
                    <a:srgbClr val="C0C0C0"/>
                  </a:outerShdw>
                </a:effectLst>
                <a:latin typeface="Times New Roman" pitchFamily="18" charset="0"/>
              </a:endParaRP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Nothing</a:t>
              </a:r>
              <a:endParaRPr lang="en-US" sz="1200" b="1" dirty="0">
                <a:effectLst>
                  <a:outerShdw blurRad="38100" dist="38100" dir="2700000" algn="tl">
                    <a:srgbClr val="C0C0C0"/>
                  </a:outerShdw>
                </a:effectLst>
                <a:latin typeface="Times New Roman" pitchFamily="18" charset="0"/>
                <a:sym typeface="Symbol" pitchFamily="18" charset="2"/>
              </a:endParaRPr>
            </a:p>
          </p:txBody>
        </p:sp>
        <p:sp>
          <p:nvSpPr>
            <p:cNvPr id="138" name="Line 71">
              <a:extLst>
                <a:ext uri="{FF2B5EF4-FFF2-40B4-BE49-F238E27FC236}">
                  <a16:creationId xmlns:a16="http://schemas.microsoft.com/office/drawing/2014/main" xmlns="" id="{EDA61126-5A39-4364-83B0-B12D728F43BC}"/>
                </a:ext>
              </a:extLst>
            </p:cNvPr>
            <p:cNvSpPr>
              <a:spLocks noChangeShapeType="1"/>
            </p:cNvSpPr>
            <p:nvPr/>
          </p:nvSpPr>
          <p:spPr bwMode="auto">
            <a:xfrm>
              <a:off x="6100763" y="5138738"/>
              <a:ext cx="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39" name="Line 72">
              <a:extLst>
                <a:ext uri="{FF2B5EF4-FFF2-40B4-BE49-F238E27FC236}">
                  <a16:creationId xmlns:a16="http://schemas.microsoft.com/office/drawing/2014/main" xmlns="" id="{8B383559-FF03-448E-B8BA-EECD04DF9FEB}"/>
                </a:ext>
              </a:extLst>
            </p:cNvPr>
            <p:cNvSpPr>
              <a:spLocks noChangeShapeType="1"/>
            </p:cNvSpPr>
            <p:nvPr/>
          </p:nvSpPr>
          <p:spPr bwMode="auto">
            <a:xfrm>
              <a:off x="8382000" y="5124450"/>
              <a:ext cx="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40" name="Rectangle 73">
              <a:extLst>
                <a:ext uri="{FF2B5EF4-FFF2-40B4-BE49-F238E27FC236}">
                  <a16:creationId xmlns:a16="http://schemas.microsoft.com/office/drawing/2014/main" xmlns="" id="{E1B5D8F8-6154-496B-B172-6FCD0ED63CE5}"/>
                </a:ext>
              </a:extLst>
            </p:cNvPr>
            <p:cNvSpPr>
              <a:spLocks noChangeArrowheads="1"/>
            </p:cNvSpPr>
            <p:nvPr/>
          </p:nvSpPr>
          <p:spPr bwMode="auto">
            <a:xfrm>
              <a:off x="5715000" y="5595938"/>
              <a:ext cx="2895600" cy="887412"/>
            </a:xfrm>
            <a:prstGeom prst="rect">
              <a:avLst/>
            </a:prstGeom>
            <a:noFill/>
            <a:ln w="9525" algn="ctr">
              <a:solidFill>
                <a:srgbClr val="FFFF66"/>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a:p>
          </p:txBody>
        </p:sp>
        <p:sp>
          <p:nvSpPr>
            <p:cNvPr id="141" name="Text Box 74">
              <a:extLst>
                <a:ext uri="{FF2B5EF4-FFF2-40B4-BE49-F238E27FC236}">
                  <a16:creationId xmlns:a16="http://schemas.microsoft.com/office/drawing/2014/main" xmlns="" id="{6F4B18A3-4A90-4DE5-9603-748B84191EC4}"/>
                </a:ext>
              </a:extLst>
            </p:cNvPr>
            <p:cNvSpPr txBox="1">
              <a:spLocks noChangeArrowheads="1"/>
            </p:cNvSpPr>
            <p:nvPr/>
          </p:nvSpPr>
          <p:spPr bwMode="auto">
            <a:xfrm>
              <a:off x="5638800" y="5548313"/>
              <a:ext cx="2895600" cy="941387"/>
            </a:xfrm>
            <a:prstGeom prst="rect">
              <a:avLst/>
            </a:prstGeom>
            <a:noFill/>
            <a:ln w="9525" algn="ctr">
              <a:solidFill>
                <a:schemeClr val="tx1"/>
              </a:solidFill>
              <a:miter lim="800000"/>
              <a:headEnd/>
              <a:tailEnd/>
            </a:ln>
            <a:effectLst/>
          </p:spPr>
          <p:txBody>
            <a:bodyPr>
              <a:spAutoFit/>
            </a:bodyPr>
            <a:lstStyle/>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Execute </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Memory –reference </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Instructions</a:t>
              </a:r>
            </a:p>
            <a:p>
              <a:pPr marL="342900" indent="-342900" algn="ctr">
                <a:spcBef>
                  <a:spcPct val="20000"/>
                </a:spcBef>
                <a:buClr>
                  <a:schemeClr val="hlink"/>
                </a:buClr>
                <a:buSzPct val="75000"/>
                <a:defRPr/>
              </a:pPr>
              <a:r>
                <a:rPr lang="en-US" sz="1200" b="1" dirty="0">
                  <a:effectLst>
                    <a:outerShdw blurRad="38100" dist="38100" dir="2700000" algn="tl">
                      <a:srgbClr val="C0C0C0"/>
                    </a:outerShdw>
                  </a:effectLst>
                  <a:latin typeface="Times New Roman" pitchFamily="18" charset="0"/>
                </a:rPr>
                <a:t>SC </a:t>
              </a:r>
              <a:r>
                <a:rPr lang="en-US" sz="1200" b="1" dirty="0">
                  <a:effectLst>
                    <a:outerShdw blurRad="38100" dist="38100" dir="2700000" algn="tl">
                      <a:srgbClr val="C0C0C0"/>
                    </a:outerShdw>
                  </a:effectLst>
                  <a:latin typeface="Times New Roman" pitchFamily="18" charset="0"/>
                  <a:sym typeface="Symbol" pitchFamily="18" charset="2"/>
                </a:rPr>
                <a:t> 0 </a:t>
              </a:r>
            </a:p>
          </p:txBody>
        </p:sp>
        <p:sp>
          <p:nvSpPr>
            <p:cNvPr id="142" name="Line 75">
              <a:extLst>
                <a:ext uri="{FF2B5EF4-FFF2-40B4-BE49-F238E27FC236}">
                  <a16:creationId xmlns:a16="http://schemas.microsoft.com/office/drawing/2014/main" xmlns="" id="{A6AAC7B7-0C91-44ED-812E-661B1095371E}"/>
                </a:ext>
              </a:extLst>
            </p:cNvPr>
            <p:cNvSpPr>
              <a:spLocks noChangeShapeType="1"/>
            </p:cNvSpPr>
            <p:nvPr/>
          </p:nvSpPr>
          <p:spPr bwMode="auto">
            <a:xfrm>
              <a:off x="7310438" y="6472238"/>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43" name="Line 76">
              <a:extLst>
                <a:ext uri="{FF2B5EF4-FFF2-40B4-BE49-F238E27FC236}">
                  <a16:creationId xmlns:a16="http://schemas.microsoft.com/office/drawing/2014/main" xmlns="" id="{68883FC3-7779-486F-9FBB-E12981034FE5}"/>
                </a:ext>
              </a:extLst>
            </p:cNvPr>
            <p:cNvSpPr>
              <a:spLocks noChangeShapeType="1"/>
            </p:cNvSpPr>
            <p:nvPr/>
          </p:nvSpPr>
          <p:spPr bwMode="auto">
            <a:xfrm flipH="1">
              <a:off x="171450" y="6686550"/>
              <a:ext cx="714375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44" name="Line 77">
              <a:extLst>
                <a:ext uri="{FF2B5EF4-FFF2-40B4-BE49-F238E27FC236}">
                  <a16:creationId xmlns:a16="http://schemas.microsoft.com/office/drawing/2014/main" xmlns="" id="{56FF93E1-ABCC-4889-A5FE-5D4453D30039}"/>
                </a:ext>
              </a:extLst>
            </p:cNvPr>
            <p:cNvSpPr>
              <a:spLocks noChangeShapeType="1"/>
            </p:cNvSpPr>
            <p:nvPr/>
          </p:nvSpPr>
          <p:spPr bwMode="auto">
            <a:xfrm>
              <a:off x="838200" y="5610225"/>
              <a:ext cx="0" cy="1019175"/>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45" name="Line 78">
              <a:extLst>
                <a:ext uri="{FF2B5EF4-FFF2-40B4-BE49-F238E27FC236}">
                  <a16:creationId xmlns:a16="http://schemas.microsoft.com/office/drawing/2014/main" xmlns="" id="{2E2D0E3A-FC8D-4C49-8728-C9E9B3ADFE8C}"/>
                </a:ext>
              </a:extLst>
            </p:cNvPr>
            <p:cNvSpPr>
              <a:spLocks noChangeShapeType="1"/>
            </p:cNvSpPr>
            <p:nvPr/>
          </p:nvSpPr>
          <p:spPr bwMode="auto">
            <a:xfrm>
              <a:off x="3048000" y="5610225"/>
              <a:ext cx="0" cy="1095375"/>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46" name="Line 79">
              <a:extLst>
                <a:ext uri="{FF2B5EF4-FFF2-40B4-BE49-F238E27FC236}">
                  <a16:creationId xmlns:a16="http://schemas.microsoft.com/office/drawing/2014/main" xmlns="" id="{4824F631-03FE-4180-B2C5-56348994DDB6}"/>
                </a:ext>
              </a:extLst>
            </p:cNvPr>
            <p:cNvSpPr>
              <a:spLocks noChangeShapeType="1"/>
            </p:cNvSpPr>
            <p:nvPr/>
          </p:nvSpPr>
          <p:spPr bwMode="auto">
            <a:xfrm flipV="1">
              <a:off x="176213" y="533400"/>
              <a:ext cx="0" cy="6172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47" name="Line 80">
              <a:extLst>
                <a:ext uri="{FF2B5EF4-FFF2-40B4-BE49-F238E27FC236}">
                  <a16:creationId xmlns:a16="http://schemas.microsoft.com/office/drawing/2014/main" xmlns="" id="{ECD9D672-7788-4064-BC6A-82B7D62CDBC3}"/>
                </a:ext>
              </a:extLst>
            </p:cNvPr>
            <p:cNvSpPr>
              <a:spLocks noChangeShapeType="1"/>
            </p:cNvSpPr>
            <p:nvPr/>
          </p:nvSpPr>
          <p:spPr bwMode="auto">
            <a:xfrm>
              <a:off x="166688" y="533400"/>
              <a:ext cx="373380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N"/>
            </a:p>
          </p:txBody>
        </p:sp>
        <p:sp>
          <p:nvSpPr>
            <p:cNvPr id="148" name="Line 81">
              <a:extLst>
                <a:ext uri="{FF2B5EF4-FFF2-40B4-BE49-F238E27FC236}">
                  <a16:creationId xmlns:a16="http://schemas.microsoft.com/office/drawing/2014/main" xmlns="" id="{345E533F-A38C-467C-9113-F88979284D27}"/>
                </a:ext>
              </a:extLst>
            </p:cNvPr>
            <p:cNvSpPr>
              <a:spLocks noChangeShapeType="1"/>
            </p:cNvSpPr>
            <p:nvPr/>
          </p:nvSpPr>
          <p:spPr bwMode="auto">
            <a:xfrm>
              <a:off x="3886200" y="538163"/>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149" name="Text Box 82">
              <a:extLst>
                <a:ext uri="{FF2B5EF4-FFF2-40B4-BE49-F238E27FC236}">
                  <a16:creationId xmlns:a16="http://schemas.microsoft.com/office/drawing/2014/main" xmlns="" id="{BF7FF04D-39B6-41AB-86E9-44F19BEB044E}"/>
                </a:ext>
              </a:extLst>
            </p:cNvPr>
            <p:cNvSpPr txBox="1">
              <a:spLocks noChangeArrowheads="1"/>
            </p:cNvSpPr>
            <p:nvPr/>
          </p:nvSpPr>
          <p:spPr bwMode="auto">
            <a:xfrm>
              <a:off x="1143000" y="4343400"/>
              <a:ext cx="4143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20000"/>
                </a:spcBef>
                <a:buClr>
                  <a:schemeClr val="hlink"/>
                </a:buClr>
                <a:buSzPct val="75000"/>
                <a:buFont typeface="Wingdings" panose="05000000000000000000" pitchFamily="2" charset="2"/>
                <a:buNone/>
              </a:pPr>
              <a:r>
                <a:rPr lang="en-US" altLang="en-US" sz="1600" b="1" i="1">
                  <a:solidFill>
                    <a:srgbClr val="FF3300"/>
                  </a:solidFill>
                  <a:latin typeface="Batang" panose="02030600000101010101" pitchFamily="18" charset="-127"/>
                </a:rPr>
                <a:t>T</a:t>
              </a:r>
              <a:r>
                <a:rPr lang="en-US" altLang="en-US" sz="1600" b="1" i="1" baseline="-25000">
                  <a:solidFill>
                    <a:srgbClr val="FF3300"/>
                  </a:solidFill>
                  <a:latin typeface="Batang" panose="02030600000101010101" pitchFamily="18" charset="-127"/>
                </a:rPr>
                <a:t>3</a:t>
              </a:r>
            </a:p>
          </p:txBody>
        </p:sp>
        <p:sp>
          <p:nvSpPr>
            <p:cNvPr id="150" name="Text Box 83">
              <a:extLst>
                <a:ext uri="{FF2B5EF4-FFF2-40B4-BE49-F238E27FC236}">
                  <a16:creationId xmlns:a16="http://schemas.microsoft.com/office/drawing/2014/main" xmlns="" id="{6C83A466-9315-4A0E-AF77-87D78FA75520}"/>
                </a:ext>
              </a:extLst>
            </p:cNvPr>
            <p:cNvSpPr txBox="1">
              <a:spLocks noChangeArrowheads="1"/>
            </p:cNvSpPr>
            <p:nvPr/>
          </p:nvSpPr>
          <p:spPr bwMode="auto">
            <a:xfrm>
              <a:off x="3505200" y="4343400"/>
              <a:ext cx="4143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20000"/>
                </a:spcBef>
                <a:buClr>
                  <a:schemeClr val="hlink"/>
                </a:buClr>
                <a:buSzPct val="75000"/>
                <a:buFont typeface="Wingdings" panose="05000000000000000000" pitchFamily="2" charset="2"/>
                <a:buNone/>
              </a:pPr>
              <a:r>
                <a:rPr lang="en-US" altLang="en-US" sz="1600" b="1" i="1">
                  <a:solidFill>
                    <a:srgbClr val="FF3300"/>
                  </a:solidFill>
                  <a:latin typeface="Batang" panose="02030600000101010101" pitchFamily="18" charset="-127"/>
                </a:rPr>
                <a:t>T</a:t>
              </a:r>
              <a:r>
                <a:rPr lang="en-US" altLang="en-US" sz="1600" b="1" i="1" baseline="-25000">
                  <a:solidFill>
                    <a:srgbClr val="FF3300"/>
                  </a:solidFill>
                  <a:latin typeface="Batang" panose="02030600000101010101" pitchFamily="18" charset="-127"/>
                </a:rPr>
                <a:t>3</a:t>
              </a:r>
            </a:p>
          </p:txBody>
        </p:sp>
        <p:sp>
          <p:nvSpPr>
            <p:cNvPr id="151" name="Text Box 84">
              <a:extLst>
                <a:ext uri="{FF2B5EF4-FFF2-40B4-BE49-F238E27FC236}">
                  <a16:creationId xmlns:a16="http://schemas.microsoft.com/office/drawing/2014/main" xmlns="" id="{79C70A3B-C19D-4762-BAAA-19E304005B3C}"/>
                </a:ext>
              </a:extLst>
            </p:cNvPr>
            <p:cNvSpPr txBox="1">
              <a:spLocks noChangeArrowheads="1"/>
            </p:cNvSpPr>
            <p:nvPr/>
          </p:nvSpPr>
          <p:spPr bwMode="auto">
            <a:xfrm>
              <a:off x="6400800" y="4343400"/>
              <a:ext cx="4143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20000"/>
                </a:spcBef>
                <a:buClr>
                  <a:schemeClr val="hlink"/>
                </a:buClr>
                <a:buSzPct val="75000"/>
                <a:buFont typeface="Wingdings" panose="05000000000000000000" pitchFamily="2" charset="2"/>
                <a:buNone/>
              </a:pPr>
              <a:r>
                <a:rPr lang="en-US" altLang="en-US" sz="1600" b="1" i="1">
                  <a:solidFill>
                    <a:srgbClr val="FF3300"/>
                  </a:solidFill>
                  <a:latin typeface="Batang" panose="02030600000101010101" pitchFamily="18" charset="-127"/>
                </a:rPr>
                <a:t>T</a:t>
              </a:r>
              <a:r>
                <a:rPr lang="en-US" altLang="en-US" sz="1600" b="1" i="1" baseline="-25000">
                  <a:solidFill>
                    <a:srgbClr val="FF3300"/>
                  </a:solidFill>
                  <a:latin typeface="Batang" panose="02030600000101010101" pitchFamily="18" charset="-127"/>
                </a:rPr>
                <a:t>3</a:t>
              </a:r>
            </a:p>
          </p:txBody>
        </p:sp>
        <p:sp>
          <p:nvSpPr>
            <p:cNvPr id="152" name="Text Box 85">
              <a:extLst>
                <a:ext uri="{FF2B5EF4-FFF2-40B4-BE49-F238E27FC236}">
                  <a16:creationId xmlns:a16="http://schemas.microsoft.com/office/drawing/2014/main" xmlns="" id="{FD170341-6E0D-441E-84A0-4DA3219D99C1}"/>
                </a:ext>
              </a:extLst>
            </p:cNvPr>
            <p:cNvSpPr txBox="1">
              <a:spLocks noChangeArrowheads="1"/>
            </p:cNvSpPr>
            <p:nvPr/>
          </p:nvSpPr>
          <p:spPr bwMode="auto">
            <a:xfrm>
              <a:off x="8729663" y="4329113"/>
              <a:ext cx="41433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just" eaLnBrk="1" hangingPunct="1">
                <a:spcBef>
                  <a:spcPct val="20000"/>
                </a:spcBef>
                <a:buClr>
                  <a:schemeClr val="hlink"/>
                </a:buClr>
                <a:buSzPct val="75000"/>
                <a:buFont typeface="Wingdings" panose="05000000000000000000" pitchFamily="2" charset="2"/>
                <a:buNone/>
              </a:pPr>
              <a:r>
                <a:rPr lang="en-US" altLang="en-US" sz="1600" b="1" i="1">
                  <a:solidFill>
                    <a:srgbClr val="FF3300"/>
                  </a:solidFill>
                  <a:latin typeface="Batang" panose="02030600000101010101" pitchFamily="18" charset="-127"/>
                </a:rPr>
                <a:t>T</a:t>
              </a:r>
              <a:r>
                <a:rPr lang="en-US" altLang="en-US" sz="1600" b="1" i="1" baseline="-25000">
                  <a:solidFill>
                    <a:srgbClr val="FF3300"/>
                  </a:solidFill>
                  <a:latin typeface="Batang" panose="02030600000101010101" pitchFamily="18" charset="-127"/>
                </a:rPr>
                <a:t>3</a:t>
              </a:r>
            </a:p>
          </p:txBody>
        </p:sp>
        <p:sp>
          <p:nvSpPr>
            <p:cNvPr id="153" name="Text Box 86">
              <a:extLst>
                <a:ext uri="{FF2B5EF4-FFF2-40B4-BE49-F238E27FC236}">
                  <a16:creationId xmlns:a16="http://schemas.microsoft.com/office/drawing/2014/main" xmlns="" id="{BA2D7099-5E4F-48BF-B167-14AD20E31D0F}"/>
                </a:ext>
              </a:extLst>
            </p:cNvPr>
            <p:cNvSpPr txBox="1">
              <a:spLocks noChangeArrowheads="1"/>
            </p:cNvSpPr>
            <p:nvPr/>
          </p:nvSpPr>
          <p:spPr bwMode="auto">
            <a:xfrm>
              <a:off x="6919913" y="552450"/>
              <a:ext cx="1973262" cy="696913"/>
            </a:xfrm>
            <a:prstGeom prst="rect">
              <a:avLst/>
            </a:prstGeom>
            <a:noFill/>
            <a:ln w="9525" algn="ctr">
              <a:noFill/>
              <a:miter lim="800000"/>
              <a:headEnd/>
              <a:tailEnd/>
            </a:ln>
            <a:effectLst/>
          </p:spPr>
          <p:txBody>
            <a:bodyPr wrap="none">
              <a:spAutoFit/>
            </a:bodyPr>
            <a:lstStyle/>
            <a:p>
              <a:pPr marL="342900" indent="-342900" algn="just">
                <a:spcBef>
                  <a:spcPct val="20000"/>
                </a:spcBef>
                <a:buClr>
                  <a:schemeClr val="hlink"/>
                </a:buClr>
                <a:buSzPct val="75000"/>
                <a:defRPr/>
              </a:pPr>
              <a:r>
                <a:rPr lang="en-US" b="1" dirty="0">
                  <a:solidFill>
                    <a:srgbClr val="0000FF"/>
                  </a:solidFill>
                  <a:effectLst>
                    <a:outerShdw blurRad="38100" dist="38100" dir="2700000" algn="tl">
                      <a:srgbClr val="C0C0C0"/>
                    </a:outerShdw>
                  </a:effectLst>
                  <a:latin typeface="Batang" pitchFamily="18" charset="-127"/>
                </a:rPr>
                <a:t>Flow chart for </a:t>
              </a:r>
            </a:p>
            <a:p>
              <a:pPr marL="342900" indent="-342900" algn="just">
                <a:spcBef>
                  <a:spcPct val="20000"/>
                </a:spcBef>
                <a:buClr>
                  <a:schemeClr val="hlink"/>
                </a:buClr>
                <a:buSzPct val="75000"/>
                <a:defRPr/>
              </a:pPr>
              <a:r>
                <a:rPr lang="en-US" b="1" dirty="0">
                  <a:solidFill>
                    <a:srgbClr val="0000FF"/>
                  </a:solidFill>
                  <a:effectLst>
                    <a:outerShdw blurRad="38100" dist="38100" dir="2700000" algn="tl">
                      <a:srgbClr val="C0C0C0"/>
                    </a:outerShdw>
                  </a:effectLst>
                  <a:latin typeface="Batang" pitchFamily="18" charset="-127"/>
                </a:rPr>
                <a:t>instruction cycle</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xmlns="" id="{3B54864C-D939-458B-B568-6AAB365F26A6}"/>
              </a:ext>
            </a:extLst>
          </p:cNvPr>
          <p:cNvSpPr>
            <a:spLocks noGrp="1"/>
          </p:cNvSpPr>
          <p:nvPr>
            <p:ph sz="quarter" idx="1"/>
          </p:nvPr>
        </p:nvSpPr>
        <p:spPr>
          <a:xfrm>
            <a:off x="2057400" y="1447800"/>
            <a:ext cx="8229600" cy="5105400"/>
          </a:xfrm>
        </p:spPr>
        <p:txBody>
          <a:bodyPr/>
          <a:lstStyle/>
          <a:p>
            <a:pPr eaLnBrk="1" hangingPunct="1">
              <a:lnSpc>
                <a:spcPct val="90000"/>
              </a:lnSpc>
            </a:pPr>
            <a:r>
              <a:rPr lang="en-US" altLang="en-US"/>
              <a:t>The timing signal that is active after the decoding is T</a:t>
            </a:r>
            <a:r>
              <a:rPr lang="en-US" altLang="en-US" baseline="-25000"/>
              <a:t>3</a:t>
            </a:r>
            <a:r>
              <a:rPr lang="en-US" altLang="en-US"/>
              <a:t>. </a:t>
            </a:r>
          </a:p>
          <a:p>
            <a:pPr eaLnBrk="1" hangingPunct="1">
              <a:lnSpc>
                <a:spcPct val="90000"/>
              </a:lnSpc>
            </a:pPr>
            <a:endParaRPr lang="en-US" altLang="en-US"/>
          </a:p>
          <a:p>
            <a:pPr eaLnBrk="1" hangingPunct="1">
              <a:lnSpc>
                <a:spcPct val="90000"/>
              </a:lnSpc>
            </a:pPr>
            <a:r>
              <a:rPr lang="en-US" altLang="en-US"/>
              <a:t>During T3, the CU determines the type of instruction that was read from the memory.</a:t>
            </a:r>
          </a:p>
          <a:p>
            <a:pPr eaLnBrk="1" hangingPunct="1">
              <a:lnSpc>
                <a:spcPct val="90000"/>
              </a:lnSpc>
            </a:pPr>
            <a:endParaRPr lang="en-US" altLang="en-US"/>
          </a:p>
          <a:p>
            <a:pPr eaLnBrk="1" hangingPunct="1">
              <a:lnSpc>
                <a:spcPct val="90000"/>
              </a:lnSpc>
            </a:pPr>
            <a:r>
              <a:rPr lang="en-US" altLang="en-US"/>
              <a:t>The flow chart above  shows how the control determines the instruction type after decoding.</a:t>
            </a:r>
          </a:p>
        </p:txBody>
      </p:sp>
      <p:sp>
        <p:nvSpPr>
          <p:cNvPr id="313348" name="Text Box 4">
            <a:extLst>
              <a:ext uri="{FF2B5EF4-FFF2-40B4-BE49-F238E27FC236}">
                <a16:creationId xmlns:a16="http://schemas.microsoft.com/office/drawing/2014/main" xmlns="" id="{B6C7266B-D4A1-47A1-AB04-E97345296BE8}"/>
              </a:ext>
            </a:extLst>
          </p:cNvPr>
          <p:cNvSpPr txBox="1">
            <a:spLocks noChangeArrowheads="1"/>
          </p:cNvSpPr>
          <p:nvPr/>
        </p:nvSpPr>
        <p:spPr bwMode="auto">
          <a:xfrm>
            <a:off x="2570417" y="334964"/>
            <a:ext cx="6644769" cy="584775"/>
          </a:xfrm>
          <a:prstGeom prst="rect">
            <a:avLst/>
          </a:prstGeom>
          <a:noFill/>
          <a:ln w="9525" algn="ctr">
            <a:noFill/>
            <a:miter lim="800000"/>
            <a:headEnd/>
            <a:tailEnd/>
          </a:ln>
          <a:effectLst/>
        </p:spPr>
        <p:txBody>
          <a:bodyPr wrap="none">
            <a:spAutoFit/>
          </a:bodyPr>
          <a:lstStyle/>
          <a:p>
            <a:pPr marL="342900" indent="-342900" algn="ctr">
              <a:spcBef>
                <a:spcPct val="20000"/>
              </a:spcBef>
              <a:buClr>
                <a:schemeClr val="hlink"/>
              </a:buClr>
              <a:buSzPct val="75000"/>
              <a:defRPr/>
            </a:pPr>
            <a:r>
              <a:rPr lang="en-US" sz="3200" b="1" u="sng">
                <a:solidFill>
                  <a:srgbClr val="0000FF"/>
                </a:solidFill>
                <a:effectLst>
                  <a:outerShdw blurRad="38100" dist="38100" dir="2700000" algn="tl">
                    <a:srgbClr val="C0C0C0"/>
                  </a:outerShdw>
                </a:effectLst>
                <a:latin typeface="Batang" pitchFamily="18" charset="-127"/>
              </a:rPr>
              <a:t>Determine the type of Instruction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a:extLst>
              <a:ext uri="{FF2B5EF4-FFF2-40B4-BE49-F238E27FC236}">
                <a16:creationId xmlns:a16="http://schemas.microsoft.com/office/drawing/2014/main" xmlns="" id="{14D3B9CB-2663-4A50-B8BB-F0D3AA9459A7}"/>
              </a:ext>
            </a:extLst>
          </p:cNvPr>
          <p:cNvSpPr>
            <a:spLocks noGrp="1"/>
          </p:cNvSpPr>
          <p:nvPr>
            <p:ph sz="quarter" idx="1"/>
          </p:nvPr>
        </p:nvSpPr>
        <p:spPr>
          <a:xfrm>
            <a:off x="1905000" y="1495426"/>
            <a:ext cx="8229600" cy="4829175"/>
          </a:xfrm>
        </p:spPr>
        <p:txBody>
          <a:bodyPr/>
          <a:lstStyle/>
          <a:p>
            <a:pPr eaLnBrk="1" hangingPunct="1"/>
            <a:r>
              <a:rPr lang="en-US" altLang="en-US"/>
              <a:t>The decoder output D</a:t>
            </a:r>
            <a:r>
              <a:rPr lang="en-US" altLang="en-US" baseline="-25000"/>
              <a:t>7</a:t>
            </a:r>
            <a:r>
              <a:rPr lang="en-US" altLang="en-US"/>
              <a:t> is equal to 1, if the opcode is equal to the binary 111.</a:t>
            </a:r>
          </a:p>
          <a:p>
            <a:pPr eaLnBrk="1" hangingPunct="1"/>
            <a:endParaRPr lang="en-US" altLang="en-US"/>
          </a:p>
          <a:p>
            <a:pPr eaLnBrk="1" hangingPunct="1"/>
            <a:r>
              <a:rPr lang="en-US" altLang="en-US"/>
              <a:t>If D</a:t>
            </a:r>
            <a:r>
              <a:rPr lang="en-US" altLang="en-US" baseline="-25000"/>
              <a:t>7</a:t>
            </a:r>
            <a:r>
              <a:rPr lang="en-US" altLang="en-US"/>
              <a:t> = 1, the instruction must be register-reference or I/O type.</a:t>
            </a:r>
          </a:p>
          <a:p>
            <a:pPr eaLnBrk="1" hangingPunct="1">
              <a:buFontTx/>
              <a:buNone/>
            </a:pPr>
            <a:endParaRPr lang="en-US" altLang="en-US"/>
          </a:p>
          <a:p>
            <a:pPr eaLnBrk="1" hangingPunct="1"/>
            <a:r>
              <a:rPr lang="en-US" altLang="en-US"/>
              <a:t>If D</a:t>
            </a:r>
            <a:r>
              <a:rPr lang="en-US" altLang="en-US" baseline="-25000"/>
              <a:t>7</a:t>
            </a:r>
            <a:r>
              <a:rPr lang="en-US" altLang="en-US"/>
              <a:t> = 0, the instruction is recognized as a memory –reference instruction.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xmlns="" id="{2DC1229C-56D5-4B02-AD1C-F1732311BC4F}"/>
              </a:ext>
            </a:extLst>
          </p:cNvPr>
          <p:cNvSpPr>
            <a:spLocks noGrp="1"/>
          </p:cNvSpPr>
          <p:nvPr>
            <p:ph sz="quarter" idx="1"/>
          </p:nvPr>
        </p:nvSpPr>
        <p:spPr>
          <a:xfrm>
            <a:off x="1905000" y="1295400"/>
            <a:ext cx="8229600" cy="5181600"/>
          </a:xfrm>
        </p:spPr>
        <p:txBody>
          <a:bodyPr/>
          <a:lstStyle/>
          <a:p>
            <a:pPr eaLnBrk="1" hangingPunct="1"/>
            <a:r>
              <a:rPr lang="en-US" altLang="en-US"/>
              <a:t>Control then inspects the value of the first bit of instruction, which is available in flip-flop </a:t>
            </a:r>
            <a:r>
              <a:rPr lang="en-US" altLang="en-US" i="1"/>
              <a:t>I</a:t>
            </a:r>
            <a:r>
              <a:rPr lang="en-US" altLang="en-US"/>
              <a:t>. </a:t>
            </a:r>
          </a:p>
          <a:p>
            <a:pPr eaLnBrk="1" hangingPunct="1"/>
            <a:endParaRPr lang="en-US" altLang="en-US"/>
          </a:p>
          <a:p>
            <a:pPr eaLnBrk="1" hangingPunct="1"/>
            <a:r>
              <a:rPr lang="en-US" altLang="en-US"/>
              <a:t>If D</a:t>
            </a:r>
            <a:r>
              <a:rPr lang="en-US" altLang="en-US" baseline="-25000"/>
              <a:t>7</a:t>
            </a:r>
            <a:r>
              <a:rPr lang="en-US" altLang="en-US"/>
              <a:t> = 0 and </a:t>
            </a:r>
            <a:r>
              <a:rPr lang="en-US" altLang="en-US" i="1"/>
              <a:t>I </a:t>
            </a:r>
            <a:r>
              <a:rPr lang="en-US" altLang="en-US"/>
              <a:t>= 1, its an indirect memory reference.</a:t>
            </a:r>
          </a:p>
          <a:p>
            <a:pPr eaLnBrk="1" hangingPunct="1"/>
            <a:endParaRPr lang="en-US" altLang="en-US"/>
          </a:p>
          <a:p>
            <a:pPr eaLnBrk="1" hangingPunct="1"/>
            <a:r>
              <a:rPr lang="en-US" altLang="en-US"/>
              <a:t>It is then necessary to read the effective address from the memory.</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xmlns="" id="{7ADB366D-69A5-4CDC-9ECA-AFF33B65A8EB}"/>
              </a:ext>
            </a:extLst>
          </p:cNvPr>
          <p:cNvSpPr>
            <a:spLocks noGrp="1"/>
          </p:cNvSpPr>
          <p:nvPr>
            <p:ph sz="quarter" idx="1"/>
          </p:nvPr>
        </p:nvSpPr>
        <p:spPr>
          <a:xfrm>
            <a:off x="1600200" y="1412876"/>
            <a:ext cx="8763000" cy="5521325"/>
          </a:xfrm>
        </p:spPr>
        <p:txBody>
          <a:bodyPr/>
          <a:lstStyle/>
          <a:p>
            <a:pPr eaLnBrk="1" hangingPunct="1"/>
            <a:r>
              <a:rPr lang="en-US" altLang="en-US"/>
              <a:t>The microoperation for the </a:t>
            </a:r>
            <a:r>
              <a:rPr lang="en-US" altLang="en-US" u="sng"/>
              <a:t>indirect address condition</a:t>
            </a:r>
            <a:r>
              <a:rPr lang="en-US" altLang="en-US"/>
              <a:t> in register transfer statement is as follows:</a:t>
            </a:r>
          </a:p>
          <a:p>
            <a:pPr algn="ctr" eaLnBrk="1" hangingPunct="1">
              <a:buFontTx/>
              <a:buNone/>
            </a:pPr>
            <a:r>
              <a:rPr lang="en-US" altLang="en-US"/>
              <a:t>AR </a:t>
            </a:r>
            <a:r>
              <a:rPr lang="en-US" altLang="en-US">
                <a:sym typeface="Symbol" panose="05050102010706020507" pitchFamily="18" charset="2"/>
              </a:rPr>
              <a:t> M[AR]</a:t>
            </a:r>
          </a:p>
          <a:p>
            <a:pPr eaLnBrk="1" hangingPunct="1"/>
            <a:r>
              <a:rPr lang="en-US" altLang="en-US"/>
              <a:t>Initially AR holds the address part of the instruction. </a:t>
            </a:r>
          </a:p>
          <a:p>
            <a:pPr eaLnBrk="1" hangingPunct="1"/>
            <a:r>
              <a:rPr lang="en-US" altLang="en-US"/>
              <a:t>This address is used during the </a:t>
            </a:r>
            <a:r>
              <a:rPr lang="en-US" altLang="en-US" u="sng"/>
              <a:t>memory read operation</a:t>
            </a:r>
            <a:r>
              <a:rPr lang="en-US" altLang="en-US"/>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xmlns="" id="{097FD4AF-B9B9-4AEB-BEFD-A0475595DB8D}"/>
              </a:ext>
            </a:extLst>
          </p:cNvPr>
          <p:cNvSpPr>
            <a:spLocks noGrp="1"/>
          </p:cNvSpPr>
          <p:nvPr>
            <p:ph sz="quarter" idx="1"/>
          </p:nvPr>
        </p:nvSpPr>
        <p:spPr>
          <a:xfrm>
            <a:off x="1676400" y="1295400"/>
            <a:ext cx="8305800" cy="4419600"/>
          </a:xfrm>
        </p:spPr>
        <p:txBody>
          <a:bodyPr/>
          <a:lstStyle/>
          <a:p>
            <a:pPr eaLnBrk="1" hangingPunct="1"/>
            <a:r>
              <a:rPr lang="en-US" altLang="en-US"/>
              <a:t>The word at address given by AR i.e. M[AR] is read from memory and placed on the common bus</a:t>
            </a:r>
          </a:p>
          <a:p>
            <a:pPr eaLnBrk="1" hangingPunct="1"/>
            <a:endParaRPr lang="en-US" altLang="en-US"/>
          </a:p>
          <a:p>
            <a:pPr eaLnBrk="1" hangingPunct="1"/>
            <a:r>
              <a:rPr lang="en-US" altLang="en-US"/>
              <a:t>The LD input of AR is then enabled  to receive the </a:t>
            </a:r>
            <a:r>
              <a:rPr lang="en-US" altLang="en-US" u="sng"/>
              <a:t>indirect address </a:t>
            </a:r>
            <a:r>
              <a:rPr lang="en-US" altLang="en-US"/>
              <a:t>that resided in the 12 least significant bits of the memory word.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D33536-C867-47CD-AA03-9DF54483F7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B92768A8-B2D6-4965-945B-D4C2848D4F13}"/>
              </a:ext>
            </a:extLst>
          </p:cNvPr>
          <p:cNvSpPr>
            <a:spLocks noGrp="1"/>
          </p:cNvSpPr>
          <p:nvPr>
            <p:ph idx="1"/>
          </p:nvPr>
        </p:nvSpPr>
        <p:spPr/>
        <p:txBody>
          <a:bodyPr/>
          <a:lstStyle/>
          <a:p>
            <a:pPr marL="0" indent="0" algn="ctr">
              <a:buNone/>
            </a:pPr>
            <a:r>
              <a:rPr lang="en-US"/>
              <a:t>END</a:t>
            </a:r>
            <a:endParaRPr lang="en-IN"/>
          </a:p>
        </p:txBody>
      </p:sp>
    </p:spTree>
    <p:extLst>
      <p:ext uri="{BB962C8B-B14F-4D97-AF65-F5344CB8AC3E}">
        <p14:creationId xmlns:p14="http://schemas.microsoft.com/office/powerpoint/2010/main" xmlns="" val="20807282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290BF3-1C98-4222-B7D9-5AF5FAC2754E}"/>
              </a:ext>
            </a:extLst>
          </p:cNvPr>
          <p:cNvSpPr>
            <a:spLocks noGrp="1"/>
          </p:cNvSpPr>
          <p:nvPr>
            <p:ph type="title"/>
          </p:nvPr>
        </p:nvSpPr>
        <p:spPr/>
        <p:txBody>
          <a:bodyPr/>
          <a:lstStyle/>
          <a:p>
            <a:r>
              <a:rPr lang="en-IN" dirty="0" smtClean="0"/>
              <a:t>REGISTER TRANSFERS</a:t>
            </a:r>
            <a:endParaRPr lang="en-IN" dirty="0"/>
          </a:p>
        </p:txBody>
      </p:sp>
      <p:sp>
        <p:nvSpPr>
          <p:cNvPr id="3" name="Content Placeholder 2">
            <a:extLst>
              <a:ext uri="{FF2B5EF4-FFF2-40B4-BE49-F238E27FC236}">
                <a16:creationId xmlns:a16="http://schemas.microsoft.com/office/drawing/2014/main" xmlns="" id="{F70263F0-0EBA-4725-BB5B-B7354A8F0B81}"/>
              </a:ext>
            </a:extLst>
          </p:cNvPr>
          <p:cNvSpPr>
            <a:spLocks noGrp="1"/>
          </p:cNvSpPr>
          <p:nvPr>
            <p:ph idx="1"/>
          </p:nvPr>
        </p:nvSpPr>
        <p:spPr/>
        <p:txBody>
          <a:bodyPr>
            <a:normAutofit/>
          </a:bodyPr>
          <a:lstStyle/>
          <a:p>
            <a:r>
              <a:rPr lang="en-US" b="0" dirty="0" smtClean="0"/>
              <a:t>In computer architecture, register transfer refers to the process of copying data between registers, which are small, fast storage locations within the CPU. </a:t>
            </a:r>
          </a:p>
          <a:p>
            <a:r>
              <a:rPr lang="en-US" b="0" dirty="0" smtClean="0"/>
              <a:t>It involves the use of a register transfer language (RTL), a symbolic notation for describing these data movements and the micro-operations (like addition or shift) performed on the data. </a:t>
            </a:r>
          </a:p>
        </p:txBody>
      </p:sp>
    </p:spTree>
    <p:extLst>
      <p:ext uri="{BB962C8B-B14F-4D97-AF65-F5344CB8AC3E}">
        <p14:creationId xmlns:p14="http://schemas.microsoft.com/office/powerpoint/2010/main" xmlns="" val="36270911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10D826-CF1E-4556-A4C9-28AEDEE66D8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xmlns="" id="{CA112C6B-21B0-4A2A-B07A-34809948108F}"/>
              </a:ext>
            </a:extLst>
          </p:cNvPr>
          <p:cNvSpPr>
            <a:spLocks noGrp="1"/>
          </p:cNvSpPr>
          <p:nvPr>
            <p:ph idx="1"/>
          </p:nvPr>
        </p:nvSpPr>
        <p:spPr/>
        <p:txBody>
          <a:bodyPr/>
          <a:lstStyle/>
          <a:p>
            <a:r>
              <a:rPr lang="en-US" b="0" dirty="0" smtClean="0"/>
              <a:t>A register transfer statement, such as R1 -&gt; R2, indicates that the contents of register R1 are copied into R2. This action requires control signals to execute and data lines to facilitate the simultaneous, parallel transfer of bits during a single clock pulse, without altering the source register. </a:t>
            </a:r>
            <a:endParaRPr lang="en-IN" dirty="0" smtClean="0"/>
          </a:p>
          <a:p>
            <a:endParaRPr lang="en-IN" dirty="0"/>
          </a:p>
        </p:txBody>
      </p:sp>
    </p:spTree>
    <p:extLst>
      <p:ext uri="{BB962C8B-B14F-4D97-AF65-F5344CB8AC3E}">
        <p14:creationId xmlns:p14="http://schemas.microsoft.com/office/powerpoint/2010/main" xmlns="" val="31707980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95CA36-B5D2-4429-A8E8-6504F63B38E5}"/>
              </a:ext>
            </a:extLst>
          </p:cNvPr>
          <p:cNvSpPr>
            <a:spLocks noGrp="1"/>
          </p:cNvSpPr>
          <p:nvPr>
            <p:ph type="title"/>
          </p:nvPr>
        </p:nvSpPr>
        <p:spPr/>
        <p:txBody>
          <a:bodyPr>
            <a:normAutofit/>
          </a:bodyPr>
          <a:lstStyle/>
          <a:p>
            <a:r>
              <a:rPr lang="en-US" dirty="0" smtClean="0"/>
              <a:t>Key Concepts</a:t>
            </a:r>
            <a:endParaRPr lang="en-IN" dirty="0"/>
          </a:p>
        </p:txBody>
      </p:sp>
      <p:sp>
        <p:nvSpPr>
          <p:cNvPr id="3" name="Content Placeholder 2">
            <a:extLst>
              <a:ext uri="{FF2B5EF4-FFF2-40B4-BE49-F238E27FC236}">
                <a16:creationId xmlns:a16="http://schemas.microsoft.com/office/drawing/2014/main" xmlns="" id="{17D16AC5-18ED-49EB-A7C2-EE378EC18BFF}"/>
              </a:ext>
            </a:extLst>
          </p:cNvPr>
          <p:cNvSpPr>
            <a:spLocks noGrp="1"/>
          </p:cNvSpPr>
          <p:nvPr>
            <p:ph idx="1"/>
          </p:nvPr>
        </p:nvSpPr>
        <p:spPr/>
        <p:txBody>
          <a:bodyPr>
            <a:normAutofit fontScale="62500" lnSpcReduction="20000"/>
          </a:bodyPr>
          <a:lstStyle/>
          <a:p>
            <a:r>
              <a:rPr lang="en-US" dirty="0" smtClean="0"/>
              <a:t>Registers</a:t>
            </a:r>
            <a:r>
              <a:rPr lang="en-US" b="0" dirty="0" smtClean="0"/>
              <a:t>: </a:t>
            </a:r>
          </a:p>
          <a:p>
            <a:pPr fontAlgn="ctr"/>
            <a:r>
              <a:rPr lang="en-US" b="0" dirty="0" smtClean="0"/>
              <a:t>Small, high-speed storage units within a processor used to hold data for immediate processing. </a:t>
            </a:r>
          </a:p>
          <a:p>
            <a:r>
              <a:rPr lang="en-US" dirty="0" smtClean="0"/>
              <a:t>Micro-operations</a:t>
            </a:r>
            <a:r>
              <a:rPr lang="en-US" b="0" dirty="0" smtClean="0"/>
              <a:t>: </a:t>
            </a:r>
          </a:p>
          <a:p>
            <a:pPr fontAlgn="ctr"/>
            <a:r>
              <a:rPr lang="en-US" b="0" dirty="0" smtClean="0"/>
              <a:t>The basic operations performed on the data stored in registers, such as data transfer, addition, subtraction, or shifting. </a:t>
            </a:r>
          </a:p>
          <a:p>
            <a:r>
              <a:rPr lang="en-US" dirty="0" smtClean="0"/>
              <a:t>Register Transfer Language (RTL)</a:t>
            </a:r>
            <a:r>
              <a:rPr lang="en-US" b="0" dirty="0" smtClean="0"/>
              <a:t>: </a:t>
            </a:r>
          </a:p>
          <a:p>
            <a:pPr fontAlgn="ctr"/>
            <a:r>
              <a:rPr lang="en-US" b="0" dirty="0" smtClean="0"/>
              <a:t>A symbolic language used to describe the micro-operations and the flow of data between registers in a digital system. </a:t>
            </a:r>
          </a:p>
          <a:p>
            <a:r>
              <a:rPr lang="en-US" dirty="0" smtClean="0"/>
              <a:t>Control Functions</a:t>
            </a:r>
            <a:r>
              <a:rPr lang="en-US" b="0" dirty="0" smtClean="0"/>
              <a:t>: </a:t>
            </a:r>
          </a:p>
          <a:p>
            <a:r>
              <a:rPr lang="en-US" b="0" dirty="0" smtClean="0"/>
              <a:t>Control signals that initiate or allow a register transfer to occur only when a specific condition is met (e.g., P: R1 -&gt; R2 only happens when control signal P is 1). </a:t>
            </a:r>
          </a:p>
          <a:p>
            <a:pPr>
              <a:buNone/>
            </a:pPr>
            <a:endParaRPr lang="en-IN" dirty="0"/>
          </a:p>
        </p:txBody>
      </p:sp>
    </p:spTree>
    <p:extLst>
      <p:ext uri="{BB962C8B-B14F-4D97-AF65-F5344CB8AC3E}">
        <p14:creationId xmlns:p14="http://schemas.microsoft.com/office/powerpoint/2010/main" xmlns="" val="9615729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C99B72-ABD9-4A1A-BA4E-5C8B9278A9B7}"/>
              </a:ext>
            </a:extLst>
          </p:cNvPr>
          <p:cNvSpPr>
            <a:spLocks noGrp="1"/>
          </p:cNvSpPr>
          <p:nvPr>
            <p:ph type="title"/>
          </p:nvPr>
        </p:nvSpPr>
        <p:spPr/>
        <p:txBody>
          <a:bodyPr>
            <a:normAutofit fontScale="90000"/>
          </a:bodyPr>
          <a:lstStyle/>
          <a:p>
            <a:r>
              <a:rPr lang="en-US" dirty="0" smtClean="0"/>
              <a:t>How Register Transfer Works?</a:t>
            </a:r>
            <a:br>
              <a:rPr lang="en-US" dirty="0" smtClean="0"/>
            </a:br>
            <a:endParaRPr lang="en-IN" dirty="0"/>
          </a:p>
        </p:txBody>
      </p:sp>
      <p:sp>
        <p:nvSpPr>
          <p:cNvPr id="3" name="Content Placeholder 2">
            <a:extLst>
              <a:ext uri="{FF2B5EF4-FFF2-40B4-BE49-F238E27FC236}">
                <a16:creationId xmlns:a16="http://schemas.microsoft.com/office/drawing/2014/main" xmlns="" id="{FA46FFA5-93B2-48EB-AAD1-31CED57A8FF8}"/>
              </a:ext>
            </a:extLst>
          </p:cNvPr>
          <p:cNvSpPr>
            <a:spLocks noGrp="1"/>
          </p:cNvSpPr>
          <p:nvPr>
            <p:ph idx="1"/>
          </p:nvPr>
        </p:nvSpPr>
        <p:spPr/>
        <p:txBody>
          <a:bodyPr>
            <a:normAutofit fontScale="55000" lnSpcReduction="20000"/>
          </a:bodyPr>
          <a:lstStyle/>
          <a:p>
            <a:r>
              <a:rPr lang="en-US" dirty="0" smtClean="0"/>
              <a:t>Source and Destination</a:t>
            </a:r>
            <a:r>
              <a:rPr lang="en-US" b="0" dirty="0" smtClean="0"/>
              <a:t>: </a:t>
            </a:r>
          </a:p>
          <a:p>
            <a:pPr fontAlgn="ctr">
              <a:buNone/>
            </a:pPr>
            <a:r>
              <a:rPr lang="en-US" b="0" dirty="0" smtClean="0"/>
              <a:t>     A register transfer involves a source register (where data is read from) and a destination register (where data is written to). </a:t>
            </a:r>
          </a:p>
          <a:p>
            <a:r>
              <a:rPr lang="en-US" dirty="0" smtClean="0"/>
              <a:t>Parallel Transfer</a:t>
            </a:r>
            <a:r>
              <a:rPr lang="en-US" b="0" dirty="0" smtClean="0"/>
              <a:t>: </a:t>
            </a:r>
          </a:p>
          <a:p>
            <a:pPr fontAlgn="ctr">
              <a:buNone/>
            </a:pPr>
            <a:r>
              <a:rPr lang="en-US" b="0" dirty="0" smtClean="0"/>
              <a:t>     All bits of data from the source register are copied to the destination register simultaneously during one clock pulse. </a:t>
            </a:r>
          </a:p>
          <a:p>
            <a:r>
              <a:rPr lang="en-US" dirty="0" smtClean="0"/>
              <a:t>Non-Destructive</a:t>
            </a:r>
            <a:r>
              <a:rPr lang="en-US" b="0" dirty="0" smtClean="0"/>
              <a:t>: </a:t>
            </a:r>
          </a:p>
          <a:p>
            <a:pPr fontAlgn="ctr">
              <a:buNone/>
            </a:pPr>
            <a:r>
              <a:rPr lang="en-US" b="0" dirty="0" smtClean="0"/>
              <a:t>     The transfer is non-destructive, meaning the content of the source register remains unchanged after the data is copied. </a:t>
            </a:r>
          </a:p>
          <a:p>
            <a:r>
              <a:rPr lang="en-US" dirty="0" smtClean="0"/>
              <a:t>Hardware Implementation</a:t>
            </a:r>
            <a:r>
              <a:rPr lang="en-US" b="0" dirty="0" smtClean="0"/>
              <a:t>: </a:t>
            </a:r>
          </a:p>
          <a:p>
            <a:pPr fontAlgn="ctr">
              <a:buNone/>
            </a:pPr>
            <a:r>
              <a:rPr lang="en-US" b="0" dirty="0" smtClean="0"/>
              <a:t>     Register transfers require specific hardware logic circuits, including data lines connecting the registers and control lines to manage the transfer process. </a:t>
            </a:r>
          </a:p>
          <a:p>
            <a:r>
              <a:rPr lang="en-US" dirty="0" smtClean="0"/>
              <a:t>Control</a:t>
            </a:r>
            <a:r>
              <a:rPr lang="en-US" b="0" dirty="0" smtClean="0"/>
              <a:t>: </a:t>
            </a:r>
          </a:p>
          <a:p>
            <a:pPr>
              <a:buNone/>
            </a:pPr>
            <a:r>
              <a:rPr lang="en-US" b="0" dirty="0" smtClean="0"/>
              <a:t>      A control function or signal determines when the transfer takes place, allowing for conditional execution of operations. </a:t>
            </a:r>
          </a:p>
          <a:p>
            <a:endParaRPr lang="en-IN" dirty="0"/>
          </a:p>
        </p:txBody>
      </p:sp>
      <p:sp>
        <p:nvSpPr>
          <p:cNvPr id="7169" name="Rectangle 1"/>
          <p:cNvSpPr>
            <a:spLocks noChangeArrowheads="1"/>
          </p:cNvSpPr>
          <p:nvPr/>
        </p:nvSpPr>
        <p:spPr bwMode="auto">
          <a:xfrm>
            <a:off x="0" y="0"/>
            <a:ext cx="52900" cy="700131"/>
          </a:xfrm>
          <a:prstGeom prst="rect">
            <a:avLst/>
          </a:prstGeom>
          <a:solidFill>
            <a:srgbClr val="FFFFFF"/>
          </a:solidFill>
          <a:ln w="9525">
            <a:noFill/>
            <a:miter lim="800000"/>
            <a:headEnd/>
            <a:tailEnd/>
          </a:ln>
          <a:effectLst/>
        </p:spPr>
        <p:txBody>
          <a:bodyPr vert="horz" wrap="none" lIns="0" tIns="63480" rIns="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001D35"/>
                </a:solidFill>
                <a:effectLst/>
                <a:latin typeface="Google Sans"/>
                <a:cs typeface="Arial" pitchFamily="34" charset="0"/>
              </a:rPr>
              <a:t>\</a:t>
            </a:r>
            <a:endParaRPr kumimoji="0" lang="en-US" sz="1200" b="0" i="0" u="none" strike="noStrike" cap="none" normalizeH="0" baseline="0" dirty="0" smtClean="0">
              <a:ln>
                <a:noFill/>
              </a:ln>
              <a:solidFill>
                <a:srgbClr val="001D35"/>
              </a:solidFill>
              <a:effectLst/>
              <a:latin typeface="Google Sans"/>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89023643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AD2FD2-0DDE-4DE3-B563-6902F5518C05}"/>
              </a:ext>
            </a:extLst>
          </p:cNvPr>
          <p:cNvSpPr>
            <a:spLocks noGrp="1"/>
          </p:cNvSpPr>
          <p:nvPr>
            <p:ph type="title"/>
          </p:nvPr>
        </p:nvSpPr>
        <p:spPr/>
        <p:txBody>
          <a:bodyPr>
            <a:normAutofit fontScale="90000"/>
          </a:bodyPr>
          <a:lstStyle/>
          <a:p>
            <a:r>
              <a:rPr lang="en-US" dirty="0" smtClean="0"/>
              <a:t>Example</a:t>
            </a:r>
            <a:br>
              <a:rPr lang="en-US" dirty="0" smtClean="0"/>
            </a:br>
            <a:endParaRPr lang="en-IN" dirty="0"/>
          </a:p>
        </p:txBody>
      </p:sp>
      <p:sp>
        <p:nvSpPr>
          <p:cNvPr id="3" name="Content Placeholder 2">
            <a:extLst>
              <a:ext uri="{FF2B5EF4-FFF2-40B4-BE49-F238E27FC236}">
                <a16:creationId xmlns:a16="http://schemas.microsoft.com/office/drawing/2014/main" xmlns="" id="{7AEEAD57-77F5-4C3D-A09F-4305047E88D6}"/>
              </a:ext>
            </a:extLst>
          </p:cNvPr>
          <p:cNvSpPr>
            <a:spLocks noGrp="1"/>
          </p:cNvSpPr>
          <p:nvPr>
            <p:ph idx="1"/>
          </p:nvPr>
        </p:nvSpPr>
        <p:spPr/>
        <p:txBody>
          <a:bodyPr/>
          <a:lstStyle/>
          <a:p>
            <a:pPr fontAlgn="ctr"/>
            <a:r>
              <a:rPr lang="en-US" b="0" dirty="0" smtClean="0"/>
              <a:t>R2 ← R1: This RTL statement signifies that the data stored in register R1 is copied into register R2. </a:t>
            </a:r>
          </a:p>
          <a:p>
            <a:r>
              <a:rPr lang="en-US" b="0" dirty="0" smtClean="0"/>
              <a:t>P: R1 → R2: This means that the contents of R1 are transferred to R2 only when the control signal P is active (P = 1). </a:t>
            </a:r>
          </a:p>
          <a:p>
            <a:endParaRPr lang="en-IN" dirty="0"/>
          </a:p>
        </p:txBody>
      </p:sp>
    </p:spTree>
    <p:extLst>
      <p:ext uri="{BB962C8B-B14F-4D97-AF65-F5344CB8AC3E}">
        <p14:creationId xmlns:p14="http://schemas.microsoft.com/office/powerpoint/2010/main" xmlns="" val="11498951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FB6B8F-48E2-4E5A-885F-940108B100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B748F14-AE83-4A27-B12F-1CC9DFB365E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xmlns="" val="31407319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1EB998-6DB9-40CD-B08D-CC3F5FC170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810AD373-22A3-4505-BDBC-AFA4B876522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xmlns="" val="18579099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3C5A3A-DD30-4094-A801-30332BB428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FABC54A6-4829-4629-957A-215D2B83CD9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xmlns="" val="14924351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B3F181-4354-4574-8381-413A3E7C4D5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C3DAF2DB-126C-48E5-A7D8-E0735BD584A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xmlns="" val="31593191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64B600-FC06-4E5F-808B-877FA5FD851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1E54DCDC-4F5E-4B52-BC19-982F8207BBC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xmlns="" val="392516861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B2E91A2DEE58B4EB51C0D10FFC5F048" ma:contentTypeVersion="3" ma:contentTypeDescription="Create a new document." ma:contentTypeScope="" ma:versionID="c3483bf2d1b4ce78d0f2bebad5297fc0">
  <xsd:schema xmlns:xsd="http://www.w3.org/2001/XMLSchema" xmlns:xs="http://www.w3.org/2001/XMLSchema" xmlns:p="http://schemas.microsoft.com/office/2006/metadata/properties" xmlns:ns2="e528b528-bd60-45be-ac2f-1cf3f1815ca1" targetNamespace="http://schemas.microsoft.com/office/2006/metadata/properties" ma:root="true" ma:fieldsID="54d1f6c13b1d51aec7b8a9c3af92b54a" ns2:_="">
    <xsd:import namespace="e528b528-bd60-45be-ac2f-1cf3f1815c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8b528-bd60-45be-ac2f-1cf3f1815c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A3AF10-73C4-48F9-AC74-78D25FC5961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DD94231-429E-4817-8681-6B2D77F32F75}"/>
</file>

<file path=customXml/itemProps3.xml><?xml version="1.0" encoding="utf-8"?>
<ds:datastoreItem xmlns:ds="http://schemas.openxmlformats.org/officeDocument/2006/customXml" ds:itemID="{4ED5479B-25F3-4F96-B4DD-0F3208CFA33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Gallery</Template>
  <TotalTime>1679</TotalTime>
  <Words>2352</Words>
  <Application>Microsoft Office PowerPoint</Application>
  <PresentationFormat>Custom</PresentationFormat>
  <Paragraphs>457</Paragraphs>
  <Slides>84</Slides>
  <Notes>36</Notes>
  <HiddenSlides>0</HiddenSlides>
  <MMClips>0</MMClip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Gallery</vt:lpstr>
      <vt:lpstr>Slide 1</vt:lpstr>
      <vt:lpstr>Slide 2</vt:lpstr>
      <vt:lpstr>FUNDAMENTAL CONCEPTS</vt:lpstr>
      <vt:lpstr>Slide 4</vt:lpstr>
      <vt:lpstr>Slide 5</vt:lpstr>
      <vt:lpstr>Slide 6</vt:lpstr>
      <vt:lpstr>Slide 7</vt:lpstr>
      <vt:lpstr>Slide 8</vt:lpstr>
      <vt:lpstr>Slide 9</vt:lpstr>
      <vt:lpstr>Slide 10</vt:lpstr>
      <vt:lpstr>Slide 11</vt:lpstr>
      <vt:lpstr>Key Functions of MAR </vt:lpstr>
      <vt:lpstr>Slide 13</vt:lpstr>
      <vt:lpstr>Slide 14</vt:lpstr>
      <vt:lpstr>Slide 15</vt:lpstr>
      <vt:lpstr>Slide 16</vt:lpstr>
      <vt:lpstr>Slide 17</vt:lpstr>
      <vt:lpstr>Slide 18</vt:lpstr>
      <vt:lpstr>Slide 19</vt:lpstr>
      <vt:lpstr>Slide 20</vt:lpstr>
      <vt:lpstr>An Instruction Can Be Executed By Performing One Or More Of The Following Operations</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Computer Instructions</vt:lpstr>
      <vt:lpstr>1. Memory-reference instruction</vt:lpstr>
      <vt:lpstr>Slide 39</vt:lpstr>
      <vt:lpstr>Slide 40</vt:lpstr>
      <vt:lpstr>Slide 41</vt:lpstr>
      <vt:lpstr>Slide 42</vt:lpstr>
      <vt:lpstr>2. Register-reference instruction</vt:lpstr>
      <vt:lpstr>Slide 44</vt:lpstr>
      <vt:lpstr>Slide 45</vt:lpstr>
      <vt:lpstr>Slide 46</vt:lpstr>
      <vt:lpstr>Slide 47</vt:lpstr>
      <vt:lpstr>3. Input - output instruction</vt:lpstr>
      <vt:lpstr>Slide 49</vt:lpstr>
      <vt:lpstr>Slide 50</vt:lpstr>
      <vt:lpstr>Slide 51</vt:lpstr>
      <vt:lpstr>Slide 52</vt:lpstr>
      <vt:lpstr>Slide 53</vt:lpstr>
      <vt:lpstr>Slide 54</vt:lpstr>
      <vt:lpstr>Instruction Cycle</vt:lpstr>
      <vt:lpstr>Slide 56</vt:lpstr>
      <vt:lpstr>Control Unit of a basic Computer</vt:lpstr>
      <vt:lpstr>Slide 58</vt:lpstr>
      <vt:lpstr>Slide 59</vt:lpstr>
      <vt:lpstr>Fetch and Decode</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REGISTER TRANSFERS</vt:lpstr>
      <vt:lpstr>Slide 76</vt:lpstr>
      <vt:lpstr>Key Concepts</vt:lpstr>
      <vt:lpstr>How Register Transfer Works? </vt:lpstr>
      <vt:lpstr>Example </vt:lpstr>
      <vt:lpstr>Slide 80</vt:lpstr>
      <vt:lpstr>Slide 81</vt:lpstr>
      <vt:lpstr>Slide 82</vt:lpstr>
      <vt:lpstr>Slide 83</vt:lpstr>
      <vt:lpstr>Slide 84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Link Layer</dc:title>
  <dc:creator>NITHA L</dc:creator>
  <cp:lastModifiedBy>rajithamr</cp:lastModifiedBy>
  <cp:revision>53</cp:revision>
  <dcterms:created xsi:type="dcterms:W3CDTF">2022-03-12T06:28:18Z</dcterms:created>
  <dcterms:modified xsi:type="dcterms:W3CDTF">2025-10-08T12:39:52Z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0x0101002B2E91A2DEE58B4EB51C0D10FFC5F048</vt:lpwstr>
  </property>
</Properties>
</file>