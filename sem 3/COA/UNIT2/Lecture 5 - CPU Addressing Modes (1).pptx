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4"/>
  </p:sldMasterIdLst>
  <p:notesMasterIdLst>
    <p:notesMasterId r:id="rId31"/>
  </p:notesMasterIdLst>
  <p:sldIdLst>
    <p:sldId id="510" r:id="rId5"/>
    <p:sldId id="359" r:id="rId6"/>
    <p:sldId id="512" r:id="rId7"/>
    <p:sldId id="511" r:id="rId8"/>
    <p:sldId id="369" r:id="rId9"/>
    <p:sldId id="370" r:id="rId10"/>
    <p:sldId id="371" r:id="rId11"/>
    <p:sldId id="372" r:id="rId12"/>
    <p:sldId id="373" r:id="rId13"/>
    <p:sldId id="374" r:id="rId14"/>
    <p:sldId id="385" r:id="rId15"/>
    <p:sldId id="383" r:id="rId16"/>
    <p:sldId id="516" r:id="rId17"/>
    <p:sldId id="375" r:id="rId18"/>
    <p:sldId id="518" r:id="rId19"/>
    <p:sldId id="435" r:id="rId20"/>
    <p:sldId id="436" r:id="rId21"/>
    <p:sldId id="437" r:id="rId22"/>
    <p:sldId id="438" r:id="rId23"/>
    <p:sldId id="522" r:id="rId24"/>
    <p:sldId id="439" r:id="rId25"/>
    <p:sldId id="498" r:id="rId26"/>
    <p:sldId id="444" r:id="rId27"/>
    <p:sldId id="445" r:id="rId28"/>
    <p:sldId id="446" r:id="rId29"/>
    <p:sldId id="525" r:id="rId3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FBDB"/>
    <a:srgbClr val="EFD8B7"/>
    <a:srgbClr val="0000FF"/>
    <a:srgbClr val="6CEBF8"/>
    <a:srgbClr val="FF3300"/>
    <a:srgbClr val="F9FCE0"/>
    <a:srgbClr val="00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6" autoAdjust="0"/>
    <p:restoredTop sz="94660"/>
  </p:normalViewPr>
  <p:slideViewPr>
    <p:cSldViewPr>
      <p:cViewPr varScale="1">
        <p:scale>
          <a:sx n="73" d="100"/>
          <a:sy n="73" d="100"/>
        </p:scale>
        <p:origin x="108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52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2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16D1A16E-1A62-4CAB-8BD5-97EBE00EE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55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B183CD-FF38-4AD9-8BC0-FC4F1761B88E}" type="slidenum">
              <a:rPr lang="en-US"/>
              <a:pPr/>
              <a:t>2</a:t>
            </a:fld>
            <a:endParaRPr lang="en-US"/>
          </a:p>
        </p:txBody>
      </p:sp>
      <p:sp>
        <p:nvSpPr>
          <p:cNvPr id="296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78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40C892-4C13-42A8-84EC-FE3125A13991}" type="slidenum">
              <a:rPr lang="en-US"/>
              <a:pPr/>
              <a:t>5</a:t>
            </a:fld>
            <a:endParaRPr lang="en-US"/>
          </a:p>
        </p:txBody>
      </p:sp>
      <p:sp>
        <p:nvSpPr>
          <p:cNvPr id="308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26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F0C515-254D-428D-A80E-A72DB3664DF9}" type="slidenum">
              <a:rPr lang="en-US"/>
              <a:pPr/>
              <a:t>6</a:t>
            </a:fld>
            <a:endParaRPr lang="en-US"/>
          </a:p>
        </p:txBody>
      </p:sp>
      <p:sp>
        <p:nvSpPr>
          <p:cNvPr id="309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9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22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4E91F0-616B-432C-8EC2-0393989206F6}" type="slidenum">
              <a:rPr lang="en-US"/>
              <a:pPr/>
              <a:t>7</a:t>
            </a:fld>
            <a:endParaRPr lang="en-US"/>
          </a:p>
        </p:txBody>
      </p:sp>
      <p:sp>
        <p:nvSpPr>
          <p:cNvPr id="310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93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B41DDF-9D2B-46A3-BA9B-C85032F95500}" type="slidenum">
              <a:rPr lang="en-US"/>
              <a:pPr/>
              <a:t>8</a:t>
            </a:fld>
            <a:endParaRPr lang="en-US"/>
          </a:p>
        </p:txBody>
      </p:sp>
      <p:sp>
        <p:nvSpPr>
          <p:cNvPr id="311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1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73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383321-9C56-44ED-B81D-4E606C4B6270}" type="slidenum">
              <a:rPr lang="en-US"/>
              <a:pPr/>
              <a:t>9</a:t>
            </a:fld>
            <a:endParaRPr lang="en-US"/>
          </a:p>
        </p:txBody>
      </p:sp>
      <p:sp>
        <p:nvSpPr>
          <p:cNvPr id="312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3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249B4A-C622-4030-A20B-E05D903898BC}" type="slidenum">
              <a:rPr lang="en-US"/>
              <a:pPr/>
              <a:t>10</a:t>
            </a:fld>
            <a:endParaRPr lang="en-US"/>
          </a:p>
        </p:txBody>
      </p:sp>
      <p:sp>
        <p:nvSpPr>
          <p:cNvPr id="314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4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950E5A-FA68-4E0E-85C8-E0899FFF55AA}" type="slidenum">
              <a:rPr lang="en-US"/>
              <a:pPr/>
              <a:t>11</a:t>
            </a:fld>
            <a:endParaRPr lang="en-US"/>
          </a:p>
        </p:txBody>
      </p:sp>
      <p:sp>
        <p:nvSpPr>
          <p:cNvPr id="316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13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E63459-C7E2-4532-9106-F8DD299950ED}" type="slidenum">
              <a:rPr lang="en-US"/>
              <a:pPr/>
              <a:t>12</a:t>
            </a:fld>
            <a:endParaRPr lang="en-US"/>
          </a:p>
        </p:txBody>
      </p:sp>
      <p:sp>
        <p:nvSpPr>
          <p:cNvPr id="317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865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sz="1200"/>
              <a:t>12</a:t>
            </a:r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506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088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AB8667-EA8E-409D-AC74-9927277AE254}" type="slidenum">
              <a:rPr lang="en-US"/>
              <a:pPr/>
              <a:t>14</a:t>
            </a:fld>
            <a:endParaRPr lang="en-US"/>
          </a:p>
        </p:txBody>
      </p:sp>
      <p:sp>
        <p:nvSpPr>
          <p:cNvPr id="318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88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sz="1200"/>
              <a:t>14</a:t>
            </a: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711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504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172202-2877-4AE6-ACED-F026765AEDF6}" type="slidenum">
              <a:rPr lang="en-US"/>
              <a:pPr/>
              <a:t>16</a:t>
            </a:fld>
            <a:endParaRPr lang="en-US"/>
          </a:p>
        </p:txBody>
      </p:sp>
      <p:sp>
        <p:nvSpPr>
          <p:cNvPr id="321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1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522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82E463-85B3-400D-866F-5EF899FCA0FE}" type="slidenum">
              <a:rPr lang="en-US"/>
              <a:pPr/>
              <a:t>17</a:t>
            </a:fld>
            <a:endParaRPr lang="en-US"/>
          </a:p>
        </p:txBody>
      </p:sp>
      <p:sp>
        <p:nvSpPr>
          <p:cNvPr id="322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2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03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FAD012-CDC3-4CE9-97B4-181196687B00}" type="slidenum">
              <a:rPr lang="en-US"/>
              <a:pPr/>
              <a:t>18</a:t>
            </a:fld>
            <a:endParaRPr lang="en-US"/>
          </a:p>
        </p:txBody>
      </p:sp>
      <p:sp>
        <p:nvSpPr>
          <p:cNvPr id="323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3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54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857637-C167-4784-955D-CA8EA0BE52F8}" type="slidenum">
              <a:rPr lang="en-US"/>
              <a:pPr/>
              <a:t>19</a:t>
            </a:fld>
            <a:endParaRPr lang="en-US"/>
          </a:p>
        </p:txBody>
      </p:sp>
      <p:sp>
        <p:nvSpPr>
          <p:cNvPr id="324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98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sz="1200"/>
              <a:t>9</a:t>
            </a: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9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199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0527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66942A-BAF6-493F-B36B-DA1C0FC54D61}" type="slidenum">
              <a:rPr lang="en-US"/>
              <a:pPr/>
              <a:t>21</a:t>
            </a:fld>
            <a:endParaRPr lang="en-US"/>
          </a:p>
        </p:txBody>
      </p:sp>
      <p:sp>
        <p:nvSpPr>
          <p:cNvPr id="325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5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286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4EC1A7-33A4-4466-BC03-305DA6DB8A89}" type="slidenum">
              <a:rPr lang="en-US"/>
              <a:pPr/>
              <a:t>22</a:t>
            </a:fld>
            <a:endParaRPr lang="en-US"/>
          </a:p>
        </p:txBody>
      </p:sp>
      <p:sp>
        <p:nvSpPr>
          <p:cNvPr id="326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7275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136BBE-32CB-4E39-A6EE-142AED074887}" type="slidenum">
              <a:rPr lang="en-US"/>
              <a:pPr/>
              <a:t>23</a:t>
            </a:fld>
            <a:endParaRPr lang="en-US"/>
          </a:p>
        </p:txBody>
      </p:sp>
      <p:sp>
        <p:nvSpPr>
          <p:cNvPr id="331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1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736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687033-9976-4CFC-B739-F020D495ED85}" type="slidenum">
              <a:rPr lang="en-US"/>
              <a:pPr/>
              <a:t>24</a:t>
            </a:fld>
            <a:endParaRPr lang="en-US"/>
          </a:p>
        </p:txBody>
      </p:sp>
      <p:sp>
        <p:nvSpPr>
          <p:cNvPr id="332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905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D62720-08C6-47D2-AFC9-B90E1EBB8892}" type="slidenum">
              <a:rPr lang="en-US"/>
              <a:pPr/>
              <a:t>25</a:t>
            </a:fld>
            <a:endParaRPr lang="en-US"/>
          </a:p>
        </p:txBody>
      </p:sp>
      <p:sp>
        <p:nvSpPr>
          <p:cNvPr id="333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3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48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844B15-13E5-4927-9E03-1DCC016AE5F0}" type="datetime1">
              <a:rPr lang="en-US"/>
              <a:pPr>
                <a:defRPr/>
              </a:pPr>
              <a:t>3/14/2024</a:t>
            </a:fld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7AD63-E9DF-46B8-AFF2-1CAC081BB6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rgbClr val="FF0000"/>
                </a:solidFill>
              </a:defRPr>
            </a:lvl3pPr>
            <a:lvl4pPr>
              <a:defRPr>
                <a:solidFill>
                  <a:srgbClr val="FF0000"/>
                </a:solidFill>
              </a:defRPr>
            </a:lvl4pPr>
            <a:lvl5pPr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6B8E7-D65F-4B79-B7F0-2199EFA455E4}" type="datetime1">
              <a:rPr lang="en-US"/>
              <a:pPr>
                <a:defRPr/>
              </a:pPr>
              <a:t>3/14/2024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9108D-7D80-4C1F-BC80-2082570A4C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5E92A-43FB-43F0-B35D-0897F844B3F9}" type="datetime1">
              <a:rPr lang="en-US"/>
              <a:pPr>
                <a:defRPr/>
              </a:pPr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411F9-4299-4E60-9B77-2E5F2A05E3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A65D8-3290-4F8F-947A-3BD7C2E4456A}" type="datetime1">
              <a:rPr lang="en-US"/>
              <a:pPr>
                <a:defRPr/>
              </a:pPr>
              <a:t>3/14/2024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B5F23-1C6C-4A9D-B8AB-16798A2DCE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4C6414-BA13-492C-AD7F-29C21D021F42}" type="datetime1">
              <a:rPr lang="en-US"/>
              <a:pPr>
                <a:defRPr/>
              </a:pPr>
              <a:t>3/14/2024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08564-DBFD-43EC-9667-EB02D30A25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C551E-B22E-40A1-9C7C-F02BBF3AB92B}" type="datetime1">
              <a:rPr lang="en-US"/>
              <a:pPr>
                <a:defRPr/>
              </a:pPr>
              <a:t>3/14/2024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22878-3816-4150-B71B-C16C283293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ED5EB-FD35-4D10-B081-C075F3607501}" type="datetime1">
              <a:rPr lang="en-US"/>
              <a:pPr>
                <a:defRPr/>
              </a:pPr>
              <a:t>3/14/2024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2AE88-AB22-48DB-9071-221ACCA42A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50C4B-AE92-4736-8FF1-D10493CA5231}" type="datetime1">
              <a:rPr lang="en-US"/>
              <a:pPr>
                <a:defRPr/>
              </a:pPr>
              <a:t>3/14/2024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0C8D86-EA56-450A-B100-92FE91EA1E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B6E1CD-CB3D-4FFE-AB85-3A8F14F28451}" type="datetime1">
              <a:rPr lang="en-US"/>
              <a:pPr>
                <a:defRPr/>
              </a:pPr>
              <a:t>3/14/2024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38811F-8C02-4D4A-BFA5-E4A166A867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7902A3-6BC7-4B21-B064-1599DE7EEF29}" type="datetime1">
              <a:rPr lang="en-US"/>
              <a:pPr>
                <a:defRPr/>
              </a:pPr>
              <a:t>3/14/2024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72577-653D-472D-8F54-52A0D52D7E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0BA8AB-F4E4-47A8-98AA-FF1068143FBA}" type="datetime1">
              <a:rPr lang="en-US"/>
              <a:pPr>
                <a:defRPr/>
              </a:pPr>
              <a:t>3/14/2024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FEB7BB-9B77-4CC2-8D60-B6695BF087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76962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5BC9F822-B6D8-43FD-A25C-7D69AE22BD2A}" type="datetime1">
              <a:rPr lang="en-US"/>
              <a:pPr>
                <a:defRPr/>
              </a:pPr>
              <a:t>3/14/2024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4670E261-E41A-4F99-9635-9CD35C2A7B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19" r:id="rId2"/>
    <p:sldLayoutId id="2147483928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9" r:id="rId9"/>
    <p:sldLayoutId id="2147483925" r:id="rId10"/>
    <p:sldLayoutId id="2147483926" r:id="rId11"/>
  </p:sldLayoutIdLst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" grpId="0" build="p">
        <p:tmplLst>
          <p:tmpl lvl="1">
            <p:tnLst>
              <p:par>
                <p:cTn presetID="39" presetClass="entr" presetSubtype="0" ac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9" presetClass="entr" presetSubtype="0" ac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9" presetClass="entr" presetSubtype="0" ac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9" presetClass="entr" presetSubtype="0" ac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9" presetClass="entr" presetSubtype="0" ac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20"/>
                          </p:val>
                        </p:tav>
                        <p:tav tm="50000">
                          <p:val>
                            <p:strVal val="#ppt_h/2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5000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3"/>
                          </p:val>
                        </p:tav>
                        <p:tav tm="5000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entury Gothic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entury Gothic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entury Gothic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entury Gothic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entury Gothic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entury Gothic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entury Gothic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entury Gothic" pitchFamily="34" charset="0"/>
        </a:defRPr>
      </a:lvl9pPr>
    </p:titleStyle>
    <p:bodyStyle>
      <a:lvl1pPr marL="273050" indent="-273050" algn="just" rtl="0" fontAlgn="base">
        <a:spcBef>
          <a:spcPct val="20000"/>
        </a:spcBef>
        <a:spcAft>
          <a:spcPct val="0"/>
        </a:spcAft>
        <a:buClr>
          <a:srgbClr val="C00000"/>
        </a:buClr>
        <a:buSzPct val="95000"/>
        <a:buFont typeface="Wingdings" pitchFamily="2" charset="2"/>
        <a:buChar char="Ø"/>
        <a:defRPr sz="3600" b="1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39763" indent="-246063" algn="just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3200" b="1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2pPr>
      <a:lvl3pPr marL="914400" indent="-2460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fontAlgn="base">
        <a:spcBef>
          <a:spcPct val="20000"/>
        </a:spcBef>
        <a:spcAft>
          <a:spcPct val="0"/>
        </a:spcAft>
        <a:buClr>
          <a:srgbClr val="FEB80A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fontAlgn="base">
        <a:spcBef>
          <a:spcPct val="20000"/>
        </a:spcBef>
        <a:spcAft>
          <a:spcPct val="0"/>
        </a:spcAft>
        <a:buClr>
          <a:srgbClr val="00ADDC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19993" y="457200"/>
            <a:ext cx="2395207" cy="450892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700" b="1" cap="none" spc="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Algerian" pitchFamily="82" charset="0"/>
              </a:rPr>
              <a:t>8</a:t>
            </a:r>
            <a:endParaRPr lang="en-US" sz="66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176" y="892908"/>
            <a:ext cx="7851648" cy="1828800"/>
          </a:xfrm>
        </p:spPr>
        <p:txBody>
          <a:bodyPr>
            <a:normAutofit/>
          </a:bodyPr>
          <a:lstStyle/>
          <a:p>
            <a:pPr algn="l"/>
            <a:r>
              <a:rPr lang="en-US" sz="6000" dirty="0">
                <a:solidFill>
                  <a:schemeClr val="accent2">
                    <a:lumMod val="40000"/>
                    <a:lumOff val="60000"/>
                  </a:schemeClr>
                </a:solidFill>
                <a:latin typeface="Algerian" pitchFamily="82" charset="0"/>
              </a:rPr>
              <a:t>C P 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728" y="5189256"/>
            <a:ext cx="7854696" cy="844843"/>
          </a:xfrm>
        </p:spPr>
        <p:txBody>
          <a:bodyPr/>
          <a:lstStyle/>
          <a:p>
            <a:r>
              <a:rPr lang="en-US" dirty="0"/>
              <a:t>Addressing Mode</a:t>
            </a:r>
          </a:p>
        </p:txBody>
      </p:sp>
    </p:spTree>
  </p:cSld>
  <p:clrMapOvr>
    <a:masterClrMapping/>
  </p:clrMapOvr>
  <p:transition spd="med">
    <p:pull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Addressing Modes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The  operation field of an instruction specifies the operation to be performed.  </a:t>
            </a:r>
          </a:p>
          <a:p>
            <a:pPr>
              <a:lnSpc>
                <a:spcPct val="90000"/>
              </a:lnSpc>
            </a:pPr>
            <a:r>
              <a:rPr lang="en-US" dirty="0"/>
              <a:t>This operation must be executed on some data stored in registers or memory word.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47F1D3-D217-4506-88D3-F5077D8AA581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The way the operands are chosen during the program execution depends on the addressing mode of the instruction. </a:t>
            </a:r>
          </a:p>
          <a:p>
            <a:pPr>
              <a:lnSpc>
                <a:spcPct val="90000"/>
              </a:lnSpc>
            </a:pPr>
            <a:r>
              <a:rPr lang="en-US" dirty="0"/>
              <a:t>Addressing mode is a </a:t>
            </a:r>
            <a:r>
              <a:rPr lang="en-US" u="sng" dirty="0"/>
              <a:t>rule for modifying the address field of the instruction before the operand is actually referenced.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89108D-7D80-4C1F-BC80-2082570A4C0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229600" cy="55943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Every instructions involves one or more operands. The operand may be processor register, constants or memory word.</a:t>
            </a:r>
          </a:p>
          <a:p>
            <a:pPr>
              <a:lnSpc>
                <a:spcPct val="90000"/>
              </a:lnSpc>
            </a:pPr>
            <a:r>
              <a:rPr lang="en-US" dirty="0"/>
              <a:t>Ex. ADD R1,R2</a:t>
            </a:r>
          </a:p>
          <a:p>
            <a:pPr>
              <a:lnSpc>
                <a:spcPct val="90000"/>
              </a:lnSpc>
            </a:pPr>
            <a:r>
              <a:rPr lang="en-US" dirty="0"/>
              <a:t>AND M[100],R3</a:t>
            </a:r>
          </a:p>
          <a:p>
            <a:pPr>
              <a:lnSpc>
                <a:spcPct val="90000"/>
              </a:lnSpc>
            </a:pPr>
            <a:r>
              <a:rPr lang="en-US" dirty="0"/>
              <a:t>ADD 50  // AC </a:t>
            </a:r>
            <a:r>
              <a:rPr lang="en-US" dirty="0">
                <a:sym typeface="Symbol" panose="05050102010706020507" pitchFamily="18" charset="2"/>
              </a:rPr>
              <a:t>AC+50</a:t>
            </a:r>
          </a:p>
          <a:p>
            <a:pPr>
              <a:lnSpc>
                <a:spcPct val="90000"/>
              </a:lnSpc>
            </a:pPr>
            <a:r>
              <a:rPr lang="en-US" dirty="0">
                <a:sym typeface="Symbol" panose="05050102010706020507" pitchFamily="18" charset="2"/>
              </a:rPr>
              <a:t>ADD B // AC  AC + B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The way an instruction references its operands is called its </a:t>
            </a:r>
            <a:r>
              <a:rPr lang="en-US" u="sng" dirty="0">
                <a:solidFill>
                  <a:srgbClr val="993300"/>
                </a:solidFill>
              </a:rPr>
              <a:t>addressing mode</a:t>
            </a:r>
            <a:r>
              <a:rPr lang="en-US" dirty="0">
                <a:solidFill>
                  <a:srgbClr val="993300"/>
                </a:solidFill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89108D-7D80-4C1F-BC80-2082570A4C0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1825"/>
            <a:ext cx="8001000" cy="39751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There are </a:t>
            </a:r>
            <a:r>
              <a:rPr lang="en-US" u="sng" dirty="0"/>
              <a:t>two modes that need no address fields at all.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u="sng" dirty="0"/>
          </a:p>
          <a:p>
            <a:pPr>
              <a:lnSpc>
                <a:spcPct val="90000"/>
              </a:lnSpc>
            </a:pPr>
            <a:r>
              <a:rPr lang="en-US" dirty="0"/>
              <a:t>These are called the </a:t>
            </a:r>
            <a:r>
              <a:rPr lang="en-US" u="sng" dirty="0">
                <a:solidFill>
                  <a:srgbClr val="993300"/>
                </a:solidFill>
              </a:rPr>
              <a:t>implied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u="sng" dirty="0"/>
              <a:t>and </a:t>
            </a:r>
            <a:r>
              <a:rPr lang="en-US" u="sng" dirty="0">
                <a:solidFill>
                  <a:srgbClr val="993300"/>
                </a:solidFill>
              </a:rPr>
              <a:t>immediate modes.</a:t>
            </a:r>
            <a:endParaRPr lang="en-US" dirty="0">
              <a:solidFill>
                <a:srgbClr val="99330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3ED375-3D32-422A-9B28-F7F7501ABCAD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1.Implied mode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>
          <a:xfrm>
            <a:off x="103188" y="1219200"/>
            <a:ext cx="8355012" cy="4343400"/>
          </a:xfrm>
        </p:spPr>
        <p:txBody>
          <a:bodyPr/>
          <a:lstStyle/>
          <a:p>
            <a:r>
              <a:rPr lang="en-US" dirty="0"/>
              <a:t>In this mode, </a:t>
            </a:r>
            <a:r>
              <a:rPr lang="en-US" u="sng" dirty="0">
                <a:solidFill>
                  <a:srgbClr val="993300"/>
                </a:solidFill>
              </a:rPr>
              <a:t>the operands are specified implicitly in the definition of the instruction.</a:t>
            </a:r>
          </a:p>
          <a:p>
            <a:r>
              <a:rPr lang="en-US" dirty="0"/>
              <a:t>All register reference instructions that uses accumulator are implied-mode instructions.</a:t>
            </a:r>
          </a:p>
          <a:p>
            <a:endParaRPr lang="en-US" u="sng" dirty="0">
              <a:solidFill>
                <a:srgbClr val="993300"/>
              </a:solidFill>
            </a:endParaRPr>
          </a:p>
          <a:p>
            <a:endParaRPr lang="en-US" sz="2800" u="sng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14B8F5-257C-44BB-B231-F077F3BFF9D8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>
          <a:xfrm>
            <a:off x="165100" y="1752600"/>
            <a:ext cx="8686800" cy="4038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Example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	Zero-address instruction in a stack-organized computer are implied-mode instructions since the operands  are implied to be on the top of the stack.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PUSH A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PUSH B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ADD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77723-E5A3-4C1C-AB85-1E6ACFBF4EE0}" type="slidenum">
              <a:rPr lang="en-US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2.Immediate Mode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mode the </a:t>
            </a:r>
            <a:r>
              <a:rPr lang="en-US" u="sng" dirty="0"/>
              <a:t>operand is specified in the instruction itself.</a:t>
            </a:r>
          </a:p>
          <a:p>
            <a:pPr>
              <a:buFontTx/>
              <a:buNone/>
            </a:pPr>
            <a:endParaRPr lang="en-US" u="sng" dirty="0"/>
          </a:p>
          <a:p>
            <a:r>
              <a:rPr lang="en-US" dirty="0"/>
              <a:t>An immediate mode instruction has an </a:t>
            </a:r>
            <a:r>
              <a:rPr lang="en-US" u="sng" dirty="0"/>
              <a:t>operand field</a:t>
            </a:r>
            <a:r>
              <a:rPr lang="en-US" dirty="0"/>
              <a:t> rather than an address field.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2F9D52-045C-4F68-B648-7D1A90D5B48A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           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066800"/>
            <a:ext cx="7696200" cy="42672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u="sng" dirty="0">
                <a:solidFill>
                  <a:srgbClr val="993300"/>
                </a:solidFill>
              </a:rPr>
              <a:t>operand field contains the actual operand value</a:t>
            </a:r>
            <a:r>
              <a:rPr lang="en-US" u="sng" dirty="0"/>
              <a:t> to be used in conjunction with the operation specified in the instruction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For e.g. the instruction </a:t>
            </a:r>
          </a:p>
          <a:p>
            <a:pPr algn="ctr">
              <a:buFontTx/>
              <a:buNone/>
            </a:pPr>
            <a:r>
              <a:rPr lang="en-US" b="1" dirty="0">
                <a:solidFill>
                  <a:srgbClr val="993300"/>
                </a:solidFill>
                <a:latin typeface="Courier" pitchFamily="49" charset="0"/>
              </a:rPr>
              <a:t>ADD 10</a:t>
            </a:r>
            <a:r>
              <a:rPr lang="en-US" dirty="0">
                <a:solidFill>
                  <a:srgbClr val="FF0000"/>
                </a:solidFill>
                <a:latin typeface="Courier" pitchFamily="49" charset="0"/>
              </a:rPr>
              <a:t>  </a:t>
            </a:r>
            <a:r>
              <a:rPr lang="en-US" dirty="0">
                <a:latin typeface="Courier" pitchFamily="49" charset="0"/>
              </a:rPr>
              <a:t>//</a:t>
            </a:r>
            <a:r>
              <a:rPr lang="en-US" dirty="0"/>
              <a:t>AC </a:t>
            </a:r>
            <a:r>
              <a:rPr lang="en-US" dirty="0">
                <a:sym typeface="Symbol" pitchFamily="18" charset="2"/>
              </a:rPr>
              <a:t>AC +10</a:t>
            </a:r>
            <a:endParaRPr lang="en-US" u="sng" dirty="0">
              <a:sym typeface="Symbol" pitchFamily="18" charset="2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0FB609-3D5D-4AD7-B487-1B3696864D01}" type="slidenum">
              <a:rPr lang="en-US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3.Register Mode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966913"/>
            <a:ext cx="7696200" cy="4389437"/>
          </a:xfrm>
        </p:spPr>
        <p:txBody>
          <a:bodyPr/>
          <a:lstStyle/>
          <a:p>
            <a:r>
              <a:rPr lang="en-US" u="sng" dirty="0"/>
              <a:t>When the address field specifies a processor register</a:t>
            </a:r>
            <a:r>
              <a:rPr lang="en-US" dirty="0"/>
              <a:t>, the instruction is said to be in the register mode.</a:t>
            </a:r>
          </a:p>
          <a:p>
            <a:r>
              <a:rPr lang="en-US" dirty="0"/>
              <a:t>In this mode, the operands are in the registers that resides within the CPU.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4955A7-12C1-4595-872A-1D5F1485E89C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828800"/>
            <a:ext cx="7696200" cy="434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In general, the register addressing mode is the most efficient because </a:t>
            </a:r>
            <a:r>
              <a:rPr lang="en-US" u="sng" dirty="0"/>
              <a:t>registers are the part of the CPU and no memory reference is need.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B74E31-52F0-44B6-9B95-C3C0B6520E4F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Examples of Register Address mode: </a:t>
            </a:r>
            <a:r>
              <a:rPr lang="en-US" dirty="0"/>
              <a:t> </a:t>
            </a:r>
          </a:p>
          <a:p>
            <a:pPr>
              <a:buFontTx/>
              <a:buNone/>
            </a:pPr>
            <a:r>
              <a:rPr lang="en-US" dirty="0"/>
              <a:t>ADD	R1 R2 	// R1</a:t>
            </a:r>
            <a:r>
              <a:rPr lang="en-US" dirty="0">
                <a:sym typeface="Symbol" panose="05050102010706020507" pitchFamily="18" charset="2"/>
              </a:rPr>
              <a:t>R1+R2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MUL	AX, CX 	//AX </a:t>
            </a:r>
            <a:r>
              <a:rPr lang="en-US" dirty="0">
                <a:sym typeface="Symbol" panose="05050102010706020507" pitchFamily="18" charset="2"/>
              </a:rPr>
              <a:t>AX*CX</a:t>
            </a:r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1742AC-1D98-4CB2-88F1-DD5DD7EF3901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131077" name="Rectangle 4"/>
          <p:cNvSpPr>
            <a:spLocks noChangeArrowheads="1"/>
          </p:cNvSpPr>
          <p:nvPr/>
        </p:nvSpPr>
        <p:spPr bwMode="auto">
          <a:xfrm>
            <a:off x="3581400" y="4876800"/>
            <a:ext cx="1828800" cy="533400"/>
          </a:xfrm>
          <a:prstGeom prst="rect">
            <a:avLst/>
          </a:prstGeom>
          <a:solidFill>
            <a:srgbClr val="FCAEE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charset="0"/>
              </a:rPr>
              <a:t>100</a:t>
            </a:r>
          </a:p>
        </p:txBody>
      </p:sp>
      <p:sp>
        <p:nvSpPr>
          <p:cNvPr id="131078" name="Rectangle 5"/>
          <p:cNvSpPr>
            <a:spLocks noChangeArrowheads="1"/>
          </p:cNvSpPr>
          <p:nvPr/>
        </p:nvSpPr>
        <p:spPr bwMode="auto">
          <a:xfrm>
            <a:off x="6172200" y="4876800"/>
            <a:ext cx="1828800" cy="533400"/>
          </a:xfrm>
          <a:prstGeom prst="rect">
            <a:avLst/>
          </a:prstGeom>
          <a:solidFill>
            <a:srgbClr val="FCAEE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charset="0"/>
              </a:rPr>
              <a:t>200</a:t>
            </a:r>
          </a:p>
        </p:txBody>
      </p:sp>
      <p:sp>
        <p:nvSpPr>
          <p:cNvPr id="131079" name="Text Box 6"/>
          <p:cNvSpPr txBox="1">
            <a:spLocks noChangeArrowheads="1"/>
          </p:cNvSpPr>
          <p:nvPr/>
        </p:nvSpPr>
        <p:spPr bwMode="auto">
          <a:xfrm>
            <a:off x="4175125" y="5446713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AX</a:t>
            </a:r>
          </a:p>
        </p:txBody>
      </p:sp>
      <p:sp>
        <p:nvSpPr>
          <p:cNvPr id="131080" name="Text Box 7"/>
          <p:cNvSpPr txBox="1">
            <a:spLocks noChangeArrowheads="1"/>
          </p:cNvSpPr>
          <p:nvPr/>
        </p:nvSpPr>
        <p:spPr bwMode="auto">
          <a:xfrm>
            <a:off x="6781800" y="5446713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BX</a:t>
            </a:r>
          </a:p>
        </p:txBody>
      </p:sp>
      <p:sp>
        <p:nvSpPr>
          <p:cNvPr id="131081" name="Rectangle 11"/>
          <p:cNvSpPr>
            <a:spLocks noChangeArrowheads="1"/>
          </p:cNvSpPr>
          <p:nvPr/>
        </p:nvSpPr>
        <p:spPr bwMode="auto">
          <a:xfrm>
            <a:off x="381000" y="4876800"/>
            <a:ext cx="1828800" cy="533400"/>
          </a:xfrm>
          <a:prstGeom prst="rect">
            <a:avLst/>
          </a:prstGeom>
          <a:solidFill>
            <a:srgbClr val="FCAEE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charset="0"/>
              </a:rPr>
              <a:t>300</a:t>
            </a:r>
          </a:p>
        </p:txBody>
      </p:sp>
      <p:sp>
        <p:nvSpPr>
          <p:cNvPr id="131082" name="Text Box 12"/>
          <p:cNvSpPr txBox="1">
            <a:spLocks noChangeArrowheads="1"/>
          </p:cNvSpPr>
          <p:nvPr/>
        </p:nvSpPr>
        <p:spPr bwMode="auto">
          <a:xfrm>
            <a:off x="974725" y="5446713"/>
            <a:ext cx="488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AX</a:t>
            </a:r>
          </a:p>
        </p:txBody>
      </p:sp>
      <p:sp>
        <p:nvSpPr>
          <p:cNvPr id="131083" name="Line 13"/>
          <p:cNvSpPr>
            <a:spLocks noChangeShapeType="1"/>
          </p:cNvSpPr>
          <p:nvPr/>
        </p:nvSpPr>
        <p:spPr bwMode="auto">
          <a:xfrm flipH="1">
            <a:off x="2362200" y="5181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1084" name="Text Box 14"/>
          <p:cNvSpPr txBox="1">
            <a:spLocks noChangeArrowheads="1"/>
          </p:cNvSpPr>
          <p:nvPr/>
        </p:nvSpPr>
        <p:spPr bwMode="auto">
          <a:xfrm>
            <a:off x="5618163" y="4891088"/>
            <a:ext cx="3921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latin typeface="Arial" charset="0"/>
              </a:rPr>
              <a:t>+</a:t>
            </a:r>
          </a:p>
        </p:txBody>
      </p:sp>
    </p:spTree>
  </p:cSld>
  <p:clrMapOvr>
    <a:masterClrMapping/>
  </p:clrMapOvr>
  <p:transition spd="med">
    <p:pull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431800" y="5770563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2439988" y="5770563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 lIns="90488" tIns="44450" rIns="90488" bIns="44450"/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>
                <a:solidFill>
                  <a:srgbClr val="C00000"/>
                </a:solidFill>
              </a:rPr>
              <a:t>Register Addressing Diagram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765175" y="1828800"/>
            <a:ext cx="4722813" cy="604838"/>
            <a:chOff x="913" y="1441"/>
            <a:chExt cx="2975" cy="381"/>
          </a:xfrm>
        </p:grpSpPr>
        <p:sp>
          <p:nvSpPr>
            <p:cNvPr id="15377" name="Rectangle 5"/>
            <p:cNvSpPr>
              <a:spLocks noChangeArrowheads="1"/>
            </p:cNvSpPr>
            <p:nvPr/>
          </p:nvSpPr>
          <p:spPr bwMode="auto">
            <a:xfrm>
              <a:off x="913" y="1441"/>
              <a:ext cx="2975" cy="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5378" name="Line 6"/>
            <p:cNvSpPr>
              <a:spLocks noChangeShapeType="1"/>
            </p:cNvSpPr>
            <p:nvPr/>
          </p:nvSpPr>
          <p:spPr bwMode="auto">
            <a:xfrm>
              <a:off x="1537" y="1446"/>
              <a:ext cx="0" cy="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</p:grp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2060575" y="1905000"/>
            <a:ext cx="2376421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Register Address R</a:t>
            </a:r>
          </a:p>
        </p:txBody>
      </p:sp>
      <p:sp>
        <p:nvSpPr>
          <p:cNvPr id="15367" name="Rectangle 9"/>
          <p:cNvSpPr>
            <a:spLocks noChangeArrowheads="1"/>
          </p:cNvSpPr>
          <p:nvPr/>
        </p:nvSpPr>
        <p:spPr bwMode="auto">
          <a:xfrm>
            <a:off x="688975" y="1905000"/>
            <a:ext cx="1049968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Opcode</a:t>
            </a:r>
          </a:p>
        </p:txBody>
      </p:sp>
      <p:sp>
        <p:nvSpPr>
          <p:cNvPr id="15368" name="Rectangle 10"/>
          <p:cNvSpPr>
            <a:spLocks noChangeArrowheads="1"/>
          </p:cNvSpPr>
          <p:nvPr/>
        </p:nvSpPr>
        <p:spPr bwMode="auto">
          <a:xfrm>
            <a:off x="2441575" y="1371600"/>
            <a:ext cx="144270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Instruction</a:t>
            </a:r>
          </a:p>
        </p:txBody>
      </p:sp>
      <p:sp>
        <p:nvSpPr>
          <p:cNvPr id="15369" name="Rectangle 11"/>
          <p:cNvSpPr>
            <a:spLocks noChangeArrowheads="1"/>
          </p:cNvSpPr>
          <p:nvPr/>
        </p:nvSpPr>
        <p:spPr bwMode="auto">
          <a:xfrm>
            <a:off x="5718175" y="27432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5370" name="Rectangle 12"/>
          <p:cNvSpPr>
            <a:spLocks noChangeArrowheads="1"/>
          </p:cNvSpPr>
          <p:nvPr/>
        </p:nvSpPr>
        <p:spPr bwMode="auto">
          <a:xfrm>
            <a:off x="5718175" y="34290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5371" name="Rectangle 13"/>
          <p:cNvSpPr>
            <a:spLocks noChangeArrowheads="1"/>
          </p:cNvSpPr>
          <p:nvPr/>
        </p:nvSpPr>
        <p:spPr bwMode="auto">
          <a:xfrm>
            <a:off x="5718175" y="41148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5372" name="Rectangle 14"/>
          <p:cNvSpPr>
            <a:spLocks noChangeArrowheads="1"/>
          </p:cNvSpPr>
          <p:nvPr/>
        </p:nvSpPr>
        <p:spPr bwMode="auto">
          <a:xfrm>
            <a:off x="5718175" y="48006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5373" name="Rectangle 15"/>
          <p:cNvSpPr>
            <a:spLocks noChangeArrowheads="1"/>
          </p:cNvSpPr>
          <p:nvPr/>
        </p:nvSpPr>
        <p:spPr bwMode="auto">
          <a:xfrm>
            <a:off x="5718175" y="54864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5374" name="Rectangle 16"/>
          <p:cNvSpPr>
            <a:spLocks noChangeArrowheads="1"/>
          </p:cNvSpPr>
          <p:nvPr/>
        </p:nvSpPr>
        <p:spPr bwMode="auto">
          <a:xfrm>
            <a:off x="6251575" y="2209800"/>
            <a:ext cx="1251113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Registers</a:t>
            </a:r>
          </a:p>
        </p:txBody>
      </p:sp>
      <p:sp>
        <p:nvSpPr>
          <p:cNvPr id="15375" name="Rectangle 17"/>
          <p:cNvSpPr>
            <a:spLocks noChangeArrowheads="1"/>
          </p:cNvSpPr>
          <p:nvPr/>
        </p:nvSpPr>
        <p:spPr bwMode="auto">
          <a:xfrm>
            <a:off x="6403975" y="4267200"/>
            <a:ext cx="1167757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Operand</a:t>
            </a:r>
          </a:p>
        </p:txBody>
      </p:sp>
      <p:sp>
        <p:nvSpPr>
          <p:cNvPr id="15376" name="Freeform 18"/>
          <p:cNvSpPr>
            <a:spLocks/>
          </p:cNvSpPr>
          <p:nvPr/>
        </p:nvSpPr>
        <p:spPr bwMode="auto">
          <a:xfrm>
            <a:off x="3127375" y="2435225"/>
            <a:ext cx="2590800" cy="2022475"/>
          </a:xfrm>
          <a:custGeom>
            <a:avLst/>
            <a:gdLst>
              <a:gd name="T0" fmla="*/ 0 w 1632"/>
              <a:gd name="T1" fmla="*/ 0 h 1274"/>
              <a:gd name="T2" fmla="*/ 0 w 1632"/>
              <a:gd name="T3" fmla="*/ 1273 h 1274"/>
              <a:gd name="T4" fmla="*/ 1631 w 1632"/>
              <a:gd name="T5" fmla="*/ 1273 h 1274"/>
              <a:gd name="T6" fmla="*/ 0 60000 65536"/>
              <a:gd name="T7" fmla="*/ 0 60000 65536"/>
              <a:gd name="T8" fmla="*/ 0 60000 65536"/>
              <a:gd name="T9" fmla="*/ 0 w 1632"/>
              <a:gd name="T10" fmla="*/ 0 h 1274"/>
              <a:gd name="T11" fmla="*/ 1632 w 1632"/>
              <a:gd name="T12" fmla="*/ 1274 h 1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32" h="1274">
                <a:moveTo>
                  <a:pt x="0" y="0"/>
                </a:moveTo>
                <a:lnTo>
                  <a:pt x="0" y="1273"/>
                </a:lnTo>
                <a:lnTo>
                  <a:pt x="1631" y="1273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20" name="Shape 19"/>
          <p:cNvCxnSpPr>
            <a:stCxn id="15376" idx="0"/>
          </p:cNvCxnSpPr>
          <p:nvPr/>
        </p:nvCxnSpPr>
        <p:spPr>
          <a:xfrm>
            <a:off x="3127375" y="2435225"/>
            <a:ext cx="2435225" cy="2136775"/>
          </a:xfrm>
          <a:prstGeom prst="bentConnector5">
            <a:avLst>
              <a:gd name="adj1" fmla="val 9387"/>
              <a:gd name="adj2" fmla="val 101783"/>
              <a:gd name="adj3" fmla="val 9061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4.Register Indirect Mode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905000"/>
            <a:ext cx="7696200" cy="434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In this mode, the instructions specifies a register in the CPU whose contents give the </a:t>
            </a:r>
            <a:r>
              <a:rPr lang="en-US" u="sng" dirty="0"/>
              <a:t>address of the operand in memory</a:t>
            </a:r>
            <a:r>
              <a:rPr lang="en-US" dirty="0"/>
              <a:t>.	</a:t>
            </a:r>
          </a:p>
          <a:p>
            <a:pPr>
              <a:lnSpc>
                <a:spcPct val="90000"/>
              </a:lnSpc>
            </a:pPr>
            <a:r>
              <a:rPr lang="en-US" dirty="0"/>
              <a:t>In other words, </a:t>
            </a:r>
            <a:r>
              <a:rPr lang="en-US" u="sng" dirty="0">
                <a:solidFill>
                  <a:srgbClr val="993300"/>
                </a:solidFill>
              </a:rPr>
              <a:t>the selected register contains the address of the operand in memory rather than the operand  itself.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8577DE-E033-4FB0-B5A0-DAA4D29B8EAA}" type="slidenum">
              <a:rPr lang="en-US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449388" y="2287588"/>
            <a:ext cx="4722812" cy="604837"/>
            <a:chOff x="913" y="1441"/>
            <a:chExt cx="2975" cy="381"/>
          </a:xfrm>
        </p:grpSpPr>
        <p:sp>
          <p:nvSpPr>
            <p:cNvPr id="17434" name="Rectangle 5"/>
            <p:cNvSpPr>
              <a:spLocks noChangeArrowheads="1"/>
            </p:cNvSpPr>
            <p:nvPr/>
          </p:nvSpPr>
          <p:spPr bwMode="auto">
            <a:xfrm>
              <a:off x="913" y="1441"/>
              <a:ext cx="2975" cy="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7435" name="Line 6"/>
            <p:cNvSpPr>
              <a:spLocks noChangeShapeType="1"/>
            </p:cNvSpPr>
            <p:nvPr/>
          </p:nvSpPr>
          <p:spPr bwMode="auto">
            <a:xfrm>
              <a:off x="1537" y="1446"/>
              <a:ext cx="0" cy="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</p:grpSp>
      <p:sp>
        <p:nvSpPr>
          <p:cNvPr id="17413" name="Rectangle 8"/>
          <p:cNvSpPr>
            <a:spLocks noChangeArrowheads="1"/>
          </p:cNvSpPr>
          <p:nvPr/>
        </p:nvSpPr>
        <p:spPr bwMode="auto">
          <a:xfrm>
            <a:off x="3009900" y="2363788"/>
            <a:ext cx="2376421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Register Address R</a:t>
            </a:r>
          </a:p>
        </p:txBody>
      </p:sp>
      <p:sp>
        <p:nvSpPr>
          <p:cNvPr id="17414" name="Rectangle 9"/>
          <p:cNvSpPr>
            <a:spLocks noChangeArrowheads="1"/>
          </p:cNvSpPr>
          <p:nvPr/>
        </p:nvSpPr>
        <p:spPr bwMode="auto">
          <a:xfrm>
            <a:off x="1373188" y="2363788"/>
            <a:ext cx="1049968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Opcode</a:t>
            </a:r>
          </a:p>
        </p:txBody>
      </p:sp>
      <p:sp>
        <p:nvSpPr>
          <p:cNvPr id="17415" name="Rectangle 10"/>
          <p:cNvSpPr>
            <a:spLocks noChangeArrowheads="1"/>
          </p:cNvSpPr>
          <p:nvPr/>
        </p:nvSpPr>
        <p:spPr bwMode="auto">
          <a:xfrm>
            <a:off x="3125788" y="1830388"/>
            <a:ext cx="144270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Instruction</a:t>
            </a:r>
          </a:p>
        </p:txBody>
      </p:sp>
      <p:sp>
        <p:nvSpPr>
          <p:cNvPr id="17416" name="Rectangle 11"/>
          <p:cNvSpPr>
            <a:spLocks noChangeArrowheads="1"/>
          </p:cNvSpPr>
          <p:nvPr/>
        </p:nvSpPr>
        <p:spPr bwMode="auto">
          <a:xfrm>
            <a:off x="6402388" y="31242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7417" name="Rectangle 12"/>
          <p:cNvSpPr>
            <a:spLocks noChangeArrowheads="1"/>
          </p:cNvSpPr>
          <p:nvPr/>
        </p:nvSpPr>
        <p:spPr bwMode="auto">
          <a:xfrm>
            <a:off x="6402388" y="38100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7418" name="Rectangle 13"/>
          <p:cNvSpPr>
            <a:spLocks noChangeArrowheads="1"/>
          </p:cNvSpPr>
          <p:nvPr/>
        </p:nvSpPr>
        <p:spPr bwMode="auto">
          <a:xfrm>
            <a:off x="6402388" y="44958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7419" name="Rectangle 14"/>
          <p:cNvSpPr>
            <a:spLocks noChangeArrowheads="1"/>
          </p:cNvSpPr>
          <p:nvPr/>
        </p:nvSpPr>
        <p:spPr bwMode="auto">
          <a:xfrm>
            <a:off x="6402388" y="51816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7420" name="Rectangle 15"/>
          <p:cNvSpPr>
            <a:spLocks noChangeArrowheads="1"/>
          </p:cNvSpPr>
          <p:nvPr/>
        </p:nvSpPr>
        <p:spPr bwMode="auto">
          <a:xfrm>
            <a:off x="6402388" y="58674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7421" name="Rectangle 16"/>
          <p:cNvSpPr>
            <a:spLocks noChangeArrowheads="1"/>
          </p:cNvSpPr>
          <p:nvPr/>
        </p:nvSpPr>
        <p:spPr bwMode="auto">
          <a:xfrm>
            <a:off x="6858000" y="2730555"/>
            <a:ext cx="1112485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Memory</a:t>
            </a:r>
          </a:p>
        </p:txBody>
      </p:sp>
      <p:sp>
        <p:nvSpPr>
          <p:cNvPr id="17422" name="Rectangle 17"/>
          <p:cNvSpPr>
            <a:spLocks noChangeArrowheads="1"/>
          </p:cNvSpPr>
          <p:nvPr/>
        </p:nvSpPr>
        <p:spPr bwMode="auto">
          <a:xfrm>
            <a:off x="7088188" y="4648200"/>
            <a:ext cx="1167757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Operand</a:t>
            </a:r>
          </a:p>
        </p:txBody>
      </p:sp>
      <p:sp>
        <p:nvSpPr>
          <p:cNvPr id="17423" name="Rectangle 18"/>
          <p:cNvSpPr>
            <a:spLocks noChangeArrowheads="1"/>
          </p:cNvSpPr>
          <p:nvPr/>
        </p:nvSpPr>
        <p:spPr bwMode="auto">
          <a:xfrm>
            <a:off x="1449388" y="38115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7424" name="Rectangle 19"/>
          <p:cNvSpPr>
            <a:spLocks noChangeArrowheads="1"/>
          </p:cNvSpPr>
          <p:nvPr/>
        </p:nvSpPr>
        <p:spPr bwMode="auto">
          <a:xfrm>
            <a:off x="1449388" y="44973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7425" name="Rectangle 20"/>
          <p:cNvSpPr>
            <a:spLocks noChangeArrowheads="1"/>
          </p:cNvSpPr>
          <p:nvPr/>
        </p:nvSpPr>
        <p:spPr bwMode="auto">
          <a:xfrm>
            <a:off x="1449388" y="51831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7426" name="Rectangle 21"/>
          <p:cNvSpPr>
            <a:spLocks noChangeArrowheads="1"/>
          </p:cNvSpPr>
          <p:nvPr/>
        </p:nvSpPr>
        <p:spPr bwMode="auto">
          <a:xfrm>
            <a:off x="1449388" y="5868988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7427" name="Rectangle 22"/>
          <p:cNvSpPr>
            <a:spLocks noChangeArrowheads="1"/>
          </p:cNvSpPr>
          <p:nvPr/>
        </p:nvSpPr>
        <p:spPr bwMode="auto">
          <a:xfrm>
            <a:off x="1525588" y="4649788"/>
            <a:ext cx="2372382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Pointer to Operand</a:t>
            </a:r>
          </a:p>
        </p:txBody>
      </p:sp>
      <p:sp>
        <p:nvSpPr>
          <p:cNvPr id="17428" name="Line 23"/>
          <p:cNvSpPr>
            <a:spLocks noChangeShapeType="1"/>
          </p:cNvSpPr>
          <p:nvPr/>
        </p:nvSpPr>
        <p:spPr bwMode="auto">
          <a:xfrm>
            <a:off x="3429000" y="2903538"/>
            <a:ext cx="0" cy="519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7429" name="Line 24"/>
          <p:cNvSpPr>
            <a:spLocks noChangeShapeType="1"/>
          </p:cNvSpPr>
          <p:nvPr/>
        </p:nvSpPr>
        <p:spPr bwMode="auto">
          <a:xfrm flipH="1">
            <a:off x="681038" y="3429000"/>
            <a:ext cx="27543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7430" name="Rectangle 25"/>
          <p:cNvSpPr>
            <a:spLocks noChangeArrowheads="1"/>
          </p:cNvSpPr>
          <p:nvPr/>
        </p:nvSpPr>
        <p:spPr bwMode="auto">
          <a:xfrm>
            <a:off x="2135188" y="3430588"/>
            <a:ext cx="1251113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Registers</a:t>
            </a:r>
          </a:p>
        </p:txBody>
      </p:sp>
      <p:sp>
        <p:nvSpPr>
          <p:cNvPr id="17431" name="Freeform 26"/>
          <p:cNvSpPr>
            <a:spLocks/>
          </p:cNvSpPr>
          <p:nvPr/>
        </p:nvSpPr>
        <p:spPr bwMode="auto">
          <a:xfrm>
            <a:off x="685800" y="3465512"/>
            <a:ext cx="763588" cy="1411288"/>
          </a:xfrm>
          <a:custGeom>
            <a:avLst/>
            <a:gdLst>
              <a:gd name="T0" fmla="*/ 0 w 481"/>
              <a:gd name="T1" fmla="*/ 0 h 889"/>
              <a:gd name="T2" fmla="*/ 0 w 481"/>
              <a:gd name="T3" fmla="*/ 888 h 889"/>
              <a:gd name="T4" fmla="*/ 480 w 481"/>
              <a:gd name="T5" fmla="*/ 888 h 889"/>
              <a:gd name="T6" fmla="*/ 0 60000 65536"/>
              <a:gd name="T7" fmla="*/ 0 60000 65536"/>
              <a:gd name="T8" fmla="*/ 0 60000 65536"/>
              <a:gd name="T9" fmla="*/ 0 w 481"/>
              <a:gd name="T10" fmla="*/ 0 h 889"/>
              <a:gd name="T11" fmla="*/ 481 w 481"/>
              <a:gd name="T12" fmla="*/ 889 h 8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1" h="889">
                <a:moveTo>
                  <a:pt x="0" y="0"/>
                </a:moveTo>
                <a:lnTo>
                  <a:pt x="0" y="888"/>
                </a:lnTo>
                <a:lnTo>
                  <a:pt x="480" y="888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7432" name="Line 28"/>
          <p:cNvSpPr>
            <a:spLocks noChangeShapeType="1"/>
          </p:cNvSpPr>
          <p:nvPr/>
        </p:nvSpPr>
        <p:spPr bwMode="auto">
          <a:xfrm>
            <a:off x="3897970" y="42672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30750" name="Rectangle 30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</p:spPr>
        <p:txBody>
          <a:bodyPr lIns="90488" tIns="44450" rIns="90488" bIns="4445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C00000"/>
                </a:solidFill>
              </a:rPr>
              <a:t>Register Indirect Addressing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504357-4A64-48CA-93D6-956C3B56F237}"/>
              </a:ext>
            </a:extLst>
          </p:cNvPr>
          <p:cNvSpPr txBox="1"/>
          <p:nvPr/>
        </p:nvSpPr>
        <p:spPr>
          <a:xfrm>
            <a:off x="5735830" y="3973011"/>
            <a:ext cx="7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86A1CA-B9BA-4F7E-BFC7-BF3915118DDF}"/>
              </a:ext>
            </a:extLst>
          </p:cNvPr>
          <p:cNvSpPr txBox="1"/>
          <p:nvPr/>
        </p:nvSpPr>
        <p:spPr>
          <a:xfrm>
            <a:off x="5790406" y="4692134"/>
            <a:ext cx="7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A96BDA-74A4-45C7-B4F1-18E5C0484393}"/>
              </a:ext>
            </a:extLst>
          </p:cNvPr>
          <p:cNvSpPr txBox="1"/>
          <p:nvPr/>
        </p:nvSpPr>
        <p:spPr>
          <a:xfrm>
            <a:off x="5735830" y="3265773"/>
            <a:ext cx="76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  <a:endParaRPr lang="en-IN" dirty="0"/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id="{B60F0ADE-7656-4931-AFF6-E4F748BEB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728" y="3367033"/>
            <a:ext cx="1167757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Operand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8686800" cy="1143000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000" dirty="0"/>
              <a:t>5. </a:t>
            </a:r>
            <a:r>
              <a:rPr lang="en-US" sz="4000" dirty="0" err="1"/>
              <a:t>Autoincrement</a:t>
            </a:r>
            <a:r>
              <a:rPr lang="en-US" sz="4000" dirty="0"/>
              <a:t> or </a:t>
            </a:r>
            <a:br>
              <a:rPr lang="en-US" sz="4000" dirty="0"/>
            </a:br>
            <a:r>
              <a:rPr lang="en-US" sz="4000" dirty="0" err="1"/>
              <a:t>Autodecrement</a:t>
            </a:r>
            <a:r>
              <a:rPr lang="en-US" sz="4000" dirty="0"/>
              <a:t> Mode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similar to register indirect mode except that the </a:t>
            </a:r>
            <a:r>
              <a:rPr lang="en-US" u="sng" dirty="0">
                <a:solidFill>
                  <a:srgbClr val="993300"/>
                </a:solidFill>
              </a:rPr>
              <a:t>register is incremented or decremented after or before its value is used to access memory.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3F05E4-2D25-46BE-A80F-0D06ED0289FB}" type="slidenum">
              <a:rPr lang="en-US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achieved by using the increment and decrement instructions.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2F2BB9-EB65-4044-930E-091317C80FF5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Direct Address Mode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mode, </a:t>
            </a:r>
            <a:r>
              <a:rPr lang="en-US" u="sng" dirty="0">
                <a:solidFill>
                  <a:srgbClr val="993300"/>
                </a:solidFill>
              </a:rPr>
              <a:t>the effective address is equal to the address part of the instruction</a:t>
            </a:r>
            <a:r>
              <a:rPr lang="en-US" u="sng" dirty="0">
                <a:solidFill>
                  <a:schemeClr val="accent1"/>
                </a:solidFill>
              </a:rPr>
              <a:t>.</a:t>
            </a:r>
          </a:p>
          <a:p>
            <a:endParaRPr lang="en-US" u="sng" dirty="0">
              <a:solidFill>
                <a:schemeClr val="accent1"/>
              </a:solidFill>
            </a:endParaRPr>
          </a:p>
          <a:p>
            <a:r>
              <a:rPr lang="en-US" dirty="0"/>
              <a:t>The operand resides in memory and its </a:t>
            </a:r>
            <a:r>
              <a:rPr lang="en-US" u="sng" dirty="0"/>
              <a:t>address is given directly</a:t>
            </a:r>
            <a:r>
              <a:rPr lang="en-US" dirty="0"/>
              <a:t> by the address field of the instruction.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CA8315-D4AC-4807-AE93-6515367BED09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Indirect Address Mode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905000"/>
            <a:ext cx="7696200" cy="4267200"/>
          </a:xfrm>
        </p:spPr>
        <p:txBody>
          <a:bodyPr/>
          <a:lstStyle/>
          <a:p>
            <a:r>
              <a:rPr lang="en-US" dirty="0"/>
              <a:t>In this mode the </a:t>
            </a:r>
            <a:r>
              <a:rPr lang="en-US" u="sng" dirty="0">
                <a:solidFill>
                  <a:srgbClr val="993300"/>
                </a:solidFill>
              </a:rPr>
              <a:t>address field of the instruction gives the address where the effective address is stored in memory.</a:t>
            </a:r>
          </a:p>
          <a:p>
            <a:r>
              <a:rPr lang="en-US" dirty="0"/>
              <a:t>Control fetches the instruction from the memory and uses its address part to access memory again to read the effective address.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1195D7-01E9-48BB-99D0-93DA7E45FCCD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3124200" y="5692775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 lIns="90488" tIns="44450" rIns="90488" bIns="44450"/>
          <a:lstStyle/>
          <a:p>
            <a:pPr fontAlgn="auto">
              <a:spcAft>
                <a:spcPts val="0"/>
              </a:spcAft>
              <a:defRPr/>
            </a:pPr>
            <a:r>
              <a:rPr lang="en-US" sz="4400" dirty="0">
                <a:solidFill>
                  <a:srgbClr val="C00000"/>
                </a:solidFill>
              </a:rPr>
              <a:t>Indirect Addressing Diagram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33400" y="1828800"/>
            <a:ext cx="4722813" cy="604838"/>
            <a:chOff x="336" y="1490"/>
            <a:chExt cx="2975" cy="381"/>
          </a:xfrm>
        </p:grpSpPr>
        <p:sp>
          <p:nvSpPr>
            <p:cNvPr id="12307" name="Rectangle 6"/>
            <p:cNvSpPr>
              <a:spLocks noChangeArrowheads="1"/>
            </p:cNvSpPr>
            <p:nvPr/>
          </p:nvSpPr>
          <p:spPr bwMode="auto">
            <a:xfrm>
              <a:off x="336" y="1490"/>
              <a:ext cx="2975" cy="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2308" name="Line 7"/>
            <p:cNvSpPr>
              <a:spLocks noChangeShapeType="1"/>
            </p:cNvSpPr>
            <p:nvPr/>
          </p:nvSpPr>
          <p:spPr bwMode="auto">
            <a:xfrm>
              <a:off x="960" y="1495"/>
              <a:ext cx="0" cy="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</p:grpSp>
      <p:sp>
        <p:nvSpPr>
          <p:cNvPr id="12294" name="Rectangle 9"/>
          <p:cNvSpPr>
            <a:spLocks noChangeArrowheads="1"/>
          </p:cNvSpPr>
          <p:nvPr/>
        </p:nvSpPr>
        <p:spPr bwMode="auto">
          <a:xfrm>
            <a:off x="2667000" y="1905000"/>
            <a:ext cx="1343317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Address A</a:t>
            </a:r>
          </a:p>
        </p:txBody>
      </p:sp>
      <p:sp>
        <p:nvSpPr>
          <p:cNvPr id="12295" name="Rectangle 10"/>
          <p:cNvSpPr>
            <a:spLocks noChangeArrowheads="1"/>
          </p:cNvSpPr>
          <p:nvPr/>
        </p:nvSpPr>
        <p:spPr bwMode="auto">
          <a:xfrm>
            <a:off x="457200" y="1905000"/>
            <a:ext cx="1049968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Opcode</a:t>
            </a:r>
          </a:p>
        </p:txBody>
      </p:sp>
      <p:sp>
        <p:nvSpPr>
          <p:cNvPr id="12296" name="Rectangle 11"/>
          <p:cNvSpPr>
            <a:spLocks noChangeArrowheads="1"/>
          </p:cNvSpPr>
          <p:nvPr/>
        </p:nvSpPr>
        <p:spPr bwMode="auto">
          <a:xfrm>
            <a:off x="2209800" y="1371600"/>
            <a:ext cx="144270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Instruction</a:t>
            </a:r>
          </a:p>
        </p:txBody>
      </p:sp>
      <p:sp>
        <p:nvSpPr>
          <p:cNvPr id="12297" name="Rectangle 12"/>
          <p:cNvSpPr>
            <a:spLocks noChangeArrowheads="1"/>
          </p:cNvSpPr>
          <p:nvPr/>
        </p:nvSpPr>
        <p:spPr bwMode="auto">
          <a:xfrm>
            <a:off x="5486400" y="27432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2298" name="Rectangle 13"/>
          <p:cNvSpPr>
            <a:spLocks noChangeArrowheads="1"/>
          </p:cNvSpPr>
          <p:nvPr/>
        </p:nvSpPr>
        <p:spPr bwMode="auto">
          <a:xfrm>
            <a:off x="5486400" y="34290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2299" name="Rectangle 14"/>
          <p:cNvSpPr>
            <a:spLocks noChangeArrowheads="1"/>
          </p:cNvSpPr>
          <p:nvPr/>
        </p:nvSpPr>
        <p:spPr bwMode="auto">
          <a:xfrm>
            <a:off x="5486400" y="41148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2300" name="Rectangle 15"/>
          <p:cNvSpPr>
            <a:spLocks noChangeArrowheads="1"/>
          </p:cNvSpPr>
          <p:nvPr/>
        </p:nvSpPr>
        <p:spPr bwMode="auto">
          <a:xfrm>
            <a:off x="5486400" y="48006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2301" name="Rectangle 16"/>
          <p:cNvSpPr>
            <a:spLocks noChangeArrowheads="1"/>
          </p:cNvSpPr>
          <p:nvPr/>
        </p:nvSpPr>
        <p:spPr bwMode="auto">
          <a:xfrm>
            <a:off x="5486400" y="5486400"/>
            <a:ext cx="2587625" cy="682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2302" name="Rectangle 17"/>
          <p:cNvSpPr>
            <a:spLocks noChangeArrowheads="1"/>
          </p:cNvSpPr>
          <p:nvPr/>
        </p:nvSpPr>
        <p:spPr bwMode="auto">
          <a:xfrm>
            <a:off x="6019800" y="2209800"/>
            <a:ext cx="1112485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Memory</a:t>
            </a:r>
          </a:p>
        </p:txBody>
      </p:sp>
      <p:sp>
        <p:nvSpPr>
          <p:cNvPr id="12303" name="Rectangle 18"/>
          <p:cNvSpPr>
            <a:spLocks noChangeArrowheads="1"/>
          </p:cNvSpPr>
          <p:nvPr/>
        </p:nvSpPr>
        <p:spPr bwMode="auto">
          <a:xfrm>
            <a:off x="6172200" y="4267200"/>
            <a:ext cx="1167757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Operand</a:t>
            </a:r>
          </a:p>
        </p:txBody>
      </p:sp>
      <p:sp>
        <p:nvSpPr>
          <p:cNvPr id="12304" name="Freeform 19"/>
          <p:cNvSpPr>
            <a:spLocks/>
          </p:cNvSpPr>
          <p:nvPr/>
        </p:nvSpPr>
        <p:spPr bwMode="auto">
          <a:xfrm>
            <a:off x="2895600" y="2435225"/>
            <a:ext cx="2590800" cy="650875"/>
          </a:xfrm>
          <a:custGeom>
            <a:avLst/>
            <a:gdLst>
              <a:gd name="T0" fmla="*/ 0 w 1632"/>
              <a:gd name="T1" fmla="*/ 0 h 410"/>
              <a:gd name="T2" fmla="*/ 0 w 1632"/>
              <a:gd name="T3" fmla="*/ 409 h 410"/>
              <a:gd name="T4" fmla="*/ 1631 w 1632"/>
              <a:gd name="T5" fmla="*/ 409 h 410"/>
              <a:gd name="T6" fmla="*/ 0 60000 65536"/>
              <a:gd name="T7" fmla="*/ 0 60000 65536"/>
              <a:gd name="T8" fmla="*/ 0 60000 65536"/>
              <a:gd name="T9" fmla="*/ 0 w 1632"/>
              <a:gd name="T10" fmla="*/ 0 h 410"/>
              <a:gd name="T11" fmla="*/ 1632 w 1632"/>
              <a:gd name="T12" fmla="*/ 410 h 4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32" h="410">
                <a:moveTo>
                  <a:pt x="0" y="0"/>
                </a:moveTo>
                <a:lnTo>
                  <a:pt x="0" y="409"/>
                </a:lnTo>
                <a:lnTo>
                  <a:pt x="1631" y="409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2305" name="Rectangle 20"/>
          <p:cNvSpPr>
            <a:spLocks noChangeArrowheads="1"/>
          </p:cNvSpPr>
          <p:nvPr/>
        </p:nvSpPr>
        <p:spPr bwMode="auto">
          <a:xfrm>
            <a:off x="5564188" y="2894013"/>
            <a:ext cx="233070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Pointer to operand</a:t>
            </a:r>
          </a:p>
        </p:txBody>
      </p:sp>
      <p:sp>
        <p:nvSpPr>
          <p:cNvPr id="12306" name="Freeform 21"/>
          <p:cNvSpPr>
            <a:spLocks/>
          </p:cNvSpPr>
          <p:nvPr/>
        </p:nvSpPr>
        <p:spPr bwMode="auto">
          <a:xfrm>
            <a:off x="8075613" y="3084513"/>
            <a:ext cx="230187" cy="1373187"/>
          </a:xfrm>
          <a:custGeom>
            <a:avLst/>
            <a:gdLst>
              <a:gd name="T0" fmla="*/ 0 w 145"/>
              <a:gd name="T1" fmla="*/ 0 h 865"/>
              <a:gd name="T2" fmla="*/ 144 w 145"/>
              <a:gd name="T3" fmla="*/ 0 h 865"/>
              <a:gd name="T4" fmla="*/ 144 w 145"/>
              <a:gd name="T5" fmla="*/ 864 h 865"/>
              <a:gd name="T6" fmla="*/ 1 w 145"/>
              <a:gd name="T7" fmla="*/ 864 h 865"/>
              <a:gd name="T8" fmla="*/ 0 60000 65536"/>
              <a:gd name="T9" fmla="*/ 0 60000 65536"/>
              <a:gd name="T10" fmla="*/ 0 60000 65536"/>
              <a:gd name="T11" fmla="*/ 0 60000 65536"/>
              <a:gd name="T12" fmla="*/ 0 w 145"/>
              <a:gd name="T13" fmla="*/ 0 h 865"/>
              <a:gd name="T14" fmla="*/ 145 w 145"/>
              <a:gd name="T15" fmla="*/ 865 h 8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5" h="865">
                <a:moveTo>
                  <a:pt x="0" y="0"/>
                </a:moveTo>
                <a:lnTo>
                  <a:pt x="144" y="0"/>
                </a:lnTo>
                <a:lnTo>
                  <a:pt x="144" y="864"/>
                </a:lnTo>
                <a:lnTo>
                  <a:pt x="1" y="86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8. Relative Address Mode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>
          <a:xfrm>
            <a:off x="139700" y="1905000"/>
            <a:ext cx="8839200" cy="4419600"/>
          </a:xfrm>
        </p:spPr>
        <p:txBody>
          <a:bodyPr/>
          <a:lstStyle/>
          <a:p>
            <a:r>
              <a:rPr lang="en-US" dirty="0"/>
              <a:t>In this mode the </a:t>
            </a:r>
            <a:r>
              <a:rPr lang="en-US" u="sng" dirty="0">
                <a:solidFill>
                  <a:srgbClr val="993300"/>
                </a:solidFill>
              </a:rPr>
              <a:t>content of the program counter is added to the address part of the instruction</a:t>
            </a:r>
            <a:r>
              <a:rPr lang="en-US" dirty="0"/>
              <a:t> in order to get the effective address.</a:t>
            </a:r>
          </a:p>
          <a:p>
            <a:pPr>
              <a:buFontTx/>
              <a:buNone/>
            </a:pPr>
            <a:r>
              <a:rPr lang="en-US" sz="2800" dirty="0">
                <a:solidFill>
                  <a:srgbClr val="990099"/>
                </a:solidFill>
              </a:rPr>
              <a:t> </a:t>
            </a:r>
            <a:r>
              <a:rPr lang="en-US" sz="2800" dirty="0">
                <a:solidFill>
                  <a:srgbClr val="FFFFFF"/>
                </a:solidFill>
              </a:rPr>
              <a:t>Effective Address =  Content of PC +  						 Address of instruction.</a:t>
            </a:r>
          </a:p>
          <a:p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6B72A-B294-47DB-9CB6-67EA768A7889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address part of the instruction is usually a signed number (in 2’s complement notation) which can either be positive or negative.</a:t>
            </a:r>
          </a:p>
          <a:p>
            <a:r>
              <a:rPr lang="en-US" dirty="0"/>
              <a:t>When this number is added to the content of PC, the result produces an effective address.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041868-A093-4D90-BEE6-7D92A7D1A095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9.Indexed Addressing Mode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905000"/>
            <a:ext cx="8458200" cy="4343400"/>
          </a:xfrm>
        </p:spPr>
        <p:txBody>
          <a:bodyPr/>
          <a:lstStyle/>
          <a:p>
            <a:r>
              <a:rPr lang="en-US"/>
              <a:t>In this mode the content of an </a:t>
            </a:r>
            <a:r>
              <a:rPr lang="en-US" u="sng">
                <a:solidFill>
                  <a:srgbClr val="993300"/>
                </a:solidFill>
              </a:rPr>
              <a:t>index register is added to the address part of the instruction to obtain the effective address.</a:t>
            </a:r>
            <a:r>
              <a:rPr lang="en-US">
                <a:solidFill>
                  <a:srgbClr val="993300"/>
                </a:solidFill>
              </a:rPr>
              <a:t>  </a:t>
            </a:r>
          </a:p>
          <a:p>
            <a:endParaRPr lang="en-US">
              <a:solidFill>
                <a:srgbClr val="993300"/>
              </a:solidFill>
            </a:endParaRPr>
          </a:p>
          <a:p>
            <a:r>
              <a:rPr lang="en-US"/>
              <a:t>The index register is a special CPU register that contains the  index value.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78845B-AB3C-42ED-B439-5A0C8AB160E6}" type="slidenum">
              <a:rPr lang="en-US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905000"/>
            <a:ext cx="7696200" cy="4343400"/>
          </a:xfrm>
        </p:spPr>
        <p:txBody>
          <a:bodyPr/>
          <a:lstStyle/>
          <a:p>
            <a:r>
              <a:rPr lang="en-US" dirty="0"/>
              <a:t>The address field of the instruction defines the beginning address of a data array in memory.</a:t>
            </a:r>
          </a:p>
          <a:p>
            <a:r>
              <a:rPr lang="en-US" dirty="0"/>
              <a:t>The distance between the beginning address and the address of the operand is called the </a:t>
            </a:r>
            <a:r>
              <a:rPr lang="en-US" u="sng" dirty="0">
                <a:solidFill>
                  <a:srgbClr val="993300"/>
                </a:solidFill>
              </a:rPr>
              <a:t>index value</a:t>
            </a:r>
            <a:r>
              <a:rPr lang="en-US" dirty="0"/>
              <a:t> stored in the index register.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BF2E24-5C80-4C52-BC9C-27D21D0A0159}" type="slidenum">
              <a:rPr lang="en-US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/>
              <a:t>10.Base Register Addressing Mode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104775" y="1828800"/>
            <a:ext cx="8839200" cy="4572000"/>
          </a:xfrm>
        </p:spPr>
        <p:txBody>
          <a:bodyPr/>
          <a:lstStyle/>
          <a:p>
            <a:r>
              <a:rPr lang="en-US" dirty="0"/>
              <a:t>In this mode the </a:t>
            </a:r>
            <a:r>
              <a:rPr lang="en-US" u="sng" dirty="0">
                <a:solidFill>
                  <a:srgbClr val="993300"/>
                </a:solidFill>
              </a:rPr>
              <a:t>content of a base register is added to the address part of the instruction to obtain the effective address</a:t>
            </a:r>
            <a:r>
              <a:rPr lang="en-US" dirty="0">
                <a:solidFill>
                  <a:srgbClr val="993300"/>
                </a:solidFill>
              </a:rPr>
              <a:t>.</a:t>
            </a:r>
          </a:p>
          <a:p>
            <a:r>
              <a:rPr lang="en-US" dirty="0"/>
              <a:t>This is similar to the indexed addressing mode except that the register is now called a base register instead of an index register.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16C68-4192-4391-BF31-9FFA1EAA87C5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  <p:transition spd="med">
    <p:pull dir="r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END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AE88-AB22-48DB-9071-221ACCA42A82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703254"/>
      </p:ext>
    </p:extLst>
  </p:cSld>
  <p:clrMapOvr>
    <a:masterClrMapping/>
  </p:clrMapOvr>
  <p:transition spd="med">
    <p:pull dir="r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2E91A2DEE58B4EB51C0D10FFC5F048" ma:contentTypeVersion="3" ma:contentTypeDescription="Create a new document." ma:contentTypeScope="" ma:versionID="c3483bf2d1b4ce78d0f2bebad5297fc0">
  <xsd:schema xmlns:xsd="http://www.w3.org/2001/XMLSchema" xmlns:xs="http://www.w3.org/2001/XMLSchema" xmlns:p="http://schemas.microsoft.com/office/2006/metadata/properties" xmlns:ns2="e528b528-bd60-45be-ac2f-1cf3f1815ca1" targetNamespace="http://schemas.microsoft.com/office/2006/metadata/properties" ma:root="true" ma:fieldsID="54d1f6c13b1d51aec7b8a9c3af92b54a" ns2:_="">
    <xsd:import namespace="e528b528-bd60-45be-ac2f-1cf3f1815c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8b528-bd60-45be-ac2f-1cf3f1815c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5AC8EE-420F-446F-BC17-E0BFDADDBC89}"/>
</file>

<file path=customXml/itemProps2.xml><?xml version="1.0" encoding="utf-8"?>
<ds:datastoreItem xmlns:ds="http://schemas.openxmlformats.org/officeDocument/2006/customXml" ds:itemID="{0041F70B-660C-41F3-B61D-BC5BDCEA00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DCDFF-C022-4C65-9E79-4C0B264EEDD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3223</TotalTime>
  <Words>888</Words>
  <Application>Microsoft Office PowerPoint</Application>
  <PresentationFormat>On-screen Show (4:3)</PresentationFormat>
  <Paragraphs>146</Paragraphs>
  <Slides>26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Algerian</vt:lpstr>
      <vt:lpstr>Arial</vt:lpstr>
      <vt:lpstr>Century Gothic</vt:lpstr>
      <vt:lpstr>Courier</vt:lpstr>
      <vt:lpstr>Symbol</vt:lpstr>
      <vt:lpstr>Times New Roman</vt:lpstr>
      <vt:lpstr>Verdana</vt:lpstr>
      <vt:lpstr>Wingdings</vt:lpstr>
      <vt:lpstr>Wingdings 2</vt:lpstr>
      <vt:lpstr>Flow</vt:lpstr>
      <vt:lpstr>C P U</vt:lpstr>
      <vt:lpstr>Addressing Modes</vt:lpstr>
      <vt:lpstr>PowerPoint Presentation</vt:lpstr>
      <vt:lpstr>PowerPoint Presentation</vt:lpstr>
      <vt:lpstr>PowerPoint Presentation</vt:lpstr>
      <vt:lpstr>1.Implied mode</vt:lpstr>
      <vt:lpstr>PowerPoint Presentation</vt:lpstr>
      <vt:lpstr>2.Immediate Mode</vt:lpstr>
      <vt:lpstr>                          </vt:lpstr>
      <vt:lpstr>3.Register Mode</vt:lpstr>
      <vt:lpstr>PowerPoint Presentation</vt:lpstr>
      <vt:lpstr>PowerPoint Presentation</vt:lpstr>
      <vt:lpstr>Register Addressing Diagram</vt:lpstr>
      <vt:lpstr>4.Register Indirect Mode</vt:lpstr>
      <vt:lpstr>Register Indirect Addressing Diagram</vt:lpstr>
      <vt:lpstr>5. Autoincrement or  Autodecrement Mode</vt:lpstr>
      <vt:lpstr>PowerPoint Presentation</vt:lpstr>
      <vt:lpstr>6. Direct Address Mode</vt:lpstr>
      <vt:lpstr>7. Indirect Address Mode</vt:lpstr>
      <vt:lpstr>Indirect Addressing Diagram</vt:lpstr>
      <vt:lpstr>8. Relative Address Mode</vt:lpstr>
      <vt:lpstr>PowerPoint Presentation</vt:lpstr>
      <vt:lpstr>9.Indexed Addressing Mode</vt:lpstr>
      <vt:lpstr>PowerPoint Presentation</vt:lpstr>
      <vt:lpstr>10.Base Register Addressing Mode</vt:lpstr>
      <vt:lpstr>PowerPoint Presentation</vt:lpstr>
    </vt:vector>
  </TitlesOfParts>
  <Company>asaas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 CENTRAL PROCESSING UNIT</dc:title>
  <dc:creator>Administrator</dc:creator>
  <cp:lastModifiedBy>honey karthik</cp:lastModifiedBy>
  <cp:revision>352</cp:revision>
  <dcterms:created xsi:type="dcterms:W3CDTF">2006-04-03T22:50:01Z</dcterms:created>
  <dcterms:modified xsi:type="dcterms:W3CDTF">2024-03-14T03:31:54Z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0x0101002B2E91A2DEE58B4EB51C0D10FFC5F048</vt:lpwstr>
  </property>
</Properties>
</file>