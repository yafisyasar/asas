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sldIdLst>
    <p:sldId id="256" r:id="rId5"/>
    <p:sldId id="257" r:id="rId6"/>
    <p:sldId id="258" r:id="rId7"/>
    <p:sldId id="277" r:id="rId8"/>
    <p:sldId id="278" r:id="rId9"/>
    <p:sldId id="259" r:id="rId10"/>
    <p:sldId id="269" r:id="rId11"/>
    <p:sldId id="270" r:id="rId12"/>
    <p:sldId id="271" r:id="rId13"/>
    <p:sldId id="272" r:id="rId14"/>
    <p:sldId id="273" r:id="rId15"/>
    <p:sldId id="274" r:id="rId16"/>
    <p:sldId id="260" r:id="rId17"/>
    <p:sldId id="275" r:id="rId18"/>
    <p:sldId id="276" r:id="rId19"/>
    <p:sldId id="261" r:id="rId20"/>
    <p:sldId id="268" r:id="rId21"/>
    <p:sldId id="27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0758928C-7E60-4EFD-AF2F-0B2B8272CA4D}" type="datetimeFigureOut">
              <a:rPr lang="en-US" smtClean="0"/>
              <a:pPr/>
              <a:t>5/3/2023</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0A46AF8-A804-4E3C-A820-46F976E23731}"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0758928C-7E60-4EFD-AF2F-0B2B8272CA4D}" type="datetimeFigureOut">
              <a:rPr lang="en-US" smtClean="0"/>
              <a:pPr/>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D0A46AF8-A804-4E3C-A820-46F976E23731}"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0758928C-7E60-4EFD-AF2F-0B2B8272CA4D}" type="datetimeFigureOut">
              <a:rPr lang="en-US" smtClean="0"/>
              <a:pPr/>
              <a:t>5/3/2023</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0A46AF8-A804-4E3C-A820-46F976E23731}"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0758928C-7E60-4EFD-AF2F-0B2B8272CA4D}" type="datetimeFigureOut">
              <a:rPr lang="en-US" smtClean="0"/>
              <a:pPr/>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A46AF8-A804-4E3C-A820-46F976E23731}"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758928C-7E60-4EFD-AF2F-0B2B8272CA4D}" type="datetimeFigureOut">
              <a:rPr lang="en-US" smtClean="0"/>
              <a:pPr/>
              <a:t>5/3/2023</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D0A46AF8-A804-4E3C-A820-46F976E23731}"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758928C-7E60-4EFD-AF2F-0B2B8272CA4D}" type="datetimeFigureOut">
              <a:rPr lang="en-US" smtClean="0"/>
              <a:pPr/>
              <a:t>5/3/2023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D0A46AF8-A804-4E3C-A820-46F976E2373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0758928C-7E60-4EFD-AF2F-0B2B8272CA4D}" type="datetimeFigureOut">
              <a:rPr lang="en-US" smtClean="0"/>
              <a:pPr/>
              <a:t>5/3/2023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D0A46AF8-A804-4E3C-A820-46F976E2373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D0A46AF8-A804-4E3C-A820-46F976E23731}"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0758928C-7E60-4EFD-AF2F-0B2B8272CA4D}" type="datetimeFigureOut">
              <a:rPr lang="en-US" smtClean="0"/>
              <a:pPr/>
              <a:t>5/3/2023</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D0A46AF8-A804-4E3C-A820-46F976E23731}"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0758928C-7E60-4EFD-AF2F-0B2B8272CA4D}" type="datetimeFigureOut">
              <a:rPr lang="en-US" smtClean="0"/>
              <a:pPr/>
              <a:t>5/3/2023</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758928C-7E60-4EFD-AF2F-0B2B8272CA4D}" type="datetimeFigureOut">
              <a:rPr lang="en-US" smtClean="0"/>
              <a:pPr/>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A46AF8-A804-4E3C-A820-46F976E2373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D0A46AF8-A804-4E3C-A820-46F976E23731}"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758928C-7E60-4EFD-AF2F-0B2B8272CA4D}" type="datetimeFigureOut">
              <a:rPr lang="en-US" smtClean="0"/>
              <a:pPr/>
              <a:t>5/3/2023</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0758928C-7E60-4EFD-AF2F-0B2B8272CA4D}" type="datetimeFigureOut">
              <a:rPr lang="en-US" smtClean="0"/>
              <a:pPr/>
              <a:t>5/3/2023</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D0A46AF8-A804-4E3C-A820-46F976E23731}"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IN" sz="4000" dirty="0" smtClean="0"/>
              <a:t>UNIT 3</a:t>
            </a:r>
            <a:endParaRPr lang="en-US" sz="4000" dirty="0"/>
          </a:p>
        </p:txBody>
      </p:sp>
      <p:sp>
        <p:nvSpPr>
          <p:cNvPr id="2" name="Title 1"/>
          <p:cNvSpPr>
            <a:spLocks noGrp="1"/>
          </p:cNvSpPr>
          <p:nvPr>
            <p:ph type="ctrTitle"/>
          </p:nvPr>
        </p:nvSpPr>
        <p:spPr/>
        <p:txBody>
          <a:bodyPr/>
          <a:lstStyle/>
          <a:p>
            <a:r>
              <a:rPr lang="en-IN" dirty="0" smtClean="0"/>
              <a:t>Semi Conductor Memories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dirty="0" smtClean="0"/>
              <a:t>Semiconductor memory is used in any electronics assembly that uses computer processing technology. </a:t>
            </a:r>
          </a:p>
          <a:p>
            <a:pPr algn="just"/>
            <a:r>
              <a:rPr lang="en-US" dirty="0" smtClean="0"/>
              <a:t>memory cards have become a common component for temporarily storing data - everything from the portable flash memory cards used for transferring files, to semiconductor memory cards used in cameras, mobile phones, etc</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500042"/>
            <a:ext cx="8534400" cy="758952"/>
          </a:xfrm>
        </p:spPr>
        <p:txBody>
          <a:bodyPr>
            <a:normAutofit fontScale="90000"/>
          </a:bodyPr>
          <a:lstStyle/>
          <a:p>
            <a:r>
              <a:rPr lang="en-US" b="1" dirty="0" smtClean="0"/>
              <a:t>Semiconductor memory: main types</a:t>
            </a:r>
            <a:br>
              <a:rPr lang="en-US" b="1" dirty="0" smtClean="0"/>
            </a:br>
            <a:endParaRPr lang="en-US" dirty="0"/>
          </a:p>
        </p:txBody>
      </p:sp>
      <p:sp>
        <p:nvSpPr>
          <p:cNvPr id="3" name="Content Placeholder 2"/>
          <p:cNvSpPr>
            <a:spLocks noGrp="1"/>
          </p:cNvSpPr>
          <p:nvPr>
            <p:ph sz="quarter" idx="1"/>
          </p:nvPr>
        </p:nvSpPr>
        <p:spPr/>
        <p:txBody>
          <a:bodyPr/>
          <a:lstStyle/>
          <a:p>
            <a:pPr algn="just"/>
            <a:r>
              <a:rPr lang="en-US" dirty="0" smtClean="0"/>
              <a:t>To meet the growing needs for semiconductor memory, there are many types and technologies that are used.</a:t>
            </a:r>
          </a:p>
          <a:p>
            <a:pPr algn="just"/>
            <a:r>
              <a:rPr lang="en-US" dirty="0" smtClean="0"/>
              <a:t>A variety of different memory technologies are available - each one suited to different applications.. Names such as ROM, RAM, EPROM, EEPROM, Flash memory, DRAM, SRAM, SDRAM, as well as F-RAM and MRAM are available, and new types are being developed to enable improved performance</a:t>
            </a:r>
            <a:r>
              <a:rPr lang="en-US" dirty="0" smtClean="0"/>
              <a:t>.</a:t>
            </a:r>
          </a:p>
          <a:p>
            <a:pPr algn="just"/>
            <a:r>
              <a:rPr lang="en-IN" dirty="0" err="1" smtClean="0"/>
              <a:t>Sram</a:t>
            </a:r>
            <a:r>
              <a:rPr lang="en-IN" dirty="0" smtClean="0"/>
              <a:t> – static random access memory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FRAM </a:t>
            </a:r>
            <a:r>
              <a:rPr lang="en-IN" dirty="0" err="1" smtClean="0"/>
              <a:t>vs</a:t>
            </a:r>
            <a:r>
              <a:rPr lang="en-IN" dirty="0" smtClean="0"/>
              <a:t> MRAM</a:t>
            </a:r>
            <a:endParaRPr lang="en-US" dirty="0"/>
          </a:p>
        </p:txBody>
      </p:sp>
      <p:sp>
        <p:nvSpPr>
          <p:cNvPr id="3" name="Content Placeholder 2"/>
          <p:cNvSpPr>
            <a:spLocks noGrp="1"/>
          </p:cNvSpPr>
          <p:nvPr>
            <p:ph sz="quarter" idx="1"/>
          </p:nvPr>
        </p:nvSpPr>
        <p:spPr/>
        <p:txBody>
          <a:bodyPr>
            <a:normAutofit lnSpcReduction="10000"/>
          </a:bodyPr>
          <a:lstStyle/>
          <a:p>
            <a:r>
              <a:rPr lang="en-US" i="1" dirty="0" smtClean="0"/>
              <a:t>“FRAM or Ferroelectric Random Access Memory uses a ferroelectric capacitor architecture that employs ferroelectric materials as storage elements.</a:t>
            </a:r>
          </a:p>
          <a:p>
            <a:r>
              <a:rPr lang="en-US" b="1" dirty="0" smtClean="0"/>
              <a:t>The advantages of </a:t>
            </a:r>
            <a:r>
              <a:rPr lang="en-US" b="1" dirty="0" err="1" smtClean="0"/>
              <a:t>FeRam</a:t>
            </a:r>
            <a:endParaRPr lang="en-US" b="1" dirty="0" smtClean="0"/>
          </a:p>
          <a:p>
            <a:r>
              <a:rPr lang="en-US" dirty="0" err="1" smtClean="0"/>
              <a:t>FeRAM’s</a:t>
            </a:r>
            <a:r>
              <a:rPr lang="en-US" dirty="0" smtClean="0"/>
              <a:t> advantages over Flash include:</a:t>
            </a:r>
          </a:p>
          <a:p>
            <a:r>
              <a:rPr lang="en-US" dirty="0" smtClean="0"/>
              <a:t>Lower power usage.</a:t>
            </a:r>
          </a:p>
          <a:p>
            <a:r>
              <a:rPr lang="en-US" dirty="0" smtClean="0"/>
              <a:t>Faster write performance.</a:t>
            </a:r>
          </a:p>
          <a:p>
            <a:r>
              <a:rPr lang="en-US" dirty="0" smtClean="0"/>
              <a:t>A much greater maximum read/write endurance</a:t>
            </a:r>
          </a:p>
          <a:p>
            <a:r>
              <a:rPr lang="en-US" dirty="0" err="1" smtClean="0"/>
              <a:t>FeRAMs</a:t>
            </a:r>
            <a:r>
              <a:rPr lang="en-US" dirty="0" smtClean="0"/>
              <a:t> have data retention times of more than 10 years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Why Replace a Ferroelectric RAM with an MRAM?</a:t>
            </a:r>
          </a:p>
          <a:p>
            <a:pPr>
              <a:buNone/>
            </a:pPr>
            <a:r>
              <a:rPr lang="en-IN" dirty="0" smtClean="0"/>
              <a:t>(</a:t>
            </a:r>
            <a:r>
              <a:rPr lang="en-IN" dirty="0" err="1" smtClean="0"/>
              <a:t>magnetoeresistive</a:t>
            </a:r>
            <a:r>
              <a:rPr lang="en-IN" dirty="0" smtClean="0"/>
              <a:t> random access memory)</a:t>
            </a:r>
            <a:endParaRPr lang="en-US" dirty="0" smtClean="0"/>
          </a:p>
          <a:p>
            <a:r>
              <a:rPr lang="en-US" i="1" dirty="0" smtClean="0"/>
              <a:t>“MRAM has unlimited performance and infinite Read/Write cycles; FRAM Reads are destructive and eventually lead to wear-out.</a:t>
            </a:r>
          </a:p>
          <a:p>
            <a:r>
              <a:rPr lang="en-US" i="1" dirty="0" smtClean="0"/>
              <a:t>MRAM Read/Write Cycle and Access times are faster, 35ns vs. 60ns access time, </a:t>
            </a:r>
          </a:p>
          <a:p>
            <a:r>
              <a:rPr lang="en-US" i="1" dirty="0" smtClean="0"/>
              <a:t>MRAM provides data retention for 20 years.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DDR3, DDR4, DDR5 and many more are seen and these refer to different types of SDRAM semi conductor memory</a:t>
            </a:r>
          </a:p>
          <a:p>
            <a:r>
              <a:rPr lang="en-IN" dirty="0" err="1" smtClean="0"/>
              <a:t>Sdram</a:t>
            </a:r>
            <a:r>
              <a:rPr lang="en-IN" dirty="0" smtClean="0"/>
              <a:t> – synchronous dynamic random access memory</a:t>
            </a:r>
            <a:endParaRPr lang="en-US" dirty="0" smtClean="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smtClean="0"/>
              <a:t>ROM - Read Only Memory:</a:t>
            </a:r>
            <a:r>
              <a:rPr lang="en-US" smtClean="0"/>
              <a:t> </a:t>
            </a:r>
            <a:endParaRPr lang="en-US"/>
          </a:p>
        </p:txBody>
      </p:sp>
      <p:sp>
        <p:nvSpPr>
          <p:cNvPr id="3" name="Content Placeholder 2"/>
          <p:cNvSpPr>
            <a:spLocks noGrp="1"/>
          </p:cNvSpPr>
          <p:nvPr>
            <p:ph sz="quarter" idx="1"/>
          </p:nvPr>
        </p:nvSpPr>
        <p:spPr/>
        <p:txBody>
          <a:bodyPr>
            <a:normAutofit/>
          </a:bodyPr>
          <a:lstStyle/>
          <a:p>
            <a:pPr algn="just"/>
            <a:r>
              <a:rPr lang="en-US" dirty="0" smtClean="0"/>
              <a:t>A ROM is a form of semiconductor memory technology used where the data is written once and then not changed. </a:t>
            </a:r>
          </a:p>
          <a:p>
            <a:pPr algn="just"/>
            <a:r>
              <a:rPr lang="en-US" dirty="0" smtClean="0"/>
              <a:t>Read-only memory, or ROM, is a type of computer storage containing </a:t>
            </a:r>
            <a:r>
              <a:rPr lang="en-US" u="sng" dirty="0" smtClean="0"/>
              <a:t>non-volatile</a:t>
            </a:r>
            <a:r>
              <a:rPr lang="en-US" dirty="0" smtClean="0"/>
              <a:t>, permanent data.</a:t>
            </a:r>
          </a:p>
          <a:p>
            <a:pPr algn="just"/>
            <a:r>
              <a:rPr lang="en-US" dirty="0" smtClean="0"/>
              <a:t>Almost every computer incorporates a small amount of ROM that contains the start-up firmware.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dirty="0" smtClean="0"/>
              <a:t>This boot firmware is called the basic input/output system (BIOS). This software consists of code that instructs the boot-up processes for the computer -- such as loading the operating system (OS) into the random access memory (RAM) </a:t>
            </a:r>
          </a:p>
          <a:p>
            <a:pPr algn="just"/>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ROM</a:t>
            </a:r>
            <a:endParaRPr lang="en-US" dirty="0"/>
          </a:p>
        </p:txBody>
      </p:sp>
      <p:sp>
        <p:nvSpPr>
          <p:cNvPr id="3" name="Content Placeholder 2"/>
          <p:cNvSpPr>
            <a:spLocks noGrp="1"/>
          </p:cNvSpPr>
          <p:nvPr>
            <p:ph sz="quarter" idx="1"/>
          </p:nvPr>
        </p:nvSpPr>
        <p:spPr/>
        <p:txBody>
          <a:bodyPr/>
          <a:lstStyle/>
          <a:p>
            <a:r>
              <a:rPr lang="en-US" b="1" dirty="0" smtClean="0"/>
              <a:t>Programmable read-only memory- </a:t>
            </a:r>
            <a:r>
              <a:rPr lang="en-US" dirty="0" smtClean="0"/>
              <a:t>PROM can be used to update firmware, such as BIOS, through the utilization of installation software.</a:t>
            </a:r>
          </a:p>
          <a:p>
            <a:r>
              <a:rPr lang="en-US" dirty="0" smtClean="0"/>
              <a:t>PROM is read-only memory that can be modified only once by a user. The user buys a blank PROM and enters the desired contents using a PROM program. Inside the PROM chip, there are small fuses which are burnt open during programming. It can be programmed only once and is not erasable.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PROM include:</a:t>
            </a:r>
            <a:endParaRPr lang="en-US" dirty="0"/>
          </a:p>
        </p:txBody>
      </p:sp>
      <p:sp>
        <p:nvSpPr>
          <p:cNvPr id="3" name="Content Placeholder 2"/>
          <p:cNvSpPr>
            <a:spLocks noGrp="1"/>
          </p:cNvSpPr>
          <p:nvPr>
            <p:ph sz="quarter" idx="1"/>
          </p:nvPr>
        </p:nvSpPr>
        <p:spPr/>
        <p:txBody>
          <a:bodyPr>
            <a:normAutofit/>
          </a:bodyPr>
          <a:lstStyle/>
          <a:p>
            <a:pPr algn="just"/>
            <a:r>
              <a:rPr lang="en-US" b="1" dirty="0" smtClean="0"/>
              <a:t>Ultraviolet-erasable ROM (UV-ROM) </a:t>
            </a:r>
            <a:r>
              <a:rPr lang="en-US" dirty="0" smtClean="0"/>
              <a:t>- ROM whose contents can be erased using ultraviolet light, and then reprogrammed.</a:t>
            </a:r>
          </a:p>
          <a:p>
            <a:pPr algn="just"/>
            <a:r>
              <a:rPr lang="en-US" b="1" dirty="0" smtClean="0"/>
              <a:t>Erasable programmable ROM (EPROM)</a:t>
            </a:r>
            <a:r>
              <a:rPr lang="en-US" dirty="0" smtClean="0"/>
              <a:t> - A type of ROM that is programmed using high voltages and exposure to ultraviolet light for about 20 minutes.</a:t>
            </a:r>
          </a:p>
          <a:p>
            <a:pPr algn="just"/>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b="1" dirty="0" smtClean="0"/>
              <a:t>Electrically-erasable programmable ROM (EEPROM) </a:t>
            </a:r>
            <a:r>
              <a:rPr lang="en-US" dirty="0" smtClean="0"/>
              <a:t>- Often used in older computer chips and to control BIOS, EEPROM can be erased and reprogrammed several times while enabling the erase and writing of only one location at a time.</a:t>
            </a:r>
          </a:p>
          <a:p>
            <a:pPr algn="just"/>
            <a:r>
              <a:rPr lang="en-US" dirty="0" smtClean="0"/>
              <a:t> </a:t>
            </a:r>
            <a:r>
              <a:rPr lang="en-US" b="1" u="sng" dirty="0" smtClean="0"/>
              <a:t>Flash memory</a:t>
            </a:r>
            <a:r>
              <a:rPr lang="en-US" dirty="0" smtClean="0"/>
              <a:t> is an updated version of EEPROM that allows numerous memory locations to be changed at the same time.</a:t>
            </a:r>
          </a:p>
          <a:p>
            <a:pPr algn="just"/>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455470"/>
            <a:ext cx="8534400" cy="758952"/>
          </a:xfrm>
        </p:spPr>
        <p:txBody>
          <a:bodyPr>
            <a:normAutofit fontScale="90000"/>
          </a:bodyPr>
          <a:lstStyle/>
          <a:p>
            <a:r>
              <a:rPr lang="en-US" dirty="0" smtClean="0"/>
              <a:t>Advantages of ROM</a:t>
            </a:r>
            <a:br>
              <a:rPr lang="en-US" dirty="0" smtClean="0"/>
            </a:br>
            <a:endParaRPr lang="en-US" dirty="0"/>
          </a:p>
        </p:txBody>
      </p:sp>
      <p:sp>
        <p:nvSpPr>
          <p:cNvPr id="3" name="Content Placeholder 2"/>
          <p:cNvSpPr>
            <a:spLocks noGrp="1"/>
          </p:cNvSpPr>
          <p:nvPr>
            <p:ph sz="quarter" idx="1"/>
          </p:nvPr>
        </p:nvSpPr>
        <p:spPr/>
        <p:txBody>
          <a:bodyPr/>
          <a:lstStyle/>
          <a:p>
            <a:r>
              <a:rPr lang="en-US" dirty="0" smtClean="0"/>
              <a:t>Non-volatile in nature</a:t>
            </a:r>
          </a:p>
          <a:p>
            <a:r>
              <a:rPr lang="en-US" dirty="0" smtClean="0"/>
              <a:t>Cannot be accidentally changed</a:t>
            </a:r>
          </a:p>
          <a:p>
            <a:r>
              <a:rPr lang="en-US" dirty="0" smtClean="0"/>
              <a:t>Cheaper than RAMs</a:t>
            </a:r>
          </a:p>
          <a:p>
            <a:r>
              <a:rPr lang="en-US" dirty="0" smtClean="0"/>
              <a:t>More reliable than RAMs</a:t>
            </a:r>
          </a:p>
          <a:p>
            <a:r>
              <a:rPr lang="en-US" dirty="0" smtClean="0"/>
              <a:t>Static and do not require refreshing</a:t>
            </a:r>
          </a:p>
          <a:p>
            <a:r>
              <a:rPr lang="en-US" dirty="0" smtClean="0"/>
              <a:t>Contents are always known and can be verified</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RAM - Random Access Memory</a:t>
            </a:r>
            <a:endParaRPr lang="en-US" dirty="0"/>
          </a:p>
        </p:txBody>
      </p:sp>
      <p:sp>
        <p:nvSpPr>
          <p:cNvPr id="3" name="Content Placeholder 2"/>
          <p:cNvSpPr>
            <a:spLocks noGrp="1"/>
          </p:cNvSpPr>
          <p:nvPr>
            <p:ph sz="quarter" idx="1"/>
          </p:nvPr>
        </p:nvSpPr>
        <p:spPr/>
        <p:txBody>
          <a:bodyPr/>
          <a:lstStyle/>
          <a:p>
            <a:r>
              <a:rPr lang="en-US" dirty="0" smtClean="0"/>
              <a:t> As the names suggest, the RAM or random access memory is a form of semiconductor memory technology that is used for reading and writing data in any order - in other words as it is required by the processor.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lnSpcReduction="10000"/>
          </a:bodyPr>
          <a:lstStyle/>
          <a:p>
            <a:pPr algn="just"/>
            <a:r>
              <a:rPr lang="en-US" dirty="0" smtClean="0"/>
              <a:t>Your computer RAM is essentially short term memory where data is stored as the processor needs it. </a:t>
            </a:r>
          </a:p>
          <a:p>
            <a:pPr algn="just"/>
            <a:r>
              <a:rPr lang="en-US" dirty="0" smtClean="0"/>
              <a:t>This isn’t to be confused with long-term data that’s stored on your hard drive, which stays there even when your computer is turned off. </a:t>
            </a:r>
          </a:p>
          <a:p>
            <a:pPr algn="just"/>
            <a:r>
              <a:rPr lang="en-US" dirty="0" smtClean="0"/>
              <a:t>Anytime you play a game from your computer’s hard drive or stream a movie from the Internet, all of the data that your computer’s processor needs to play the game or watch the movie is stored in RAM. This is so that your processor can get to it quickly.</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Once you’re done playing your game or watching your movie and you close it down, the processor doesn’t need that data anymore, so it replaces it with the next task you give it. RAM can slow down your computer if there isn’t enough of it for the processor to perform the tasks you ask it to</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Many types of RAM including SDRAM with its DDR3, DDR4, and soon DDR5 variants are used in huge quantities.</a:t>
            </a:r>
          </a:p>
          <a:p>
            <a:r>
              <a:rPr lang="en-IN" dirty="0" err="1" smtClean="0"/>
              <a:t>Ddr</a:t>
            </a:r>
            <a:r>
              <a:rPr lang="en-IN" dirty="0" smtClean="0"/>
              <a:t> – double data rate synchronous dynamic random access memory</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sz="quarter" idx="1"/>
          </p:nvPr>
        </p:nvGraphicFramePr>
        <p:xfrm>
          <a:off x="301625" y="1527175"/>
          <a:ext cx="8504238" cy="5303520"/>
        </p:xfrm>
        <a:graphic>
          <a:graphicData uri="http://schemas.openxmlformats.org/drawingml/2006/table">
            <a:tbl>
              <a:tblPr firstRow="1" bandRow="1">
                <a:tableStyleId>{5C22544A-7EE6-4342-B048-85BDC9FD1C3A}</a:tableStyleId>
              </a:tblPr>
              <a:tblGrid>
                <a:gridCol w="4252119"/>
                <a:gridCol w="4252119"/>
              </a:tblGrid>
              <a:tr h="370840">
                <a:tc>
                  <a:txBody>
                    <a:bodyPr/>
                    <a:lstStyle/>
                    <a:p>
                      <a:r>
                        <a:rPr lang="en-IN" sz="2400" dirty="0" smtClean="0"/>
                        <a:t>SDRAM</a:t>
                      </a:r>
                      <a:endParaRPr lang="en-US" sz="2400" dirty="0"/>
                    </a:p>
                  </a:txBody>
                  <a:tcPr/>
                </a:tc>
                <a:tc>
                  <a:txBody>
                    <a:bodyPr/>
                    <a:lstStyle/>
                    <a:p>
                      <a:r>
                        <a:rPr lang="en-IN" sz="2400" dirty="0" smtClean="0"/>
                        <a:t>DDR</a:t>
                      </a:r>
                      <a:endParaRPr lang="en-US" sz="2400" dirty="0"/>
                    </a:p>
                  </a:txBody>
                  <a:tcPr/>
                </a:tc>
              </a:tr>
              <a:tr h="370840">
                <a:tc>
                  <a:txBody>
                    <a:bodyPr/>
                    <a:lstStyle/>
                    <a:p>
                      <a:r>
                        <a:rPr kumimoji="0" lang="en-US" sz="2400" b="0" i="0" kern="1200" dirty="0" smtClean="0">
                          <a:solidFill>
                            <a:schemeClr val="dk1"/>
                          </a:solidFill>
                          <a:latin typeface="+mn-lt"/>
                          <a:ea typeface="+mn-ea"/>
                          <a:cs typeface="+mn-cs"/>
                        </a:rPr>
                        <a:t>It refers as synchronous dynamic random access memory</a:t>
                      </a:r>
                      <a:endParaRPr lang="en-US" sz="2400" dirty="0"/>
                    </a:p>
                  </a:txBody>
                  <a:tcPr/>
                </a:tc>
                <a:tc>
                  <a:txBody>
                    <a:bodyPr/>
                    <a:lstStyle/>
                    <a:p>
                      <a:r>
                        <a:rPr lang="en-IN" sz="2400" dirty="0" err="1" smtClean="0"/>
                        <a:t>i</a:t>
                      </a:r>
                      <a:r>
                        <a:rPr kumimoji="0" lang="en-US" sz="2400" b="0" i="0" kern="1200" dirty="0" smtClean="0">
                          <a:solidFill>
                            <a:schemeClr val="dk1"/>
                          </a:solidFill>
                          <a:latin typeface="+mn-lt"/>
                          <a:ea typeface="+mn-ea"/>
                          <a:cs typeface="+mn-cs"/>
                        </a:rPr>
                        <a:t>t refers as Double data rate SDRAM</a:t>
                      </a:r>
                      <a:endParaRPr lang="en-US" sz="2400" dirty="0"/>
                    </a:p>
                  </a:txBody>
                  <a:tcPr/>
                </a:tc>
              </a:tr>
              <a:tr h="370840">
                <a:tc>
                  <a:txBody>
                    <a:bodyPr/>
                    <a:lstStyle/>
                    <a:p>
                      <a:pPr algn="l" fontAlgn="base"/>
                      <a:r>
                        <a:rPr lang="en-US" sz="2400" b="0" dirty="0"/>
                        <a:t>SDRAM was released in 1997</a:t>
                      </a:r>
                    </a:p>
                  </a:txBody>
                  <a:tcPr anchor="ctr"/>
                </a:tc>
                <a:tc>
                  <a:txBody>
                    <a:bodyPr/>
                    <a:lstStyle/>
                    <a:p>
                      <a:pPr algn="l" fontAlgn="base"/>
                      <a:r>
                        <a:rPr lang="en-US" sz="2400" b="0" dirty="0"/>
                        <a:t>DDR RAM was released in 2000</a:t>
                      </a:r>
                    </a:p>
                  </a:txBody>
                  <a:tcPr anchor="ctr"/>
                </a:tc>
              </a:tr>
              <a:tr h="370840">
                <a:tc>
                  <a:txBody>
                    <a:bodyPr/>
                    <a:lstStyle/>
                    <a:p>
                      <a:pPr algn="l" fontAlgn="base"/>
                      <a:r>
                        <a:rPr lang="en-US" sz="2400" b="0" dirty="0"/>
                        <a:t>SDRAM has less speed in comparison DDR</a:t>
                      </a:r>
                    </a:p>
                  </a:txBody>
                  <a:tcPr anchor="ctr"/>
                </a:tc>
                <a:tc>
                  <a:txBody>
                    <a:bodyPr/>
                    <a:lstStyle/>
                    <a:p>
                      <a:pPr algn="l" fontAlgn="base"/>
                      <a:r>
                        <a:rPr lang="en-US" sz="2400" b="0" dirty="0"/>
                        <a:t>DDR can transfer data at roughly twice the speed of SDRAM.</a:t>
                      </a:r>
                    </a:p>
                  </a:txBody>
                  <a:tcPr anchor="ctr"/>
                </a:tc>
              </a:tr>
              <a:tr h="370840">
                <a:tc>
                  <a:txBody>
                    <a:bodyPr/>
                    <a:lstStyle/>
                    <a:p>
                      <a:pPr algn="l" fontAlgn="base"/>
                      <a:r>
                        <a:rPr lang="en-US" sz="2400" b="0" dirty="0"/>
                        <a:t>SDRAM speed is considered as 66 MHz, 100 MHz, 133 MHz</a:t>
                      </a:r>
                    </a:p>
                  </a:txBody>
                  <a:tcPr anchor="ctr"/>
                </a:tc>
                <a:tc>
                  <a:txBody>
                    <a:bodyPr/>
                    <a:lstStyle/>
                    <a:p>
                      <a:pPr algn="l" fontAlgn="base"/>
                      <a:r>
                        <a:rPr lang="en-US" sz="2400" b="0" dirty="0"/>
                        <a:t>DDR working on speed as 200 MHz, 266 MHz, 333 MHz, 400 MHz</a:t>
                      </a:r>
                    </a:p>
                  </a:txBody>
                  <a:tcPr anchor="ctr"/>
                </a:tc>
              </a:tr>
              <a:tr h="370840">
                <a:tc>
                  <a:txBody>
                    <a:bodyPr/>
                    <a:lstStyle/>
                    <a:p>
                      <a:pPr algn="l" fontAlgn="base"/>
                      <a:endParaRPr lang="en-US" sz="2400" b="0" dirty="0"/>
                    </a:p>
                  </a:txBody>
                  <a:tcPr anchor="ctr"/>
                </a:tc>
                <a:tc>
                  <a:txBody>
                    <a:bodyPr/>
                    <a:lstStyle/>
                    <a:p>
                      <a:pPr algn="l" fontAlgn="base"/>
                      <a:endParaRPr lang="en-US" sz="2400" b="0" dirty="0"/>
                    </a:p>
                  </a:txBody>
                  <a:tcPr anchor="ct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ctr">
              <a:buNone/>
            </a:pPr>
            <a:r>
              <a:rPr lang="en-IN" smtClean="0"/>
              <a:t>END</a:t>
            </a:r>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B2E91A2DEE58B4EB51C0D10FFC5F048" ma:contentTypeVersion="3" ma:contentTypeDescription="Create a new document." ma:contentTypeScope="" ma:versionID="c3483bf2d1b4ce78d0f2bebad5297fc0">
  <xsd:schema xmlns:xsd="http://www.w3.org/2001/XMLSchema" xmlns:xs="http://www.w3.org/2001/XMLSchema" xmlns:p="http://schemas.microsoft.com/office/2006/metadata/properties" xmlns:ns2="e528b528-bd60-45be-ac2f-1cf3f1815ca1" targetNamespace="http://schemas.microsoft.com/office/2006/metadata/properties" ma:root="true" ma:fieldsID="54d1f6c13b1d51aec7b8a9c3af92b54a" ns2:_="">
    <xsd:import namespace="e528b528-bd60-45be-ac2f-1cf3f1815c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8b528-bd60-45be-ac2f-1cf3f1815c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146638-8BB7-4B66-8EB4-C69DBC84989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E861F7E-99E9-4B87-B2A3-D3F9D0A9890C}">
  <ds:schemaRefs>
    <ds:schemaRef ds:uri="http://schemas.microsoft.com/sharepoint/v3/contenttype/forms"/>
  </ds:schemaRefs>
</ds:datastoreItem>
</file>

<file path=customXml/itemProps3.xml><?xml version="1.0" encoding="utf-8"?>
<ds:datastoreItem xmlns:ds="http://schemas.openxmlformats.org/officeDocument/2006/customXml" ds:itemID="{55194273-8434-4BBB-9761-566F4417814E}"/>
</file>

<file path=docProps/app.xml><?xml version="1.0" encoding="utf-8"?>
<Properties xmlns="http://schemas.openxmlformats.org/officeDocument/2006/extended-properties" xmlns:vt="http://schemas.openxmlformats.org/officeDocument/2006/docPropsVTypes">
  <Template>Civic</Template>
  <TotalTime>399</TotalTime>
  <Words>843</Words>
  <Application>Microsoft Office PowerPoint</Application>
  <PresentationFormat>On-screen Show (4:3)</PresentationFormat>
  <Paragraphs>62</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Civic</vt:lpstr>
      <vt:lpstr>Semi Conductor Memories</vt:lpstr>
      <vt:lpstr>Slide 2</vt:lpstr>
      <vt:lpstr>Semiconductor memory: main types </vt:lpstr>
      <vt:lpstr>FRAM vs MRAM</vt:lpstr>
      <vt:lpstr>Slide 5</vt:lpstr>
      <vt:lpstr>Slide 6</vt:lpstr>
      <vt:lpstr>ROM - Read Only Memory: </vt:lpstr>
      <vt:lpstr>Slide 8</vt:lpstr>
      <vt:lpstr>Types of ROM</vt:lpstr>
      <vt:lpstr>Types of PROM include:</vt:lpstr>
      <vt:lpstr>Slide 11</vt:lpstr>
      <vt:lpstr>Advantages of ROM </vt:lpstr>
      <vt:lpstr>RAM - Random Access Memory</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Conductor Memories</dc:title>
  <dc:creator>Lenovo</dc:creator>
  <cp:lastModifiedBy>Nandakumar</cp:lastModifiedBy>
  <cp:revision>13</cp:revision>
  <dcterms:created xsi:type="dcterms:W3CDTF">2022-04-26T06:54:05Z</dcterms:created>
  <dcterms:modified xsi:type="dcterms:W3CDTF">2023-05-03T06:18:17Z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0x0101002B2E91A2DEE58B4EB51C0D10FFC5F048</vt:lpwstr>
  </property>
</Properties>
</file>