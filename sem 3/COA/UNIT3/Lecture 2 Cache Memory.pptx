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 id="267" r:id="rId6"/>
    <p:sldId id="268" r:id="rId7"/>
    <p:sldId id="269" r:id="rId8"/>
    <p:sldId id="257" r:id="rId9"/>
    <p:sldId id="258" r:id="rId10"/>
    <p:sldId id="259" r:id="rId11"/>
    <p:sldId id="260" r:id="rId12"/>
    <p:sldId id="272" r:id="rId13"/>
    <p:sldId id="261" r:id="rId14"/>
    <p:sldId id="262" r:id="rId15"/>
    <p:sldId id="263" r:id="rId16"/>
    <p:sldId id="270" r:id="rId17"/>
    <p:sldId id="264" r:id="rId18"/>
    <p:sldId id="265" r:id="rId19"/>
    <p:sldId id="266" r:id="rId20"/>
    <p:sldId id="271"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9" d="100"/>
          <a:sy n="109" d="100"/>
        </p:scale>
        <p:origin x="-1674" y="-13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58AE1A24-A51C-435F-BC56-77B14AA43D01}" type="datetimeFigureOut">
              <a:rPr lang="en-US" smtClean="0"/>
              <a:pPr/>
              <a:t>10/27/2025</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A1058A4D-3735-4546-BAC1-BA71F5EB50B0}"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58AE1A24-A51C-435F-BC56-77B14AA43D01}"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A1058A4D-3735-4546-BAC1-BA71F5EB50B0}"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lvl1pPr algn="just">
              <a:defRPr/>
            </a:lvl1pPr>
            <a:lvl2pPr algn="just">
              <a:defRPr b="1">
                <a:solidFill>
                  <a:srgbClr val="FF0000"/>
                </a:solidFill>
              </a:defRPr>
            </a:lvl2pPr>
            <a:lvl3pPr algn="just">
              <a:defRPr/>
            </a:lvl3pPr>
            <a:lvl4pPr algn="just">
              <a:defRPr/>
            </a:lvl4pPr>
            <a:lvl5pPr algn="just">
              <a:defRPr/>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 presetClass="entr" presetSubtype="0" fill="hold" nodeType="clickEffect">
                  <p:stCondLst>
                    <p:cond delay="0"/>
                  </p:stCondLst>
                  <p:childTnLst>
                    <p:set>
                      <p:cBhvr>
                        <p:cTn dur="1" fill="hold">
                          <p:stCondLst>
                            <p:cond delay="0"/>
                          </p:stCondLst>
                        </p:cTn>
                        <p:tgtEl>
                          <p:spTgt spid="8"/>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58AE1A24-A51C-435F-BC56-77B14AA43D01}" type="datetimeFigureOut">
              <a:rPr lang="en-US" smtClean="0"/>
              <a:pPr/>
              <a:t>10/27/2025</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A1058A4D-3735-4546-BAC1-BA71F5EB50B0}"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58AE1A24-A51C-435F-BC56-77B14AA43D01}"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058A4D-3735-4546-BAC1-BA71F5EB50B0}"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58AE1A24-A51C-435F-BC56-77B14AA43D01}" type="datetimeFigureOut">
              <a:rPr lang="en-US" smtClean="0"/>
              <a:pPr/>
              <a:t>10/27/2025</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A1058A4D-3735-4546-BAC1-BA71F5EB50B0}"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8AE1A24-A51C-435F-BC56-77B14AA43D01}" type="datetimeFigureOut">
              <a:rPr lang="en-US" smtClean="0"/>
              <a:pPr/>
              <a:t>10/27/2025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A1058A4D-3735-4546-BAC1-BA71F5EB50B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58AE1A24-A51C-435F-BC56-77B14AA43D01}" type="datetimeFigureOut">
              <a:rPr lang="en-US" smtClean="0"/>
              <a:pPr/>
              <a:t>10/27/2025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A1058A4D-3735-4546-BAC1-BA71F5EB50B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A1058A4D-3735-4546-BAC1-BA71F5EB50B0}"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58AE1A24-A51C-435F-BC56-77B14AA43D01}" type="datetimeFigureOut">
              <a:rPr lang="en-US" smtClean="0"/>
              <a:pPr/>
              <a:t>10/27/2025</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A1058A4D-3735-4546-BAC1-BA71F5EB50B0}"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58AE1A24-A51C-435F-BC56-77B14AA43D01}" type="datetimeFigureOut">
              <a:rPr lang="en-US" smtClean="0"/>
              <a:pPr/>
              <a:t>10/27/2025</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8AE1A24-A51C-435F-BC56-77B14AA43D01}"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058A4D-3735-4546-BAC1-BA71F5EB50B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A1058A4D-3735-4546-BAC1-BA71F5EB50B0}"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8AE1A24-A51C-435F-BC56-77B14AA43D01}"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58AE1A24-A51C-435F-BC56-77B14AA43D01}" type="datetimeFigureOut">
              <a:rPr lang="en-US" smtClean="0"/>
              <a:pPr/>
              <a:t>10/27/2025</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A1058A4D-3735-4546-BAC1-BA71F5EB50B0}"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UNIT 3</a:t>
            </a:r>
          </a:p>
          <a:p>
            <a:endParaRPr lang="en-US" dirty="0"/>
          </a:p>
        </p:txBody>
      </p:sp>
      <p:sp>
        <p:nvSpPr>
          <p:cNvPr id="2" name="Title 1"/>
          <p:cNvSpPr>
            <a:spLocks noGrp="1"/>
          </p:cNvSpPr>
          <p:nvPr>
            <p:ph type="ctrTitle"/>
          </p:nvPr>
        </p:nvSpPr>
        <p:spPr/>
        <p:txBody>
          <a:bodyPr/>
          <a:lstStyle/>
          <a:p>
            <a:r>
              <a:rPr lang="en-US" dirty="0" smtClean="0"/>
              <a:t>Cache Memory</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Cache Memory</a:t>
            </a:r>
            <a:endParaRPr lang="en-US" dirty="0"/>
          </a:p>
        </p:txBody>
      </p:sp>
      <p:sp>
        <p:nvSpPr>
          <p:cNvPr id="3" name="Content Placeholder 2"/>
          <p:cNvSpPr>
            <a:spLocks noGrp="1"/>
          </p:cNvSpPr>
          <p:nvPr>
            <p:ph sz="quarter" idx="1"/>
          </p:nvPr>
        </p:nvSpPr>
        <p:spPr/>
        <p:txBody>
          <a:bodyPr/>
          <a:lstStyle/>
          <a:p>
            <a:pPr algn="just"/>
            <a:r>
              <a:rPr lang="en-US" b="1" dirty="0" smtClean="0"/>
              <a:t>Cache Memory</a:t>
            </a:r>
            <a:r>
              <a:rPr lang="en-US" dirty="0" smtClean="0"/>
              <a:t> is a special very high-speed memory. It is used to speed up and works in a synchronous manner with high-speed CPU. </a:t>
            </a:r>
          </a:p>
          <a:p>
            <a:pPr algn="just"/>
            <a:r>
              <a:rPr lang="en-US" dirty="0" smtClean="0"/>
              <a:t>Cache memory is costlier than main memory or disk memory but economical than CPU registers.</a:t>
            </a:r>
          </a:p>
          <a:p>
            <a:pPr algn="just"/>
            <a:r>
              <a:rPr lang="en-US" dirty="0" smtClean="0"/>
              <a:t>Cache memory is an extremely fast memory type that acts as a buffer between RAM and the CPU. </a:t>
            </a:r>
          </a:p>
          <a:p>
            <a:pPr algn="just"/>
            <a:r>
              <a:rPr lang="en-US" dirty="0" smtClean="0"/>
              <a:t>It holds frequently requested data and instructions so that they are immediately available to the CPU when needed.</a:t>
            </a:r>
            <a:endParaRPr lang="en-US"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algn="just"/>
            <a:r>
              <a:rPr lang="en-US" dirty="0" smtClean="0"/>
              <a:t>Cache memory is used to reduce the average time to access data from the Main memory. </a:t>
            </a:r>
          </a:p>
          <a:p>
            <a:pPr algn="just"/>
            <a:r>
              <a:rPr lang="en-US" dirty="0" smtClean="0"/>
              <a:t>The cache is a smaller and faster memory which stores copies of the data from frequently used main memory locations. </a:t>
            </a:r>
          </a:p>
          <a:p>
            <a:pPr algn="just"/>
            <a:r>
              <a:rPr lang="en-US" dirty="0" smtClean="0"/>
              <a:t>There are various different independent caches in a CPU, which store instructions and data.</a:t>
            </a:r>
            <a:endParaRPr lang="en-US"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sz="quarter" idx="1"/>
          </p:nvPr>
        </p:nvPicPr>
        <p:blipFill>
          <a:blip r:embed="rId2"/>
          <a:srcRect l="16826" t="37431" r="18135" b="33402"/>
          <a:stretch>
            <a:fillRect/>
          </a:stretch>
        </p:blipFill>
        <p:spPr bwMode="auto">
          <a:xfrm>
            <a:off x="785786" y="2357430"/>
            <a:ext cx="7358114" cy="2286016"/>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algn="just"/>
            <a:r>
              <a:rPr lang="en-US" b="1" dirty="0" smtClean="0"/>
              <a:t>Cache memory or SRAM </a:t>
            </a:r>
            <a:r>
              <a:rPr lang="en-US" dirty="0" smtClean="0"/>
              <a:t>(static random access memory) is a component of a computer that acts as temporary storage for data that can be accessed by the CPU much faster than if the CPU was trying to get this data elsewhere. </a:t>
            </a:r>
          </a:p>
          <a:p>
            <a:pPr algn="just"/>
            <a:r>
              <a:rPr lang="en-US" dirty="0" smtClean="0"/>
              <a:t>It is usually on the CPU itself or is a chip on the motherboard with its own separate BUS to connect to the CPU.</a:t>
            </a:r>
          </a:p>
          <a:p>
            <a:pPr algn="just"/>
            <a:endParaRPr lang="en-US" dirty="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smtClean="0"/>
              <a:t>Cache memory, when compared to RAM memory, is smaller and more expensive </a:t>
            </a:r>
          </a:p>
          <a:p>
            <a:r>
              <a:rPr lang="en-US" dirty="0" smtClean="0"/>
              <a:t>Up to 100 times faster than DRAM memory. This is wildly helpful in increasing the computer’s speed and efficiency.</a:t>
            </a:r>
          </a:p>
          <a:p>
            <a:endParaRPr lang="en-US" dirty="0"/>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455470"/>
            <a:ext cx="8534400" cy="758952"/>
          </a:xfrm>
        </p:spPr>
        <p:txBody>
          <a:bodyPr>
            <a:normAutofit fontScale="90000"/>
          </a:bodyPr>
          <a:lstStyle/>
          <a:p>
            <a:r>
              <a:rPr lang="en-US" dirty="0" smtClean="0"/>
              <a:t/>
            </a:r>
            <a:br>
              <a:rPr lang="en-US" dirty="0" smtClean="0"/>
            </a:br>
            <a:r>
              <a:rPr lang="en-US" dirty="0" smtClean="0"/>
              <a:t/>
            </a:r>
            <a:br>
              <a:rPr lang="en-US" dirty="0" smtClean="0"/>
            </a:br>
            <a:r>
              <a:rPr lang="en-US" b="1" dirty="0" smtClean="0">
                <a:solidFill>
                  <a:srgbClr val="FF0000"/>
                </a:solidFill>
              </a:rPr>
              <a:t>Cache Hits and Cache Misses</a:t>
            </a:r>
            <a:br>
              <a:rPr lang="en-US" b="1" dirty="0" smtClean="0">
                <a:solidFill>
                  <a:srgbClr val="FF0000"/>
                </a:solidFill>
              </a:rPr>
            </a:br>
            <a:endParaRPr lang="en-US" b="1" dirty="0">
              <a:solidFill>
                <a:srgbClr val="FF0000"/>
              </a:solidFill>
            </a:endParaRPr>
          </a:p>
        </p:txBody>
      </p:sp>
      <p:sp>
        <p:nvSpPr>
          <p:cNvPr id="3" name="Content Placeholder 2"/>
          <p:cNvSpPr>
            <a:spLocks noGrp="1"/>
          </p:cNvSpPr>
          <p:nvPr>
            <p:ph sz="quarter" idx="1"/>
          </p:nvPr>
        </p:nvSpPr>
        <p:spPr/>
        <p:txBody>
          <a:bodyPr/>
          <a:lstStyle/>
          <a:p>
            <a:pPr algn="just"/>
            <a:r>
              <a:rPr lang="en-US" dirty="0" smtClean="0"/>
              <a:t>When the CPU requires data, it will check in with the cache memory to see if it contains a reference to that data from the RAM memory address. If it does, it will then pull that data from the cache memory instead of from RAM.  This is called a </a:t>
            </a:r>
            <a:r>
              <a:rPr lang="en-US" b="1" dirty="0" smtClean="0"/>
              <a:t>cache hit</a:t>
            </a:r>
            <a:r>
              <a:rPr lang="en-US" dirty="0" smtClean="0"/>
              <a:t>. </a:t>
            </a:r>
          </a:p>
          <a:p>
            <a:pPr algn="just"/>
            <a:endParaRPr lang="en-US" dirty="0" smtClean="0"/>
          </a:p>
          <a:p>
            <a:pPr algn="just"/>
            <a:r>
              <a:rPr lang="en-US" dirty="0" smtClean="0"/>
              <a:t>If the processor cannot find the data it is looking for in cache, it will then go on to the standard RAM which takes longer. This is called a </a:t>
            </a:r>
            <a:r>
              <a:rPr lang="en-US" b="1" dirty="0" smtClean="0"/>
              <a:t>cache miss</a:t>
            </a:r>
            <a:r>
              <a:rPr lang="en-US" dirty="0" smtClean="0"/>
              <a:t>.</a:t>
            </a:r>
            <a:endParaRPr lang="en-US" dirty="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571480"/>
            <a:ext cx="8534400" cy="758952"/>
          </a:xfrm>
        </p:spPr>
        <p:txBody>
          <a:bodyPr>
            <a:normAutofit fontScale="90000"/>
          </a:bodyPr>
          <a:lstStyle/>
          <a:p>
            <a:r>
              <a:rPr lang="en-US" dirty="0" smtClean="0">
                <a:solidFill>
                  <a:srgbClr val="FF0000"/>
                </a:solidFill>
              </a:rPr>
              <a:t>Types- Primary / Secondary / Levels</a:t>
            </a:r>
            <a:br>
              <a:rPr lang="en-US" dirty="0" smtClean="0">
                <a:solidFill>
                  <a:srgbClr val="FF0000"/>
                </a:solidFill>
              </a:rPr>
            </a:br>
            <a:endParaRPr lang="en-US" dirty="0">
              <a:solidFill>
                <a:srgbClr val="FF0000"/>
              </a:solidFill>
            </a:endParaRPr>
          </a:p>
        </p:txBody>
      </p:sp>
      <p:sp>
        <p:nvSpPr>
          <p:cNvPr id="3" name="Content Placeholder 2"/>
          <p:cNvSpPr>
            <a:spLocks noGrp="1"/>
          </p:cNvSpPr>
          <p:nvPr>
            <p:ph sz="quarter" idx="1"/>
          </p:nvPr>
        </p:nvSpPr>
        <p:spPr/>
        <p:txBody>
          <a:bodyPr/>
          <a:lstStyle/>
          <a:p>
            <a:pPr algn="just"/>
            <a:r>
              <a:rPr lang="en-US" dirty="0" smtClean="0"/>
              <a:t>There are two different types of cache memory: </a:t>
            </a:r>
            <a:r>
              <a:rPr lang="en-US" b="1" dirty="0" smtClean="0"/>
              <a:t>primary and secondary</a:t>
            </a:r>
            <a:r>
              <a:rPr lang="en-US" dirty="0" smtClean="0"/>
              <a:t>.  </a:t>
            </a:r>
          </a:p>
          <a:p>
            <a:pPr algn="just"/>
            <a:r>
              <a:rPr lang="en-US" dirty="0" smtClean="0"/>
              <a:t>Primary cache memory is found on the CPU itself whereas secondary cache memory is found on a separate chip close to the CPU. </a:t>
            </a:r>
          </a:p>
          <a:p>
            <a:pPr algn="just"/>
            <a:r>
              <a:rPr lang="en-US" dirty="0" smtClean="0"/>
              <a:t>Although, as time has progressed, the secondary cache has become rather outdated as most caches are found on the CPU. </a:t>
            </a:r>
          </a:p>
          <a:p>
            <a:pPr algn="just"/>
            <a:r>
              <a:rPr lang="en-US" dirty="0" smtClean="0"/>
              <a:t>There are 3 different levels of cache memory that can be on a motherboard:</a:t>
            </a:r>
            <a:endParaRPr lang="en-US" dirty="0"/>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sz="quarter" idx="1"/>
          </p:nvPr>
        </p:nvPicPr>
        <p:blipFill>
          <a:blip r:embed="rId2"/>
          <a:srcRect l="17705" t="29097" r="41865" b="39653"/>
          <a:stretch>
            <a:fillRect/>
          </a:stretch>
        </p:blipFill>
        <p:spPr bwMode="auto">
          <a:xfrm>
            <a:off x="285720" y="1571612"/>
            <a:ext cx="8543985" cy="3714776"/>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lnSpcReduction="10000"/>
          </a:bodyPr>
          <a:lstStyle/>
          <a:p>
            <a:pPr algn="just"/>
            <a:r>
              <a:rPr lang="en-US" b="1" dirty="0" smtClean="0"/>
              <a:t>L1: </a:t>
            </a:r>
            <a:r>
              <a:rPr lang="en-US" dirty="0" smtClean="0"/>
              <a:t>Extremely small and is located on the CPU itself. It is extremely fast but hold only around 32KB of data per core. It is usually embedded in the processor chip as CPU cache.</a:t>
            </a:r>
          </a:p>
          <a:p>
            <a:pPr algn="just"/>
            <a:r>
              <a:rPr lang="en-US" b="1" dirty="0" smtClean="0"/>
              <a:t>L2:</a:t>
            </a:r>
            <a:r>
              <a:rPr lang="en-US" dirty="0" smtClean="0"/>
              <a:t> or secondary cache, is having more capacity than L1. L2 cache may be embedded on the CPU, or it can be on a separate chip.</a:t>
            </a:r>
          </a:p>
          <a:p>
            <a:pPr algn="just"/>
            <a:r>
              <a:rPr lang="en-US" b="1" dirty="0" smtClean="0"/>
              <a:t>L3: </a:t>
            </a:r>
            <a:r>
              <a:rPr lang="en-US" dirty="0" smtClean="0"/>
              <a:t> is specialized memory developed to improve the performance of L1 and L2. L1 or L2 can be significantly faster than L3, though L3 is usually double the speed of DRAM.</a:t>
            </a:r>
          </a:p>
          <a:p>
            <a:pPr algn="just"/>
            <a:endParaRPr lang="en-US" dirty="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571480"/>
            <a:ext cx="8534400" cy="758952"/>
          </a:xfrm>
        </p:spPr>
        <p:txBody>
          <a:bodyPr>
            <a:normAutofit fontScale="90000"/>
          </a:bodyPr>
          <a:lstStyle/>
          <a:p>
            <a:r>
              <a:rPr lang="en-US" dirty="0" smtClean="0"/>
              <a:t/>
            </a:r>
            <a:br>
              <a:rPr lang="en-US" dirty="0" smtClean="0"/>
            </a:br>
            <a:r>
              <a:rPr lang="en-US" b="1" dirty="0" smtClean="0"/>
              <a:t>Cache memory mapping</a:t>
            </a:r>
            <a:br>
              <a:rPr lang="en-US" b="1" dirty="0" smtClean="0"/>
            </a:br>
            <a:endParaRPr lang="en-US" dirty="0"/>
          </a:p>
        </p:txBody>
      </p:sp>
      <p:sp>
        <p:nvSpPr>
          <p:cNvPr id="3" name="Content Placeholder 2"/>
          <p:cNvSpPr>
            <a:spLocks noGrp="1"/>
          </p:cNvSpPr>
          <p:nvPr>
            <p:ph sz="quarter" idx="1"/>
          </p:nvPr>
        </p:nvSpPr>
        <p:spPr/>
        <p:txBody>
          <a:bodyPr/>
          <a:lstStyle/>
          <a:p>
            <a:pPr algn="just"/>
            <a:r>
              <a:rPr lang="en-US" dirty="0" smtClean="0"/>
              <a:t>Cache mapping is a technique that defines how contents of main memory are brought into cache. </a:t>
            </a:r>
          </a:p>
          <a:p>
            <a:pPr algn="just"/>
            <a:r>
              <a:rPr lang="en-US" dirty="0" smtClean="0"/>
              <a:t>Cache Mapping Techniques- </a:t>
            </a:r>
          </a:p>
          <a:p>
            <a:pPr lvl="1"/>
            <a:r>
              <a:rPr lang="en-US" dirty="0" smtClean="0"/>
              <a:t>Direct Mapping, </a:t>
            </a:r>
          </a:p>
          <a:p>
            <a:pPr lvl="1"/>
            <a:r>
              <a:rPr lang="en-US" dirty="0" smtClean="0"/>
              <a:t>Fully Associative Mapping, </a:t>
            </a:r>
          </a:p>
          <a:p>
            <a:pPr lvl="1"/>
            <a:r>
              <a:rPr lang="en-US" dirty="0" smtClean="0"/>
              <a:t>K-way Set Associative Mapping.</a:t>
            </a:r>
            <a:endParaRPr lang="en-US" dirty="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1071546"/>
            <a:ext cx="8534400" cy="758952"/>
          </a:xfrm>
        </p:spPr>
        <p:txBody>
          <a:bodyPr>
            <a:normAutofit fontScale="90000"/>
          </a:bodyPr>
          <a:lstStyle/>
          <a:p>
            <a:pPr fontAlgn="base"/>
            <a:r>
              <a:rPr lang="en-US" b="1" u="sng" dirty="0" smtClean="0"/>
              <a:t>1. Direct Mapping-</a:t>
            </a:r>
            <a:r>
              <a:rPr lang="en-US" b="1" dirty="0" smtClean="0"/>
              <a:t/>
            </a:r>
            <a:br>
              <a:rPr lang="en-US" b="1" dirty="0" smtClean="0"/>
            </a:br>
            <a:r>
              <a:rPr lang="en-US" dirty="0" smtClean="0"/>
              <a:t> </a:t>
            </a:r>
            <a:br>
              <a:rPr lang="en-US" dirty="0" smtClean="0"/>
            </a:br>
            <a:endParaRPr lang="en-US" dirty="0"/>
          </a:p>
        </p:txBody>
      </p:sp>
      <p:sp>
        <p:nvSpPr>
          <p:cNvPr id="3" name="Content Placeholder 2"/>
          <p:cNvSpPr>
            <a:spLocks noGrp="1"/>
          </p:cNvSpPr>
          <p:nvPr>
            <p:ph sz="quarter" idx="1"/>
          </p:nvPr>
        </p:nvSpPr>
        <p:spPr/>
        <p:txBody>
          <a:bodyPr>
            <a:normAutofit/>
          </a:bodyPr>
          <a:lstStyle/>
          <a:p>
            <a:pPr algn="just" fontAlgn="base"/>
            <a:r>
              <a:rPr lang="en-US" dirty="0" smtClean="0"/>
              <a:t>In direct mapping, a particular block of main memory can map only to a particular line of the cache.</a:t>
            </a:r>
          </a:p>
          <a:p>
            <a:pPr algn="just"/>
            <a:r>
              <a:rPr lang="en-US" b="1" dirty="0" smtClean="0"/>
              <a:t>In Direct mapped cache</a:t>
            </a:r>
            <a:r>
              <a:rPr lang="en-US" dirty="0" smtClean="0"/>
              <a:t> has each block mapped to exactly one cache memory location. </a:t>
            </a:r>
            <a:endParaRPr lang="en-US" dirty="0"/>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algn="just"/>
            <a:r>
              <a:rPr lang="en-US" dirty="0" smtClean="0"/>
              <a:t>Conceptually, a direct mapped cache is like rows in a table with three columns: the cache block that contains </a:t>
            </a:r>
          </a:p>
          <a:p>
            <a:pPr lvl="1" algn="just"/>
            <a:r>
              <a:rPr lang="en-US" dirty="0" smtClean="0"/>
              <a:t>the actual data fetched and stored, </a:t>
            </a:r>
          </a:p>
          <a:p>
            <a:pPr lvl="1" algn="just"/>
            <a:r>
              <a:rPr lang="en-US" dirty="0" smtClean="0"/>
              <a:t>part of the address of the data that was fetched, and </a:t>
            </a:r>
          </a:p>
          <a:p>
            <a:pPr lvl="1" algn="just"/>
            <a:r>
              <a:rPr lang="en-US" dirty="0" smtClean="0"/>
              <a:t>a </a:t>
            </a:r>
            <a:r>
              <a:rPr lang="en-US" u="sng" dirty="0" smtClean="0"/>
              <a:t>flag</a:t>
            </a:r>
            <a:r>
              <a:rPr lang="en-US" dirty="0" smtClean="0"/>
              <a:t> bit that shows the presence in the row entry of a valid bit of data. (hit or miss)</a:t>
            </a:r>
          </a:p>
          <a:p>
            <a:pPr algn="just">
              <a:buNone/>
            </a:pPr>
            <a:r>
              <a:rPr lang="en-US" dirty="0" smtClean="0"/>
              <a:t/>
            </a:r>
            <a:br>
              <a:rPr lang="en-US" dirty="0" smtClean="0"/>
            </a:br>
            <a:endParaRPr lang="en-US" dirty="0"/>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a:t>
            </a:r>
            <a:r>
              <a:rPr lang="en-US" b="1" dirty="0" smtClean="0"/>
              <a:t> Fully associative cache mapping</a:t>
            </a:r>
            <a:endParaRPr lang="en-US" dirty="0"/>
          </a:p>
        </p:txBody>
      </p:sp>
      <p:sp>
        <p:nvSpPr>
          <p:cNvPr id="3" name="Content Placeholder 2"/>
          <p:cNvSpPr>
            <a:spLocks noGrp="1"/>
          </p:cNvSpPr>
          <p:nvPr>
            <p:ph sz="quarter" idx="1"/>
          </p:nvPr>
        </p:nvSpPr>
        <p:spPr/>
        <p:txBody>
          <a:bodyPr/>
          <a:lstStyle/>
          <a:p>
            <a:r>
              <a:rPr lang="en-US" b="1" dirty="0" smtClean="0"/>
              <a:t>Fully associative cache mapping</a:t>
            </a:r>
            <a:r>
              <a:rPr lang="en-US" dirty="0" smtClean="0"/>
              <a:t> is similar to direct mapping in structure but allows a memory block to be mapped to any cache location rather than to a </a:t>
            </a:r>
            <a:r>
              <a:rPr lang="en-US" dirty="0" err="1" smtClean="0"/>
              <a:t>prespecified</a:t>
            </a:r>
            <a:r>
              <a:rPr lang="en-US" dirty="0" smtClean="0"/>
              <a:t> cache memory location as is the case with direct mapping.</a:t>
            </a:r>
          </a:p>
          <a:p>
            <a:endParaRPr lang="en-US" dirty="0"/>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a:t>
            </a:r>
            <a:r>
              <a:rPr lang="en-US" b="1" dirty="0" smtClean="0"/>
              <a:t>Set associative cache mapping</a:t>
            </a:r>
            <a:endParaRPr lang="en-US" dirty="0"/>
          </a:p>
        </p:txBody>
      </p:sp>
      <p:sp>
        <p:nvSpPr>
          <p:cNvPr id="3" name="Content Placeholder 2"/>
          <p:cNvSpPr>
            <a:spLocks noGrp="1"/>
          </p:cNvSpPr>
          <p:nvPr>
            <p:ph sz="quarter" idx="1"/>
          </p:nvPr>
        </p:nvSpPr>
        <p:spPr/>
        <p:txBody>
          <a:bodyPr/>
          <a:lstStyle/>
          <a:p>
            <a:r>
              <a:rPr lang="en-US" b="1" dirty="0" smtClean="0"/>
              <a:t>Set associative cache mapping</a:t>
            </a:r>
            <a:r>
              <a:rPr lang="en-US" dirty="0" smtClean="0"/>
              <a:t> can be viewed as a compromise between direct mapping and fully associative mapping in which each block is mapped to a subset of cache locations. </a:t>
            </a:r>
          </a:p>
          <a:p>
            <a:r>
              <a:rPr lang="en-US" dirty="0" smtClean="0"/>
              <a:t>It is sometimes called K</a:t>
            </a:r>
            <a:r>
              <a:rPr lang="en-US" i="1" dirty="0" smtClean="0"/>
              <a:t>-way set associative mapping</a:t>
            </a:r>
            <a:r>
              <a:rPr lang="en-US" dirty="0" smtClean="0"/>
              <a:t>, which provides for a location in main memory to be cached to any of "N" locations in the L1 cache.</a:t>
            </a:r>
          </a:p>
          <a:p>
            <a:endParaRPr lang="en-US" dirty="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Data writing policies</a:t>
            </a:r>
            <a:br>
              <a:rPr lang="en-US" b="1" dirty="0" smtClean="0"/>
            </a:br>
            <a:endParaRPr lang="en-US" dirty="0"/>
          </a:p>
        </p:txBody>
      </p:sp>
      <p:sp>
        <p:nvSpPr>
          <p:cNvPr id="3" name="Content Placeholder 2"/>
          <p:cNvSpPr>
            <a:spLocks noGrp="1"/>
          </p:cNvSpPr>
          <p:nvPr>
            <p:ph sz="quarter" idx="1"/>
          </p:nvPr>
        </p:nvSpPr>
        <p:spPr/>
        <p:txBody>
          <a:bodyPr/>
          <a:lstStyle/>
          <a:p>
            <a:r>
              <a:rPr lang="en-US" dirty="0" smtClean="0"/>
              <a:t>Data can be written to memory using a variety of techniques, but the two main ones involving cache memory are:</a:t>
            </a:r>
          </a:p>
          <a:p>
            <a:r>
              <a:rPr lang="en-US" b="1" dirty="0" smtClean="0"/>
              <a:t>Write-through.</a:t>
            </a:r>
            <a:r>
              <a:rPr lang="en-US" dirty="0" smtClean="0"/>
              <a:t> Data is written to both the cache and main memory at the same time.</a:t>
            </a:r>
          </a:p>
          <a:p>
            <a:r>
              <a:rPr lang="en-US" b="1" dirty="0" smtClean="0"/>
              <a:t>Write-back.</a:t>
            </a:r>
            <a:r>
              <a:rPr lang="en-US" dirty="0" smtClean="0"/>
              <a:t> Data is only written to the cache initially. Data may then be written to main memory.</a:t>
            </a:r>
            <a:endParaRPr lang="en-US" dirty="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algn="ctr">
              <a:buNone/>
            </a:pPr>
            <a:r>
              <a:rPr lang="en-US" smtClean="0"/>
              <a:t>END</a:t>
            </a:r>
            <a:endParaRPr lang="en-US"/>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B2E91A2DEE58B4EB51C0D10FFC5F048" ma:contentTypeVersion="3" ma:contentTypeDescription="Create a new document." ma:contentTypeScope="" ma:versionID="c3483bf2d1b4ce78d0f2bebad5297fc0">
  <xsd:schema xmlns:xsd="http://www.w3.org/2001/XMLSchema" xmlns:xs="http://www.w3.org/2001/XMLSchema" xmlns:p="http://schemas.microsoft.com/office/2006/metadata/properties" xmlns:ns2="e528b528-bd60-45be-ac2f-1cf3f1815ca1" targetNamespace="http://schemas.microsoft.com/office/2006/metadata/properties" ma:root="true" ma:fieldsID="54d1f6c13b1d51aec7b8a9c3af92b54a" ns2:_="">
    <xsd:import namespace="e528b528-bd60-45be-ac2f-1cf3f1815ca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28b528-bd60-45be-ac2f-1cf3f1815c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182A7A7-A22D-47D2-AD2E-C50B3FDCCA82}"/>
</file>

<file path=customXml/itemProps2.xml><?xml version="1.0" encoding="utf-8"?>
<ds:datastoreItem xmlns:ds="http://schemas.openxmlformats.org/officeDocument/2006/customXml" ds:itemID="{A4A333FC-1A64-4263-ADA2-31F01FDB585F}">
  <ds:schemaRefs>
    <ds:schemaRef ds:uri="http://schemas.microsoft.com/sharepoint/v3/contenttype/forms"/>
  </ds:schemaRefs>
</ds:datastoreItem>
</file>

<file path=customXml/itemProps3.xml><?xml version="1.0" encoding="utf-8"?>
<ds:datastoreItem xmlns:ds="http://schemas.openxmlformats.org/officeDocument/2006/customXml" ds:itemID="{EA9D727C-13C0-4B97-A31E-371C07D9BA2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Civic</Template>
  <TotalTime>93</TotalTime>
  <Words>430</Words>
  <Application>Microsoft Office PowerPoint</Application>
  <PresentationFormat>On-screen Show (4:3)</PresentationFormat>
  <Paragraphs>50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Civic</vt:lpstr>
      <vt:lpstr>Cache Memory</vt:lpstr>
      <vt:lpstr>Cache Memory</vt:lpstr>
      <vt:lpstr>Slide 3</vt:lpstr>
      <vt:lpstr>Slide 4</vt:lpstr>
      <vt:lpstr>Slide 5</vt:lpstr>
      <vt:lpstr>Slide 6</vt:lpstr>
      <vt:lpstr>  Cache Hits and Cache Misses </vt:lpstr>
      <vt:lpstr>Types- Primary / Secondary / Levels </vt:lpstr>
      <vt:lpstr>Slide 9</vt:lpstr>
      <vt:lpstr>Slide 10</vt:lpstr>
      <vt:lpstr> Cache memory mapping </vt:lpstr>
      <vt:lpstr>1. Direct Mapping-   </vt:lpstr>
      <vt:lpstr>Slide 13</vt:lpstr>
      <vt:lpstr>2. Fully associative cache mapping</vt:lpstr>
      <vt:lpstr>3. Set associative cache mapping</vt:lpstr>
      <vt:lpstr>Data writing policies </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Cache Memory</dc:title>
  <dc:creator>Lenovo</dc:creator>
  <cp:lastModifiedBy>rajithamr</cp:lastModifiedBy>
  <cp:revision>14</cp:revision>
  <dcterms:created xsi:type="dcterms:W3CDTF">2022-05-06T03:56:36Z</dcterms:created>
  <dcterms:modified xsi:type="dcterms:W3CDTF">2025-10-27T04:37:55Z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0x0101002B2E91A2DEE58B4EB51C0D10FFC5F048</vt:lpwstr>
  </property>
</Properties>
</file>