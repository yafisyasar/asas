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sldIdLst>
    <p:sldId id="256" r:id="rId5"/>
    <p:sldId id="257" r:id="rId6"/>
    <p:sldId id="258" r:id="rId7"/>
    <p:sldId id="259" r:id="rId8"/>
    <p:sldId id="260" r:id="rId9"/>
    <p:sldId id="264" r:id="rId10"/>
    <p:sldId id="261" r:id="rId11"/>
    <p:sldId id="262" r:id="rId12"/>
    <p:sldId id="272" r:id="rId13"/>
    <p:sldId id="263" r:id="rId14"/>
    <p:sldId id="265" r:id="rId15"/>
    <p:sldId id="266" r:id="rId16"/>
    <p:sldId id="267" r:id="rId17"/>
    <p:sldId id="274" r:id="rId18"/>
    <p:sldId id="273" r:id="rId19"/>
    <p:sldId id="268" r:id="rId20"/>
    <p:sldId id="269" r:id="rId21"/>
    <p:sldId id="270" r:id="rId22"/>
    <p:sldId id="27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1296" y="-6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86C01F1A-5305-4A49-B0AD-7AC221482A03}" type="datetimeFigureOut">
              <a:rPr lang="en-US" smtClean="0"/>
              <a:pPr/>
              <a:t>5/26/2023</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2CD8A486-BD16-43B4-8203-9F577032BE9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lvl1pPr algn="just">
              <a:defRPr>
                <a:solidFill>
                  <a:schemeClr val="accent3">
                    <a:lumMod val="50000"/>
                  </a:schemeClr>
                </a:solidFill>
              </a:defRPr>
            </a:lvl1pPr>
            <a:lvl2pPr algn="just">
              <a:defRPr b="1">
                <a:solidFill>
                  <a:srgbClr val="FF0000"/>
                </a:solidFill>
              </a:defRPr>
            </a:lvl2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fld id="{86C01F1A-5305-4A49-B0AD-7AC221482A03}" type="datetimeFigureOut">
              <a:rPr lang="en-US" smtClean="0"/>
              <a:pPr/>
              <a:t>5/26/2023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8A486-BD16-43B4-8203-9F577032BE9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6C01F1A-5305-4A49-B0AD-7AC221482A03}" type="datetimeFigureOut">
              <a:rPr lang="en-US" smtClean="0"/>
              <a:pPr/>
              <a:t>5/26/2023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8A486-BD16-43B4-8203-9F577032BE9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6C01F1A-5305-4A49-B0AD-7AC221482A03}" type="datetimeFigureOut">
              <a:rPr lang="en-US" smtClean="0"/>
              <a:pPr/>
              <a:t>5/26/2023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8A486-BD16-43B4-8203-9F577032BE9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86C01F1A-5305-4A49-B0AD-7AC221482A03}" type="datetimeFigureOut">
              <a:rPr lang="en-US" smtClean="0"/>
              <a:pPr/>
              <a:t>5/26/2023</a:t>
            </a:fld>
            <a:endParaRPr lang="en-US"/>
          </a:p>
        </p:txBody>
      </p:sp>
      <p:sp>
        <p:nvSpPr>
          <p:cNvPr id="27" name="Slide Number Placeholder 26"/>
          <p:cNvSpPr>
            <a:spLocks noGrp="1"/>
          </p:cNvSpPr>
          <p:nvPr>
            <p:ph type="sldNum" sz="quarter" idx="11"/>
          </p:nvPr>
        </p:nvSpPr>
        <p:spPr/>
        <p:txBody>
          <a:bodyPr rtlCol="0"/>
          <a:lstStyle/>
          <a:p>
            <a:fld id="{2CD8A486-BD16-43B4-8203-9F577032BE99}"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86C01F1A-5305-4A49-B0AD-7AC221482A03}" type="datetimeFigureOut">
              <a:rPr lang="en-US" smtClean="0"/>
              <a:pPr/>
              <a:t>5/26/2023</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2CD8A486-BD16-43B4-8203-9F577032BE9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C01F1A-5305-4A49-B0AD-7AC221482A03}" type="datetimeFigureOut">
              <a:rPr lang="en-US" smtClean="0"/>
              <a:pPr/>
              <a:t>5/26/2023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D8A486-BD16-43B4-8203-9F577032BE9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6C01F1A-5305-4A49-B0AD-7AC221482A03}" type="datetimeFigureOut">
              <a:rPr lang="en-US" smtClean="0"/>
              <a:pPr/>
              <a:t>5/26/2023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8A486-BD16-43B4-8203-9F577032BE9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6C01F1A-5305-4A49-B0AD-7AC221482A03}" type="datetimeFigureOut">
              <a:rPr lang="en-US" smtClean="0"/>
              <a:pPr/>
              <a:t>5/26/2023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8A486-BD16-43B4-8203-9F577032BE9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6C01F1A-5305-4A49-B0AD-7AC221482A03}" type="datetimeFigureOut">
              <a:rPr lang="en-US" smtClean="0"/>
              <a:pPr/>
              <a:t>5/26/2023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8A486-BD16-43B4-8203-9F577032BE9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6C01F1A-5305-4A49-B0AD-7AC221482A03}" type="datetimeFigureOut">
              <a:rPr lang="en-US" smtClean="0"/>
              <a:pPr/>
              <a:t>5/26/2023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8A486-BD16-43B4-8203-9F577032BE9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86C01F1A-5305-4A49-B0AD-7AC221482A03}" type="datetimeFigureOut">
              <a:rPr lang="en-US" smtClean="0"/>
              <a:pPr/>
              <a:t>5/26/2023</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2CD8A486-BD16-43B4-8203-9F577032BE9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I/O Operations</a:t>
            </a:r>
            <a:endParaRPr lang="en-US" dirty="0"/>
          </a:p>
        </p:txBody>
      </p:sp>
      <p:sp>
        <p:nvSpPr>
          <p:cNvPr id="3" name="Subtitle 2"/>
          <p:cNvSpPr>
            <a:spLocks noGrp="1"/>
          </p:cNvSpPr>
          <p:nvPr>
            <p:ph type="subTitle" idx="1"/>
          </p:nvPr>
        </p:nvSpPr>
        <p:spPr/>
        <p:txBody>
          <a:bodyPr/>
          <a:lstStyle/>
          <a:p>
            <a:r>
              <a:rPr lang="en-IN" dirty="0" smtClean="0"/>
              <a:t>UNIT 4</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Input-output (I/O) systems</a:t>
            </a:r>
            <a:endParaRPr lang="en-US" dirty="0"/>
          </a:p>
        </p:txBody>
      </p:sp>
      <p:sp>
        <p:nvSpPr>
          <p:cNvPr id="3" name="Content Placeholder 2"/>
          <p:cNvSpPr>
            <a:spLocks noGrp="1"/>
          </p:cNvSpPr>
          <p:nvPr>
            <p:ph idx="1"/>
          </p:nvPr>
        </p:nvSpPr>
        <p:spPr/>
        <p:txBody>
          <a:bodyPr>
            <a:normAutofit/>
          </a:bodyPr>
          <a:lstStyle/>
          <a:p>
            <a:r>
              <a:rPr lang="en-US" dirty="0" smtClean="0"/>
              <a:t>Input-output (I/O) systems transfer information between computer main memory and the outside world. </a:t>
            </a:r>
          </a:p>
          <a:p>
            <a:r>
              <a:rPr lang="en-US" dirty="0" smtClean="0"/>
              <a:t>An I/O system is composed of </a:t>
            </a:r>
          </a:p>
          <a:p>
            <a:pPr lvl="1"/>
            <a:r>
              <a:rPr lang="en-US" dirty="0" smtClean="0"/>
              <a:t>I/O devices (peripherals),</a:t>
            </a:r>
          </a:p>
          <a:p>
            <a:pPr lvl="1"/>
            <a:r>
              <a:rPr lang="en-US" dirty="0" smtClean="0"/>
              <a:t>I/O control units, and </a:t>
            </a:r>
          </a:p>
          <a:p>
            <a:pPr lvl="1"/>
            <a:r>
              <a:rPr lang="en-US" dirty="0" smtClean="0"/>
              <a:t>software to carry out the I/O transaction(s) through a sequence of I/O operations.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I/O devices can be classified as </a:t>
            </a:r>
          </a:p>
          <a:p>
            <a:pPr lvl="1"/>
            <a:r>
              <a:rPr lang="en-US" i="1" dirty="0" smtClean="0"/>
              <a:t>Serial</a:t>
            </a:r>
            <a:r>
              <a:rPr lang="en-US" dirty="0" smtClean="0"/>
              <a:t>, i.e. able to transfer bit streams one bit at a time, or </a:t>
            </a:r>
          </a:p>
          <a:p>
            <a:pPr lvl="1"/>
            <a:r>
              <a:rPr lang="en-US" i="1" dirty="0" smtClean="0"/>
              <a:t>Parallel-</a:t>
            </a:r>
            <a:r>
              <a:rPr lang="en-US" dirty="0" smtClean="0"/>
              <a:t> Parallel devices have a wider data bus and can therefore transfer data in words of one or more bytes.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Like any other activity in a computer system, I/O is a intensive work of both hardware and software. </a:t>
            </a:r>
          </a:p>
          <a:p>
            <a:r>
              <a:rPr lang="en-US" dirty="0" smtClean="0"/>
              <a:t>The software which is executed to carry out an I/O transaction for a specific I/O device is called a </a:t>
            </a:r>
            <a:r>
              <a:rPr lang="en-US" b="1" i="1" dirty="0" smtClean="0"/>
              <a:t>device driver</a:t>
            </a:r>
            <a:r>
              <a:rPr lang="en-US" dirty="0" smtClean="0"/>
              <a:t>. </a:t>
            </a:r>
          </a:p>
          <a:p>
            <a:r>
              <a:rPr lang="en-US" dirty="0" smtClean="0"/>
              <a:t>An example of such an I/O transaction is reading a block of data from disk to memory.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The software to do this is simply a sequence of I/O operations (instructions) to transfer data between the peripheral devices and main memory, and to enable the central processing unit (CPU) to control the peripheral devices connected to it</a:t>
            </a:r>
          </a:p>
          <a:p>
            <a:r>
              <a:rPr lang="en-US" dirty="0" smtClean="0"/>
              <a:t>Thus, I/O operations are of two classes: </a:t>
            </a:r>
          </a:p>
          <a:p>
            <a:pPr lvl="1"/>
            <a:r>
              <a:rPr lang="en-US" dirty="0" smtClean="0"/>
              <a:t>control operations and </a:t>
            </a:r>
          </a:p>
          <a:p>
            <a:pPr lvl="1"/>
            <a:r>
              <a:rPr lang="en-US" dirty="0" smtClean="0"/>
              <a:t>data transfer operations.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28670"/>
            <a:ext cx="8229600" cy="5645866"/>
          </a:xfrm>
        </p:spPr>
        <p:txBody>
          <a:bodyPr/>
          <a:lstStyle/>
          <a:p>
            <a:r>
              <a:rPr lang="en-US" dirty="0" smtClean="0"/>
              <a:t>The main difference among I/O systems is the degree of CPU involvement in the transactions. </a:t>
            </a:r>
          </a:p>
          <a:p>
            <a:r>
              <a:rPr lang="en-US" dirty="0" smtClean="0"/>
              <a:t>In a simple system, with a minimal I/O control unit, the CPU must perform all I/O operations like :</a:t>
            </a:r>
          </a:p>
          <a:p>
            <a:pPr lvl="1"/>
            <a:r>
              <a:rPr lang="en-US" dirty="0" smtClean="0"/>
              <a:t> initiating the transaction, </a:t>
            </a:r>
          </a:p>
          <a:p>
            <a:pPr lvl="1"/>
            <a:r>
              <a:rPr lang="en-US" dirty="0" smtClean="0"/>
              <a:t>checking device status, </a:t>
            </a:r>
          </a:p>
          <a:p>
            <a:pPr lvl="1"/>
            <a:r>
              <a:rPr lang="en-US" dirty="0" smtClean="0"/>
              <a:t>transferring data between the devices and main memory, and </a:t>
            </a:r>
          </a:p>
          <a:p>
            <a:pPr lvl="1"/>
            <a:r>
              <a:rPr lang="en-US" dirty="0" smtClean="0"/>
              <a:t>terminating the I/O transaction</a:t>
            </a:r>
          </a:p>
          <a:p>
            <a:r>
              <a:rPr lang="en-US" dirty="0" smtClean="0"/>
              <a:t>In this case the system is said to be using programmed I/O</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 addressing methods</a:t>
            </a:r>
            <a:endParaRPr lang="en-US" dirty="0"/>
          </a:p>
        </p:txBody>
      </p:sp>
      <p:sp>
        <p:nvSpPr>
          <p:cNvPr id="3" name="Content Placeholder 2"/>
          <p:cNvSpPr>
            <a:spLocks noGrp="1"/>
          </p:cNvSpPr>
          <p:nvPr>
            <p:ph idx="1"/>
          </p:nvPr>
        </p:nvSpPr>
        <p:spPr/>
        <p:txBody>
          <a:bodyPr/>
          <a:lstStyle/>
          <a:p>
            <a:r>
              <a:rPr lang="en-US" dirty="0" smtClean="0"/>
              <a:t>In order for the CPU to communicate with I/0 devices in the system, an addressing scheme is needed. Two I/O addressing methods are used: </a:t>
            </a:r>
          </a:p>
          <a:p>
            <a:pPr lvl="1"/>
            <a:r>
              <a:rPr lang="en-US" dirty="0" smtClean="0"/>
              <a:t>Memory-mapped </a:t>
            </a:r>
          </a:p>
          <a:p>
            <a:pPr lvl="1"/>
            <a:r>
              <a:rPr lang="en-US" dirty="0" smtClean="0"/>
              <a:t>I/O –mapped</a:t>
            </a:r>
          </a:p>
          <a:p>
            <a:pPr lvl="1"/>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spcBef>
                <a:spcPct val="0"/>
              </a:spcBef>
            </a:pPr>
            <a:r>
              <a:rPr lang="en-US" sz="4000" dirty="0" smtClean="0"/>
              <a:t>Memory-mapped</a:t>
            </a:r>
            <a:r>
              <a:rPr lang="en-US" dirty="0" smtClean="0"/>
              <a:t> </a:t>
            </a:r>
            <a:br>
              <a:rPr lang="en-US" dirty="0" smtClean="0"/>
            </a:br>
            <a:endParaRPr lang="en-US" dirty="0"/>
          </a:p>
        </p:txBody>
      </p:sp>
      <p:sp>
        <p:nvSpPr>
          <p:cNvPr id="3" name="Content Placeholder 2"/>
          <p:cNvSpPr>
            <a:spLocks noGrp="1"/>
          </p:cNvSpPr>
          <p:nvPr>
            <p:ph idx="1"/>
          </p:nvPr>
        </p:nvSpPr>
        <p:spPr/>
        <p:txBody>
          <a:bodyPr/>
          <a:lstStyle/>
          <a:p>
            <a:r>
              <a:rPr lang="en-US" dirty="0" smtClean="0"/>
              <a:t>As a CPU needs to communicate with the various memory and input-output devices (I/O) as we know data between the processor and these devices flow with the help of the system bus. </a:t>
            </a:r>
          </a:p>
          <a:p>
            <a:r>
              <a:rPr lang="en-US" dirty="0" smtClean="0"/>
              <a:t>There are three ways in which system bus can be allotted to them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624078" indent="-514350" fontAlgn="base">
              <a:buFont typeface="+mj-lt"/>
              <a:buAutoNum type="arabicPeriod"/>
            </a:pPr>
            <a:r>
              <a:rPr lang="en-US" dirty="0" smtClean="0"/>
              <a:t>Separate set of address, control and data bus to I/O and memory.</a:t>
            </a:r>
          </a:p>
          <a:p>
            <a:pPr marL="624078" indent="-514350" fontAlgn="base">
              <a:buFont typeface="+mj-lt"/>
              <a:buAutoNum type="arabicPeriod"/>
            </a:pPr>
            <a:r>
              <a:rPr lang="en-US" dirty="0" smtClean="0"/>
              <a:t>Have common bus (data and address) for I/O and memory but separate control lines.</a:t>
            </a:r>
          </a:p>
          <a:p>
            <a:pPr marL="624078" indent="-514350" fontAlgn="base">
              <a:buFont typeface="+mj-lt"/>
              <a:buAutoNum type="arabicPeriod"/>
            </a:pPr>
            <a:r>
              <a:rPr lang="en-US" dirty="0" smtClean="0"/>
              <a:t>Have common bus (data, address, and control) for I/O and memory.</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1357298"/>
            <a:ext cx="8229600" cy="5360114"/>
          </a:xfrm>
        </p:spPr>
        <p:txBody>
          <a:bodyPr>
            <a:normAutofit lnSpcReduction="10000"/>
          </a:bodyPr>
          <a:lstStyle/>
          <a:p>
            <a:r>
              <a:rPr lang="en-US" dirty="0" smtClean="0"/>
              <a:t>IO mapped IO uses two separate address spaces for memory and IO device.</a:t>
            </a:r>
          </a:p>
          <a:p>
            <a:r>
              <a:rPr lang="en-US" dirty="0" smtClean="0"/>
              <a:t>There are two separate control lines for both memory and IO transfer. </a:t>
            </a:r>
          </a:p>
          <a:p>
            <a:r>
              <a:rPr lang="en-US" dirty="0" smtClean="0"/>
              <a:t>In other words, there are different read-write instruction for both IO and memory. </a:t>
            </a:r>
          </a:p>
          <a:p>
            <a:r>
              <a:rPr lang="en-US" dirty="0" smtClean="0"/>
              <a:t>IO read and IO write are for IO transfer whereas memory read and memory write are for memory transfer.</a:t>
            </a:r>
          </a:p>
          <a:p>
            <a:r>
              <a:rPr lang="en-US" dirty="0" smtClean="0"/>
              <a:t>CPU uses these two methods to perform input/output operations between the CPU and peripheral devices in the computer</a:t>
            </a:r>
            <a:endParaRPr lang="en-US" dirty="0"/>
          </a:p>
        </p:txBody>
      </p:sp>
      <p:sp>
        <p:nvSpPr>
          <p:cNvPr id="4" name="Title 1"/>
          <p:cNvSpPr>
            <a:spLocks noGrp="1"/>
          </p:cNvSpPr>
          <p:nvPr>
            <p:ph type="title"/>
          </p:nvPr>
        </p:nvSpPr>
        <p:spPr>
          <a:xfrm>
            <a:off x="500034" y="500042"/>
            <a:ext cx="8229600" cy="1066800"/>
          </a:xfrm>
        </p:spPr>
        <p:txBody>
          <a:bodyPr/>
          <a:lstStyle/>
          <a:p>
            <a:pPr lvl="1" algn="l" rtl="0">
              <a:spcBef>
                <a:spcPct val="0"/>
              </a:spcBef>
            </a:pPr>
            <a:r>
              <a:rPr lang="en-US" sz="4000" dirty="0" smtClean="0"/>
              <a:t>I/O-mapped</a:t>
            </a:r>
            <a:r>
              <a:rPr lang="en-US" dirty="0" smtClean="0"/>
              <a:t> </a:t>
            </a:r>
            <a:br>
              <a:rPr lang="en-US" dirty="0" smtClean="0"/>
            </a:b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 of Transfer</a:t>
            </a:r>
            <a:endParaRPr lang="en-US" dirty="0"/>
          </a:p>
        </p:txBody>
      </p:sp>
      <p:sp>
        <p:nvSpPr>
          <p:cNvPr id="3" name="Content Placeholder 2"/>
          <p:cNvSpPr>
            <a:spLocks noGrp="1"/>
          </p:cNvSpPr>
          <p:nvPr>
            <p:ph idx="1"/>
          </p:nvPr>
        </p:nvSpPr>
        <p:spPr/>
        <p:txBody>
          <a:bodyPr>
            <a:normAutofit lnSpcReduction="10000"/>
          </a:bodyPr>
          <a:lstStyle/>
          <a:p>
            <a:r>
              <a:rPr lang="en-US" dirty="0" smtClean="0"/>
              <a:t>The binary information that is received from an external device is usually stored in the memory unit.</a:t>
            </a:r>
          </a:p>
          <a:p>
            <a:r>
              <a:rPr lang="en-US" dirty="0" smtClean="0"/>
              <a:t>The information that is transferred from the CPU to the external device is originated from the memory unit. CPU merely processes the information but the source and target is always the memory unit. Data transfer between CPU and the I/O devices may be done in different modes.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Data transfer to and from the peripherals may be done in any of the three possible ways </a:t>
            </a:r>
          </a:p>
          <a:p>
            <a:pPr lvl="1"/>
            <a:r>
              <a:rPr lang="en-US" dirty="0" smtClean="0"/>
              <a:t>1. Programmed I/O. </a:t>
            </a:r>
          </a:p>
          <a:p>
            <a:pPr lvl="1"/>
            <a:r>
              <a:rPr lang="en-US" dirty="0" smtClean="0"/>
              <a:t>2. Interrupt- initiated I/O. </a:t>
            </a:r>
          </a:p>
          <a:p>
            <a:pPr lvl="1"/>
            <a:r>
              <a:rPr lang="en-US" dirty="0" smtClean="0"/>
              <a:t>3.Direct memory access( DMA). </a:t>
            </a:r>
            <a:br>
              <a:rPr lang="en-US" dirty="0" smtClean="0"/>
            </a:b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Programmed I/O:</a:t>
            </a:r>
            <a:endParaRPr lang="en-US" dirty="0"/>
          </a:p>
        </p:txBody>
      </p:sp>
      <p:sp>
        <p:nvSpPr>
          <p:cNvPr id="3" name="Content Placeholder 2"/>
          <p:cNvSpPr>
            <a:spLocks noGrp="1"/>
          </p:cNvSpPr>
          <p:nvPr>
            <p:ph idx="1"/>
          </p:nvPr>
        </p:nvSpPr>
        <p:spPr/>
        <p:txBody>
          <a:bodyPr>
            <a:normAutofit/>
          </a:bodyPr>
          <a:lstStyle/>
          <a:p>
            <a:r>
              <a:rPr lang="en-US" dirty="0" smtClean="0"/>
              <a:t>It is </a:t>
            </a:r>
            <a:r>
              <a:rPr lang="en-US" b="1" dirty="0" smtClean="0"/>
              <a:t>a method of data transmission, via input/output (I/O), between a central processing unit (CPU) and a peripheral device, such as a Parallel storage device</a:t>
            </a:r>
            <a:endParaRPr lang="en-US"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l="11901" t="844" r="12830" b="38970"/>
          <a:stretch>
            <a:fillRect/>
          </a:stretch>
        </p:blipFill>
        <p:spPr bwMode="auto">
          <a:xfrm>
            <a:off x="0" y="642918"/>
            <a:ext cx="9144000" cy="535785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l="60222" t="40492" r="750" b="21512"/>
          <a:stretch>
            <a:fillRect/>
          </a:stretch>
        </p:blipFill>
        <p:spPr bwMode="auto">
          <a:xfrm>
            <a:off x="142844" y="1144685"/>
            <a:ext cx="8715436" cy="4498893"/>
          </a:xfrm>
          <a:prstGeom prst="rect">
            <a:avLst/>
          </a:prstGeom>
          <a:noFill/>
          <a:ln w="9525">
            <a:noFill/>
            <a:miter lim="800000"/>
            <a:headEnd/>
            <a:tailEnd/>
          </a:ln>
          <a:effectLst/>
        </p:spPr>
      </p:pic>
      <p:sp>
        <p:nvSpPr>
          <p:cNvPr id="5" name="TextBox 4"/>
          <p:cNvSpPr txBox="1"/>
          <p:nvPr/>
        </p:nvSpPr>
        <p:spPr>
          <a:xfrm>
            <a:off x="428596" y="5500702"/>
            <a:ext cx="8429684" cy="646331"/>
          </a:xfrm>
          <a:prstGeom prst="rect">
            <a:avLst/>
          </a:prstGeom>
          <a:noFill/>
        </p:spPr>
        <p:txBody>
          <a:bodyPr wrap="square" rtlCol="0">
            <a:spAutoFit/>
          </a:bodyPr>
          <a:lstStyle/>
          <a:p>
            <a:r>
              <a:rPr lang="en-US" dirty="0" smtClean="0"/>
              <a:t>There are two kinds of FLAGS; Status FLAG and Control FLAG. Status FLAG reflect the result of an operation executed by the processor.</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642918"/>
            <a:ext cx="8229600" cy="1066800"/>
          </a:xfrm>
        </p:spPr>
        <p:txBody>
          <a:bodyPr/>
          <a:lstStyle/>
          <a:p>
            <a:r>
              <a:rPr lang="en-US" dirty="0" smtClean="0"/>
              <a:t>2. Interrupt- initiated I/O</a:t>
            </a:r>
            <a:endParaRPr lang="en-US" dirty="0"/>
          </a:p>
        </p:txBody>
      </p:sp>
      <p:sp>
        <p:nvSpPr>
          <p:cNvPr id="3" name="Content Placeholder 2"/>
          <p:cNvSpPr>
            <a:spLocks noGrp="1"/>
          </p:cNvSpPr>
          <p:nvPr>
            <p:ph idx="1"/>
          </p:nvPr>
        </p:nvSpPr>
        <p:spPr>
          <a:xfrm>
            <a:off x="457200" y="1428736"/>
            <a:ext cx="8229600" cy="5145800"/>
          </a:xfrm>
        </p:spPr>
        <p:txBody>
          <a:bodyPr>
            <a:normAutofit/>
          </a:bodyPr>
          <a:lstStyle/>
          <a:p>
            <a:r>
              <a:rPr lang="en-US" dirty="0" smtClean="0"/>
              <a:t>In the above case we saw the CPU is kept busy unnecessarily. This situation can very well be avoided by using an interrupt driven method for data transfer.</a:t>
            </a:r>
          </a:p>
          <a:p>
            <a:r>
              <a:rPr lang="en-US" dirty="0" smtClean="0"/>
              <a:t>By using interrupt facility and special commands to inform the interface to issue an interrupt request signal whenever data is available from any device.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In the meantime the CPU can proceed for any other program execution. The interface meanwhile keeps monitoring the device. Whenever it is determined that the device is ready for data transfer it initiates an interrupt request signal to the computer.</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3. </a:t>
            </a:r>
            <a:r>
              <a:rPr lang="en-US" dirty="0" smtClean="0"/>
              <a:t>Direct Memory Access:</a:t>
            </a:r>
            <a:endParaRPr lang="en-US" dirty="0"/>
          </a:p>
        </p:txBody>
      </p:sp>
      <p:sp>
        <p:nvSpPr>
          <p:cNvPr id="3" name="Content Placeholder 2"/>
          <p:cNvSpPr>
            <a:spLocks noGrp="1"/>
          </p:cNvSpPr>
          <p:nvPr>
            <p:ph idx="1"/>
          </p:nvPr>
        </p:nvSpPr>
        <p:spPr/>
        <p:txBody>
          <a:bodyPr>
            <a:normAutofit lnSpcReduction="10000"/>
          </a:bodyPr>
          <a:lstStyle/>
          <a:p>
            <a:r>
              <a:rPr lang="en-US" dirty="0" smtClean="0"/>
              <a:t>We can allow the peripherals directly communicate with each other using the memory buses, removing the intervention of the CPU. This type of data transfer technique is known as DMA or direct memory access.</a:t>
            </a:r>
          </a:p>
          <a:p>
            <a:r>
              <a:rPr lang="en-US" dirty="0" smtClean="0"/>
              <a:t>During DMA the CPU is idle and it has no control over the memory buses. The DMA controller takes over the buses to manage the transfer directly between the I/O devices and the memory unit</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buNone/>
            </a:pPr>
            <a:r>
              <a:rPr lang="en-IN" dirty="0" smtClean="0"/>
              <a:t>END</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B2E91A2DEE58B4EB51C0D10FFC5F048" ma:contentTypeVersion="3" ma:contentTypeDescription="Create a new document." ma:contentTypeScope="" ma:versionID="c3483bf2d1b4ce78d0f2bebad5297fc0">
  <xsd:schema xmlns:xsd="http://www.w3.org/2001/XMLSchema" xmlns:xs="http://www.w3.org/2001/XMLSchema" xmlns:p="http://schemas.microsoft.com/office/2006/metadata/properties" xmlns:ns2="e528b528-bd60-45be-ac2f-1cf3f1815ca1" targetNamespace="http://schemas.microsoft.com/office/2006/metadata/properties" ma:root="true" ma:fieldsID="54d1f6c13b1d51aec7b8a9c3af92b54a" ns2:_="">
    <xsd:import namespace="e528b528-bd60-45be-ac2f-1cf3f1815ca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28b528-bd60-45be-ac2f-1cf3f1815c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BB87956-5FC2-4391-9F76-862E9C054859}">
  <ds:schemaRefs>
    <ds:schemaRef ds:uri="http://schemas.microsoft.com/sharepoint/v3/contenttype/forms"/>
  </ds:schemaRefs>
</ds:datastoreItem>
</file>

<file path=customXml/itemProps2.xml><?xml version="1.0" encoding="utf-8"?>
<ds:datastoreItem xmlns:ds="http://schemas.openxmlformats.org/officeDocument/2006/customXml" ds:itemID="{4963058C-798B-4C30-8D31-1EA09735090F}"/>
</file>

<file path=customXml/itemProps3.xml><?xml version="1.0" encoding="utf-8"?>
<ds:datastoreItem xmlns:ds="http://schemas.openxmlformats.org/officeDocument/2006/customXml" ds:itemID="{F951DCD3-F728-4F5C-8C7D-0ABCC463B93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Urban</Template>
  <TotalTime>300</TotalTime>
  <Words>779</Words>
  <Application>Microsoft Office PowerPoint</Application>
  <PresentationFormat>On-screen Show (4:3)</PresentationFormat>
  <Paragraphs>59</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Urban</vt:lpstr>
      <vt:lpstr>I/O Operations</vt:lpstr>
      <vt:lpstr>Input-output (I/O) systems</vt:lpstr>
      <vt:lpstr>Slide 3</vt:lpstr>
      <vt:lpstr>Slide 4</vt:lpstr>
      <vt:lpstr>Slide 5</vt:lpstr>
      <vt:lpstr>Slide 6</vt:lpstr>
      <vt:lpstr>I/O addressing methods</vt:lpstr>
      <vt:lpstr>Memory-mapped  </vt:lpstr>
      <vt:lpstr>Slide 9</vt:lpstr>
      <vt:lpstr>I/O-mapped  </vt:lpstr>
      <vt:lpstr>Mode of Transfer</vt:lpstr>
      <vt:lpstr>Slide 12</vt:lpstr>
      <vt:lpstr>1. Programmed I/O:</vt:lpstr>
      <vt:lpstr>Slide 14</vt:lpstr>
      <vt:lpstr>Slide 15</vt:lpstr>
      <vt:lpstr>2. Interrupt- initiated I/O</vt:lpstr>
      <vt:lpstr>Slide 17</vt:lpstr>
      <vt:lpstr>3. Direct Memory Access:</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 Operations</dc:title>
  <dc:creator>Lenovo</dc:creator>
  <cp:lastModifiedBy>Nandakumar</cp:lastModifiedBy>
  <cp:revision>13</cp:revision>
  <dcterms:created xsi:type="dcterms:W3CDTF">2022-05-10T06:54:53Z</dcterms:created>
  <dcterms:modified xsi:type="dcterms:W3CDTF">2023-05-26T14:00:24Z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0x0101002B2E91A2DEE58B4EB51C0D10FFC5F048</vt:lpwstr>
  </property>
</Properties>
</file>