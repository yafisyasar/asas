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80" r:id="rId6"/>
    <p:sldId id="273" r:id="rId7"/>
    <p:sldId id="272" r:id="rId8"/>
    <p:sldId id="276" r:id="rId9"/>
    <p:sldId id="277" r:id="rId10"/>
    <p:sldId id="281" r:id="rId11"/>
    <p:sldId id="283" r:id="rId12"/>
    <p:sldId id="282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-668" y="-1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45630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8722" y="188259"/>
            <a:ext cx="8596668" cy="60063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995083"/>
            <a:ext cx="8596668" cy="5046280"/>
          </a:xfrm>
        </p:spPr>
        <p:txBody>
          <a:bodyPr/>
          <a:lstStyle>
            <a:lvl1pPr algn="just"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solidFill>
                  <a:srgbClr val="FF0000"/>
                </a:solidFill>
                <a:latin typeface="Bahnschrift SemiBold" panose="020B0502040204020203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0583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55369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58523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71960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36136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6083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76184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97811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12081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71519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04449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4458336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975912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964777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6537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36D9E-C4F4-41D9-94DC-1C8D8AD23F83}" type="datetimeFigureOut">
              <a:rPr lang="en-US" smtClean="0"/>
              <a:pPr/>
              <a:t>5/26/2023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FF81E0D-25C6-439F-9BE9-4172D1F7E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27600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28619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9D0176-06C2-469D-AAE0-A6E2AD561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837" y="1007368"/>
            <a:ext cx="8596668" cy="504628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Why DMA?</a:t>
            </a:r>
          </a:p>
          <a:p>
            <a:r>
              <a:rPr lang="en-US" dirty="0"/>
              <a:t>Basically we have the CPU, I/O, and memory</a:t>
            </a:r>
          </a:p>
          <a:p>
            <a:r>
              <a:rPr lang="en-US" dirty="0"/>
              <a:t>Suppose the I/O devices want to transfer data to CPU, then CPU will transfer it to the memory. Whenever we have to access memory, first I/O goes to CPU and CPU access memory. For these,  2 cycles are required to transfer from I/O to memory and it’s time-consuming. Here the data transfer rate is slow.</a:t>
            </a:r>
          </a:p>
          <a:p>
            <a:r>
              <a:rPr lang="en-US" dirty="0"/>
              <a:t>This is the normal procedure without the concept of DMA.</a:t>
            </a:r>
          </a:p>
          <a:p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574D817E-D138-450F-9230-E3CC37822A0E}"/>
              </a:ext>
            </a:extLst>
          </p:cNvPr>
          <p:cNvSpPr/>
          <p:nvPr/>
        </p:nvSpPr>
        <p:spPr>
          <a:xfrm>
            <a:off x="10751673" y="1782980"/>
            <a:ext cx="895350" cy="914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CB38A43B-9322-412F-B277-0F82D1BD6014}"/>
              </a:ext>
            </a:extLst>
          </p:cNvPr>
          <p:cNvSpPr/>
          <p:nvPr/>
        </p:nvSpPr>
        <p:spPr>
          <a:xfrm>
            <a:off x="8929292" y="1859180"/>
            <a:ext cx="895350" cy="914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IN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xmlns="" id="{B149A017-9693-437D-A24E-9FB3B1F84755}"/>
              </a:ext>
            </a:extLst>
          </p:cNvPr>
          <p:cNvSpPr/>
          <p:nvPr/>
        </p:nvSpPr>
        <p:spPr>
          <a:xfrm rot="10800000">
            <a:off x="9904204" y="2202080"/>
            <a:ext cx="647700" cy="22860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8C632282-7FAC-4C69-AEB5-F44DBDCE240D}"/>
              </a:ext>
            </a:extLst>
          </p:cNvPr>
          <p:cNvSpPr/>
          <p:nvPr/>
        </p:nvSpPr>
        <p:spPr>
          <a:xfrm>
            <a:off x="9904203" y="3185396"/>
            <a:ext cx="895350" cy="91440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MM</a:t>
            </a:r>
            <a:endParaRPr lang="en-IN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xmlns="" id="{609C7457-0C27-493D-8533-AF2EC27694FF}"/>
              </a:ext>
            </a:extLst>
          </p:cNvPr>
          <p:cNvSpPr/>
          <p:nvPr/>
        </p:nvSpPr>
        <p:spPr>
          <a:xfrm rot="3640251">
            <a:off x="9510061" y="2918697"/>
            <a:ext cx="647701" cy="228601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5EE0552-6DA3-4ACB-81C3-9012A91F005F}"/>
              </a:ext>
            </a:extLst>
          </p:cNvPr>
          <p:cNvSpPr txBox="1"/>
          <p:nvPr/>
        </p:nvSpPr>
        <p:spPr>
          <a:xfrm>
            <a:off x="8929292" y="3073445"/>
            <a:ext cx="206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Transfer/</a:t>
            </a:r>
          </a:p>
          <a:p>
            <a:r>
              <a:rPr lang="en-US" dirty="0"/>
              <a:t>store 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15582C1-962B-44BC-80CD-097ADE68A271}"/>
              </a:ext>
            </a:extLst>
          </p:cNvPr>
          <p:cNvSpPr txBox="1"/>
          <p:nvPr/>
        </p:nvSpPr>
        <p:spPr>
          <a:xfrm>
            <a:off x="9764837" y="1520500"/>
            <a:ext cx="2069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Transfer/</a:t>
            </a:r>
          </a:p>
          <a:p>
            <a:r>
              <a:rPr lang="en-US" dirty="0"/>
              <a:t>store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BA1EE510-4040-4582-A5D8-7FDD7E101EAE}"/>
              </a:ext>
            </a:extLst>
          </p:cNvPr>
          <p:cNvSpPr txBox="1"/>
          <p:nvPr/>
        </p:nvSpPr>
        <p:spPr>
          <a:xfrm>
            <a:off x="9959950" y="928580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 cycle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91B5E53-5D95-4A62-B729-0DFFC84152ED}"/>
              </a:ext>
            </a:extLst>
          </p:cNvPr>
          <p:cNvSpPr txBox="1"/>
          <p:nvPr/>
        </p:nvSpPr>
        <p:spPr>
          <a:xfrm>
            <a:off x="10584845" y="2809197"/>
            <a:ext cx="2069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 cycle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54631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95E1405-8A56-497A-88F8-9D37219377DC}"/>
              </a:ext>
            </a:extLst>
          </p:cNvPr>
          <p:cNvSpPr/>
          <p:nvPr/>
        </p:nvSpPr>
        <p:spPr>
          <a:xfrm>
            <a:off x="10498612" y="1252756"/>
            <a:ext cx="1409700" cy="292333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81BAE06-D210-4A65-8054-03B33A124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614" y="355003"/>
            <a:ext cx="8596668" cy="5046280"/>
          </a:xfrm>
        </p:spPr>
        <p:txBody>
          <a:bodyPr>
            <a:normAutofit/>
          </a:bodyPr>
          <a:lstStyle/>
          <a:p>
            <a:r>
              <a:rPr lang="en-US" dirty="0"/>
              <a:t>Suppose if there is a direct connection from I/O to memory without the CPU involvement.  </a:t>
            </a:r>
          </a:p>
          <a:p>
            <a:r>
              <a:rPr lang="en-IN" dirty="0"/>
              <a:t>So it will save one cycle, and here comes the role of DMA.</a:t>
            </a:r>
          </a:p>
          <a:p>
            <a:r>
              <a:rPr lang="en-IN" dirty="0"/>
              <a:t>This connection </a:t>
            </a:r>
            <a:r>
              <a:rPr lang="en-IN" dirty="0" err="1"/>
              <a:t>bw</a:t>
            </a:r>
            <a:r>
              <a:rPr lang="en-IN" dirty="0"/>
              <a:t> the I/O and memory  </a:t>
            </a:r>
            <a:r>
              <a:rPr lang="en-IN" dirty="0" err="1"/>
              <a:t>ie</a:t>
            </a:r>
            <a:r>
              <a:rPr lang="en-IN" dirty="0"/>
              <a:t> DMA is provided by DMA controller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2EE62006-4232-47FA-9C7E-697BFD05F980}"/>
              </a:ext>
            </a:extLst>
          </p:cNvPr>
          <p:cNvSpPr/>
          <p:nvPr/>
        </p:nvSpPr>
        <p:spPr>
          <a:xfrm>
            <a:off x="10809425" y="1403618"/>
            <a:ext cx="89535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I/O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7EEFB4E9-A884-4A68-8CA6-22A2952505DB}"/>
              </a:ext>
            </a:extLst>
          </p:cNvPr>
          <p:cNvSpPr/>
          <p:nvPr/>
        </p:nvSpPr>
        <p:spPr>
          <a:xfrm>
            <a:off x="8987044" y="1479818"/>
            <a:ext cx="89535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IN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xmlns="" id="{BFB475E6-4CF5-44E5-8CF5-548845F56C55}"/>
              </a:ext>
            </a:extLst>
          </p:cNvPr>
          <p:cNvSpPr/>
          <p:nvPr/>
        </p:nvSpPr>
        <p:spPr>
          <a:xfrm rot="10800000">
            <a:off x="9961956" y="1822718"/>
            <a:ext cx="6477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xmlns="" id="{9D58C8F4-4934-4DC6-9EFA-1A9CC745C9C7}"/>
              </a:ext>
            </a:extLst>
          </p:cNvPr>
          <p:cNvSpPr/>
          <p:nvPr/>
        </p:nvSpPr>
        <p:spPr>
          <a:xfrm>
            <a:off x="10781105" y="3148934"/>
            <a:ext cx="89535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MM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xmlns="" id="{F8AB0527-5D80-4F19-B13C-8D34C542BD4F}"/>
              </a:ext>
            </a:extLst>
          </p:cNvPr>
          <p:cNvSpPr/>
          <p:nvPr/>
        </p:nvSpPr>
        <p:spPr>
          <a:xfrm rot="5400000">
            <a:off x="10879612" y="2600124"/>
            <a:ext cx="647701" cy="2286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37842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F4264B-2142-4873-B4E1-4887A144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810B74-AD87-4513-BFA6-D19297276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Direct memory access (DMA) is a method that allows an input/output (I/O) device to send or receive data directly to or from the main memory, bypassing the CPU to speed up memory operations.</a:t>
            </a:r>
          </a:p>
          <a:p>
            <a:r>
              <a:rPr lang="en-US" dirty="0">
                <a:solidFill>
                  <a:srgbClr val="424242"/>
                </a:solidFill>
                <a:latin typeface="Verdana" panose="020B0604030504040204" pitchFamily="34" charset="0"/>
              </a:rPr>
              <a:t>It is designed by Intel to transfer data at a faster rate.</a:t>
            </a:r>
          </a:p>
          <a:p>
            <a:r>
              <a:rPr lang="en-US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It allows the I/O device, to transfer data directly to/from memory without the CPU involvement.  </a:t>
            </a:r>
          </a:p>
          <a:p>
            <a:r>
              <a:rPr lang="en-US" b="0" i="0" dirty="0">
                <a:solidFill>
                  <a:srgbClr val="424242"/>
                </a:solidFill>
                <a:effectLst/>
                <a:latin typeface="Verdana" panose="020B0604030504040204" pitchFamily="34" charset="0"/>
              </a:rPr>
              <a:t>The process is managed by a chip known as a DMA controller (DMAC).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787245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Arc 44">
            <a:extLst>
              <a:ext uri="{FF2B5EF4-FFF2-40B4-BE49-F238E27FC236}">
                <a16:creationId xmlns:a16="http://schemas.microsoft.com/office/drawing/2014/main" xmlns="" id="{38C6A802-D412-43FD-BC12-C6019877CC27}"/>
              </a:ext>
            </a:extLst>
          </p:cNvPr>
          <p:cNvSpPr/>
          <p:nvPr/>
        </p:nvSpPr>
        <p:spPr>
          <a:xfrm rot="18896345">
            <a:off x="3568483" y="2138233"/>
            <a:ext cx="1778531" cy="1688030"/>
          </a:xfrm>
          <a:prstGeom prst="arc">
            <a:avLst>
              <a:gd name="adj1" fmla="val 14175035"/>
              <a:gd name="adj2" fmla="val 976933"/>
            </a:avLst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xmlns="" id="{158FACCB-8511-4B29-85A0-04FAB957F5C0}"/>
              </a:ext>
            </a:extLst>
          </p:cNvPr>
          <p:cNvSpPr/>
          <p:nvPr/>
        </p:nvSpPr>
        <p:spPr>
          <a:xfrm rot="18896345">
            <a:off x="1251146" y="2014605"/>
            <a:ext cx="1778531" cy="1688030"/>
          </a:xfrm>
          <a:prstGeom prst="arc">
            <a:avLst>
              <a:gd name="adj1" fmla="val 14175035"/>
              <a:gd name="adj2" fmla="val 976933"/>
            </a:avLst>
          </a:prstGeom>
          <a:ln w="3492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1A916E-F4E6-4A9D-B061-AA9419627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Working of DMAC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3E30F13-C4F1-432F-8FFC-5FFB453B022D}"/>
              </a:ext>
            </a:extLst>
          </p:cNvPr>
          <p:cNvSpPr/>
          <p:nvPr/>
        </p:nvSpPr>
        <p:spPr>
          <a:xfrm>
            <a:off x="578722" y="1270000"/>
            <a:ext cx="1371998" cy="2042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C38BF975-2A22-41E6-AB7F-C949AFD884EF}"/>
              </a:ext>
            </a:extLst>
          </p:cNvPr>
          <p:cNvSpPr/>
          <p:nvPr/>
        </p:nvSpPr>
        <p:spPr>
          <a:xfrm>
            <a:off x="2708114" y="1240822"/>
            <a:ext cx="1371998" cy="2042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9ED4450-29B0-4679-AF3A-A44C36DE92BE}"/>
              </a:ext>
            </a:extLst>
          </p:cNvPr>
          <p:cNvSpPr/>
          <p:nvPr/>
        </p:nvSpPr>
        <p:spPr>
          <a:xfrm>
            <a:off x="4877056" y="1270000"/>
            <a:ext cx="1371998" cy="2042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7FE455B-8730-46D0-B22E-D31E1FFE5E03}"/>
              </a:ext>
            </a:extLst>
          </p:cNvPr>
          <p:cNvSpPr/>
          <p:nvPr/>
        </p:nvSpPr>
        <p:spPr>
          <a:xfrm>
            <a:off x="7112910" y="1270000"/>
            <a:ext cx="1371998" cy="20421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DF051F52-1812-450D-BCC7-38718C5244B2}"/>
              </a:ext>
            </a:extLst>
          </p:cNvPr>
          <p:cNvSpPr/>
          <p:nvPr/>
        </p:nvSpPr>
        <p:spPr>
          <a:xfrm>
            <a:off x="2936240" y="2033494"/>
            <a:ext cx="822960" cy="2677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0000"/>
                </a:solidFill>
              </a:rPr>
              <a:t>Addr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3FEC29C-38A9-4095-B6E8-7285DBC6CA9D}"/>
              </a:ext>
            </a:extLst>
          </p:cNvPr>
          <p:cNvSpPr/>
          <p:nvPr/>
        </p:nvSpPr>
        <p:spPr>
          <a:xfrm>
            <a:off x="2936240" y="2405081"/>
            <a:ext cx="822960" cy="26774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Count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DAC93DA-B541-400F-B1E6-D66348367EB8}"/>
              </a:ext>
            </a:extLst>
          </p:cNvPr>
          <p:cNvSpPr/>
          <p:nvPr/>
        </p:nvSpPr>
        <p:spPr>
          <a:xfrm>
            <a:off x="2977034" y="2724970"/>
            <a:ext cx="782166" cy="4423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Ctrl Signal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4A15FFF-C247-4BD7-8BC2-016BB915A94D}"/>
              </a:ext>
            </a:extLst>
          </p:cNvPr>
          <p:cNvSpPr txBox="1"/>
          <p:nvPr/>
        </p:nvSpPr>
        <p:spPr>
          <a:xfrm>
            <a:off x="2392808" y="892735"/>
            <a:ext cx="205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DMA Controller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0F9E37C-51BF-4466-A40C-F833DF226570}"/>
              </a:ext>
            </a:extLst>
          </p:cNvPr>
          <p:cNvSpPr txBox="1"/>
          <p:nvPr/>
        </p:nvSpPr>
        <p:spPr>
          <a:xfrm>
            <a:off x="4445128" y="844781"/>
            <a:ext cx="205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Disk Controller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8757EFB7-AD63-4564-954F-3FE70990D9CD}"/>
              </a:ext>
            </a:extLst>
          </p:cNvPr>
          <p:cNvSpPr/>
          <p:nvPr/>
        </p:nvSpPr>
        <p:spPr>
          <a:xfrm>
            <a:off x="4988560" y="2033494"/>
            <a:ext cx="1107440" cy="4658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Buffer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xmlns="" id="{012FF3F9-18B4-47D8-9B0C-BD65C3990D63}"/>
              </a:ext>
            </a:extLst>
          </p:cNvPr>
          <p:cNvSpPr/>
          <p:nvPr/>
        </p:nvSpPr>
        <p:spPr>
          <a:xfrm rot="8793295">
            <a:off x="1228547" y="2165071"/>
            <a:ext cx="1778531" cy="1688030"/>
          </a:xfrm>
          <a:prstGeom prst="arc">
            <a:avLst>
              <a:gd name="adj1" fmla="val 14175035"/>
              <a:gd name="adj2" fmla="val 976933"/>
            </a:avLst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xmlns="" id="{2524225E-293A-4787-AAC3-387B20E82ED7}"/>
              </a:ext>
            </a:extLst>
          </p:cNvPr>
          <p:cNvSpPr/>
          <p:nvPr/>
        </p:nvSpPr>
        <p:spPr>
          <a:xfrm rot="8793295">
            <a:off x="3780649" y="2133728"/>
            <a:ext cx="1664790" cy="1688030"/>
          </a:xfrm>
          <a:prstGeom prst="arc">
            <a:avLst>
              <a:gd name="adj1" fmla="val 14175035"/>
              <a:gd name="adj2" fmla="val 976933"/>
            </a:avLst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xmlns="" id="{2548AF8E-EE23-484B-AE55-04A54D1D84DD}"/>
              </a:ext>
            </a:extLst>
          </p:cNvPr>
          <p:cNvSpPr/>
          <p:nvPr/>
        </p:nvSpPr>
        <p:spPr>
          <a:xfrm rot="8793295">
            <a:off x="5884726" y="2181664"/>
            <a:ext cx="1778531" cy="1688030"/>
          </a:xfrm>
          <a:prstGeom prst="arc">
            <a:avLst>
              <a:gd name="adj1" fmla="val 14175035"/>
              <a:gd name="adj2" fmla="val 976933"/>
            </a:avLst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Left Bracket 33">
            <a:extLst>
              <a:ext uri="{FF2B5EF4-FFF2-40B4-BE49-F238E27FC236}">
                <a16:creationId xmlns:a16="http://schemas.microsoft.com/office/drawing/2014/main" xmlns="" id="{4D8518A4-1670-4DB9-A4E3-D4AE4032D55C}"/>
              </a:ext>
            </a:extLst>
          </p:cNvPr>
          <p:cNvSpPr/>
          <p:nvPr/>
        </p:nvSpPr>
        <p:spPr>
          <a:xfrm rot="16200000">
            <a:off x="1756782" y="2618418"/>
            <a:ext cx="840526" cy="2362728"/>
          </a:xfrm>
          <a:prstGeom prst="lef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Left Bracket 34">
            <a:extLst>
              <a:ext uri="{FF2B5EF4-FFF2-40B4-BE49-F238E27FC236}">
                <a16:creationId xmlns:a16="http://schemas.microsoft.com/office/drawing/2014/main" xmlns="" id="{DE6C9697-147C-4617-B102-BD6142226AB8}"/>
              </a:ext>
            </a:extLst>
          </p:cNvPr>
          <p:cNvSpPr/>
          <p:nvPr/>
        </p:nvSpPr>
        <p:spPr>
          <a:xfrm rot="16200000">
            <a:off x="4187236" y="2772995"/>
            <a:ext cx="840526" cy="1918621"/>
          </a:xfrm>
          <a:prstGeom prst="lef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xmlns="" id="{8D0A04A6-6212-467C-8236-B0954C1B93E5}"/>
              </a:ext>
            </a:extLst>
          </p:cNvPr>
          <p:cNvSpPr/>
          <p:nvPr/>
        </p:nvSpPr>
        <p:spPr>
          <a:xfrm rot="16200000">
            <a:off x="6430893" y="2633293"/>
            <a:ext cx="840526" cy="2260044"/>
          </a:xfrm>
          <a:prstGeom prst="lef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Left Bracket 36">
            <a:extLst>
              <a:ext uri="{FF2B5EF4-FFF2-40B4-BE49-F238E27FC236}">
                <a16:creationId xmlns:a16="http://schemas.microsoft.com/office/drawing/2014/main" xmlns="" id="{41A56639-96D0-4B99-A15E-BBF341355734}"/>
              </a:ext>
            </a:extLst>
          </p:cNvPr>
          <p:cNvSpPr/>
          <p:nvPr/>
        </p:nvSpPr>
        <p:spPr>
          <a:xfrm rot="16200000">
            <a:off x="3973957" y="92834"/>
            <a:ext cx="1151841" cy="7623610"/>
          </a:xfrm>
          <a:prstGeom prst="leftBracket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Cylinder 37">
            <a:extLst>
              <a:ext uri="{FF2B5EF4-FFF2-40B4-BE49-F238E27FC236}">
                <a16:creationId xmlns:a16="http://schemas.microsoft.com/office/drawing/2014/main" xmlns="" id="{DC279055-6A12-43EE-A94D-69B666C5A10A}"/>
              </a:ext>
            </a:extLst>
          </p:cNvPr>
          <p:cNvSpPr/>
          <p:nvPr/>
        </p:nvSpPr>
        <p:spPr>
          <a:xfrm>
            <a:off x="6264099" y="488562"/>
            <a:ext cx="587057" cy="600635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xmlns="" id="{6D4EF14E-FAF2-4C1B-9B44-A12C10F75145}"/>
              </a:ext>
            </a:extLst>
          </p:cNvPr>
          <p:cNvSpPr txBox="1"/>
          <p:nvPr/>
        </p:nvSpPr>
        <p:spPr>
          <a:xfrm>
            <a:off x="6096000" y="197092"/>
            <a:ext cx="2052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Drive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xmlns="" id="{C62B33F0-118D-424C-84A2-A8430314882D}"/>
              </a:ext>
            </a:extLst>
          </p:cNvPr>
          <p:cNvSpPr txBox="1"/>
          <p:nvPr/>
        </p:nvSpPr>
        <p:spPr>
          <a:xfrm>
            <a:off x="1744651" y="3936733"/>
            <a:ext cx="165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Interrupt</a:t>
            </a:r>
            <a:endParaRPr lang="en-IN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7AA93EEF-8EC3-4FD7-B487-CF1A6277E83E}"/>
              </a:ext>
            </a:extLst>
          </p:cNvPr>
          <p:cNvSpPr txBox="1"/>
          <p:nvPr/>
        </p:nvSpPr>
        <p:spPr>
          <a:xfrm>
            <a:off x="1950874" y="1528385"/>
            <a:ext cx="537274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xmlns="" id="{CC44C0B2-AA96-48D1-9B0E-58E24C7473B7}"/>
              </a:ext>
            </a:extLst>
          </p:cNvPr>
          <p:cNvSpPr txBox="1"/>
          <p:nvPr/>
        </p:nvSpPr>
        <p:spPr>
          <a:xfrm>
            <a:off x="4345760" y="3206639"/>
            <a:ext cx="537274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5BE737F0-826F-4F22-B556-0F120A07534E}"/>
              </a:ext>
            </a:extLst>
          </p:cNvPr>
          <p:cNvSpPr txBox="1"/>
          <p:nvPr/>
        </p:nvSpPr>
        <p:spPr>
          <a:xfrm>
            <a:off x="6533016" y="3450689"/>
            <a:ext cx="537274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8C3AD2B0-CA0F-43D6-BDB8-5E729946B7E6}"/>
              </a:ext>
            </a:extLst>
          </p:cNvPr>
          <p:cNvSpPr txBox="1"/>
          <p:nvPr/>
        </p:nvSpPr>
        <p:spPr>
          <a:xfrm>
            <a:off x="4345760" y="1756600"/>
            <a:ext cx="537274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xmlns="" id="{EEE2D7AC-70F7-4B79-809B-F8D079350383}"/>
              </a:ext>
            </a:extLst>
          </p:cNvPr>
          <p:cNvSpPr/>
          <p:nvPr/>
        </p:nvSpPr>
        <p:spPr>
          <a:xfrm>
            <a:off x="2519680" y="1971040"/>
            <a:ext cx="183978" cy="193040"/>
          </a:xfrm>
          <a:custGeom>
            <a:avLst/>
            <a:gdLst>
              <a:gd name="connsiteX0" fmla="*/ 0 w 183978"/>
              <a:gd name="connsiteY0" fmla="*/ 193040 h 193040"/>
              <a:gd name="connsiteX1" fmla="*/ 142240 w 183978"/>
              <a:gd name="connsiteY1" fmla="*/ 182880 h 193040"/>
              <a:gd name="connsiteX2" fmla="*/ 182880 w 183978"/>
              <a:gd name="connsiteY2" fmla="*/ 172720 h 193040"/>
              <a:gd name="connsiteX3" fmla="*/ 162560 w 183978"/>
              <a:gd name="connsiteY3" fmla="*/ 121920 h 193040"/>
              <a:gd name="connsiteX4" fmla="*/ 121920 w 183978"/>
              <a:gd name="connsiteY4" fmla="*/ 40640 h 193040"/>
              <a:gd name="connsiteX5" fmla="*/ 111760 w 183978"/>
              <a:gd name="connsiteY5" fmla="*/ 10160 h 193040"/>
              <a:gd name="connsiteX6" fmla="*/ 81280 w 183978"/>
              <a:gd name="connsiteY6" fmla="*/ 0 h 193040"/>
              <a:gd name="connsiteX7" fmla="*/ 50800 w 183978"/>
              <a:gd name="connsiteY7" fmla="*/ 20320 h 19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3978" h="193040">
                <a:moveTo>
                  <a:pt x="0" y="193040"/>
                </a:moveTo>
                <a:cubicBezTo>
                  <a:pt x="47413" y="189653"/>
                  <a:pt x="94997" y="188129"/>
                  <a:pt x="142240" y="182880"/>
                </a:cubicBezTo>
                <a:cubicBezTo>
                  <a:pt x="156118" y="181338"/>
                  <a:pt x="178464" y="185967"/>
                  <a:pt x="182880" y="172720"/>
                </a:cubicBezTo>
                <a:cubicBezTo>
                  <a:pt x="188647" y="155418"/>
                  <a:pt x="170203" y="138479"/>
                  <a:pt x="162560" y="121920"/>
                </a:cubicBezTo>
                <a:cubicBezTo>
                  <a:pt x="149866" y="94417"/>
                  <a:pt x="134455" y="68216"/>
                  <a:pt x="121920" y="40640"/>
                </a:cubicBezTo>
                <a:cubicBezTo>
                  <a:pt x="117488" y="30890"/>
                  <a:pt x="119333" y="17733"/>
                  <a:pt x="111760" y="10160"/>
                </a:cubicBezTo>
                <a:cubicBezTo>
                  <a:pt x="104187" y="2587"/>
                  <a:pt x="91440" y="3387"/>
                  <a:pt x="81280" y="0"/>
                </a:cubicBezTo>
                <a:cubicBezTo>
                  <a:pt x="47587" y="11231"/>
                  <a:pt x="50800" y="-550"/>
                  <a:pt x="50800" y="20320"/>
                </a:cubicBezTo>
              </a:path>
            </a:pathLst>
          </a:cu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xmlns="" id="{6E10E6F2-F657-457A-B46C-B6BE66D41582}"/>
              </a:ext>
            </a:extLst>
          </p:cNvPr>
          <p:cNvSpPr/>
          <p:nvPr/>
        </p:nvSpPr>
        <p:spPr>
          <a:xfrm>
            <a:off x="5273040" y="3302000"/>
            <a:ext cx="162560" cy="203200"/>
          </a:xfrm>
          <a:custGeom>
            <a:avLst/>
            <a:gdLst>
              <a:gd name="connsiteX0" fmla="*/ 0 w 162560"/>
              <a:gd name="connsiteY0" fmla="*/ 60960 h 274320"/>
              <a:gd name="connsiteX1" fmla="*/ 50800 w 162560"/>
              <a:gd name="connsiteY1" fmla="*/ 50800 h 274320"/>
              <a:gd name="connsiteX2" fmla="*/ 111760 w 162560"/>
              <a:gd name="connsiteY2" fmla="*/ 0 h 274320"/>
              <a:gd name="connsiteX3" fmla="*/ 142240 w 162560"/>
              <a:gd name="connsiteY3" fmla="*/ 203200 h 274320"/>
              <a:gd name="connsiteX4" fmla="*/ 162560 w 162560"/>
              <a:gd name="connsiteY4" fmla="*/ 27432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560" h="274320">
                <a:moveTo>
                  <a:pt x="0" y="60960"/>
                </a:moveTo>
                <a:cubicBezTo>
                  <a:pt x="16933" y="57573"/>
                  <a:pt x="36156" y="59952"/>
                  <a:pt x="50800" y="50800"/>
                </a:cubicBezTo>
                <a:cubicBezTo>
                  <a:pt x="177334" y="-28284"/>
                  <a:pt x="8530" y="34410"/>
                  <a:pt x="111760" y="0"/>
                </a:cubicBezTo>
                <a:cubicBezTo>
                  <a:pt x="121920" y="67733"/>
                  <a:pt x="123424" y="137344"/>
                  <a:pt x="142240" y="203200"/>
                </a:cubicBezTo>
                <a:lnTo>
                  <a:pt x="162560" y="274320"/>
                </a:lnTo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xmlns="" id="{A81DB422-7CB5-4D83-BB01-154A4D68D1D4}"/>
              </a:ext>
            </a:extLst>
          </p:cNvPr>
          <p:cNvSpPr/>
          <p:nvPr/>
        </p:nvSpPr>
        <p:spPr>
          <a:xfrm>
            <a:off x="7481437" y="3271051"/>
            <a:ext cx="162560" cy="203200"/>
          </a:xfrm>
          <a:custGeom>
            <a:avLst/>
            <a:gdLst>
              <a:gd name="connsiteX0" fmla="*/ 0 w 162560"/>
              <a:gd name="connsiteY0" fmla="*/ 60960 h 274320"/>
              <a:gd name="connsiteX1" fmla="*/ 50800 w 162560"/>
              <a:gd name="connsiteY1" fmla="*/ 50800 h 274320"/>
              <a:gd name="connsiteX2" fmla="*/ 111760 w 162560"/>
              <a:gd name="connsiteY2" fmla="*/ 0 h 274320"/>
              <a:gd name="connsiteX3" fmla="*/ 142240 w 162560"/>
              <a:gd name="connsiteY3" fmla="*/ 203200 h 274320"/>
              <a:gd name="connsiteX4" fmla="*/ 162560 w 162560"/>
              <a:gd name="connsiteY4" fmla="*/ 274320 h 27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2560" h="274320">
                <a:moveTo>
                  <a:pt x="0" y="60960"/>
                </a:moveTo>
                <a:cubicBezTo>
                  <a:pt x="16933" y="57573"/>
                  <a:pt x="36156" y="59952"/>
                  <a:pt x="50800" y="50800"/>
                </a:cubicBezTo>
                <a:cubicBezTo>
                  <a:pt x="177334" y="-28284"/>
                  <a:pt x="8530" y="34410"/>
                  <a:pt x="111760" y="0"/>
                </a:cubicBezTo>
                <a:cubicBezTo>
                  <a:pt x="121920" y="67733"/>
                  <a:pt x="123424" y="137344"/>
                  <a:pt x="142240" y="203200"/>
                </a:cubicBezTo>
                <a:lnTo>
                  <a:pt x="162560" y="274320"/>
                </a:lnTo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xmlns="" id="{1875FB01-13A6-4EDE-B20B-3B189947213E}"/>
              </a:ext>
            </a:extLst>
          </p:cNvPr>
          <p:cNvSpPr/>
          <p:nvPr/>
        </p:nvSpPr>
        <p:spPr>
          <a:xfrm>
            <a:off x="3932247" y="2097976"/>
            <a:ext cx="314960" cy="243840"/>
          </a:xfrm>
          <a:custGeom>
            <a:avLst/>
            <a:gdLst>
              <a:gd name="connsiteX0" fmla="*/ 0 w 314960"/>
              <a:gd name="connsiteY0" fmla="*/ 0 h 243840"/>
              <a:gd name="connsiteX1" fmla="*/ 20320 w 314960"/>
              <a:gd name="connsiteY1" fmla="*/ 50800 h 243840"/>
              <a:gd name="connsiteX2" fmla="*/ 71120 w 314960"/>
              <a:gd name="connsiteY2" fmla="*/ 142240 h 243840"/>
              <a:gd name="connsiteX3" fmla="*/ 81280 w 314960"/>
              <a:gd name="connsiteY3" fmla="*/ 182880 h 243840"/>
              <a:gd name="connsiteX4" fmla="*/ 193040 w 314960"/>
              <a:gd name="connsiteY4" fmla="*/ 193040 h 243840"/>
              <a:gd name="connsiteX5" fmla="*/ 314960 w 314960"/>
              <a:gd name="connsiteY5" fmla="*/ 243840 h 243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4960" h="243840">
                <a:moveTo>
                  <a:pt x="0" y="0"/>
                </a:moveTo>
                <a:cubicBezTo>
                  <a:pt x="6773" y="16933"/>
                  <a:pt x="12164" y="34488"/>
                  <a:pt x="20320" y="50800"/>
                </a:cubicBezTo>
                <a:cubicBezTo>
                  <a:pt x="66846" y="143852"/>
                  <a:pt x="9868" y="-10890"/>
                  <a:pt x="71120" y="142240"/>
                </a:cubicBezTo>
                <a:cubicBezTo>
                  <a:pt x="76306" y="155205"/>
                  <a:pt x="68391" y="177509"/>
                  <a:pt x="81280" y="182880"/>
                </a:cubicBezTo>
                <a:cubicBezTo>
                  <a:pt x="115809" y="197267"/>
                  <a:pt x="155787" y="189653"/>
                  <a:pt x="193040" y="193040"/>
                </a:cubicBezTo>
                <a:cubicBezTo>
                  <a:pt x="286809" y="239925"/>
                  <a:pt x="244933" y="226333"/>
                  <a:pt x="314960" y="24384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xmlns="" id="{DA0605BE-84D1-4B29-9021-27AC40F5101A}"/>
              </a:ext>
            </a:extLst>
          </p:cNvPr>
          <p:cNvSpPr/>
          <p:nvPr/>
        </p:nvSpPr>
        <p:spPr>
          <a:xfrm>
            <a:off x="1188720" y="3312047"/>
            <a:ext cx="254000" cy="91553"/>
          </a:xfrm>
          <a:custGeom>
            <a:avLst/>
            <a:gdLst>
              <a:gd name="connsiteX0" fmla="*/ 0 w 254000"/>
              <a:gd name="connsiteY0" fmla="*/ 91553 h 91553"/>
              <a:gd name="connsiteX1" fmla="*/ 20320 w 254000"/>
              <a:gd name="connsiteY1" fmla="*/ 40753 h 91553"/>
              <a:gd name="connsiteX2" fmla="*/ 40640 w 254000"/>
              <a:gd name="connsiteY2" fmla="*/ 113 h 91553"/>
              <a:gd name="connsiteX3" fmla="*/ 172720 w 254000"/>
              <a:gd name="connsiteY3" fmla="*/ 30593 h 91553"/>
              <a:gd name="connsiteX4" fmla="*/ 213360 w 254000"/>
              <a:gd name="connsiteY4" fmla="*/ 50913 h 91553"/>
              <a:gd name="connsiteX5" fmla="*/ 254000 w 254000"/>
              <a:gd name="connsiteY5" fmla="*/ 61073 h 91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4000" h="91553">
                <a:moveTo>
                  <a:pt x="0" y="91553"/>
                </a:moveTo>
                <a:cubicBezTo>
                  <a:pt x="6773" y="74620"/>
                  <a:pt x="12913" y="57419"/>
                  <a:pt x="20320" y="40753"/>
                </a:cubicBezTo>
                <a:cubicBezTo>
                  <a:pt x="26471" y="26913"/>
                  <a:pt x="25700" y="2603"/>
                  <a:pt x="40640" y="113"/>
                </a:cubicBezTo>
                <a:cubicBezTo>
                  <a:pt x="51054" y="-1623"/>
                  <a:pt x="141007" y="17002"/>
                  <a:pt x="172720" y="30593"/>
                </a:cubicBezTo>
                <a:cubicBezTo>
                  <a:pt x="186641" y="36559"/>
                  <a:pt x="199179" y="45595"/>
                  <a:pt x="213360" y="50913"/>
                </a:cubicBezTo>
                <a:cubicBezTo>
                  <a:pt x="226435" y="55816"/>
                  <a:pt x="254000" y="61073"/>
                  <a:pt x="254000" y="61073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989B5FBF-E912-4327-813D-C367F9379334}"/>
              </a:ext>
            </a:extLst>
          </p:cNvPr>
          <p:cNvSpPr txBox="1"/>
          <p:nvPr/>
        </p:nvSpPr>
        <p:spPr>
          <a:xfrm>
            <a:off x="4857590" y="4500820"/>
            <a:ext cx="1651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829587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AA0A5E6-F0BD-45BC-A67B-D7FA730D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B7F02B-77D0-4D22-85AB-5FB22D8E2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the following components</a:t>
            </a:r>
          </a:p>
          <a:p>
            <a:r>
              <a:rPr lang="en-US" dirty="0"/>
              <a:t>CPU</a:t>
            </a:r>
          </a:p>
          <a:p>
            <a:r>
              <a:rPr lang="en-US" dirty="0"/>
              <a:t>DMA controller</a:t>
            </a:r>
          </a:p>
          <a:p>
            <a:r>
              <a:rPr lang="en-US" dirty="0"/>
              <a:t>Disk Controller</a:t>
            </a:r>
          </a:p>
          <a:p>
            <a:r>
              <a:rPr lang="en-US" dirty="0"/>
              <a:t>Memory</a:t>
            </a:r>
          </a:p>
          <a:p>
            <a:r>
              <a:rPr lang="en-US" dirty="0"/>
              <a:t>These components are connected by Bus.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9168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989028-FF0C-4AAE-8E42-3949140FE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DMA operation are performed?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8DE424-B321-4062-A3F7-A4486CE26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the device wants to send data to memory, first the device has to send a DMA request (DRQ) to DMA controller.</a:t>
            </a:r>
          </a:p>
          <a:p>
            <a:r>
              <a:rPr lang="en-US" dirty="0"/>
              <a:t>Then the DMA controller sends HLQ signal   (Hold Request) to CPU and waits for the CPU to send ack (HLDA). </a:t>
            </a:r>
            <a:r>
              <a:rPr lang="en-US" dirty="0" err="1"/>
              <a:t>Ie</a:t>
            </a:r>
            <a:r>
              <a:rPr lang="en-US" dirty="0"/>
              <a:t> it is asking u </a:t>
            </a:r>
            <a:r>
              <a:rPr lang="en-US" dirty="0" err="1"/>
              <a:t>plz</a:t>
            </a:r>
            <a:r>
              <a:rPr lang="en-US" dirty="0"/>
              <a:t> remain in hold and hand over the sys bus to me so that I can transfer the data directly from peripherals to memory. </a:t>
            </a:r>
          </a:p>
        </p:txBody>
      </p:sp>
    </p:spTree>
    <p:extLst>
      <p:ext uri="{BB962C8B-B14F-4D97-AF65-F5344CB8AC3E}">
        <p14:creationId xmlns:p14="http://schemas.microsoft.com/office/powerpoint/2010/main" xmlns="" val="4108760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Whenever the DMA gets the Hold </a:t>
            </a:r>
            <a:r>
              <a:rPr lang="en-US" dirty="0" err="1" smtClean="0"/>
              <a:t>Ack</a:t>
            </a:r>
            <a:r>
              <a:rPr lang="en-US" dirty="0" smtClean="0"/>
              <a:t> signal (HLDA), it becomes the master and CPU become the slave. </a:t>
            </a:r>
          </a:p>
          <a:p>
            <a:r>
              <a:rPr lang="en-US" dirty="0" smtClean="0"/>
              <a:t>Them the CPU leaves the control over bus and acknowledge the Hold </a:t>
            </a:r>
            <a:r>
              <a:rPr lang="en-US" dirty="0" err="1" smtClean="0"/>
              <a:t>ack</a:t>
            </a:r>
            <a:r>
              <a:rPr lang="en-US" dirty="0" smtClean="0"/>
              <a:t> signal (HLDA) to DMA controller.</a:t>
            </a:r>
          </a:p>
          <a:p>
            <a:r>
              <a:rPr lang="en-US" dirty="0" smtClean="0"/>
              <a:t>Now, the CPU in hold state, and the DMA controller  has to manage   operations over buses between CPU, memory and I/O devices. </a:t>
            </a:r>
          </a:p>
          <a:p>
            <a:endParaRPr lang="en-IN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661367-8B9D-4D9D-8C14-37BD8EAE8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D43FD9D-B3E8-4FAE-A2BD-359CAFB7F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8477491-CD74-4ECC-B7B3-40B09A87E632}"/>
              </a:ext>
            </a:extLst>
          </p:cNvPr>
          <p:cNvSpPr/>
          <p:nvPr/>
        </p:nvSpPr>
        <p:spPr>
          <a:xfrm>
            <a:off x="1713298" y="2175310"/>
            <a:ext cx="1828800" cy="577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53AFA38-B1DF-49E3-BDBE-09CD37A1F33C}"/>
              </a:ext>
            </a:extLst>
          </p:cNvPr>
          <p:cNvSpPr/>
          <p:nvPr/>
        </p:nvSpPr>
        <p:spPr>
          <a:xfrm>
            <a:off x="5900288" y="2175310"/>
            <a:ext cx="1828800" cy="577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EBBB8F0-F156-47EA-AF7C-7332C324050A}"/>
              </a:ext>
            </a:extLst>
          </p:cNvPr>
          <p:cNvSpPr/>
          <p:nvPr/>
        </p:nvSpPr>
        <p:spPr>
          <a:xfrm>
            <a:off x="4071488" y="3031958"/>
            <a:ext cx="1828800" cy="577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DMA controller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50D33FC-60C9-4F38-90CD-B7C87DA872E7}"/>
              </a:ext>
            </a:extLst>
          </p:cNvPr>
          <p:cNvSpPr/>
          <p:nvPr/>
        </p:nvSpPr>
        <p:spPr>
          <a:xfrm>
            <a:off x="4177366" y="4408371"/>
            <a:ext cx="1828800" cy="5775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IN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xmlns="" id="{5E5479CB-2D50-4DE4-B209-968D1607FF4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22848" y="2304497"/>
            <a:ext cx="673768" cy="635268"/>
          </a:xfrm>
          <a:prstGeom prst="bentConnector3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97F14903-29A1-48EB-ABCF-168331D6CB13}"/>
              </a:ext>
            </a:extLst>
          </p:cNvPr>
          <p:cNvSpPr txBox="1"/>
          <p:nvPr/>
        </p:nvSpPr>
        <p:spPr>
          <a:xfrm>
            <a:off x="3696101" y="2261937"/>
            <a:ext cx="1284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DRQ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5481E748-069B-4B77-9A40-9D04A5EE58B1}"/>
              </a:ext>
            </a:extLst>
          </p:cNvPr>
          <p:cNvCxnSpPr/>
          <p:nvPr/>
        </p:nvCxnSpPr>
        <p:spPr>
          <a:xfrm>
            <a:off x="4533499" y="3609474"/>
            <a:ext cx="0" cy="7988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2FB76572-2A50-412C-972F-9DC05006E4B4}"/>
              </a:ext>
            </a:extLst>
          </p:cNvPr>
          <p:cNvCxnSpPr/>
          <p:nvPr/>
        </p:nvCxnSpPr>
        <p:spPr>
          <a:xfrm flipV="1">
            <a:off x="5457524" y="3609474"/>
            <a:ext cx="0" cy="7988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xmlns="" id="{968B7780-6CEA-4ECF-960D-DE80269E92AE}"/>
              </a:ext>
            </a:extLst>
          </p:cNvPr>
          <p:cNvCxnSpPr>
            <a:cxnSpLocks/>
          </p:cNvCxnSpPr>
          <p:nvPr/>
        </p:nvCxnSpPr>
        <p:spPr>
          <a:xfrm flipV="1">
            <a:off x="5351646" y="2550694"/>
            <a:ext cx="519765" cy="466072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56831C81-1584-4DAF-A3C2-3D607724EB4F}"/>
              </a:ext>
            </a:extLst>
          </p:cNvPr>
          <p:cNvSpPr txBox="1"/>
          <p:nvPr/>
        </p:nvSpPr>
        <p:spPr>
          <a:xfrm>
            <a:off x="3667228" y="3830855"/>
            <a:ext cx="137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HLQ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993BA1BE-748C-4817-8CD6-71DC86568E91}"/>
              </a:ext>
            </a:extLst>
          </p:cNvPr>
          <p:cNvSpPr txBox="1"/>
          <p:nvPr/>
        </p:nvSpPr>
        <p:spPr>
          <a:xfrm>
            <a:off x="5575466" y="3808032"/>
            <a:ext cx="137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HLDA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A3564E54-6335-4589-A041-B6BE26F0C993}"/>
              </a:ext>
            </a:extLst>
          </p:cNvPr>
          <p:cNvSpPr txBox="1"/>
          <p:nvPr/>
        </p:nvSpPr>
        <p:spPr>
          <a:xfrm>
            <a:off x="6126481" y="4620127"/>
            <a:ext cx="137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Slave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46B24CD9-2A9D-4AA5-8D95-26BE93E59906}"/>
              </a:ext>
            </a:extLst>
          </p:cNvPr>
          <p:cNvSpPr txBox="1"/>
          <p:nvPr/>
        </p:nvSpPr>
        <p:spPr>
          <a:xfrm>
            <a:off x="5871411" y="2922509"/>
            <a:ext cx="137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Master</a:t>
            </a:r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D21C5280-F0A4-4852-9360-FB9334F25EAE}"/>
              </a:ext>
            </a:extLst>
          </p:cNvPr>
          <p:cNvCxnSpPr>
            <a:cxnSpLocks/>
          </p:cNvCxnSpPr>
          <p:nvPr/>
        </p:nvCxnSpPr>
        <p:spPr>
          <a:xfrm>
            <a:off x="3676849" y="2285246"/>
            <a:ext cx="2223439" cy="0"/>
          </a:xfrm>
          <a:prstGeom prst="straightConnector1">
            <a:avLst/>
          </a:prstGeom>
          <a:ln w="2222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655272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xmlns="" val="288041193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2E91A2DEE58B4EB51C0D10FFC5F048" ma:contentTypeVersion="3" ma:contentTypeDescription="Create a new document." ma:contentTypeScope="" ma:versionID="c3483bf2d1b4ce78d0f2bebad5297fc0">
  <xsd:schema xmlns:xsd="http://www.w3.org/2001/XMLSchema" xmlns:xs="http://www.w3.org/2001/XMLSchema" xmlns:p="http://schemas.microsoft.com/office/2006/metadata/properties" xmlns:ns2="e528b528-bd60-45be-ac2f-1cf3f1815ca1" targetNamespace="http://schemas.microsoft.com/office/2006/metadata/properties" ma:root="true" ma:fieldsID="54d1f6c13b1d51aec7b8a9c3af92b54a" ns2:_="">
    <xsd:import namespace="e528b528-bd60-45be-ac2f-1cf3f1815c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8b528-bd60-45be-ac2f-1cf3f1815c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F70E53-CF8C-4841-B0E6-A7D00DB4673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ED21C31-FF23-4510-8075-48D3A5AAF5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6A4A454-9D0B-490C-A076-C0F174348960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893</TotalTime>
  <Words>436</Words>
  <Application>Microsoft Office PowerPoint</Application>
  <PresentationFormat>Custom</PresentationFormat>
  <Paragraphs>62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Facet</vt:lpstr>
      <vt:lpstr>DMA</vt:lpstr>
      <vt:lpstr>Slide 2</vt:lpstr>
      <vt:lpstr>Slide 3</vt:lpstr>
      <vt:lpstr>Slide 4</vt:lpstr>
      <vt:lpstr>Working of DMAC</vt:lpstr>
      <vt:lpstr>Slide 6</vt:lpstr>
      <vt:lpstr>How DMA operation are performed?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Nandakumar</cp:lastModifiedBy>
  <cp:revision>52</cp:revision>
  <dcterms:created xsi:type="dcterms:W3CDTF">2019-10-30T09:47:27Z</dcterms:created>
  <dcterms:modified xsi:type="dcterms:W3CDTF">2023-05-26T13:59:40Z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0x0101002B2E91A2DEE58B4EB51C0D10FFC5F048</vt:lpwstr>
  </property>
</Properties>
</file>