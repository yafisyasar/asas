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Masters/slideMaster1.xml" ContentType="application/vnd.openxmlformats-officedocument.presentationml.slideMaster+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8"/>
  </p:notesMasterIdLst>
  <p:sldIdLst>
    <p:sldId id="257" r:id="rId2"/>
    <p:sldId id="374" r:id="rId3"/>
    <p:sldId id="266" r:id="rId4"/>
    <p:sldId id="375" r:id="rId5"/>
    <p:sldId id="267" r:id="rId6"/>
    <p:sldId id="268" r:id="rId7"/>
    <p:sldId id="269" r:id="rId8"/>
    <p:sldId id="270" r:id="rId9"/>
    <p:sldId id="271" r:id="rId10"/>
    <p:sldId id="272" r:id="rId11"/>
    <p:sldId id="273" r:id="rId12"/>
    <p:sldId id="274" r:id="rId13"/>
    <p:sldId id="275" r:id="rId14"/>
    <p:sldId id="277" r:id="rId15"/>
    <p:sldId id="278" r:id="rId16"/>
    <p:sldId id="279" r:id="rId17"/>
    <p:sldId id="280" r:id="rId18"/>
    <p:sldId id="281" r:id="rId19"/>
    <p:sldId id="376" r:id="rId20"/>
    <p:sldId id="378" r:id="rId21"/>
    <p:sldId id="377" r:id="rId22"/>
    <p:sldId id="285" r:id="rId23"/>
    <p:sldId id="350" r:id="rId24"/>
    <p:sldId id="351" r:id="rId25"/>
    <p:sldId id="352" r:id="rId26"/>
    <p:sldId id="353" r:id="rId27"/>
    <p:sldId id="354" r:id="rId28"/>
    <p:sldId id="355" r:id="rId29"/>
    <p:sldId id="356" r:id="rId30"/>
    <p:sldId id="357" r:id="rId31"/>
    <p:sldId id="358" r:id="rId32"/>
    <p:sldId id="359" r:id="rId33"/>
    <p:sldId id="360" r:id="rId34"/>
    <p:sldId id="361" r:id="rId35"/>
    <p:sldId id="362" r:id="rId36"/>
    <p:sldId id="363" r:id="rId37"/>
    <p:sldId id="364" r:id="rId38"/>
    <p:sldId id="365" r:id="rId39"/>
    <p:sldId id="366" r:id="rId40"/>
    <p:sldId id="367" r:id="rId41"/>
    <p:sldId id="368" r:id="rId42"/>
    <p:sldId id="369" r:id="rId43"/>
    <p:sldId id="370" r:id="rId44"/>
    <p:sldId id="371" r:id="rId45"/>
    <p:sldId id="372" r:id="rId46"/>
    <p:sldId id="373"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55"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customXml" Target="../customXml/item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DB4574-D22B-2A4F-A08F-3514ED95A77B}" type="datetimeFigureOut">
              <a:rPr lang="en-US" smtClean="0"/>
              <a:t>10/29/2025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255439-565F-D24C-B37A-17DDAC422E40}" type="slidenum">
              <a:rPr lang="en-US" smtClean="0"/>
              <a:t>‹#›</a:t>
            </a:fld>
            <a:endParaRPr lang="en-US"/>
          </a:p>
        </p:txBody>
      </p:sp>
    </p:spTree>
    <p:extLst>
      <p:ext uri="{BB962C8B-B14F-4D97-AF65-F5344CB8AC3E}">
        <p14:creationId xmlns:p14="http://schemas.microsoft.com/office/powerpoint/2010/main" val="29961312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524000" y="1122363"/>
            <a:ext cx="9144000" cy="2387600"/>
          </a:xfrm>
        </p:spPr>
        <p:txBody>
          <a:bodyPr anchor="b"/>
          <a:lstStyle>
            <a:lvl1pPr algn="l">
              <a:defRPr sz="6000" b="1" i="0" cap="all" baseline="0"/>
            </a:lvl1pPr>
          </a:lstStyle>
          <a:p>
            <a:r>
              <a:rPr lang="en-US"/>
              <a:t>Click to edit Master title style</a:t>
            </a:r>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p:nvPr>
        </p:nvSpPr>
        <p:spPr>
          <a:xfrm>
            <a:off x="1524000" y="3602038"/>
            <a:ext cx="9144000"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CE66DA5-7751-4D3D-B753-58DF3B418763}"/>
              </a:ext>
            </a:extLst>
          </p:cNvPr>
          <p:cNvSpPr>
            <a:spLocks noGrp="1"/>
          </p:cNvSpPr>
          <p:nvPr>
            <p:ph type="dt" sz="half" idx="10"/>
          </p:nvPr>
        </p:nvSpPr>
        <p:spPr/>
        <p:txBody>
          <a:bodyPr/>
          <a:lstStyle/>
          <a:p>
            <a:fld id="{6A4B53A7-3209-46A6-9454-F38EAC8F11E7}" type="datetimeFigureOut">
              <a:rPr lang="en-US" smtClean="0"/>
              <a:t>10/29/2025</a:t>
            </a:fld>
            <a:endParaRPr lang="en-US"/>
          </a:p>
        </p:txBody>
      </p:sp>
      <p:sp>
        <p:nvSpPr>
          <p:cNvPr id="5" name="Footer Placeholder 4">
            <a:extLst>
              <a:ext uri="{FF2B5EF4-FFF2-40B4-BE49-F238E27FC236}">
                <a16:creationId xmlns:a16="http://schemas.microsoft.com/office/drawing/2014/main" id="{7F8C2A2A-62DB-40C0-8AE7-CB9B98649B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01EAA4-F44C-4C1F-B8E3-1A3005300F50}"/>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11" name="Straight Connector 10">
            <a:extLst>
              <a:ext uri="{FF2B5EF4-FFF2-40B4-BE49-F238E27FC236}">
                <a16:creationId xmlns:a16="http://schemas.microsoft.com/office/drawing/2014/main" id="{D1B787A8-0D67-4B7E-9B48-86BD906AB6B5}"/>
              </a:ext>
            </a:extLst>
          </p:cNvPr>
          <p:cNvCxnSpPr>
            <a:cxnSpLocks/>
          </p:cNvCxnSpPr>
          <p:nvPr/>
        </p:nvCxnSpPr>
        <p:spPr>
          <a:xfrm>
            <a:off x="715890" y="1114050"/>
            <a:ext cx="0" cy="5735637"/>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84688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97BB2D-4E2C-4490-A2A3-4B68BCC5D2F9}"/>
              </a:ext>
            </a:extLst>
          </p:cNvPr>
          <p:cNvSpPr>
            <a:spLocks noGrp="1"/>
          </p:cNvSpPr>
          <p:nvPr>
            <p:ph type="dt" sz="half" idx="10"/>
          </p:nvPr>
        </p:nvSpPr>
        <p:spPr/>
        <p:txBody>
          <a:bodyPr/>
          <a:lstStyle/>
          <a:p>
            <a:fld id="{6A4B53A7-3209-46A6-9454-F38EAC8F11E7}" type="datetimeFigureOut">
              <a:rPr lang="en-US" smtClean="0"/>
              <a:t>10/29/2025</a:t>
            </a:fld>
            <a:endParaRPr lang="en-US"/>
          </a:p>
        </p:txBody>
      </p:sp>
      <p:sp>
        <p:nvSpPr>
          <p:cNvPr id="5" name="Footer Placeholder 4">
            <a:extLst>
              <a:ext uri="{FF2B5EF4-FFF2-40B4-BE49-F238E27FC236}">
                <a16:creationId xmlns:a16="http://schemas.microsoft.com/office/drawing/2014/main" id="{6140F15D-DD72-46D5-BF0F-F506471070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66FD4D-815A-431C-ADEF-DE6F236F617F}"/>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5C05CAAB-DBA2-4548-AD5F-01BB97FBB207}"/>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65859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FC2D1-D3FE-4B37-8740-57444421FDBF}"/>
              </a:ext>
            </a:extLst>
          </p:cNvPr>
          <p:cNvSpPr>
            <a:spLocks noGrp="1"/>
          </p:cNvSpPr>
          <p:nvPr>
            <p:ph type="title"/>
          </p:nvPr>
        </p:nvSpPr>
        <p:spPr>
          <a:xfrm>
            <a:off x="831850" y="1709738"/>
            <a:ext cx="10515600" cy="2852737"/>
          </a:xfrm>
        </p:spPr>
        <p:txBody>
          <a:bodyPr anchor="b"/>
          <a:lstStyle>
            <a:lvl1pPr>
              <a:defRPr sz="6000" b="1" i="0" cap="all" baseline="0"/>
            </a:lvl1pPr>
          </a:lstStyle>
          <a:p>
            <a:r>
              <a:rPr lang="en-US"/>
              <a:t>Click to edit Master title style</a:t>
            </a:r>
          </a:p>
        </p:txBody>
      </p:sp>
      <p:sp>
        <p:nvSpPr>
          <p:cNvPr id="3" name="Text Placeholder 2">
            <a:extLst>
              <a:ext uri="{FF2B5EF4-FFF2-40B4-BE49-F238E27FC236}">
                <a16:creationId xmlns:a16="http://schemas.microsoft.com/office/drawing/2014/main" id="{BA5AF550-086C-426E-A374-85DB395701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A58988-AD39-4AE9-8E6A-0907F0BE2673}"/>
              </a:ext>
            </a:extLst>
          </p:cNvPr>
          <p:cNvSpPr>
            <a:spLocks noGrp="1"/>
          </p:cNvSpPr>
          <p:nvPr>
            <p:ph type="dt" sz="half" idx="10"/>
          </p:nvPr>
        </p:nvSpPr>
        <p:spPr/>
        <p:txBody>
          <a:bodyPr/>
          <a:lstStyle/>
          <a:p>
            <a:fld id="{6A4B53A7-3209-46A6-9454-F38EAC8F11E7}" type="datetimeFigureOut">
              <a:rPr lang="en-US" smtClean="0"/>
              <a:t>10/29/2025</a:t>
            </a:fld>
            <a:endParaRPr lang="en-US"/>
          </a:p>
        </p:txBody>
      </p:sp>
      <p:sp>
        <p:nvSpPr>
          <p:cNvPr id="5" name="Footer Placeholder 4">
            <a:extLst>
              <a:ext uri="{FF2B5EF4-FFF2-40B4-BE49-F238E27FC236}">
                <a16:creationId xmlns:a16="http://schemas.microsoft.com/office/drawing/2014/main" id="{1D366319-82EE-408E-819F-8F8E6DBA7A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21C8A6-777F-496D-8620-AE52BFC33FC4}"/>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9" name="Straight Connector 8">
            <a:extLst>
              <a:ext uri="{FF2B5EF4-FFF2-40B4-BE49-F238E27FC236}">
                <a16:creationId xmlns:a16="http://schemas.microsoft.com/office/drawing/2014/main" id="{C031F83B-57A8-4533-981C-D1FFAD2B6B6F}"/>
              </a:ext>
            </a:extLst>
          </p:cNvPr>
          <p:cNvCxnSpPr>
            <a:cxnSpLocks/>
          </p:cNvCxnSpPr>
          <p:nvPr/>
        </p:nvCxnSpPr>
        <p:spPr>
          <a:xfrm>
            <a:off x="715890" y="1701425"/>
            <a:ext cx="0" cy="5148262"/>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5934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57166-6921-4546-BA2C-99E464681F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5B9122-6371-4049-B57A-33DED7DA2F7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A14555D-0753-4312-A26B-2338813F9B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D8FDCB-69DA-4A8F-8B91-5CFF77897C27}"/>
              </a:ext>
            </a:extLst>
          </p:cNvPr>
          <p:cNvSpPr>
            <a:spLocks noGrp="1"/>
          </p:cNvSpPr>
          <p:nvPr>
            <p:ph type="dt" sz="half" idx="10"/>
          </p:nvPr>
        </p:nvSpPr>
        <p:spPr/>
        <p:txBody>
          <a:bodyPr/>
          <a:lstStyle/>
          <a:p>
            <a:fld id="{6A4B53A7-3209-46A6-9454-F38EAC8F11E7}" type="datetimeFigureOut">
              <a:rPr lang="en-US" smtClean="0"/>
              <a:t>10/29/2025</a:t>
            </a:fld>
            <a:endParaRPr lang="en-US"/>
          </a:p>
        </p:txBody>
      </p:sp>
      <p:sp>
        <p:nvSpPr>
          <p:cNvPr id="6" name="Footer Placeholder 5">
            <a:extLst>
              <a:ext uri="{FF2B5EF4-FFF2-40B4-BE49-F238E27FC236}">
                <a16:creationId xmlns:a16="http://schemas.microsoft.com/office/drawing/2014/main" id="{91AC8C07-E0D3-4464-AE3C-25730D75C8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2596A6-734E-4AE0-BFB8-3089137BF8E8}"/>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8" name="Straight Connector 7">
            <a:extLst>
              <a:ext uri="{FF2B5EF4-FFF2-40B4-BE49-F238E27FC236}">
                <a16:creationId xmlns:a16="http://schemas.microsoft.com/office/drawing/2014/main" id="{3FB7E8F4-3FB3-45AB-A381-9093CA95AAE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04644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2A2D237-A706-4712-90CA-B04517CBBE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D53357-616B-47F4-944B-F979FE9663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86B3EF2-2C04-480F-A570-14E520DD00DE}"/>
              </a:ext>
            </a:extLst>
          </p:cNvPr>
          <p:cNvSpPr>
            <a:spLocks noGrp="1"/>
          </p:cNvSpPr>
          <p:nvPr>
            <p:ph type="dt" sz="half" idx="10"/>
          </p:nvPr>
        </p:nvSpPr>
        <p:spPr/>
        <p:txBody>
          <a:bodyPr/>
          <a:lstStyle/>
          <a:p>
            <a:fld id="{6A4B53A7-3209-46A6-9454-F38EAC8F11E7}" type="datetimeFigureOut">
              <a:rPr lang="en-US" smtClean="0"/>
              <a:t>10/29/2025</a:t>
            </a:fld>
            <a:endParaRPr lang="en-US"/>
          </a:p>
        </p:txBody>
      </p:sp>
      <p:sp>
        <p:nvSpPr>
          <p:cNvPr id="8" name="Footer Placeholder 7">
            <a:extLst>
              <a:ext uri="{FF2B5EF4-FFF2-40B4-BE49-F238E27FC236}">
                <a16:creationId xmlns:a16="http://schemas.microsoft.com/office/drawing/2014/main" id="{1CF5783E-3073-4F4D-8B9C-C5B18DDA5A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1A75FE3-6719-4790-AA00-251BC2A6E5AF}"/>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10" name="Straight Connector 9">
            <a:extLst>
              <a:ext uri="{FF2B5EF4-FFF2-40B4-BE49-F238E27FC236}">
                <a16:creationId xmlns:a16="http://schemas.microsoft.com/office/drawing/2014/main" id="{160F34ED-DA60-4CC2-B735-B0EC5D9FEA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90676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DF1DFFF-E5C5-43DF-B71C-7270DB97372C}"/>
              </a:ext>
            </a:extLst>
          </p:cNvPr>
          <p:cNvSpPr>
            <a:spLocks noGrp="1"/>
          </p:cNvSpPr>
          <p:nvPr>
            <p:ph type="dt" sz="half" idx="10"/>
          </p:nvPr>
        </p:nvSpPr>
        <p:spPr/>
        <p:txBody>
          <a:bodyPr/>
          <a:lstStyle/>
          <a:p>
            <a:fld id="{6A4B53A7-3209-46A6-9454-F38EAC8F11E7}" type="datetimeFigureOut">
              <a:rPr lang="en-US" smtClean="0"/>
              <a:t>10/29/2025</a:t>
            </a:fld>
            <a:endParaRPr lang="en-US"/>
          </a:p>
        </p:txBody>
      </p:sp>
      <p:sp>
        <p:nvSpPr>
          <p:cNvPr id="4" name="Footer Placeholder 3">
            <a:extLst>
              <a:ext uri="{FF2B5EF4-FFF2-40B4-BE49-F238E27FC236}">
                <a16:creationId xmlns:a16="http://schemas.microsoft.com/office/drawing/2014/main" id="{7EBC03C0-6EB7-4633-967C-12C35768BB5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0FF4306-91CD-4B7B-8A53-34BE8F997581}"/>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6" name="Straight Connector 5">
            <a:extLst>
              <a:ext uri="{FF2B5EF4-FFF2-40B4-BE49-F238E27FC236}">
                <a16:creationId xmlns:a16="http://schemas.microsoft.com/office/drawing/2014/main" id="{57596AF9-469C-436D-B7D2-77952EF1825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54008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DFF36D6-399B-43E3-84DD-9FC5119ECCE9}"/>
              </a:ext>
            </a:extLst>
          </p:cNvPr>
          <p:cNvSpPr>
            <a:spLocks noGrp="1"/>
          </p:cNvSpPr>
          <p:nvPr>
            <p:ph type="dt" sz="half" idx="10"/>
          </p:nvPr>
        </p:nvSpPr>
        <p:spPr/>
        <p:txBody>
          <a:bodyPr/>
          <a:lstStyle/>
          <a:p>
            <a:fld id="{6A4B53A7-3209-46A6-9454-F38EAC8F11E7}" type="datetimeFigureOut">
              <a:rPr lang="en-US" smtClean="0"/>
              <a:t>10/29/2025</a:t>
            </a:fld>
            <a:endParaRPr lang="en-US"/>
          </a:p>
        </p:txBody>
      </p:sp>
      <p:sp>
        <p:nvSpPr>
          <p:cNvPr id="3" name="Footer Placeholder 2">
            <a:extLst>
              <a:ext uri="{FF2B5EF4-FFF2-40B4-BE49-F238E27FC236}">
                <a16:creationId xmlns:a16="http://schemas.microsoft.com/office/drawing/2014/main" id="{50234AB7-3B85-4028-A500-5A1BDBF45C5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1F40F0-9909-442F-BBA4-409D061ED027}"/>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5" name="Straight Connector 4">
            <a:extLst>
              <a:ext uri="{FF2B5EF4-FFF2-40B4-BE49-F238E27FC236}">
                <a16:creationId xmlns:a16="http://schemas.microsoft.com/office/drawing/2014/main" id="{353C1207-D1C8-49E3-8837-E2B89D366FA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7454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0F214-646F-4D81-AD12-65628EC987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EF71768-C3FA-49EF-99EF-06E6C3B284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2DA6F24-ED6C-4D12-A9D6-EE37FBD686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E6AACE-FAFB-4934-8E3C-AB5B216353D8}"/>
              </a:ext>
            </a:extLst>
          </p:cNvPr>
          <p:cNvSpPr>
            <a:spLocks noGrp="1"/>
          </p:cNvSpPr>
          <p:nvPr>
            <p:ph type="dt" sz="half" idx="10"/>
          </p:nvPr>
        </p:nvSpPr>
        <p:spPr/>
        <p:txBody>
          <a:bodyPr/>
          <a:lstStyle/>
          <a:p>
            <a:fld id="{6A4B53A7-3209-46A6-9454-F38EAC8F11E7}" type="datetimeFigureOut">
              <a:rPr lang="en-US" smtClean="0"/>
              <a:t>10/29/2025</a:t>
            </a:fld>
            <a:endParaRPr lang="en-US"/>
          </a:p>
        </p:txBody>
      </p:sp>
      <p:sp>
        <p:nvSpPr>
          <p:cNvPr id="6" name="Footer Placeholder 5">
            <a:extLst>
              <a:ext uri="{FF2B5EF4-FFF2-40B4-BE49-F238E27FC236}">
                <a16:creationId xmlns:a16="http://schemas.microsoft.com/office/drawing/2014/main" id="{181533EA-D0F8-4C79-8721-F190DE2D2D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59BAC9-F101-4394-BBA4-3D21A3497126}"/>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8" name="Straight Connector 7">
            <a:extLst>
              <a:ext uri="{FF2B5EF4-FFF2-40B4-BE49-F238E27FC236}">
                <a16:creationId xmlns:a16="http://schemas.microsoft.com/office/drawing/2014/main" id="{0F3A79C9-7EDC-44F6-AC48-5DD98A7695AD}"/>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27434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CB71F-B6C2-4866-BC97-304F78816E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55ED73B-8413-478D-80D7-B78B69763B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1BDF226-1B94-4D2D-98B3-7B932FB17D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0C4E9A-CA29-4CCD-ACFA-B29F80FBA163}"/>
              </a:ext>
            </a:extLst>
          </p:cNvPr>
          <p:cNvSpPr>
            <a:spLocks noGrp="1"/>
          </p:cNvSpPr>
          <p:nvPr>
            <p:ph type="dt" sz="half" idx="10"/>
          </p:nvPr>
        </p:nvSpPr>
        <p:spPr/>
        <p:txBody>
          <a:bodyPr/>
          <a:lstStyle/>
          <a:p>
            <a:fld id="{6A4B53A7-3209-46A6-9454-F38EAC8F11E7}" type="datetimeFigureOut">
              <a:rPr lang="en-US" smtClean="0"/>
              <a:t>10/29/2025</a:t>
            </a:fld>
            <a:endParaRPr lang="en-US"/>
          </a:p>
        </p:txBody>
      </p:sp>
      <p:sp>
        <p:nvSpPr>
          <p:cNvPr id="6" name="Footer Placeholder 5">
            <a:extLst>
              <a:ext uri="{FF2B5EF4-FFF2-40B4-BE49-F238E27FC236}">
                <a16:creationId xmlns:a16="http://schemas.microsoft.com/office/drawing/2014/main" id="{71A5B7BE-3F1B-4FF3-B1D7-6E39B99D07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2F18F1-E27E-470E-AE13-4755DEE63A32}"/>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8" name="Straight Connector 7">
            <a:extLst>
              <a:ext uri="{FF2B5EF4-FFF2-40B4-BE49-F238E27FC236}">
                <a16:creationId xmlns:a16="http://schemas.microsoft.com/office/drawing/2014/main" id="{00F08750-B7F2-4119-B151-68DE774813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35071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AD429-654B-4F0E-94E9-6FEF8EC67EF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68D60B2-06F5-4567-BE1F-BBA5270537B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16F6F2-8269-4B80-8EE3-81FEE0F9DFA6}"/>
              </a:ext>
            </a:extLst>
          </p:cNvPr>
          <p:cNvSpPr>
            <a:spLocks noGrp="1"/>
          </p:cNvSpPr>
          <p:nvPr>
            <p:ph type="dt" sz="half" idx="10"/>
          </p:nvPr>
        </p:nvSpPr>
        <p:spPr/>
        <p:txBody>
          <a:bodyPr/>
          <a:lstStyle/>
          <a:p>
            <a:fld id="{6A4B53A7-3209-46A6-9454-F38EAC8F11E7}" type="datetimeFigureOut">
              <a:rPr lang="en-US" smtClean="0"/>
              <a:t>10/29/2025</a:t>
            </a:fld>
            <a:endParaRPr lang="en-US"/>
          </a:p>
        </p:txBody>
      </p:sp>
      <p:sp>
        <p:nvSpPr>
          <p:cNvPr id="5" name="Footer Placeholder 4">
            <a:extLst>
              <a:ext uri="{FF2B5EF4-FFF2-40B4-BE49-F238E27FC236}">
                <a16:creationId xmlns:a16="http://schemas.microsoft.com/office/drawing/2014/main" id="{56BC86E4-3EDE-4EB4-B1A3-A1198AADD1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1752B0-ACEC-49EF-8131-FCF35BC5CD35}"/>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1A0462E3-375D-4E76-8886-69E06985D069}"/>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37879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23B094-F480-477B-901C-7181F88C076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D052089-A920-4E52-98DC-8A5DC7B0AC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A074FE-F1B4-421F-A66E-FA351C8F99E9}"/>
              </a:ext>
            </a:extLst>
          </p:cNvPr>
          <p:cNvSpPr>
            <a:spLocks noGrp="1"/>
          </p:cNvSpPr>
          <p:nvPr>
            <p:ph type="dt" sz="half" idx="10"/>
          </p:nvPr>
        </p:nvSpPr>
        <p:spPr/>
        <p:txBody>
          <a:bodyPr/>
          <a:lstStyle/>
          <a:p>
            <a:fld id="{6A4B53A7-3209-46A6-9454-F38EAC8F11E7}" type="datetimeFigureOut">
              <a:rPr lang="en-US" smtClean="0"/>
              <a:t>10/29/2025</a:t>
            </a:fld>
            <a:endParaRPr lang="en-US"/>
          </a:p>
        </p:txBody>
      </p:sp>
      <p:sp>
        <p:nvSpPr>
          <p:cNvPr id="5" name="Footer Placeholder 4">
            <a:extLst>
              <a:ext uri="{FF2B5EF4-FFF2-40B4-BE49-F238E27FC236}">
                <a16:creationId xmlns:a16="http://schemas.microsoft.com/office/drawing/2014/main" id="{34D764BA-3AB2-45FD-ABCB-975B3FDDF2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FB3FEF-8252-49FD-82F2-3E5FABC65F9A}"/>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0AEB5C65-83BB-4EBD-AD22-EDA8489D0F5D}"/>
              </a:ext>
            </a:extLst>
          </p:cNvPr>
          <p:cNvCxnSpPr>
            <a:cxnSpLocks/>
          </p:cNvCxnSpPr>
          <p:nvPr/>
        </p:nvCxnSpPr>
        <p:spPr>
          <a:xfrm flipV="1">
            <a:off x="8313" y="261865"/>
            <a:ext cx="11353802" cy="1"/>
          </a:xfrm>
          <a:prstGeom prst="line">
            <a:avLst/>
          </a:prstGeom>
          <a:ln w="25400" cap="sq">
            <a:gradFill flip="none" rotWithShape="1">
              <a:gsLst>
                <a:gs pos="0">
                  <a:schemeClr val="accent2"/>
                </a:gs>
                <a:gs pos="100000">
                  <a:schemeClr val="accent4"/>
                </a:gs>
              </a:gsLst>
              <a:lin ang="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68519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DA4224-F4E4-47A4-ACF7-2317493908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1679907-DC49-4B86-A34C-C97DBC26A9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DBC8A0-34FC-4B6E-B42B-A721267D89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1" i="0" cap="all" spc="100" baseline="0">
                <a:solidFill>
                  <a:schemeClr val="tx1">
                    <a:tint val="75000"/>
                  </a:schemeClr>
                </a:solidFill>
              </a:defRPr>
            </a:lvl1pPr>
          </a:lstStyle>
          <a:p>
            <a:fld id="{6A4B53A7-3209-46A6-9454-F38EAC8F11E7}" type="datetimeFigureOut">
              <a:rPr lang="en-US" smtClean="0"/>
              <a:pPr/>
              <a:t>10/29/2025</a:t>
            </a:fld>
            <a:endParaRPr lang="en-US" dirty="0"/>
          </a:p>
        </p:txBody>
      </p:sp>
      <p:sp>
        <p:nvSpPr>
          <p:cNvPr id="5" name="Footer Placeholder 4">
            <a:extLst>
              <a:ext uri="{FF2B5EF4-FFF2-40B4-BE49-F238E27FC236}">
                <a16:creationId xmlns:a16="http://schemas.microsoft.com/office/drawing/2014/main" id="{609AC0B6-4CC4-4E41-8A4D-F62E17F285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6C0E9BD-90BD-46AE-8A0D-06796ADB76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i="0" cap="all" spc="100" baseline="0">
                <a:solidFill>
                  <a:schemeClr val="tx1">
                    <a:tint val="75000"/>
                  </a:schemeClr>
                </a:solidFill>
              </a:defRPr>
            </a:lvl1pPr>
          </a:lstStyle>
          <a:p>
            <a:fld id="{27CE633F-9882-4A5C-83A2-1109D0C73261}" type="slidenum">
              <a:rPr lang="en-US" smtClean="0"/>
              <a:pPr/>
              <a:t>‹#›</a:t>
            </a:fld>
            <a:endParaRPr lang="en-US"/>
          </a:p>
        </p:txBody>
      </p:sp>
    </p:spTree>
    <p:extLst>
      <p:ext uri="{BB962C8B-B14F-4D97-AF65-F5344CB8AC3E}">
        <p14:creationId xmlns:p14="http://schemas.microsoft.com/office/powerpoint/2010/main" val="31605490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E3C5560-7A9C-489F-9148-18C5E1D0F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1578043" y="590062"/>
            <a:ext cx="5309140" cy="2838938"/>
          </a:xfrm>
        </p:spPr>
        <p:txBody>
          <a:bodyPr>
            <a:normAutofit/>
          </a:bodyPr>
          <a:lstStyle/>
          <a:p>
            <a:r>
              <a:rPr lang="en-US" sz="5400">
                <a:solidFill>
                  <a:schemeClr val="bg1"/>
                </a:solidFill>
              </a:rPr>
              <a:t>Deadlock</a:t>
            </a:r>
          </a:p>
        </p:txBody>
      </p:sp>
      <p:sp>
        <p:nvSpPr>
          <p:cNvPr id="11" name="!!plus graphic">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236" y="1606411"/>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a:p>
        </p:txBody>
      </p:sp>
      <p:sp>
        <p:nvSpPr>
          <p:cNvPr id="13" name="!!dot graphic">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8014" y="1835705"/>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a:p>
        </p:txBody>
      </p:sp>
      <p:sp>
        <p:nvSpPr>
          <p:cNvPr id="15" name="!!circle graphic">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696" y="2060130"/>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a:p>
        </p:txBody>
      </p:sp>
      <p:cxnSp>
        <p:nvCxnSpPr>
          <p:cNvPr id="17" name="!!Straight Connector">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01262" y="3505200"/>
            <a:ext cx="0" cy="33528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pic>
        <p:nvPicPr>
          <p:cNvPr id="19" name="Graphic 18">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10836425" y="5436655"/>
            <a:ext cx="151536" cy="151536"/>
          </a:xfrm>
          <a:prstGeom prst="rect">
            <a:avLst/>
          </a:prstGeom>
        </p:spPr>
      </p:pic>
      <p:pic>
        <p:nvPicPr>
          <p:cNvPr id="21" name="Graphic 20">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11245175" y="5896734"/>
            <a:ext cx="108625" cy="108625"/>
          </a:xfrm>
          <a:prstGeom prst="rect">
            <a:avLst/>
          </a:prstGeom>
        </p:spPr>
      </p:pic>
      <p:pic>
        <p:nvPicPr>
          <p:cNvPr id="23" name="Graphic 22">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10554288" y="6038004"/>
            <a:ext cx="95759" cy="95759"/>
          </a:xfrm>
          <a:prstGeom prst="rect">
            <a:avLst/>
          </a:prstGeom>
        </p:spPr>
      </p:pic>
      <p:pic>
        <p:nvPicPr>
          <p:cNvPr id="3" name="Picture 2" descr="Transparent padlock">
            <a:extLst>
              <a:ext uri="{FF2B5EF4-FFF2-40B4-BE49-F238E27FC236}">
                <a16:creationId xmlns:a16="http://schemas.microsoft.com/office/drawing/2014/main" id="{2C9F72EF-7683-9F68-ED5D-5E514A9A1FD4}"/>
              </a:ext>
            </a:extLst>
          </p:cNvPr>
          <p:cNvPicPr>
            <a:picLocks noChangeAspect="1"/>
          </p:cNvPicPr>
          <p:nvPr/>
        </p:nvPicPr>
        <p:blipFill rotWithShape="1">
          <a:blip r:embed="rId8"/>
          <a:srcRect r="32024" b="70"/>
          <a:stretch/>
        </p:blipFill>
        <p:spPr>
          <a:xfrm>
            <a:off x="6740358" y="1606411"/>
            <a:ext cx="5451642" cy="5251590"/>
          </a:xfrm>
          <a:custGeom>
            <a:avLst/>
            <a:gdLst/>
            <a:ahLst/>
            <a:cxnLst/>
            <a:rect l="l" t="t" r="r" b="b"/>
            <a:pathLst>
              <a:path w="5923214" h="5705857">
                <a:moveTo>
                  <a:pt x="3612238" y="0"/>
                </a:moveTo>
                <a:cubicBezTo>
                  <a:pt x="4485043" y="0"/>
                  <a:pt x="5285549" y="309553"/>
                  <a:pt x="5909957" y="824860"/>
                </a:cubicBezTo>
                <a:lnTo>
                  <a:pt x="5923214" y="836909"/>
                </a:lnTo>
                <a:lnTo>
                  <a:pt x="5923214" y="5705857"/>
                </a:lnTo>
                <a:lnTo>
                  <a:pt x="672237" y="5705857"/>
                </a:lnTo>
                <a:lnTo>
                  <a:pt x="616914" y="5631875"/>
                </a:lnTo>
                <a:cubicBezTo>
                  <a:pt x="227427" y="5055358"/>
                  <a:pt x="0" y="4360357"/>
                  <a:pt x="0" y="3612238"/>
                </a:cubicBezTo>
                <a:cubicBezTo>
                  <a:pt x="0" y="1617255"/>
                  <a:pt x="1617255" y="0"/>
                  <a:pt x="3612238" y="0"/>
                </a:cubicBezTo>
                <a:close/>
              </a:path>
            </a:pathLst>
          </a:custGeom>
        </p:spPr>
      </p:pic>
    </p:spTree>
    <p:extLst>
      <p:ext uri="{BB962C8B-B14F-4D97-AF65-F5344CB8AC3E}">
        <p14:creationId xmlns:p14="http://schemas.microsoft.com/office/powerpoint/2010/main" val="3842716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C1A753B-DC51-414F-71D3-CB2804E7CE7F}"/>
              </a:ext>
            </a:extLst>
          </p:cNvPr>
          <p:cNvPicPr>
            <a:picLocks noChangeAspect="1"/>
          </p:cNvPicPr>
          <p:nvPr/>
        </p:nvPicPr>
        <p:blipFill>
          <a:blip r:embed="rId2"/>
          <a:stretch>
            <a:fillRect/>
          </a:stretch>
        </p:blipFill>
        <p:spPr>
          <a:xfrm>
            <a:off x="2828925" y="1590675"/>
            <a:ext cx="6534150" cy="3676650"/>
          </a:xfrm>
          <a:prstGeom prst="rect">
            <a:avLst/>
          </a:prstGeom>
        </p:spPr>
      </p:pic>
    </p:spTree>
    <p:extLst>
      <p:ext uri="{BB962C8B-B14F-4D97-AF65-F5344CB8AC3E}">
        <p14:creationId xmlns:p14="http://schemas.microsoft.com/office/powerpoint/2010/main" val="5978993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D1AA55E-40D5-461B-A5A8-4AE8AAB71B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cNvSpPr>
            <a:spLocks noGrp="1"/>
          </p:cNvSpPr>
          <p:nvPr>
            <p:ph type="ctrTitle"/>
          </p:nvPr>
        </p:nvSpPr>
        <p:spPr>
          <a:xfrm>
            <a:off x="838200" y="1336390"/>
            <a:ext cx="6155988" cy="1182927"/>
          </a:xfrm>
        </p:spPr>
        <p:txBody>
          <a:bodyPr anchor="b">
            <a:normAutofit/>
          </a:bodyPr>
          <a:lstStyle/>
          <a:p>
            <a:r>
              <a:rPr lang="en-US" sz="5400"/>
              <a:t>Deadlock</a:t>
            </a:r>
          </a:p>
        </p:txBody>
      </p:sp>
      <p:cxnSp>
        <p:nvCxnSpPr>
          <p:cNvPr id="13" name="Straight Connector 12">
            <a:extLst>
              <a:ext uri="{FF2B5EF4-FFF2-40B4-BE49-F238E27FC236}">
                <a16:creationId xmlns:a16="http://schemas.microsoft.com/office/drawing/2014/main" id="{7EB498BD-8089-4626-91EA-4978EBEF53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806470"/>
            <a:ext cx="7903723" cy="0"/>
          </a:xfrm>
          <a:prstGeom prst="line">
            <a:avLst/>
          </a:prstGeom>
          <a:ln w="25400" cap="sq">
            <a:gradFill flip="none" rotWithShape="1">
              <a:gsLst>
                <a:gs pos="0">
                  <a:schemeClr val="accent2"/>
                </a:gs>
                <a:gs pos="100000">
                  <a:schemeClr val="accent4"/>
                </a:gs>
              </a:gsLst>
              <a:lin ang="10800000" scaled="1"/>
              <a:tileRect/>
            </a:gradFill>
            <a:bevel/>
          </a:ln>
        </p:spPr>
        <p:style>
          <a:lnRef idx="1">
            <a:schemeClr val="accent1"/>
          </a:lnRef>
          <a:fillRef idx="0">
            <a:schemeClr val="accent1"/>
          </a:fillRef>
          <a:effectRef idx="0">
            <a:schemeClr val="accent1"/>
          </a:effectRef>
          <a:fontRef idx="minor">
            <a:schemeClr val="tx1"/>
          </a:fontRef>
        </p:style>
      </p:cxnSp>
      <p:sp>
        <p:nvSpPr>
          <p:cNvPr id="3" name="Content Placeholder"/>
          <p:cNvSpPr>
            <a:spLocks noGrp="1"/>
          </p:cNvSpPr>
          <p:nvPr>
            <p:ph idx="1"/>
          </p:nvPr>
        </p:nvSpPr>
        <p:spPr>
          <a:xfrm>
            <a:off x="803776" y="2829330"/>
            <a:ext cx="6190412" cy="3344459"/>
          </a:xfrm>
        </p:spPr>
        <p:txBody>
          <a:bodyPr anchor="t">
            <a:normAutofit/>
          </a:bodyPr>
          <a:lstStyle/>
          <a:p>
            <a:r>
              <a:rPr lang="en-IN" sz="1800" dirty="0"/>
              <a:t>Deadlock is a situation where a set of processes are blocked because each process is holding a resource and waiting for another resource acquired by some other process. </a:t>
            </a:r>
          </a:p>
          <a:p>
            <a:r>
              <a:rPr lang="en-IN" sz="1800" dirty="0"/>
              <a:t>Or</a:t>
            </a:r>
          </a:p>
          <a:p>
            <a:r>
              <a:rPr lang="en-US" sz="1800" dirty="0"/>
              <a:t>A deadlock is a situation in which more than one process is blocked because it is holding a resource and also requires some resource that is acquired by some other process. Therefore, none of the processes gets executed.</a:t>
            </a:r>
            <a:endParaRPr lang="en-IN" sz="1800" dirty="0"/>
          </a:p>
          <a:p>
            <a:pPr marL="0" indent="0">
              <a:buNone/>
            </a:pPr>
            <a:r>
              <a:rPr lang="en-IN" sz="1800" dirty="0"/>
              <a:t> </a:t>
            </a:r>
            <a:endParaRPr lang="en-US" sz="1800" dirty="0"/>
          </a:p>
        </p:txBody>
      </p:sp>
      <p:pic>
        <p:nvPicPr>
          <p:cNvPr id="8" name="Graphic 7" descr="Unlock">
            <a:extLst>
              <a:ext uri="{FF2B5EF4-FFF2-40B4-BE49-F238E27FC236}">
                <a16:creationId xmlns:a16="http://schemas.microsoft.com/office/drawing/2014/main" id="{EF286D20-9E8C-2C44-C5B4-E88E3A787C9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72653" y="1980885"/>
            <a:ext cx="3548404" cy="3548404"/>
          </a:xfrm>
          <a:prstGeom prst="rect">
            <a:avLst/>
          </a:prstGeom>
        </p:spPr>
      </p:pic>
      <p:sp>
        <p:nvSpPr>
          <p:cNvPr id="15"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24552" y="1899284"/>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p>
        </p:txBody>
      </p:sp>
      <p:sp>
        <p:nvSpPr>
          <p:cNvPr id="17"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6862" y="218992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p>
        </p:txBody>
      </p:sp>
    </p:spTree>
    <p:extLst>
      <p:ext uri="{BB962C8B-B14F-4D97-AF65-F5344CB8AC3E}">
        <p14:creationId xmlns:p14="http://schemas.microsoft.com/office/powerpoint/2010/main" val="32104093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3123F3C-866E-E304-605C-F1C34A7D80EE}"/>
              </a:ext>
            </a:extLst>
          </p:cNvPr>
          <p:cNvPicPr>
            <a:picLocks noChangeAspect="1"/>
          </p:cNvPicPr>
          <p:nvPr/>
        </p:nvPicPr>
        <p:blipFill>
          <a:blip r:embed="rId2"/>
          <a:stretch>
            <a:fillRect/>
          </a:stretch>
        </p:blipFill>
        <p:spPr>
          <a:xfrm>
            <a:off x="1724025" y="681037"/>
            <a:ext cx="8743950" cy="5495925"/>
          </a:xfrm>
          <a:prstGeom prst="rect">
            <a:avLst/>
          </a:prstGeom>
        </p:spPr>
      </p:pic>
    </p:spTree>
    <p:extLst>
      <p:ext uri="{BB962C8B-B14F-4D97-AF65-F5344CB8AC3E}">
        <p14:creationId xmlns:p14="http://schemas.microsoft.com/office/powerpoint/2010/main" val="8942939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FABB5A-4C95-9DB2-DC11-A713998A7D71}"/>
              </a:ext>
            </a:extLst>
          </p:cNvPr>
          <p:cNvSpPr>
            <a:spLocks noGrp="1"/>
          </p:cNvSpPr>
          <p:nvPr>
            <p:ph idx="1"/>
          </p:nvPr>
        </p:nvSpPr>
        <p:spPr/>
        <p:txBody>
          <a:bodyPr>
            <a:normAutofit/>
          </a:bodyPr>
          <a:lstStyle/>
          <a:p>
            <a:r>
              <a:rPr lang="en-IN" sz="2400" dirty="0">
                <a:latin typeface="Times New Roman" panose="02020603050405020304" pitchFamily="18" charset="0"/>
                <a:cs typeface="Times New Roman" panose="02020603050405020304" pitchFamily="18" charset="0"/>
              </a:rPr>
              <a:t>System consists of a finite number of resources to be distributed among a number of competing processes. </a:t>
            </a:r>
          </a:p>
          <a:p>
            <a:r>
              <a:rPr lang="en-IN" sz="2400" dirty="0">
                <a:latin typeface="Times New Roman" panose="02020603050405020304" pitchFamily="18" charset="0"/>
                <a:cs typeface="Times New Roman" panose="02020603050405020304" pitchFamily="18" charset="0"/>
              </a:rPr>
              <a:t>The resources are partitioned into several types, each of which consists of some number of identical instances.</a:t>
            </a:r>
          </a:p>
          <a:p>
            <a:r>
              <a:rPr lang="en-IN" sz="2400" dirty="0">
                <a:latin typeface="Times New Roman" panose="02020603050405020304" pitchFamily="18" charset="0"/>
                <a:cs typeface="Times New Roman" panose="02020603050405020304" pitchFamily="18" charset="0"/>
              </a:rPr>
              <a:t>Memory space, CPU cycles, files, and I/O devices (such as printers) are examples of resource types.</a:t>
            </a:r>
          </a:p>
        </p:txBody>
      </p:sp>
      <p:sp>
        <p:nvSpPr>
          <p:cNvPr id="5" name="Title">
            <a:extLst>
              <a:ext uri="{FF2B5EF4-FFF2-40B4-BE49-F238E27FC236}">
                <a16:creationId xmlns:a16="http://schemas.microsoft.com/office/drawing/2014/main" id="{1FFB2B08-464F-9D2F-25DA-FB29A384FC1D}"/>
              </a:ext>
            </a:extLst>
          </p:cNvPr>
          <p:cNvSpPr txBox="1">
            <a:spLocks noGrp="1"/>
          </p:cNvSpPr>
          <p:nvPr>
            <p:ph type="title"/>
          </p:nvPr>
        </p:nvSpPr>
        <p:spPr>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dirty="0"/>
              <a:t>Deadlock</a:t>
            </a:r>
          </a:p>
        </p:txBody>
      </p:sp>
    </p:spTree>
    <p:extLst>
      <p:ext uri="{BB962C8B-B14F-4D97-AF65-F5344CB8AC3E}">
        <p14:creationId xmlns:p14="http://schemas.microsoft.com/office/powerpoint/2010/main" val="1014589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8A0C9B-60A8-7C5B-3E0D-A10CF6E7DAA3}"/>
              </a:ext>
            </a:extLst>
          </p:cNvPr>
          <p:cNvSpPr>
            <a:spLocks noGrp="1"/>
          </p:cNvSpPr>
          <p:nvPr>
            <p:ph idx="1"/>
          </p:nvPr>
        </p:nvSpPr>
        <p:spPr/>
        <p:txBody>
          <a:bodyPr>
            <a:normAutofit/>
          </a:bodyPr>
          <a:lstStyle/>
          <a:p>
            <a:r>
              <a:rPr lang="en-IN" dirty="0">
                <a:latin typeface="Times New Roman" panose="02020603050405020304" pitchFamily="18" charset="0"/>
                <a:cs typeface="Times New Roman" panose="02020603050405020304" pitchFamily="18" charset="0"/>
              </a:rPr>
              <a:t> Under the normal mode of operation, a process may utilize a resource in only the following sequence:</a:t>
            </a:r>
          </a:p>
          <a:p>
            <a:r>
              <a:rPr lang="en-US" b="1" dirty="0">
                <a:latin typeface="Times New Roman" panose="02020603050405020304" pitchFamily="18" charset="0"/>
                <a:cs typeface="Times New Roman" panose="02020603050405020304" pitchFamily="18" charset="0"/>
              </a:rPr>
              <a:t>Request</a:t>
            </a:r>
            <a:r>
              <a:rPr lang="en-US" dirty="0">
                <a:latin typeface="Times New Roman" panose="02020603050405020304" pitchFamily="18" charset="0"/>
                <a:cs typeface="Times New Roman" panose="02020603050405020304" pitchFamily="18" charset="0"/>
              </a:rPr>
              <a:t>: If the request cannot be granted immediately (for example, the resource is being used by another process), then the requesting process must wait until it can acquire the resource. </a:t>
            </a:r>
          </a:p>
          <a:p>
            <a:r>
              <a:rPr lang="en-US" b="1" dirty="0">
                <a:latin typeface="Times New Roman" panose="02020603050405020304" pitchFamily="18" charset="0"/>
                <a:cs typeface="Times New Roman" panose="02020603050405020304" pitchFamily="18" charset="0"/>
              </a:rPr>
              <a:t>Use</a:t>
            </a:r>
            <a:r>
              <a:rPr lang="en-US" dirty="0">
                <a:latin typeface="Times New Roman" panose="02020603050405020304" pitchFamily="18" charset="0"/>
                <a:cs typeface="Times New Roman" panose="02020603050405020304" pitchFamily="18" charset="0"/>
              </a:rPr>
              <a:t>: The process can operate on the resource (for example, if the resource is a printer, the process can print on the printer). </a:t>
            </a:r>
          </a:p>
          <a:p>
            <a:r>
              <a:rPr lang="en-US" b="1" dirty="0">
                <a:latin typeface="Times New Roman" panose="02020603050405020304" pitchFamily="18" charset="0"/>
                <a:cs typeface="Times New Roman" panose="02020603050405020304" pitchFamily="18" charset="0"/>
              </a:rPr>
              <a:t>Release</a:t>
            </a:r>
            <a:r>
              <a:rPr lang="en-US" dirty="0">
                <a:latin typeface="Times New Roman" panose="02020603050405020304" pitchFamily="18" charset="0"/>
                <a:cs typeface="Times New Roman" panose="02020603050405020304" pitchFamily="18" charset="0"/>
              </a:rPr>
              <a:t>: The process releases the resource.</a:t>
            </a:r>
          </a:p>
        </p:txBody>
      </p:sp>
      <p:sp>
        <p:nvSpPr>
          <p:cNvPr id="5" name="Title">
            <a:extLst>
              <a:ext uri="{FF2B5EF4-FFF2-40B4-BE49-F238E27FC236}">
                <a16:creationId xmlns:a16="http://schemas.microsoft.com/office/drawing/2014/main" id="{18EFB326-46F4-3389-0E8A-5CC6A47C8278}"/>
              </a:ext>
            </a:extLst>
          </p:cNvPr>
          <p:cNvSpPr txBox="1">
            <a:spLocks noGrp="1"/>
          </p:cNvSpPr>
          <p:nvPr>
            <p:ph type="title"/>
          </p:nvPr>
        </p:nvSpPr>
        <p:spPr>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dirty="0"/>
              <a:t>Deadlock</a:t>
            </a:r>
          </a:p>
        </p:txBody>
      </p:sp>
    </p:spTree>
    <p:extLst>
      <p:ext uri="{BB962C8B-B14F-4D97-AF65-F5344CB8AC3E}">
        <p14:creationId xmlns:p14="http://schemas.microsoft.com/office/powerpoint/2010/main" val="35893531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A0CF0-455A-C227-274A-8C582B58E959}"/>
              </a:ext>
            </a:extLst>
          </p:cNvPr>
          <p:cNvSpPr>
            <a:spLocks noGrp="1"/>
          </p:cNvSpPr>
          <p:nvPr>
            <p:ph type="title"/>
          </p:nvPr>
        </p:nvSpPr>
        <p:spPr/>
        <p:txBody>
          <a:bodyPr/>
          <a:lstStyle/>
          <a:p>
            <a:r>
              <a:rPr lang="en-IN" dirty="0"/>
              <a:t>Deadlock Characterization </a:t>
            </a:r>
            <a:endParaRPr lang="en-US" dirty="0"/>
          </a:p>
        </p:txBody>
      </p:sp>
      <p:sp>
        <p:nvSpPr>
          <p:cNvPr id="3" name="Content Placeholder 2">
            <a:extLst>
              <a:ext uri="{FF2B5EF4-FFF2-40B4-BE49-F238E27FC236}">
                <a16:creationId xmlns:a16="http://schemas.microsoft.com/office/drawing/2014/main" id="{71151D1A-BDEF-FCD8-CA87-2546E1FEBAC2}"/>
              </a:ext>
            </a:extLst>
          </p:cNvPr>
          <p:cNvSpPr>
            <a:spLocks noGrp="1"/>
          </p:cNvSpPr>
          <p:nvPr>
            <p:ph idx="1"/>
          </p:nvPr>
        </p:nvSpPr>
        <p:spPr>
          <a:xfrm>
            <a:off x="838200" y="1329482"/>
            <a:ext cx="10515600" cy="4847481"/>
          </a:xfrm>
        </p:spPr>
        <p:txBody>
          <a:bodyPr/>
          <a:lstStyle/>
          <a:p>
            <a:pPr marL="0" indent="0">
              <a:buNone/>
            </a:pPr>
            <a:r>
              <a:rPr lang="en-IN" dirty="0"/>
              <a:t> </a:t>
            </a:r>
            <a:endParaRPr lang="en-US" dirty="0"/>
          </a:p>
        </p:txBody>
      </p:sp>
      <p:sp>
        <p:nvSpPr>
          <p:cNvPr id="5" name="TextBox 4">
            <a:extLst>
              <a:ext uri="{FF2B5EF4-FFF2-40B4-BE49-F238E27FC236}">
                <a16:creationId xmlns:a16="http://schemas.microsoft.com/office/drawing/2014/main" id="{52D47DFC-E9C1-B4CB-887A-3FC81FE77744}"/>
              </a:ext>
            </a:extLst>
          </p:cNvPr>
          <p:cNvSpPr txBox="1"/>
          <p:nvPr/>
        </p:nvSpPr>
        <p:spPr>
          <a:xfrm>
            <a:off x="1091044" y="1329482"/>
            <a:ext cx="10424527" cy="4893647"/>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In a deadlock, processes never finish executing and system resources are tied up, preventing other jobs from starting.</a:t>
            </a:r>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Necessary Conditions </a:t>
            </a:r>
            <a:r>
              <a:rPr lang="en-IN" sz="2400" dirty="0">
                <a:latin typeface="Times New Roman" panose="02020603050405020304" pitchFamily="18" charset="0"/>
                <a:cs typeface="Times New Roman" panose="02020603050405020304" pitchFamily="18" charset="0"/>
              </a:rPr>
              <a:t>
A deadlock situation can arise if the following four conditions hold simultaneously in a system: 
1. </a:t>
            </a:r>
            <a:r>
              <a:rPr lang="en-IN" sz="2400" b="1" dirty="0">
                <a:latin typeface="Times New Roman" panose="02020603050405020304" pitchFamily="18" charset="0"/>
                <a:cs typeface="Times New Roman" panose="02020603050405020304" pitchFamily="18" charset="0"/>
              </a:rPr>
              <a:t>Mutual exclusion</a:t>
            </a:r>
            <a:r>
              <a:rPr lang="en-IN" sz="2400" dirty="0">
                <a:latin typeface="Times New Roman" panose="02020603050405020304" pitchFamily="18" charset="0"/>
                <a:cs typeface="Times New Roman" panose="02020603050405020304" pitchFamily="18" charset="0"/>
              </a:rPr>
              <a:t>: At least one resource must be held in a non-shareable mode; that is, only one process at a time can use the resource. If another process requests that resource, the requesting process must be delayed until the resource has been released. 
2. </a:t>
            </a:r>
            <a:r>
              <a:rPr lang="en-IN" sz="2400" b="1" dirty="0">
                <a:latin typeface="Times New Roman" panose="02020603050405020304" pitchFamily="18" charset="0"/>
                <a:cs typeface="Times New Roman" panose="02020603050405020304" pitchFamily="18" charset="0"/>
              </a:rPr>
              <a:t>Hold and wait</a:t>
            </a:r>
            <a:r>
              <a:rPr lang="en-IN" sz="2400" dirty="0">
                <a:latin typeface="Times New Roman" panose="02020603050405020304" pitchFamily="18" charset="0"/>
                <a:cs typeface="Times New Roman" panose="02020603050405020304" pitchFamily="18" charset="0"/>
              </a:rPr>
              <a:t>: A process must be holding at least one resource and 
waiting to acquire additional resources that are currently being held by 
other processes. </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35152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0E213B-3566-8DF3-A6AC-A3BAC24515C5}"/>
              </a:ext>
            </a:extLst>
          </p:cNvPr>
          <p:cNvSpPr>
            <a:spLocks noGrp="1"/>
          </p:cNvSpPr>
          <p:nvPr>
            <p:ph idx="1"/>
          </p:nvPr>
        </p:nvSpPr>
        <p:spPr/>
        <p:txBody>
          <a:bodyPr>
            <a:normAutofit/>
          </a:bodyPr>
          <a:lstStyle/>
          <a:p>
            <a:pPr marL="0" indent="0">
              <a:buNone/>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3. No pre-emption</a:t>
            </a:r>
            <a:r>
              <a:rPr lang="en-IN" dirty="0">
                <a:latin typeface="Times New Roman" panose="02020603050405020304" pitchFamily="18" charset="0"/>
                <a:cs typeface="Times New Roman" panose="02020603050405020304" pitchFamily="18" charset="0"/>
              </a:rPr>
              <a:t>: Resources cannot be preempted; that is, a resource can be released only voluntarily by the process holding it, after that process has completed its task. 
</a:t>
            </a:r>
            <a:r>
              <a:rPr lang="en-IN" b="1" dirty="0">
                <a:latin typeface="Times New Roman" panose="02020603050405020304" pitchFamily="18" charset="0"/>
                <a:cs typeface="Times New Roman" panose="02020603050405020304" pitchFamily="18" charset="0"/>
              </a:rPr>
              <a:t>4. Circular wait: </a:t>
            </a:r>
            <a:r>
              <a:rPr lang="en-IN" dirty="0">
                <a:latin typeface="Times New Roman" panose="02020603050405020304" pitchFamily="18" charset="0"/>
                <a:cs typeface="Times New Roman" panose="02020603050405020304" pitchFamily="18" charset="0"/>
              </a:rPr>
              <a:t>A set {P0, P1, ..., </a:t>
            </a:r>
            <a:r>
              <a:rPr lang="en-IN" dirty="0" err="1">
                <a:latin typeface="Times New Roman" panose="02020603050405020304" pitchFamily="18" charset="0"/>
                <a:cs typeface="Times New Roman" panose="02020603050405020304" pitchFamily="18" charset="0"/>
              </a:rPr>
              <a:t>Pn</a:t>
            </a:r>
            <a:r>
              <a:rPr lang="en-IN" dirty="0">
                <a:latin typeface="Times New Roman" panose="02020603050405020304" pitchFamily="18" charset="0"/>
                <a:cs typeface="Times New Roman" panose="02020603050405020304" pitchFamily="18" charset="0"/>
              </a:rPr>
              <a:t>) of waiting processes must exist such that P0 is waiting for a resource that is held by P1, P1 is waiting for a resource that is held by P2, and finally </a:t>
            </a:r>
            <a:r>
              <a:rPr lang="en-IN" dirty="0" err="1">
                <a:latin typeface="Times New Roman" panose="02020603050405020304" pitchFamily="18" charset="0"/>
                <a:cs typeface="Times New Roman" panose="02020603050405020304" pitchFamily="18" charset="0"/>
              </a:rPr>
              <a:t>Pn</a:t>
            </a:r>
            <a:r>
              <a:rPr lang="en-IN" dirty="0">
                <a:latin typeface="Times New Roman" panose="02020603050405020304" pitchFamily="18" charset="0"/>
                <a:cs typeface="Times New Roman" panose="02020603050405020304" pitchFamily="18" charset="0"/>
              </a:rPr>
              <a:t> is waiting for a resource that is held by P0. </a:t>
            </a:r>
            <a:r>
              <a:rPr lang="en-US" dirty="0">
                <a:latin typeface="Times New Roman" panose="02020603050405020304" pitchFamily="18" charset="0"/>
                <a:cs typeface="Times New Roman" panose="02020603050405020304" pitchFamily="18" charset="0"/>
              </a:rPr>
              <a:t>This creates a circular relation between all these processes and they have to wait forever to be executed.</a:t>
            </a:r>
          </a:p>
        </p:txBody>
      </p:sp>
      <p:sp>
        <p:nvSpPr>
          <p:cNvPr id="5" name="Title 1">
            <a:extLst>
              <a:ext uri="{FF2B5EF4-FFF2-40B4-BE49-F238E27FC236}">
                <a16:creationId xmlns:a16="http://schemas.microsoft.com/office/drawing/2014/main" id="{40B958E4-E460-7BF0-0FAE-596D56B14290}"/>
              </a:ext>
            </a:extLst>
          </p:cNvPr>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Deadlock Characterization </a:t>
            </a:r>
            <a:endParaRPr lang="en-US" dirty="0"/>
          </a:p>
        </p:txBody>
      </p:sp>
    </p:spTree>
    <p:extLst>
      <p:ext uri="{BB962C8B-B14F-4D97-AF65-F5344CB8AC3E}">
        <p14:creationId xmlns:p14="http://schemas.microsoft.com/office/powerpoint/2010/main" val="40774309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2544C-A3B5-0996-9DFE-61E8CC434A88}"/>
              </a:ext>
            </a:extLst>
          </p:cNvPr>
          <p:cNvSpPr>
            <a:spLocks noGrp="1"/>
          </p:cNvSpPr>
          <p:nvPr>
            <p:ph type="title"/>
          </p:nvPr>
        </p:nvSpPr>
        <p:spPr/>
        <p:txBody>
          <a:bodyPr/>
          <a:lstStyle/>
          <a:p>
            <a:r>
              <a:rPr lang="en-IN" dirty="0"/>
              <a:t>Resource-Allocation Graph</a:t>
            </a:r>
            <a:endParaRPr lang="en-US" dirty="0"/>
          </a:p>
        </p:txBody>
      </p:sp>
      <p:sp>
        <p:nvSpPr>
          <p:cNvPr id="3" name="Content Placeholder 2">
            <a:extLst>
              <a:ext uri="{FF2B5EF4-FFF2-40B4-BE49-F238E27FC236}">
                <a16:creationId xmlns:a16="http://schemas.microsoft.com/office/drawing/2014/main" id="{127A86B9-5EDC-8900-DA7C-7E1224FCDD21}"/>
              </a:ext>
            </a:extLst>
          </p:cNvPr>
          <p:cNvSpPr>
            <a:spLocks noGrp="1"/>
          </p:cNvSpPr>
          <p:nvPr>
            <p:ph idx="1"/>
          </p:nvPr>
        </p:nvSpPr>
        <p:spPr>
          <a:xfrm>
            <a:off x="713103" y="1370026"/>
            <a:ext cx="11344427" cy="4934578"/>
          </a:xfrm>
        </p:spPr>
        <p:txBody>
          <a:bodyPr>
            <a:normAutofit/>
          </a:bodyPr>
          <a:lstStyle/>
          <a:p>
            <a:r>
              <a:rPr lang="en-IN" dirty="0">
                <a:latin typeface="Times New Roman" panose="02020603050405020304" pitchFamily="18" charset="0"/>
                <a:cs typeface="Times New Roman" panose="02020603050405020304" pitchFamily="18" charset="0"/>
              </a:rPr>
              <a:t>Deadlocks can be described more precisely in terms of a directed graph called a system </a:t>
            </a:r>
            <a:r>
              <a:rPr lang="en-IN" b="1" dirty="0">
                <a:latin typeface="Times New Roman" panose="02020603050405020304" pitchFamily="18" charset="0"/>
                <a:cs typeface="Times New Roman" panose="02020603050405020304" pitchFamily="18" charset="0"/>
              </a:rPr>
              <a:t>resource-allocation graph</a:t>
            </a:r>
            <a:r>
              <a:rPr lang="en-IN" dirty="0">
                <a:latin typeface="Times New Roman" panose="02020603050405020304" pitchFamily="18" charset="0"/>
                <a:cs typeface="Times New Roman" panose="02020603050405020304" pitchFamily="18" charset="0"/>
              </a:rPr>
              <a:t>. This graph consists of a set of vertices V and a set of edges E</a:t>
            </a:r>
          </a:p>
          <a:p>
            <a:r>
              <a:rPr lang="en-IN" dirty="0">
                <a:latin typeface="Times New Roman" panose="02020603050405020304" pitchFamily="18" charset="0"/>
                <a:cs typeface="Times New Roman" panose="02020603050405020304" pitchFamily="18" charset="0"/>
              </a:rPr>
              <a:t> The set of vertices V is partitioned into two different types of nodes</a:t>
            </a:r>
          </a:p>
          <a:p>
            <a:r>
              <a:rPr lang="en-IN" dirty="0">
                <a:latin typeface="Times New Roman" panose="02020603050405020304" pitchFamily="18" charset="0"/>
                <a:cs typeface="Times New Roman" panose="02020603050405020304" pitchFamily="18" charset="0"/>
              </a:rPr>
              <a:t> P = {PI, P2, ..., </a:t>
            </a:r>
            <a:r>
              <a:rPr lang="en-IN" dirty="0" err="1">
                <a:latin typeface="Times New Roman" panose="02020603050405020304" pitchFamily="18" charset="0"/>
                <a:cs typeface="Times New Roman" panose="02020603050405020304" pitchFamily="18" charset="0"/>
              </a:rPr>
              <a:t>Pn</a:t>
            </a:r>
            <a:r>
              <a:rPr lang="en-IN" dirty="0">
                <a:latin typeface="Times New Roman" panose="02020603050405020304" pitchFamily="18" charset="0"/>
                <a:cs typeface="Times New Roman" panose="02020603050405020304" pitchFamily="18" charset="0"/>
              </a:rPr>
              <a:t>}, the set consisting of all the active processes in the system, and R = {R1, R2, ..., Rm), the set consisting of all resource types in the system.</a:t>
            </a:r>
          </a:p>
          <a:p>
            <a:pPr marL="0" indent="0">
              <a:buNone/>
            </a:pPr>
            <a:r>
              <a:rPr lang="en-US" dirty="0">
                <a:latin typeface="Times New Roman" panose="02020603050405020304" pitchFamily="18" charset="0"/>
                <a:cs typeface="Times New Roman" panose="02020603050405020304" pitchFamily="18" charset="0"/>
              </a:rPr>
              <a:t>A directed edge </a:t>
            </a:r>
            <a:r>
              <a:rPr lang="en-US" b="1" dirty="0">
                <a:latin typeface="Times New Roman" panose="02020603050405020304" pitchFamily="18" charset="0"/>
                <a:cs typeface="Times New Roman" panose="02020603050405020304" pitchFamily="18" charset="0"/>
              </a:rPr>
              <a:t>Pi</a:t>
            </a:r>
            <a:r>
              <a:rPr lang="en-IN" b="1"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Rj</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is called a </a:t>
            </a:r>
            <a:r>
              <a:rPr lang="en-US" b="1" dirty="0">
                <a:latin typeface="Times New Roman" panose="02020603050405020304" pitchFamily="18" charset="0"/>
                <a:cs typeface="Times New Roman" panose="02020603050405020304" pitchFamily="18" charset="0"/>
              </a:rPr>
              <a:t>request edge</a:t>
            </a:r>
            <a:r>
              <a:rPr lang="en-US" dirty="0">
                <a:latin typeface="Times New Roman" panose="02020603050405020304" pitchFamily="18" charset="0"/>
                <a:cs typeface="Times New Roman" panose="02020603050405020304" pitchFamily="18" charset="0"/>
              </a:rPr>
              <a:t>; a directed edge Pi </a:t>
            </a:r>
            <a:r>
              <a:rPr lang="en-IN"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Rj</a:t>
            </a:r>
            <a:r>
              <a:rPr lang="en-US" dirty="0">
                <a:latin typeface="Times New Roman" panose="02020603050405020304" pitchFamily="18" charset="0"/>
                <a:cs typeface="Times New Roman" panose="02020603050405020304" pitchFamily="18" charset="0"/>
              </a:rPr>
              <a:t> is called an </a:t>
            </a:r>
            <a:r>
              <a:rPr lang="en-US" b="1" dirty="0">
                <a:latin typeface="Times New Roman" panose="02020603050405020304" pitchFamily="18" charset="0"/>
                <a:cs typeface="Times New Roman" panose="02020603050405020304" pitchFamily="18" charset="0"/>
              </a:rPr>
              <a:t>assignment edge. </a:t>
            </a:r>
          </a:p>
          <a:p>
            <a:pPr marL="0" indent="0">
              <a:buNone/>
            </a:pPr>
            <a:r>
              <a:rPr lang="en-US" dirty="0">
                <a:latin typeface="Times New Roman" panose="02020603050405020304" pitchFamily="18" charset="0"/>
                <a:cs typeface="Times New Roman" panose="02020603050405020304" pitchFamily="18" charset="0"/>
              </a:rPr>
              <a:t>Pictorially, we represent each process Pi as a circle, and </a:t>
            </a:r>
            <a:r>
              <a:rPr lang="en-IN" dirty="0">
                <a:latin typeface="Times New Roman" panose="02020603050405020304" pitchFamily="18" charset="0"/>
                <a:cs typeface="Times New Roman" panose="02020603050405020304" pitchFamily="18" charset="0"/>
              </a:rPr>
              <a:t>each resource </a:t>
            </a:r>
            <a:r>
              <a:rPr lang="en-IN" dirty="0" err="1">
                <a:latin typeface="Times New Roman" panose="02020603050405020304" pitchFamily="18" charset="0"/>
                <a:cs typeface="Times New Roman" panose="02020603050405020304" pitchFamily="18" charset="0"/>
              </a:rPr>
              <a:t>Ri</a:t>
            </a:r>
            <a:r>
              <a:rPr lang="en-IN" dirty="0">
                <a:latin typeface="Times New Roman" panose="02020603050405020304" pitchFamily="18" charset="0"/>
                <a:cs typeface="Times New Roman" panose="02020603050405020304" pitchFamily="18" charset="0"/>
              </a:rPr>
              <a:t> as square</a:t>
            </a:r>
            <a:endParaRPr lang="en-US" dirty="0">
              <a:latin typeface="Times New Roman" panose="02020603050405020304" pitchFamily="18" charset="0"/>
              <a:cs typeface="Times New Roman" panose="02020603050405020304" pitchFamily="18" charset="0"/>
            </a:endParaRPr>
          </a:p>
        </p:txBody>
      </p:sp>
      <p:cxnSp>
        <p:nvCxnSpPr>
          <p:cNvPr id="32" name="Straight Arrow Connector 31">
            <a:extLst>
              <a:ext uri="{FF2B5EF4-FFF2-40B4-BE49-F238E27FC236}">
                <a16:creationId xmlns:a16="http://schemas.microsoft.com/office/drawing/2014/main" id="{CBD3551D-B2B6-B1B2-24FF-334BD9E98E9E}"/>
              </a:ext>
            </a:extLst>
          </p:cNvPr>
          <p:cNvCxnSpPr>
            <a:cxnSpLocks/>
          </p:cNvCxnSpPr>
          <p:nvPr/>
        </p:nvCxnSpPr>
        <p:spPr>
          <a:xfrm flipH="1">
            <a:off x="11191026" y="4716388"/>
            <a:ext cx="34228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6111F544-4817-4958-3727-96491B760345}"/>
              </a:ext>
            </a:extLst>
          </p:cNvPr>
          <p:cNvCxnSpPr>
            <a:cxnSpLocks/>
          </p:cNvCxnSpPr>
          <p:nvPr/>
        </p:nvCxnSpPr>
        <p:spPr>
          <a:xfrm flipV="1">
            <a:off x="3506267" y="4683311"/>
            <a:ext cx="819048" cy="85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2187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37D2E444-28D4-775C-B1FC-7D101496147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79649" y="1825625"/>
            <a:ext cx="9232701" cy="4351338"/>
          </a:xfrm>
        </p:spPr>
      </p:pic>
      <p:sp>
        <p:nvSpPr>
          <p:cNvPr id="6" name="Title 1">
            <a:extLst>
              <a:ext uri="{FF2B5EF4-FFF2-40B4-BE49-F238E27FC236}">
                <a16:creationId xmlns:a16="http://schemas.microsoft.com/office/drawing/2014/main" id="{1CEFA832-0118-052B-D65E-93DC5ABB1162}"/>
              </a:ext>
            </a:extLst>
          </p:cNvPr>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Resource-Allocation Graph</a:t>
            </a:r>
            <a:endParaRPr lang="en-US" dirty="0"/>
          </a:p>
        </p:txBody>
      </p:sp>
    </p:spTree>
    <p:extLst>
      <p:ext uri="{BB962C8B-B14F-4D97-AF65-F5344CB8AC3E}">
        <p14:creationId xmlns:p14="http://schemas.microsoft.com/office/powerpoint/2010/main" val="22946747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B61D2E-6F6B-291B-30D5-988358C5C7DA}"/>
              </a:ext>
            </a:extLst>
          </p:cNvPr>
          <p:cNvSpPr>
            <a:spLocks noGrp="1"/>
          </p:cNvSpPr>
          <p:nvPr>
            <p:ph idx="1"/>
          </p:nvPr>
        </p:nvSpPr>
        <p:spPr>
          <a:xfrm>
            <a:off x="838200" y="1825625"/>
            <a:ext cx="11154132" cy="4763434"/>
          </a:xfrm>
        </p:spPr>
        <p:txBody>
          <a:bodyPr>
            <a:normAutofit fontScale="70000" lnSpcReduction="20000"/>
          </a:bodyPr>
          <a:lstStyle/>
          <a:p>
            <a:pPr marL="0" indent="0">
              <a:buNone/>
            </a:pPr>
            <a:r>
              <a:rPr lang="en-IN" dirty="0"/>
              <a:t>The sets T, R, and E:
◦ T = {T1, T2, T3}
◦ R = {R1, R2, R3, R4}</a:t>
            </a:r>
          </a:p>
          <a:p>
            <a:pPr marL="0" indent="0">
              <a:buNone/>
            </a:pPr>
            <a:r>
              <a:rPr lang="en-US" dirty="0"/>
              <a:t>{T1 → R1, T2 → R3, R1 → T2, R2 → T2, R2 → T1, R3 → T3}</a:t>
            </a:r>
          </a:p>
          <a:p>
            <a:r>
              <a:rPr lang="en-US" dirty="0"/>
              <a:t>• Resource instances:</a:t>
            </a:r>
          </a:p>
          <a:p>
            <a:pPr marL="0" indent="0">
              <a:buNone/>
            </a:pPr>
            <a:r>
              <a:rPr lang="en-US" dirty="0"/>
              <a:t>◦ One instance of resource type R1</a:t>
            </a:r>
          </a:p>
          <a:p>
            <a:pPr marL="0" indent="0">
              <a:buNone/>
            </a:pPr>
            <a:r>
              <a:rPr lang="en-US" dirty="0"/>
              <a:t>◦ Two instances of resource type R2</a:t>
            </a:r>
          </a:p>
          <a:p>
            <a:pPr marL="0" indent="0">
              <a:buNone/>
            </a:pPr>
            <a:r>
              <a:rPr lang="en-US" dirty="0"/>
              <a:t>◦ One instance of resource type R3</a:t>
            </a:r>
          </a:p>
          <a:p>
            <a:pPr marL="0" indent="0">
              <a:buNone/>
            </a:pPr>
            <a:r>
              <a:rPr lang="en-US" dirty="0"/>
              <a:t>◦ Three instances of resource type R4</a:t>
            </a:r>
          </a:p>
          <a:p>
            <a:r>
              <a:rPr lang="en-US" dirty="0"/>
              <a:t>• </a:t>
            </a:r>
            <a:r>
              <a:rPr lang="en-IN" dirty="0"/>
              <a:t>Process</a:t>
            </a:r>
            <a:r>
              <a:rPr lang="en-US" dirty="0"/>
              <a:t> states:</a:t>
            </a:r>
          </a:p>
          <a:p>
            <a:pPr marL="0" indent="0">
              <a:buNone/>
            </a:pPr>
            <a:r>
              <a:rPr lang="en-US" dirty="0"/>
              <a:t>◦ T1 is holding an instance of resource type R2 and is waiting for</a:t>
            </a:r>
            <a:r>
              <a:rPr lang="en-IN" dirty="0"/>
              <a:t> </a:t>
            </a:r>
            <a:r>
              <a:rPr lang="en-US" dirty="0"/>
              <a:t>an instance of resource type R1.</a:t>
            </a:r>
          </a:p>
          <a:p>
            <a:pPr marL="0" indent="0">
              <a:buNone/>
            </a:pPr>
            <a:r>
              <a:rPr lang="en-US" dirty="0"/>
              <a:t>◦ T2 is holding an instance of R1 and an instance of R2 and is</a:t>
            </a:r>
            <a:r>
              <a:rPr lang="en-IN" dirty="0"/>
              <a:t> </a:t>
            </a:r>
            <a:r>
              <a:rPr lang="en-US" dirty="0"/>
              <a:t>waiting for an instance of R3.</a:t>
            </a:r>
          </a:p>
          <a:p>
            <a:pPr marL="0" indent="0">
              <a:buNone/>
            </a:pPr>
            <a:r>
              <a:rPr lang="en-US" dirty="0"/>
              <a:t>◦ T3 is holding an instance of R3.</a:t>
            </a:r>
          </a:p>
        </p:txBody>
      </p:sp>
      <p:sp>
        <p:nvSpPr>
          <p:cNvPr id="5" name="Title 1">
            <a:extLst>
              <a:ext uri="{FF2B5EF4-FFF2-40B4-BE49-F238E27FC236}">
                <a16:creationId xmlns:a16="http://schemas.microsoft.com/office/drawing/2014/main" id="{9ACAC2AC-E542-E13C-8EE2-E22841374968}"/>
              </a:ext>
            </a:extLst>
          </p:cNvPr>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Resource-Allocation Graph</a:t>
            </a:r>
            <a:endParaRPr lang="en-US" dirty="0"/>
          </a:p>
        </p:txBody>
      </p:sp>
    </p:spTree>
    <p:extLst>
      <p:ext uri="{BB962C8B-B14F-4D97-AF65-F5344CB8AC3E}">
        <p14:creationId xmlns:p14="http://schemas.microsoft.com/office/powerpoint/2010/main" val="8159044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760DA380-71EE-8792-2BE1-977F441DB3E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29825" y="1825625"/>
            <a:ext cx="8332349" cy="4351338"/>
          </a:xfrm>
        </p:spPr>
      </p:pic>
      <p:sp>
        <p:nvSpPr>
          <p:cNvPr id="6" name="Title 1">
            <a:extLst>
              <a:ext uri="{FF2B5EF4-FFF2-40B4-BE49-F238E27FC236}">
                <a16:creationId xmlns:a16="http://schemas.microsoft.com/office/drawing/2014/main" id="{8379C29D-46C7-7FE7-1CC1-E437E404F701}"/>
              </a:ext>
            </a:extLst>
          </p:cNvPr>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Resource-Allocation Graph</a:t>
            </a:r>
            <a:endParaRPr lang="en-US" dirty="0"/>
          </a:p>
        </p:txBody>
      </p:sp>
    </p:spTree>
    <p:extLst>
      <p:ext uri="{BB962C8B-B14F-4D97-AF65-F5344CB8AC3E}">
        <p14:creationId xmlns:p14="http://schemas.microsoft.com/office/powerpoint/2010/main" val="11016686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2C7C9553-AD53-3D4F-C21C-2EDFE951637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0525" y="1825625"/>
            <a:ext cx="9810949" cy="4351338"/>
          </a:xfrm>
        </p:spPr>
      </p:pic>
      <p:sp>
        <p:nvSpPr>
          <p:cNvPr id="6" name="Title 1">
            <a:extLst>
              <a:ext uri="{FF2B5EF4-FFF2-40B4-BE49-F238E27FC236}">
                <a16:creationId xmlns:a16="http://schemas.microsoft.com/office/drawing/2014/main" id="{3E5140EE-218A-2A2B-D3E9-A42932E199CB}"/>
              </a:ext>
            </a:extLst>
          </p:cNvPr>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Resource-Allocation Graph</a:t>
            </a:r>
            <a:endParaRPr lang="en-US" dirty="0"/>
          </a:p>
        </p:txBody>
      </p:sp>
      <p:sp>
        <p:nvSpPr>
          <p:cNvPr id="7" name="TextBox 6">
            <a:extLst>
              <a:ext uri="{FF2B5EF4-FFF2-40B4-BE49-F238E27FC236}">
                <a16:creationId xmlns:a16="http://schemas.microsoft.com/office/drawing/2014/main" id="{D49B4E12-BC71-02E1-2856-FD833007D622}"/>
              </a:ext>
            </a:extLst>
          </p:cNvPr>
          <p:cNvSpPr txBox="1"/>
          <p:nvPr/>
        </p:nvSpPr>
        <p:spPr>
          <a:xfrm>
            <a:off x="607562" y="4074952"/>
            <a:ext cx="4820160" cy="1477328"/>
          </a:xfrm>
          <a:prstGeom prst="rect">
            <a:avLst/>
          </a:prstGeom>
          <a:noFill/>
        </p:spPr>
        <p:txBody>
          <a:bodyPr wrap="square" rtlCol="0">
            <a:spAutoFit/>
          </a:bodyPr>
          <a:lstStyle/>
          <a:p>
            <a:pPr algn="l"/>
            <a:r>
              <a:rPr lang="en-US" b="1" dirty="0"/>
              <a:t>if a resource-allocation graph does not have a cycle, then the</a:t>
            </a:r>
            <a:r>
              <a:rPr lang="en-IN" b="1" dirty="0"/>
              <a:t> </a:t>
            </a:r>
            <a:r>
              <a:rPr lang="en-US" b="1" dirty="0"/>
              <a:t>system is not in a deadlocked state. If there is a cycle, then the system may or</a:t>
            </a:r>
            <a:r>
              <a:rPr lang="en-IN" b="1" dirty="0"/>
              <a:t> </a:t>
            </a:r>
            <a:r>
              <a:rPr lang="en-US" b="1" dirty="0"/>
              <a:t>may not be in a deadlocked state</a:t>
            </a:r>
          </a:p>
        </p:txBody>
      </p:sp>
    </p:spTree>
    <p:extLst>
      <p:ext uri="{BB962C8B-B14F-4D97-AF65-F5344CB8AC3E}">
        <p14:creationId xmlns:p14="http://schemas.microsoft.com/office/powerpoint/2010/main" val="2037442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98C63-DAC6-05EF-38F9-F4FBD448CFA3}"/>
              </a:ext>
            </a:extLst>
          </p:cNvPr>
          <p:cNvSpPr>
            <a:spLocks noGrp="1"/>
          </p:cNvSpPr>
          <p:nvPr>
            <p:ph type="title"/>
          </p:nvPr>
        </p:nvSpPr>
        <p:spPr/>
        <p:txBody>
          <a:bodyPr/>
          <a:lstStyle/>
          <a:p>
            <a:r>
              <a:rPr lang="en-IN" dirty="0"/>
              <a:t>Find Resource Allocation Graph</a:t>
            </a:r>
            <a:endParaRPr lang="en-US" dirty="0"/>
          </a:p>
        </p:txBody>
      </p:sp>
      <p:pic>
        <p:nvPicPr>
          <p:cNvPr id="4" name="Picture 4">
            <a:extLst>
              <a:ext uri="{FF2B5EF4-FFF2-40B4-BE49-F238E27FC236}">
                <a16:creationId xmlns:a16="http://schemas.microsoft.com/office/drawing/2014/main" id="{AE6329A7-4C9D-46BA-256F-EC732706D52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68612" y="2008994"/>
            <a:ext cx="7112060" cy="4351338"/>
          </a:xfrm>
        </p:spPr>
      </p:pic>
    </p:spTree>
    <p:extLst>
      <p:ext uri="{BB962C8B-B14F-4D97-AF65-F5344CB8AC3E}">
        <p14:creationId xmlns:p14="http://schemas.microsoft.com/office/powerpoint/2010/main" val="2891305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0635F-1ED0-EE50-5AA2-87D6B28DAED1}"/>
              </a:ext>
            </a:extLst>
          </p:cNvPr>
          <p:cNvSpPr>
            <a:spLocks noGrp="1"/>
          </p:cNvSpPr>
          <p:nvPr>
            <p:ph type="title"/>
          </p:nvPr>
        </p:nvSpPr>
        <p:spPr/>
        <p:txBody>
          <a:bodyPr/>
          <a:lstStyle/>
          <a:p>
            <a:r>
              <a:rPr lang="en-IN" dirty="0"/>
              <a:t>Does this graph produce deadlock? </a:t>
            </a:r>
            <a:endParaRPr lang="en-US" dirty="0"/>
          </a:p>
        </p:txBody>
      </p:sp>
      <p:pic>
        <p:nvPicPr>
          <p:cNvPr id="4" name="Picture 4">
            <a:extLst>
              <a:ext uri="{FF2B5EF4-FFF2-40B4-BE49-F238E27FC236}">
                <a16:creationId xmlns:a16="http://schemas.microsoft.com/office/drawing/2014/main" id="{493B5008-914A-9611-028B-6722136583D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4555" y="1825625"/>
            <a:ext cx="9142889" cy="4351338"/>
          </a:xfrm>
        </p:spPr>
      </p:pic>
      <p:sp>
        <p:nvSpPr>
          <p:cNvPr id="5" name="TextBox 4">
            <a:extLst>
              <a:ext uri="{FF2B5EF4-FFF2-40B4-BE49-F238E27FC236}">
                <a16:creationId xmlns:a16="http://schemas.microsoft.com/office/drawing/2014/main" id="{E6C540D2-6FA5-D4F5-35ED-43A9EC168667}"/>
              </a:ext>
            </a:extLst>
          </p:cNvPr>
          <p:cNvSpPr txBox="1"/>
          <p:nvPr/>
        </p:nvSpPr>
        <p:spPr>
          <a:xfrm>
            <a:off x="8260161" y="2113632"/>
            <a:ext cx="2741978" cy="923330"/>
          </a:xfrm>
          <a:prstGeom prst="rect">
            <a:avLst/>
          </a:prstGeom>
          <a:noFill/>
        </p:spPr>
        <p:txBody>
          <a:bodyPr wrap="square" rtlCol="0">
            <a:spAutoFit/>
          </a:bodyPr>
          <a:lstStyle/>
          <a:p>
            <a:pPr algn="l"/>
            <a:r>
              <a:rPr lang="en-IN" dirty="0"/>
              <a:t>This graph has cycle but doesn’t produce deadlock</a:t>
            </a:r>
            <a:endParaRPr lang="en-US" dirty="0"/>
          </a:p>
        </p:txBody>
      </p:sp>
    </p:spTree>
    <p:extLst>
      <p:ext uri="{BB962C8B-B14F-4D97-AF65-F5344CB8AC3E}">
        <p14:creationId xmlns:p14="http://schemas.microsoft.com/office/powerpoint/2010/main" val="2384261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A7599-8E5F-6D3F-5A23-8F7197E0C2B4}"/>
              </a:ext>
            </a:extLst>
          </p:cNvPr>
          <p:cNvSpPr>
            <a:spLocks noGrp="1"/>
          </p:cNvSpPr>
          <p:nvPr>
            <p:ph type="title"/>
          </p:nvPr>
        </p:nvSpPr>
        <p:spPr/>
        <p:txBody>
          <a:bodyPr/>
          <a:lstStyle/>
          <a:p>
            <a:r>
              <a:rPr lang="en-IN" dirty="0"/>
              <a:t>Find Resource Allocation Graph</a:t>
            </a:r>
            <a:endParaRPr lang="en-US" dirty="0"/>
          </a:p>
        </p:txBody>
      </p:sp>
      <p:pic>
        <p:nvPicPr>
          <p:cNvPr id="4" name="Picture 4">
            <a:extLst>
              <a:ext uri="{FF2B5EF4-FFF2-40B4-BE49-F238E27FC236}">
                <a16:creationId xmlns:a16="http://schemas.microsoft.com/office/drawing/2014/main" id="{B8F962D7-A58F-32A3-01C9-DE1B7D037DD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65145" y="1825625"/>
            <a:ext cx="6661710" cy="4351338"/>
          </a:xfrm>
        </p:spPr>
      </p:pic>
    </p:spTree>
    <p:extLst>
      <p:ext uri="{BB962C8B-B14F-4D97-AF65-F5344CB8AC3E}">
        <p14:creationId xmlns:p14="http://schemas.microsoft.com/office/powerpoint/2010/main" val="37426943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BBFBB-CED5-0556-C6B0-2774DD8A8C80}"/>
              </a:ext>
            </a:extLst>
          </p:cNvPr>
          <p:cNvSpPr>
            <a:spLocks noGrp="1"/>
          </p:cNvSpPr>
          <p:nvPr>
            <p:ph type="title"/>
          </p:nvPr>
        </p:nvSpPr>
        <p:spPr>
          <a:xfrm>
            <a:off x="838200" y="365126"/>
            <a:ext cx="10515600" cy="982908"/>
          </a:xfrm>
        </p:spPr>
        <p:txBody>
          <a:bodyPr/>
          <a:lstStyle/>
          <a:p>
            <a:r>
              <a:rPr lang="en-IN" dirty="0"/>
              <a:t>Does this graph produce deadlock?</a:t>
            </a:r>
            <a:endParaRPr lang="en-US" dirty="0"/>
          </a:p>
        </p:txBody>
      </p:sp>
      <p:pic>
        <p:nvPicPr>
          <p:cNvPr id="4" name="Picture 4">
            <a:extLst>
              <a:ext uri="{FF2B5EF4-FFF2-40B4-BE49-F238E27FC236}">
                <a16:creationId xmlns:a16="http://schemas.microsoft.com/office/drawing/2014/main" id="{8213120F-E044-56F0-21CD-DAA49B007BC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52003" y="1943710"/>
            <a:ext cx="9770156" cy="4351338"/>
          </a:xfrm>
        </p:spPr>
      </p:pic>
      <p:sp>
        <p:nvSpPr>
          <p:cNvPr id="5" name="TextBox 4">
            <a:extLst>
              <a:ext uri="{FF2B5EF4-FFF2-40B4-BE49-F238E27FC236}">
                <a16:creationId xmlns:a16="http://schemas.microsoft.com/office/drawing/2014/main" id="{067D0D6C-2111-C33C-3223-01BBC0E7A72A}"/>
              </a:ext>
            </a:extLst>
          </p:cNvPr>
          <p:cNvSpPr txBox="1"/>
          <p:nvPr/>
        </p:nvSpPr>
        <p:spPr>
          <a:xfrm>
            <a:off x="838200" y="1836133"/>
            <a:ext cx="2750534" cy="107577"/>
          </a:xfrm>
          <a:prstGeom prst="rect">
            <a:avLst/>
          </a:prstGeom>
          <a:noFill/>
        </p:spPr>
        <p:txBody>
          <a:bodyPr wrap="square" rtlCol="0">
            <a:spAutoFit/>
          </a:bodyPr>
          <a:lstStyle/>
          <a:p>
            <a:pPr algn="l"/>
            <a:endParaRPr lang="en-US" dirty="0"/>
          </a:p>
        </p:txBody>
      </p:sp>
      <p:sp>
        <p:nvSpPr>
          <p:cNvPr id="6" name="TextBox 5">
            <a:extLst>
              <a:ext uri="{FF2B5EF4-FFF2-40B4-BE49-F238E27FC236}">
                <a16:creationId xmlns:a16="http://schemas.microsoft.com/office/drawing/2014/main" id="{08F17EAA-2404-4DD2-D46C-BD879DB7767E}"/>
              </a:ext>
            </a:extLst>
          </p:cNvPr>
          <p:cNvSpPr txBox="1"/>
          <p:nvPr/>
        </p:nvSpPr>
        <p:spPr>
          <a:xfrm>
            <a:off x="5686882" y="1559035"/>
            <a:ext cx="1828800" cy="369332"/>
          </a:xfrm>
          <a:prstGeom prst="rect">
            <a:avLst/>
          </a:prstGeom>
          <a:noFill/>
        </p:spPr>
        <p:txBody>
          <a:bodyPr wrap="square" rtlCol="0">
            <a:spAutoFit/>
          </a:bodyPr>
          <a:lstStyle/>
          <a:p>
            <a:pPr algn="l"/>
            <a:r>
              <a:rPr lang="en-IN" dirty="0"/>
              <a:t>Deadlock</a:t>
            </a:r>
            <a:endParaRPr lang="en-US" dirty="0"/>
          </a:p>
        </p:txBody>
      </p:sp>
    </p:spTree>
    <p:extLst>
      <p:ext uri="{BB962C8B-B14F-4D97-AF65-F5344CB8AC3E}">
        <p14:creationId xmlns:p14="http://schemas.microsoft.com/office/powerpoint/2010/main" val="2688414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380F0-E90F-54AC-AAA5-3377F796DE7D}"/>
              </a:ext>
            </a:extLst>
          </p:cNvPr>
          <p:cNvSpPr>
            <a:spLocks noGrp="1"/>
          </p:cNvSpPr>
          <p:nvPr>
            <p:ph type="title"/>
          </p:nvPr>
        </p:nvSpPr>
        <p:spPr/>
        <p:txBody>
          <a:bodyPr/>
          <a:lstStyle/>
          <a:p>
            <a:r>
              <a:rPr lang="en-IN" dirty="0"/>
              <a:t>Methods for Handling Deadlocks</a:t>
            </a:r>
            <a:endParaRPr lang="en-US" dirty="0"/>
          </a:p>
        </p:txBody>
      </p:sp>
      <p:sp>
        <p:nvSpPr>
          <p:cNvPr id="3" name="Content Placeholder 2">
            <a:extLst>
              <a:ext uri="{FF2B5EF4-FFF2-40B4-BE49-F238E27FC236}">
                <a16:creationId xmlns:a16="http://schemas.microsoft.com/office/drawing/2014/main" id="{A03CB43D-E337-AD07-CD78-CE22903B4CC7}"/>
              </a:ext>
            </a:extLst>
          </p:cNvPr>
          <p:cNvSpPr>
            <a:spLocks noGrp="1"/>
          </p:cNvSpPr>
          <p:nvPr>
            <p:ph idx="1"/>
          </p:nvPr>
        </p:nvSpPr>
        <p:spPr>
          <a:xfrm>
            <a:off x="838200" y="1825625"/>
            <a:ext cx="10836292" cy="4351338"/>
          </a:xfrm>
        </p:spPr>
        <p:txBody>
          <a:bodyPr>
            <a:normAutofit fontScale="92500"/>
          </a:bodyPr>
          <a:lstStyle/>
          <a:p>
            <a:r>
              <a:rPr lang="en-IN" sz="2400" dirty="0">
                <a:latin typeface="Times New Roman" panose="02020603050405020304" pitchFamily="18" charset="0"/>
                <a:cs typeface="Times New Roman" panose="02020603050405020304" pitchFamily="18" charset="0"/>
              </a:rPr>
              <a:t> To ensure that deadlocks never occur, the system can use either a deadlock prevention or a deadlock-avoidance scheme. </a:t>
            </a:r>
          </a:p>
          <a:p>
            <a:r>
              <a:rPr lang="en-IN" sz="2400" b="1" dirty="0">
                <a:latin typeface="Times New Roman" panose="02020603050405020304" pitchFamily="18" charset="0"/>
                <a:cs typeface="Times New Roman" panose="02020603050405020304" pitchFamily="18" charset="0"/>
              </a:rPr>
              <a:t>Deadlock prevention </a:t>
            </a:r>
            <a:r>
              <a:rPr lang="en-IN" sz="2400" dirty="0">
                <a:latin typeface="Times New Roman" panose="02020603050405020304" pitchFamily="18" charset="0"/>
                <a:cs typeface="Times New Roman" panose="02020603050405020304" pitchFamily="18" charset="0"/>
              </a:rPr>
              <a:t>provides a set of methods to ensure that at least one of the necessary conditions cannot hold. These methods prevent deadlocks by constraining how requests for resources can be made. </a:t>
            </a:r>
          </a:p>
          <a:p>
            <a:r>
              <a:rPr lang="en-IN" sz="2400" b="1" dirty="0">
                <a:latin typeface="Times New Roman" panose="02020603050405020304" pitchFamily="18" charset="0"/>
                <a:cs typeface="Times New Roman" panose="02020603050405020304" pitchFamily="18" charset="0"/>
              </a:rPr>
              <a:t>Deadlock avoidance </a:t>
            </a:r>
            <a:r>
              <a:rPr lang="en-IN" sz="2400" dirty="0">
                <a:latin typeface="Times New Roman" panose="02020603050405020304" pitchFamily="18" charset="0"/>
                <a:cs typeface="Times New Roman" panose="02020603050405020304" pitchFamily="18" charset="0"/>
              </a:rPr>
              <a:t>requires that the operating system be given additional information in advance concerning which resources a process will request and use during its lifetime. </a:t>
            </a:r>
          </a:p>
          <a:p>
            <a:r>
              <a:rPr lang="en-IN" sz="2400">
                <a:latin typeface="Times New Roman" panose="02020603050405020304" pitchFamily="18" charset="0"/>
                <a:cs typeface="Times New Roman" panose="02020603050405020304" pitchFamily="18" charset="0"/>
              </a:rPr>
              <a:t>With </a:t>
            </a:r>
            <a:r>
              <a:rPr lang="en-IN" sz="2400" dirty="0">
                <a:latin typeface="Times New Roman" panose="02020603050405020304" pitchFamily="18" charset="0"/>
                <a:cs typeface="Times New Roman" panose="02020603050405020304" pitchFamily="18" charset="0"/>
              </a:rPr>
              <a:t>this additional knowledge, the operating system can decide for each request whether or not the process should wait</a:t>
            </a:r>
            <a:r>
              <a:rPr lang="en-IN" sz="2400">
                <a:latin typeface="Times New Roman" panose="02020603050405020304" pitchFamily="18" charset="0"/>
                <a:cs typeface="Times New Roman" panose="02020603050405020304" pitchFamily="18" charset="0"/>
              </a:rPr>
              <a:t>. </a:t>
            </a:r>
          </a:p>
          <a:p>
            <a:r>
              <a:rPr lang="en-IN" sz="2400">
                <a:latin typeface="Times New Roman" panose="02020603050405020304" pitchFamily="18" charset="0"/>
                <a:cs typeface="Times New Roman" panose="02020603050405020304" pitchFamily="18" charset="0"/>
              </a:rPr>
              <a:t>To </a:t>
            </a:r>
            <a:r>
              <a:rPr lang="en-IN" sz="2400" dirty="0">
                <a:latin typeface="Times New Roman" panose="02020603050405020304" pitchFamily="18" charset="0"/>
                <a:cs typeface="Times New Roman" panose="02020603050405020304" pitchFamily="18" charset="0"/>
              </a:rPr>
              <a:t>decide whether the current request can be satisfied or must be delayed, the system must consider the resources currently available, the resources currently allocated to each process,  and the future requests and releases of each process.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38565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1B7F0-37AA-764C-D81F-397E1F95D62F}"/>
              </a:ext>
            </a:extLst>
          </p:cNvPr>
          <p:cNvSpPr>
            <a:spLocks noGrp="1"/>
          </p:cNvSpPr>
          <p:nvPr>
            <p:ph type="title"/>
          </p:nvPr>
        </p:nvSpPr>
        <p:spPr/>
        <p:txBody>
          <a:bodyPr/>
          <a:lstStyle/>
          <a:p>
            <a:r>
              <a:rPr lang="en-US" dirty="0"/>
              <a:t>Deadlock Prevention</a:t>
            </a:r>
            <a:endParaRPr lang="en-IN" dirty="0"/>
          </a:p>
        </p:txBody>
      </p:sp>
      <p:sp>
        <p:nvSpPr>
          <p:cNvPr id="3" name="Content Placeholder 2">
            <a:extLst>
              <a:ext uri="{FF2B5EF4-FFF2-40B4-BE49-F238E27FC236}">
                <a16:creationId xmlns:a16="http://schemas.microsoft.com/office/drawing/2014/main" id="{C9F23801-17AD-7827-3E37-681A3F2F16C3}"/>
              </a:ext>
            </a:extLst>
          </p:cNvPr>
          <p:cNvSpPr>
            <a:spLocks noGrp="1"/>
          </p:cNvSpPr>
          <p:nvPr>
            <p:ph idx="1"/>
          </p:nvPr>
        </p:nvSpPr>
        <p:spPr/>
        <p:txBody>
          <a:bodyPr>
            <a:normAutofit fontScale="70000" lnSpcReduction="20000"/>
          </a:bodyPr>
          <a:lstStyle/>
          <a:p>
            <a:pPr marL="0" indent="0">
              <a:buNone/>
            </a:pPr>
            <a:r>
              <a:rPr lang="en-US" dirty="0"/>
              <a:t>1. Eliminating Mutual Exclusion</a:t>
            </a:r>
          </a:p>
          <a:p>
            <a:pPr marL="0" indent="0">
              <a:buNone/>
            </a:pPr>
            <a:r>
              <a:rPr lang="en-US" dirty="0"/>
              <a:t>How it works: Processes cannot have exclusive access to non-sharable resources. </a:t>
            </a:r>
          </a:p>
          <a:p>
            <a:pPr marL="0" indent="0">
              <a:buNone/>
            </a:pPr>
            <a:r>
              <a:rPr lang="en-US" dirty="0"/>
              <a:t>Application: For some resources, like shared read-only files, this is possible. However, for non-sharable resources like printers, this condition is difficult to break. </a:t>
            </a:r>
          </a:p>
          <a:p>
            <a:pPr marL="0" indent="0">
              <a:buNone/>
            </a:pPr>
            <a:endParaRPr lang="en-US" dirty="0"/>
          </a:p>
          <a:p>
            <a:pPr marL="0" indent="0">
              <a:buNone/>
            </a:pPr>
            <a:r>
              <a:rPr lang="en-US" dirty="0"/>
              <a:t>2. Eliminating Hold and Wait </a:t>
            </a:r>
          </a:p>
          <a:p>
            <a:pPr marL="0" indent="0">
              <a:buNone/>
            </a:pPr>
            <a:r>
              <a:rPr lang="en-US" dirty="0"/>
              <a:t>How it works: A process must request and be granted all its required resources upfront, or it must release all held resources before requesting new ones.</a:t>
            </a:r>
          </a:p>
          <a:p>
            <a:pPr marL="0" indent="0">
              <a:buNone/>
            </a:pPr>
            <a:r>
              <a:rPr lang="en-US" dirty="0"/>
              <a:t>Application:</a:t>
            </a:r>
          </a:p>
          <a:p>
            <a:pPr marL="0" indent="0">
              <a:buNone/>
            </a:pPr>
            <a:r>
              <a:rPr lang="en-US" dirty="0"/>
              <a:t>Request all at once: A process requests all its needed resources before it starts.</a:t>
            </a:r>
          </a:p>
          <a:p>
            <a:pPr marL="0" indent="0">
              <a:buNone/>
            </a:pPr>
            <a:r>
              <a:rPr lang="en-US" dirty="0"/>
              <a:t>Release held resources: A process must release all its currently held resources before requesting new ones.</a:t>
            </a:r>
          </a:p>
        </p:txBody>
      </p:sp>
    </p:spTree>
    <p:extLst>
      <p:ext uri="{BB962C8B-B14F-4D97-AF65-F5344CB8AC3E}">
        <p14:creationId xmlns:p14="http://schemas.microsoft.com/office/powerpoint/2010/main" val="40051497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3CEA08-4BCF-65F1-6930-DE1D0DEE6060}"/>
              </a:ext>
            </a:extLst>
          </p:cNvPr>
          <p:cNvSpPr>
            <a:spLocks noGrp="1"/>
          </p:cNvSpPr>
          <p:nvPr>
            <p:ph idx="1"/>
          </p:nvPr>
        </p:nvSpPr>
        <p:spPr>
          <a:xfrm>
            <a:off x="838200" y="546755"/>
            <a:ext cx="10515600" cy="5630208"/>
          </a:xfrm>
        </p:spPr>
        <p:txBody>
          <a:bodyPr>
            <a:normAutofit fontScale="77500" lnSpcReduction="20000"/>
          </a:bodyPr>
          <a:lstStyle/>
          <a:p>
            <a:r>
              <a:rPr lang="en-US" b="1" dirty="0"/>
              <a:t>Eliminating hold and wait</a:t>
            </a:r>
          </a:p>
          <a:p>
            <a:pPr>
              <a:buFont typeface="Wingdings" panose="05000000000000000000" pitchFamily="2" charset="2"/>
              <a:buChar char="v"/>
            </a:pPr>
            <a:r>
              <a:rPr lang="en-US" dirty="0"/>
              <a:t>Request All Resources at Once</a:t>
            </a:r>
          </a:p>
          <a:p>
            <a:r>
              <a:rPr lang="en-US" dirty="0"/>
              <a:t>How it works: Before a process begins its execution, it requests all the resources it anticipates needing for its entire task. </a:t>
            </a:r>
          </a:p>
          <a:p>
            <a:r>
              <a:rPr lang="en-US" dirty="0"/>
              <a:t>Benefit: If a process doesn't get all its required resources upfront, it waits without holding any resources, thereby eliminating the hold and wait condition. </a:t>
            </a:r>
          </a:p>
          <a:p>
            <a:r>
              <a:rPr lang="en-US" dirty="0"/>
              <a:t>Drawback: This is often impractical in real computer systems because processes cannot predict all future resource needs. It can also lead to low device utilization because resources are allocated but may remain idle. </a:t>
            </a:r>
          </a:p>
          <a:p>
            <a:pPr>
              <a:buFont typeface="Wingdings" panose="05000000000000000000" pitchFamily="2" charset="2"/>
              <a:buChar char="v"/>
            </a:pPr>
            <a:r>
              <a:rPr lang="en-US" dirty="0"/>
              <a:t>Release Resources Before Requesting</a:t>
            </a:r>
          </a:p>
          <a:p>
            <a:r>
              <a:rPr lang="en-US" dirty="0"/>
              <a:t>How it works: A process must release all resources it currently holds before it makes a request for any new resources. </a:t>
            </a:r>
          </a:p>
          <a:p>
            <a:r>
              <a:rPr lang="en-US" dirty="0"/>
              <a:t>Benefit: This directly prevents a process from holding some resources while waiting for others, breaking the hold and wait cycle. </a:t>
            </a:r>
          </a:p>
          <a:p>
            <a:r>
              <a:rPr lang="en-US" dirty="0"/>
              <a:t>Drawback: This approach can lead to starvation, where a process needing multiple resources might have to wait for a very long time because it keeps releasing and re-requesting resources, as at least one needed resource is always in use by another process. </a:t>
            </a:r>
            <a:endParaRPr lang="en-IN" dirty="0"/>
          </a:p>
        </p:txBody>
      </p:sp>
    </p:spTree>
    <p:extLst>
      <p:ext uri="{BB962C8B-B14F-4D97-AF65-F5344CB8AC3E}">
        <p14:creationId xmlns:p14="http://schemas.microsoft.com/office/powerpoint/2010/main" val="27799208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1406A-923D-F4E2-CECB-7A78E59E23F2}"/>
              </a:ext>
            </a:extLst>
          </p:cNvPr>
          <p:cNvSpPr>
            <a:spLocks noGrp="1"/>
          </p:cNvSpPr>
          <p:nvPr>
            <p:ph type="title"/>
          </p:nvPr>
        </p:nvSpPr>
        <p:spPr/>
        <p:txBody>
          <a:bodyPr/>
          <a:lstStyle/>
          <a:p>
            <a:r>
              <a:rPr lang="en-US" dirty="0"/>
              <a:t>Deadlock Prevention</a:t>
            </a:r>
            <a:endParaRPr lang="en-IN" dirty="0"/>
          </a:p>
        </p:txBody>
      </p:sp>
      <p:sp>
        <p:nvSpPr>
          <p:cNvPr id="3" name="Content Placeholder 2">
            <a:extLst>
              <a:ext uri="{FF2B5EF4-FFF2-40B4-BE49-F238E27FC236}">
                <a16:creationId xmlns:a16="http://schemas.microsoft.com/office/drawing/2014/main" id="{987FA108-1408-14C7-9B0F-94EAB90F941C}"/>
              </a:ext>
            </a:extLst>
          </p:cNvPr>
          <p:cNvSpPr>
            <a:spLocks noGrp="1"/>
          </p:cNvSpPr>
          <p:nvPr>
            <p:ph idx="1"/>
          </p:nvPr>
        </p:nvSpPr>
        <p:spPr/>
        <p:txBody>
          <a:bodyPr>
            <a:normAutofit fontScale="85000" lnSpcReduction="20000"/>
          </a:bodyPr>
          <a:lstStyle/>
          <a:p>
            <a:pPr marL="0" indent="0">
              <a:buNone/>
            </a:pPr>
            <a:r>
              <a:rPr lang="en-US" dirty="0"/>
              <a:t>3. Eliminating No Preemption</a:t>
            </a:r>
          </a:p>
          <a:p>
            <a:pPr marL="0" indent="0">
              <a:buNone/>
            </a:pPr>
            <a:r>
              <a:rPr lang="en-US" dirty="0"/>
              <a:t>How it works: If a process holds resources and needs more that cannot be immediately allocated, the OS can forcibly take back (preempt) the resources it already holds. </a:t>
            </a:r>
          </a:p>
          <a:p>
            <a:pPr marL="0" indent="0">
              <a:buNone/>
            </a:pPr>
            <a:r>
              <a:rPr lang="en-US" dirty="0"/>
              <a:t>Application: This allows the operating system to reallocate resources to other processes and avoid a process holding resources indefinitely. </a:t>
            </a:r>
          </a:p>
          <a:p>
            <a:pPr marL="0" indent="0">
              <a:buNone/>
            </a:pPr>
            <a:r>
              <a:rPr lang="en-US" dirty="0"/>
              <a:t>4. Eliminating Circular Wait</a:t>
            </a:r>
          </a:p>
          <a:p>
            <a:pPr marL="0" indent="0">
              <a:buNone/>
            </a:pPr>
            <a:r>
              <a:rPr lang="en-US" dirty="0"/>
              <a:t>How it works: A total ordering is imposed on all resources, and processes must request resources in a strictly increasing or decreasing order. </a:t>
            </a:r>
          </a:p>
          <a:p>
            <a:pPr marL="0" indent="0">
              <a:buNone/>
            </a:pPr>
            <a:r>
              <a:rPr lang="en-US" dirty="0"/>
              <a:t>Application: Each resource is assigned a unique number (a priority). A process can only request a resource with a higher number than the resource it currently holds. If it needs a resource with low priority, it should release the currently high priority resource.</a:t>
            </a:r>
          </a:p>
          <a:p>
            <a:endParaRPr lang="en-IN" dirty="0"/>
          </a:p>
        </p:txBody>
      </p:sp>
    </p:spTree>
    <p:extLst>
      <p:ext uri="{BB962C8B-B14F-4D97-AF65-F5344CB8AC3E}">
        <p14:creationId xmlns:p14="http://schemas.microsoft.com/office/powerpoint/2010/main" val="429216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0228B-9D62-A2A1-7701-10A55B834C46}"/>
              </a:ext>
            </a:extLst>
          </p:cNvPr>
          <p:cNvSpPr>
            <a:spLocks noGrp="1"/>
          </p:cNvSpPr>
          <p:nvPr>
            <p:ph type="title"/>
          </p:nvPr>
        </p:nvSpPr>
        <p:spPr/>
        <p:txBody>
          <a:bodyPr/>
          <a:lstStyle/>
          <a:p>
            <a:r>
              <a:rPr lang="en-IN" dirty="0"/>
              <a:t>Deadlock Avoidance</a:t>
            </a:r>
            <a:endParaRPr lang="en-US" dirty="0"/>
          </a:p>
        </p:txBody>
      </p:sp>
      <p:sp>
        <p:nvSpPr>
          <p:cNvPr id="3" name="Content Placeholder 2">
            <a:extLst>
              <a:ext uri="{FF2B5EF4-FFF2-40B4-BE49-F238E27FC236}">
                <a16:creationId xmlns:a16="http://schemas.microsoft.com/office/drawing/2014/main" id="{25D1893C-8B9C-7BEF-33EB-3B294F758EFE}"/>
              </a:ext>
            </a:extLst>
          </p:cNvPr>
          <p:cNvSpPr>
            <a:spLocks noGrp="1"/>
          </p:cNvSpPr>
          <p:nvPr>
            <p:ph idx="1"/>
          </p:nvPr>
        </p:nvSpPr>
        <p:spPr>
          <a:xfrm>
            <a:off x="838200" y="1690688"/>
            <a:ext cx="10515600" cy="4486275"/>
          </a:xfrm>
        </p:spPr>
        <p:txBody>
          <a:bodyPr>
            <a:normAutofit lnSpcReduction="10000"/>
          </a:bodyPr>
          <a:lstStyle/>
          <a:p>
            <a:r>
              <a:rPr lang="en-IN" dirty="0"/>
              <a:t>Requires that the system has some priori information available</a:t>
            </a:r>
          </a:p>
          <a:p>
            <a:pPr fontAlgn="auto">
              <a:spcAft>
                <a:spcPts val="0"/>
              </a:spcAft>
            </a:pPr>
            <a:r>
              <a:rPr lang="en-US" altLang="en-US" dirty="0"/>
              <a:t>Simplest and most useful model requires that each </a:t>
            </a:r>
            <a:r>
              <a:rPr lang="en-IN" altLang="en-US" dirty="0"/>
              <a:t>process</a:t>
            </a:r>
            <a:r>
              <a:rPr lang="en-US" altLang="en-US" dirty="0"/>
              <a:t> declare the </a:t>
            </a:r>
            <a:r>
              <a:rPr lang="en-US" altLang="en-US" b="1" i="1" dirty="0"/>
              <a:t>maximum number</a:t>
            </a:r>
            <a:r>
              <a:rPr lang="en-US" altLang="en-US" b="1" dirty="0"/>
              <a:t> </a:t>
            </a:r>
            <a:r>
              <a:rPr lang="en-US" altLang="en-US" dirty="0"/>
              <a:t>of resources of each type that it may need</a:t>
            </a:r>
          </a:p>
          <a:p>
            <a:pPr fontAlgn="auto">
              <a:spcAft>
                <a:spcPts val="0"/>
              </a:spcAft>
            </a:pPr>
            <a:r>
              <a:rPr lang="en-US" altLang="en-US" dirty="0"/>
              <a:t>The deadlock-avoidance algorithm dynamically examines the resource-allocation state to ensure that there can never be a circular-wait condition</a:t>
            </a:r>
          </a:p>
          <a:p>
            <a:pPr fontAlgn="auto">
              <a:spcAft>
                <a:spcPts val="0"/>
              </a:spcAft>
            </a:pPr>
            <a:r>
              <a:rPr lang="en-US" altLang="en-US" dirty="0"/>
              <a:t>Resource-allocation </a:t>
            </a:r>
            <a:r>
              <a:rPr lang="en-US" altLang="en-US" i="1" dirty="0"/>
              <a:t>state</a:t>
            </a:r>
            <a:r>
              <a:rPr lang="en-US" altLang="en-US" dirty="0"/>
              <a:t> is defined by the number of available and allocated resources, and the maximum demands of the processes</a:t>
            </a:r>
          </a:p>
          <a:p>
            <a:pPr marL="0" indent="0">
              <a:buNone/>
            </a:pPr>
            <a:endParaRPr lang="en-IN" dirty="0"/>
          </a:p>
        </p:txBody>
      </p:sp>
    </p:spTree>
    <p:extLst>
      <p:ext uri="{BB962C8B-B14F-4D97-AF65-F5344CB8AC3E}">
        <p14:creationId xmlns:p14="http://schemas.microsoft.com/office/powerpoint/2010/main" val="17495275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059E4-A254-3081-7635-5DDD0673FA1C}"/>
              </a:ext>
            </a:extLst>
          </p:cNvPr>
          <p:cNvSpPr>
            <a:spLocks noGrp="1"/>
          </p:cNvSpPr>
          <p:nvPr>
            <p:ph type="title"/>
          </p:nvPr>
        </p:nvSpPr>
        <p:spPr/>
        <p:txBody>
          <a:bodyPr/>
          <a:lstStyle/>
          <a:p>
            <a:r>
              <a:rPr lang="en-IN" dirty="0"/>
              <a:t>Basic facts</a:t>
            </a:r>
            <a:endParaRPr lang="en-US" dirty="0"/>
          </a:p>
        </p:txBody>
      </p:sp>
      <p:sp>
        <p:nvSpPr>
          <p:cNvPr id="5" name="Rectangle 3">
            <a:extLst>
              <a:ext uri="{FF2B5EF4-FFF2-40B4-BE49-F238E27FC236}">
                <a16:creationId xmlns:a16="http://schemas.microsoft.com/office/drawing/2014/main" id="{07A5A501-6295-68AC-9300-789F2361D9CF}"/>
              </a:ext>
            </a:extLst>
          </p:cNvPr>
          <p:cNvSpPr txBox="1">
            <a:spLocks noGrp="1" noChangeArrowheads="1"/>
          </p:cNvSpPr>
          <p:nvPr>
            <p:ph idx="1"/>
          </p:nvPr>
        </p:nvSpPr>
        <p:spPr>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en-US" altLang="en-US"/>
              <a:t>If a system is in safe state </a:t>
            </a:r>
            <a:r>
              <a:rPr lang="en-US" altLang="en-US">
                <a:sym typeface="Symbol" panose="05050102010706020507" pitchFamily="18" charset="2"/>
              </a:rPr>
              <a:t> no deadlocks</a:t>
            </a:r>
            <a:br>
              <a:rPr lang="en-US" altLang="en-US">
                <a:sym typeface="Symbol" panose="05050102010706020507" pitchFamily="18" charset="2"/>
              </a:rPr>
            </a:br>
            <a:endParaRPr lang="en-US" altLang="en-US">
              <a:sym typeface="Symbol" panose="05050102010706020507" pitchFamily="18" charset="2"/>
            </a:endParaRPr>
          </a:p>
          <a:p>
            <a:pPr fontAlgn="auto">
              <a:spcAft>
                <a:spcPts val="0"/>
              </a:spcAft>
            </a:pPr>
            <a:r>
              <a:rPr lang="en-US" altLang="en-US" dirty="0">
                <a:sym typeface="Symbol" panose="05050102010706020507" pitchFamily="18" charset="2"/>
              </a:rPr>
              <a:t>If a system is in unsafe state  possibility of deadlock</a:t>
            </a:r>
            <a:br>
              <a:rPr lang="en-US" altLang="en-US" dirty="0">
                <a:sym typeface="Symbol" panose="05050102010706020507" pitchFamily="18" charset="2"/>
              </a:rPr>
            </a:br>
            <a:endParaRPr lang="en-US" altLang="en-US" dirty="0">
              <a:sym typeface="Symbol" panose="05050102010706020507" pitchFamily="18" charset="2"/>
            </a:endParaRPr>
          </a:p>
          <a:p>
            <a:pPr fontAlgn="auto">
              <a:spcAft>
                <a:spcPts val="0"/>
              </a:spcAft>
            </a:pPr>
            <a:r>
              <a:rPr lang="en-US" altLang="en-US" dirty="0">
                <a:sym typeface="Symbol" panose="05050102010706020507" pitchFamily="18" charset="2"/>
              </a:rPr>
              <a:t>Avoidance  ensure that a system will never enter an unsafe state.</a:t>
            </a:r>
          </a:p>
        </p:txBody>
      </p:sp>
    </p:spTree>
    <p:extLst>
      <p:ext uri="{BB962C8B-B14F-4D97-AF65-F5344CB8AC3E}">
        <p14:creationId xmlns:p14="http://schemas.microsoft.com/office/powerpoint/2010/main" val="39280082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864A9-6293-3815-E200-FC71D5629D48}"/>
              </a:ext>
            </a:extLst>
          </p:cNvPr>
          <p:cNvSpPr>
            <a:spLocks noGrp="1"/>
          </p:cNvSpPr>
          <p:nvPr>
            <p:ph type="title"/>
          </p:nvPr>
        </p:nvSpPr>
        <p:spPr/>
        <p:txBody>
          <a:bodyPr/>
          <a:lstStyle/>
          <a:p>
            <a:r>
              <a:rPr lang="en-IN" dirty="0"/>
              <a:t>Safe, unsafe, deadlocked state </a:t>
            </a:r>
            <a:br>
              <a:rPr lang="en-IN" dirty="0"/>
            </a:br>
            <a:endParaRPr lang="en-US" dirty="0"/>
          </a:p>
        </p:txBody>
      </p:sp>
      <p:pic>
        <p:nvPicPr>
          <p:cNvPr id="5" name="Picture 4">
            <a:extLst>
              <a:ext uri="{FF2B5EF4-FFF2-40B4-BE49-F238E27FC236}">
                <a16:creationId xmlns:a16="http://schemas.microsoft.com/office/drawing/2014/main" id="{BC04D5BB-1E89-5F45-814F-572C55041E7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78182" y="1462088"/>
            <a:ext cx="6894674" cy="435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587621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58F65-A30F-D842-16D5-DE77783045A7}"/>
              </a:ext>
            </a:extLst>
          </p:cNvPr>
          <p:cNvSpPr>
            <a:spLocks noGrp="1"/>
          </p:cNvSpPr>
          <p:nvPr>
            <p:ph type="title"/>
          </p:nvPr>
        </p:nvSpPr>
        <p:spPr/>
        <p:txBody>
          <a:bodyPr/>
          <a:lstStyle/>
          <a:p>
            <a:r>
              <a:rPr lang="en-IN"/>
              <a:t>Basic facts</a:t>
            </a:r>
            <a:endParaRPr lang="en-US"/>
          </a:p>
        </p:txBody>
      </p:sp>
      <p:sp>
        <p:nvSpPr>
          <p:cNvPr id="5" name="Rectangle 3">
            <a:extLst>
              <a:ext uri="{FF2B5EF4-FFF2-40B4-BE49-F238E27FC236}">
                <a16:creationId xmlns:a16="http://schemas.microsoft.com/office/drawing/2014/main" id="{145EFB66-D667-0B84-23D1-8FD961F55E73}"/>
              </a:ext>
            </a:extLst>
          </p:cNvPr>
          <p:cNvSpPr txBox="1">
            <a:spLocks noGrp="1" noChangeArrowheads="1"/>
          </p:cNvSpPr>
          <p:nvPr>
            <p:ph idx="1"/>
          </p:nvPr>
        </p:nvSpPr>
        <p:spPr>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en-US" altLang="en-US" dirty="0"/>
              <a:t>Single instance of a resource type</a:t>
            </a:r>
          </a:p>
          <a:p>
            <a:pPr lvl="1" fontAlgn="auto">
              <a:spcAft>
                <a:spcPts val="0"/>
              </a:spcAft>
            </a:pPr>
            <a:r>
              <a:rPr lang="en-US" altLang="en-US" dirty="0"/>
              <a:t>Use a resource-allocation graph</a:t>
            </a:r>
          </a:p>
          <a:p>
            <a:pPr lvl="1" fontAlgn="auto">
              <a:spcAft>
                <a:spcPts val="0"/>
              </a:spcAft>
              <a:buFont typeface="Monotype Sorts" pitchFamily="-84" charset="2"/>
              <a:buNone/>
            </a:pPr>
            <a:endParaRPr lang="en-US" altLang="en-US" dirty="0"/>
          </a:p>
          <a:p>
            <a:pPr fontAlgn="auto">
              <a:spcAft>
                <a:spcPts val="0"/>
              </a:spcAft>
            </a:pPr>
            <a:r>
              <a:rPr lang="en-US" altLang="en-US" dirty="0"/>
              <a:t>Multiple instances of a resource type</a:t>
            </a:r>
          </a:p>
          <a:p>
            <a:pPr lvl="1" fontAlgn="auto">
              <a:spcAft>
                <a:spcPts val="0"/>
              </a:spcAft>
            </a:pPr>
            <a:r>
              <a:rPr lang="en-US" altLang="en-US" dirty="0"/>
              <a:t> Use the Banker</a:t>
            </a:r>
            <a:r>
              <a:rPr lang="ja-JP" altLang="en-US" dirty="0"/>
              <a:t>’</a:t>
            </a:r>
            <a:r>
              <a:rPr lang="en-US" altLang="ja-JP" dirty="0"/>
              <a:t>s Algorithm</a:t>
            </a:r>
            <a:endParaRPr lang="en-US" altLang="en-US" dirty="0"/>
          </a:p>
        </p:txBody>
      </p:sp>
    </p:spTree>
    <p:extLst>
      <p:ext uri="{BB962C8B-B14F-4D97-AF65-F5344CB8AC3E}">
        <p14:creationId xmlns:p14="http://schemas.microsoft.com/office/powerpoint/2010/main" val="12777998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76F61-E4BC-3B0C-E959-CAE424226090}"/>
              </a:ext>
            </a:extLst>
          </p:cNvPr>
          <p:cNvSpPr>
            <a:spLocks noGrp="1"/>
          </p:cNvSpPr>
          <p:nvPr>
            <p:ph type="title"/>
          </p:nvPr>
        </p:nvSpPr>
        <p:spPr/>
        <p:txBody>
          <a:bodyPr/>
          <a:lstStyle/>
          <a:p>
            <a:r>
              <a:rPr lang="en-IN" dirty="0"/>
              <a:t>Deadlock Avoidance-Bankers Algorithm</a:t>
            </a:r>
            <a:endParaRPr lang="en-US" dirty="0"/>
          </a:p>
        </p:txBody>
      </p:sp>
      <p:sp>
        <p:nvSpPr>
          <p:cNvPr id="3" name="Content Placeholder 2">
            <a:extLst>
              <a:ext uri="{FF2B5EF4-FFF2-40B4-BE49-F238E27FC236}">
                <a16:creationId xmlns:a16="http://schemas.microsoft.com/office/drawing/2014/main" id="{B4CBA9BD-2AAF-1193-DBC5-0B8A6714A9B2}"/>
              </a:ext>
            </a:extLst>
          </p:cNvPr>
          <p:cNvSpPr>
            <a:spLocks noGrp="1"/>
          </p:cNvSpPr>
          <p:nvPr>
            <p:ph idx="1"/>
          </p:nvPr>
        </p:nvSpPr>
        <p:spPr/>
        <p:txBody>
          <a:bodyPr/>
          <a:lstStyle/>
          <a:p>
            <a:r>
              <a:rPr lang="en-IN" dirty="0"/>
              <a:t> B</a:t>
            </a:r>
            <a:r>
              <a:rPr lang="en-IN" b="0" i="0" dirty="0">
                <a:solidFill>
                  <a:srgbClr val="353535"/>
                </a:solidFill>
                <a:effectLst/>
                <a:latin typeface="Arial" panose="020B0604020202020204" pitchFamily="34" charset="0"/>
              </a:rPr>
              <a:t>anker’s algorithm is a resource allocation and deadlock avoidance algorithm that tests for safety by simulating the allocation for the predetermined maximum possible amounts of all resources. </a:t>
            </a:r>
          </a:p>
          <a:p>
            <a:r>
              <a:rPr lang="en-IN" dirty="0">
                <a:solidFill>
                  <a:srgbClr val="353535"/>
                </a:solidFill>
                <a:latin typeface="Arial" panose="020B0604020202020204" pitchFamily="34" charset="0"/>
              </a:rPr>
              <a:t> Helps the OS to successfully share the resources between all the processes. It is called the banker’s algorithm because bankers need a similar algorithm to allocate loans to customers</a:t>
            </a:r>
            <a:endParaRPr lang="en-US" dirty="0"/>
          </a:p>
        </p:txBody>
      </p:sp>
    </p:spTree>
    <p:extLst>
      <p:ext uri="{BB962C8B-B14F-4D97-AF65-F5344CB8AC3E}">
        <p14:creationId xmlns:p14="http://schemas.microsoft.com/office/powerpoint/2010/main" val="29651740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60CC2-48DB-D65D-4F96-AB21663ADDF7}"/>
              </a:ext>
            </a:extLst>
          </p:cNvPr>
          <p:cNvSpPr>
            <a:spLocks noGrp="1"/>
          </p:cNvSpPr>
          <p:nvPr>
            <p:ph type="title"/>
          </p:nvPr>
        </p:nvSpPr>
        <p:spPr/>
        <p:txBody>
          <a:bodyPr/>
          <a:lstStyle/>
          <a:p>
            <a:r>
              <a:rPr lang="en-IN" dirty="0"/>
              <a:t>Data structures for Bankers algorithm</a:t>
            </a:r>
            <a:endParaRPr lang="en-US" dirty="0"/>
          </a:p>
        </p:txBody>
      </p:sp>
      <p:sp>
        <p:nvSpPr>
          <p:cNvPr id="5" name="Rectangle 3">
            <a:extLst>
              <a:ext uri="{FF2B5EF4-FFF2-40B4-BE49-F238E27FC236}">
                <a16:creationId xmlns:a16="http://schemas.microsoft.com/office/drawing/2014/main" id="{1E26AE82-6261-BD3E-BBE6-E680D1D8D790}"/>
              </a:ext>
            </a:extLst>
          </p:cNvPr>
          <p:cNvSpPr txBox="1">
            <a:spLocks noGrp="1" noChangeArrowheads="1"/>
          </p:cNvSpPr>
          <p:nvPr>
            <p:ph idx="1"/>
          </p:nvPr>
        </p:nvSpPr>
        <p:spPr>
          <a:xfrm>
            <a:off x="838200" y="1840282"/>
            <a:ext cx="10515600" cy="4351338"/>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en-US" altLang="en-US" b="1" dirty="0"/>
              <a:t>Available</a:t>
            </a:r>
            <a:r>
              <a:rPr lang="en-US" altLang="en-US" i="1" dirty="0"/>
              <a:t>:</a:t>
            </a:r>
            <a:r>
              <a:rPr lang="en-US" altLang="en-US" dirty="0"/>
              <a:t>  Vector of length </a:t>
            </a:r>
            <a:r>
              <a:rPr lang="en-US" altLang="en-US" i="1" dirty="0"/>
              <a:t>m</a:t>
            </a:r>
            <a:r>
              <a:rPr lang="en-US" altLang="en-US" dirty="0"/>
              <a:t>. If available [</a:t>
            </a:r>
            <a:r>
              <a:rPr lang="en-US" altLang="en-US" i="1" dirty="0"/>
              <a:t>j</a:t>
            </a:r>
            <a:r>
              <a:rPr lang="en-US" altLang="en-US" dirty="0"/>
              <a:t>] = </a:t>
            </a:r>
            <a:r>
              <a:rPr lang="en-US" altLang="en-US" i="1" dirty="0"/>
              <a:t>k</a:t>
            </a:r>
            <a:r>
              <a:rPr lang="en-US" altLang="en-US" dirty="0"/>
              <a:t>, there are</a:t>
            </a:r>
            <a:r>
              <a:rPr lang="en-US" altLang="en-US" i="1" dirty="0"/>
              <a:t> k</a:t>
            </a:r>
            <a:r>
              <a:rPr lang="en-US" altLang="en-US" dirty="0"/>
              <a:t> instances of resource type </a:t>
            </a:r>
            <a:r>
              <a:rPr lang="en-US" altLang="en-US" i="1" dirty="0" err="1"/>
              <a:t>R</a:t>
            </a:r>
            <a:r>
              <a:rPr lang="en-US" altLang="en-US" i="1" baseline="-25000" dirty="0" err="1"/>
              <a:t>j</a:t>
            </a:r>
            <a:r>
              <a:rPr lang="en-US" altLang="en-US" baseline="-25000" dirty="0"/>
              <a:t>  </a:t>
            </a:r>
            <a:r>
              <a:rPr lang="en-US" altLang="en-US" dirty="0"/>
              <a:t>available</a:t>
            </a:r>
          </a:p>
          <a:p>
            <a:pPr fontAlgn="auto">
              <a:spcAft>
                <a:spcPts val="0"/>
              </a:spcAft>
            </a:pPr>
            <a:endParaRPr lang="en-US" altLang="en-US" sz="800" dirty="0"/>
          </a:p>
          <a:p>
            <a:pPr fontAlgn="auto">
              <a:spcAft>
                <a:spcPts val="0"/>
              </a:spcAft>
            </a:pPr>
            <a:r>
              <a:rPr lang="en-US" altLang="en-US" b="1" dirty="0">
                <a:solidFill>
                  <a:srgbClr val="000000"/>
                </a:solidFill>
              </a:rPr>
              <a:t>Max</a:t>
            </a:r>
            <a:r>
              <a:rPr lang="en-US" altLang="en-US" i="1" dirty="0"/>
              <a:t>: n x m</a:t>
            </a:r>
            <a:r>
              <a:rPr lang="en-US" altLang="en-US" dirty="0"/>
              <a:t> matrix.  If </a:t>
            </a:r>
            <a:r>
              <a:rPr lang="en-US" altLang="en-US" i="1" dirty="0"/>
              <a:t>Max </a:t>
            </a:r>
            <a:r>
              <a:rPr lang="en-US" altLang="en-US" dirty="0"/>
              <a:t>[</a:t>
            </a:r>
            <a:r>
              <a:rPr lang="en-US" altLang="en-US" i="1" dirty="0" err="1"/>
              <a:t>i,j</a:t>
            </a:r>
            <a:r>
              <a:rPr lang="en-US" altLang="en-US" dirty="0"/>
              <a:t>] = </a:t>
            </a:r>
            <a:r>
              <a:rPr lang="en-US" altLang="en-US" i="1" dirty="0"/>
              <a:t>k</a:t>
            </a:r>
            <a:r>
              <a:rPr lang="en-US" altLang="en-US" dirty="0"/>
              <a:t>, then process </a:t>
            </a:r>
            <a:r>
              <a:rPr lang="en-US" altLang="en-US" i="1" dirty="0" err="1"/>
              <a:t>T</a:t>
            </a:r>
            <a:r>
              <a:rPr lang="en-US" altLang="en-US" i="1" baseline="-25000" dirty="0" err="1"/>
              <a:t>i</a:t>
            </a:r>
            <a:r>
              <a:rPr lang="en-US" altLang="en-US" i="1" dirty="0"/>
              <a:t> </a:t>
            </a:r>
            <a:r>
              <a:rPr lang="en-US" altLang="en-US" dirty="0"/>
              <a:t>may request at most</a:t>
            </a:r>
            <a:r>
              <a:rPr lang="en-US" altLang="en-US" i="1" dirty="0"/>
              <a:t> k </a:t>
            </a:r>
            <a:r>
              <a:rPr lang="en-US" altLang="en-US" dirty="0"/>
              <a:t>instances of resource type </a:t>
            </a:r>
            <a:r>
              <a:rPr lang="en-US" altLang="en-US" i="1" dirty="0" err="1"/>
              <a:t>R</a:t>
            </a:r>
            <a:r>
              <a:rPr lang="en-US" altLang="en-US" i="1" baseline="-25000" dirty="0" err="1"/>
              <a:t>j</a:t>
            </a:r>
            <a:endParaRPr lang="en-US" altLang="en-US" i="1" baseline="-25000" dirty="0"/>
          </a:p>
          <a:p>
            <a:pPr fontAlgn="auto">
              <a:spcAft>
                <a:spcPts val="0"/>
              </a:spcAft>
            </a:pPr>
            <a:endParaRPr lang="en-US" altLang="en-US" sz="800" i="1" baseline="-25000" dirty="0"/>
          </a:p>
          <a:p>
            <a:pPr fontAlgn="auto">
              <a:spcAft>
                <a:spcPts val="0"/>
              </a:spcAft>
            </a:pPr>
            <a:r>
              <a:rPr lang="en-US" altLang="en-US" b="1" dirty="0">
                <a:solidFill>
                  <a:srgbClr val="000000"/>
                </a:solidFill>
              </a:rPr>
              <a:t>Allocation</a:t>
            </a:r>
            <a:r>
              <a:rPr lang="en-US" altLang="en-US" i="1" dirty="0"/>
              <a:t>:  n </a:t>
            </a:r>
            <a:r>
              <a:rPr lang="en-US" altLang="en-US" dirty="0"/>
              <a:t>x</a:t>
            </a:r>
            <a:r>
              <a:rPr lang="en-US" altLang="en-US" i="1" dirty="0"/>
              <a:t> m</a:t>
            </a:r>
            <a:r>
              <a:rPr lang="en-US" altLang="en-US" dirty="0"/>
              <a:t> matrix.  If Allocation[</a:t>
            </a:r>
            <a:r>
              <a:rPr lang="en-US" altLang="en-US" i="1" dirty="0" err="1"/>
              <a:t>i,j</a:t>
            </a:r>
            <a:r>
              <a:rPr lang="en-US" altLang="en-US" dirty="0"/>
              <a:t>] = </a:t>
            </a:r>
            <a:r>
              <a:rPr lang="en-US" altLang="en-US" i="1" dirty="0"/>
              <a:t>k</a:t>
            </a:r>
            <a:r>
              <a:rPr lang="en-US" altLang="en-US" dirty="0"/>
              <a:t> then</a:t>
            </a:r>
            <a:r>
              <a:rPr lang="en-US" altLang="en-US" i="1" dirty="0"/>
              <a:t> </a:t>
            </a:r>
            <a:r>
              <a:rPr lang="en-US" altLang="en-US" i="1" dirty="0" err="1"/>
              <a:t>T</a:t>
            </a:r>
            <a:r>
              <a:rPr lang="en-US" altLang="en-US" i="1" baseline="-25000" dirty="0" err="1"/>
              <a:t>i</a:t>
            </a:r>
            <a:r>
              <a:rPr lang="en-US" altLang="en-US" dirty="0"/>
              <a:t> is currently allocated </a:t>
            </a:r>
            <a:r>
              <a:rPr lang="en-US" altLang="en-US" i="1" dirty="0"/>
              <a:t>k</a:t>
            </a:r>
            <a:r>
              <a:rPr lang="en-US" altLang="en-US" dirty="0"/>
              <a:t> instances of </a:t>
            </a:r>
            <a:r>
              <a:rPr lang="en-US" altLang="en-US" i="1" dirty="0" err="1"/>
              <a:t>R</a:t>
            </a:r>
            <a:r>
              <a:rPr lang="en-US" altLang="en-US" i="1" baseline="-25000" dirty="0" err="1"/>
              <a:t>j</a:t>
            </a:r>
            <a:endParaRPr lang="en-US" altLang="en-US" i="1" baseline="-25000" dirty="0"/>
          </a:p>
          <a:p>
            <a:pPr fontAlgn="auto">
              <a:spcAft>
                <a:spcPts val="0"/>
              </a:spcAft>
            </a:pPr>
            <a:endParaRPr lang="en-US" altLang="en-US" sz="800" i="1" baseline="-25000" dirty="0"/>
          </a:p>
          <a:p>
            <a:pPr fontAlgn="auto">
              <a:spcAft>
                <a:spcPts val="0"/>
              </a:spcAft>
            </a:pPr>
            <a:r>
              <a:rPr lang="en-US" altLang="en-US" b="1" dirty="0">
                <a:solidFill>
                  <a:srgbClr val="000000"/>
                </a:solidFill>
              </a:rPr>
              <a:t>Need</a:t>
            </a:r>
            <a:r>
              <a:rPr lang="en-US" altLang="en-US" i="1" dirty="0"/>
              <a:t>:  n </a:t>
            </a:r>
            <a:r>
              <a:rPr lang="en-US" altLang="en-US" dirty="0"/>
              <a:t>x</a:t>
            </a:r>
            <a:r>
              <a:rPr lang="en-US" altLang="en-US" i="1" dirty="0"/>
              <a:t> m</a:t>
            </a:r>
            <a:r>
              <a:rPr lang="en-US" altLang="en-US" dirty="0"/>
              <a:t> matrix. If </a:t>
            </a:r>
            <a:r>
              <a:rPr lang="en-US" altLang="en-US" i="1" dirty="0"/>
              <a:t>Need</a:t>
            </a:r>
            <a:r>
              <a:rPr lang="en-US" altLang="en-US" dirty="0"/>
              <a:t>[</a:t>
            </a:r>
            <a:r>
              <a:rPr lang="en-US" altLang="en-US" i="1" dirty="0" err="1"/>
              <a:t>i,j</a:t>
            </a:r>
            <a:r>
              <a:rPr lang="en-US" altLang="en-US" dirty="0"/>
              <a:t>] =</a:t>
            </a:r>
            <a:r>
              <a:rPr lang="en-US" altLang="en-US" i="1" dirty="0"/>
              <a:t> k</a:t>
            </a:r>
            <a:r>
              <a:rPr lang="en-US" altLang="en-US" dirty="0"/>
              <a:t>, then</a:t>
            </a:r>
            <a:r>
              <a:rPr lang="en-US" altLang="en-US" i="1" dirty="0"/>
              <a:t> </a:t>
            </a:r>
            <a:r>
              <a:rPr lang="en-US" altLang="en-US" i="1" dirty="0" err="1"/>
              <a:t>T</a:t>
            </a:r>
            <a:r>
              <a:rPr lang="en-US" altLang="en-US" i="1" baseline="-25000" dirty="0" err="1"/>
              <a:t>i</a:t>
            </a:r>
            <a:r>
              <a:rPr lang="en-US" altLang="en-US" dirty="0"/>
              <a:t> may need </a:t>
            </a:r>
            <a:r>
              <a:rPr lang="en-US" altLang="en-US" i="1" dirty="0"/>
              <a:t>k</a:t>
            </a:r>
            <a:r>
              <a:rPr lang="en-US" altLang="en-US" dirty="0"/>
              <a:t> more instances of </a:t>
            </a:r>
            <a:r>
              <a:rPr lang="en-US" altLang="en-US" i="1" dirty="0" err="1"/>
              <a:t>R</a:t>
            </a:r>
            <a:r>
              <a:rPr lang="en-US" altLang="en-US" i="1" baseline="-25000" dirty="0" err="1"/>
              <a:t>j</a:t>
            </a:r>
            <a:r>
              <a:rPr lang="en-US" altLang="en-US" baseline="-25000" dirty="0"/>
              <a:t> </a:t>
            </a:r>
            <a:r>
              <a:rPr lang="en-US" altLang="en-US" dirty="0"/>
              <a:t>to complete its task</a:t>
            </a:r>
          </a:p>
          <a:p>
            <a:pPr lvl="2" fontAlgn="auto">
              <a:spcAft>
                <a:spcPts val="0"/>
              </a:spcAft>
              <a:buFont typeface="Webdings" panose="05030102010509060703" pitchFamily="18" charset="2"/>
              <a:buNone/>
            </a:pPr>
            <a:br>
              <a:rPr lang="en-US" altLang="en-US" b="1" dirty="0">
                <a:solidFill>
                  <a:srgbClr val="FF0000"/>
                </a:solidFill>
              </a:rPr>
            </a:br>
            <a:r>
              <a:rPr lang="en-US" altLang="en-US" b="1" i="1" dirty="0">
                <a:solidFill>
                  <a:srgbClr val="FF0000"/>
                </a:solidFill>
              </a:rPr>
              <a:t>Need</a:t>
            </a:r>
            <a:r>
              <a:rPr lang="en-US" altLang="en-US" b="1" dirty="0">
                <a:solidFill>
                  <a:srgbClr val="FF0000"/>
                </a:solidFill>
              </a:rPr>
              <a:t> [</a:t>
            </a:r>
            <a:r>
              <a:rPr lang="en-US" altLang="en-US" b="1" i="1" dirty="0" err="1">
                <a:solidFill>
                  <a:srgbClr val="FF0000"/>
                </a:solidFill>
              </a:rPr>
              <a:t>i,j</a:t>
            </a:r>
            <a:r>
              <a:rPr lang="en-US" altLang="en-US" b="1" i="1" dirty="0">
                <a:solidFill>
                  <a:srgbClr val="FF0000"/>
                </a:solidFill>
              </a:rPr>
              <a:t>]</a:t>
            </a:r>
            <a:r>
              <a:rPr lang="en-US" altLang="en-US" b="1" dirty="0">
                <a:solidFill>
                  <a:srgbClr val="FF0000"/>
                </a:solidFill>
              </a:rPr>
              <a:t> = </a:t>
            </a:r>
            <a:r>
              <a:rPr lang="en-US" altLang="en-US" b="1" i="1" dirty="0">
                <a:solidFill>
                  <a:srgbClr val="FF0000"/>
                </a:solidFill>
              </a:rPr>
              <a:t>Max</a:t>
            </a:r>
            <a:r>
              <a:rPr lang="en-US" altLang="en-US" b="1" dirty="0">
                <a:solidFill>
                  <a:srgbClr val="FF0000"/>
                </a:solidFill>
              </a:rPr>
              <a:t>[</a:t>
            </a:r>
            <a:r>
              <a:rPr lang="en-US" altLang="en-US" b="1" i="1" dirty="0" err="1">
                <a:solidFill>
                  <a:srgbClr val="FF0000"/>
                </a:solidFill>
              </a:rPr>
              <a:t>i,j</a:t>
            </a:r>
            <a:r>
              <a:rPr lang="en-US" altLang="en-US" b="1" dirty="0">
                <a:solidFill>
                  <a:srgbClr val="FF0000"/>
                </a:solidFill>
              </a:rPr>
              <a:t>] – </a:t>
            </a:r>
            <a:r>
              <a:rPr lang="en-US" altLang="en-US" b="1" i="1" dirty="0">
                <a:solidFill>
                  <a:srgbClr val="FF0000"/>
                </a:solidFill>
              </a:rPr>
              <a:t>Allocation</a:t>
            </a:r>
            <a:r>
              <a:rPr lang="en-US" altLang="en-US" b="1" dirty="0">
                <a:solidFill>
                  <a:srgbClr val="FF0000"/>
                </a:solidFill>
              </a:rPr>
              <a:t> [</a:t>
            </a:r>
            <a:r>
              <a:rPr lang="en-US" altLang="en-US" b="1" i="1" dirty="0" err="1">
                <a:solidFill>
                  <a:srgbClr val="FF0000"/>
                </a:solidFill>
              </a:rPr>
              <a:t>i,j</a:t>
            </a:r>
            <a:r>
              <a:rPr lang="en-US" altLang="en-US" b="1" dirty="0">
                <a:solidFill>
                  <a:srgbClr val="FF0000"/>
                </a:solidFill>
              </a:rPr>
              <a:t>]</a:t>
            </a:r>
          </a:p>
        </p:txBody>
      </p:sp>
      <p:sp>
        <p:nvSpPr>
          <p:cNvPr id="4" name="Text Box 4">
            <a:extLst>
              <a:ext uri="{FF2B5EF4-FFF2-40B4-BE49-F238E27FC236}">
                <a16:creationId xmlns:a16="http://schemas.microsoft.com/office/drawing/2014/main" id="{2C3EB9CB-EA13-83EB-7F6C-A8B5088897F4}"/>
              </a:ext>
            </a:extLst>
          </p:cNvPr>
          <p:cNvSpPr txBox="1">
            <a:spLocks noChangeArrowheads="1"/>
          </p:cNvSpPr>
          <p:nvPr/>
        </p:nvSpPr>
        <p:spPr bwMode="auto">
          <a:xfrm>
            <a:off x="1229388" y="1470950"/>
            <a:ext cx="881923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50000"/>
              </a:spcBef>
              <a:buClrTx/>
              <a:buSzTx/>
              <a:buFontTx/>
              <a:buNone/>
            </a:pPr>
            <a:r>
              <a:rPr kumimoji="0" lang="en-US" altLang="en-US" dirty="0"/>
              <a:t>Let </a:t>
            </a:r>
            <a:r>
              <a:rPr kumimoji="0" lang="en-US" altLang="en-US" i="1" dirty="0"/>
              <a:t>n</a:t>
            </a:r>
            <a:r>
              <a:rPr kumimoji="0" lang="en-US" altLang="en-US" dirty="0"/>
              <a:t> = number of processes, and </a:t>
            </a:r>
            <a:r>
              <a:rPr kumimoji="0" lang="en-US" altLang="en-US" i="1" dirty="0"/>
              <a:t>m </a:t>
            </a:r>
            <a:r>
              <a:rPr kumimoji="0" lang="en-US" altLang="en-US" dirty="0"/>
              <a:t>= number of resources types. </a:t>
            </a:r>
          </a:p>
        </p:txBody>
      </p:sp>
    </p:spTree>
    <p:extLst>
      <p:ext uri="{BB962C8B-B14F-4D97-AF65-F5344CB8AC3E}">
        <p14:creationId xmlns:p14="http://schemas.microsoft.com/office/powerpoint/2010/main" val="23172939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EE32F-D6EA-7313-FCE2-1299C3F67FBC}"/>
              </a:ext>
            </a:extLst>
          </p:cNvPr>
          <p:cNvSpPr>
            <a:spLocks noGrp="1"/>
          </p:cNvSpPr>
          <p:nvPr>
            <p:ph type="title"/>
          </p:nvPr>
        </p:nvSpPr>
        <p:spPr>
          <a:xfrm>
            <a:off x="838200" y="365125"/>
            <a:ext cx="10515600" cy="441699"/>
          </a:xfrm>
        </p:spPr>
        <p:txBody>
          <a:bodyPr>
            <a:normAutofit fontScale="90000"/>
          </a:bodyPr>
          <a:lstStyle/>
          <a:p>
            <a:r>
              <a:rPr lang="en-IN" sz="2800" b="1" dirty="0"/>
              <a:t>Safety Algorithm</a:t>
            </a:r>
            <a:endParaRPr lang="en-US" sz="2800" b="1" dirty="0"/>
          </a:p>
        </p:txBody>
      </p:sp>
      <p:sp>
        <p:nvSpPr>
          <p:cNvPr id="5" name="Rectangle 3">
            <a:extLst>
              <a:ext uri="{FF2B5EF4-FFF2-40B4-BE49-F238E27FC236}">
                <a16:creationId xmlns:a16="http://schemas.microsoft.com/office/drawing/2014/main" id="{D0DA79B2-CED8-0EAD-6BC8-A1BA9D855157}"/>
              </a:ext>
            </a:extLst>
          </p:cNvPr>
          <p:cNvSpPr txBox="1">
            <a:spLocks noGrp="1" noChangeArrowheads="1"/>
          </p:cNvSpPr>
          <p:nvPr>
            <p:ph idx="1"/>
          </p:nvPr>
        </p:nvSpPr>
        <p:spPr>
          <a:xfrm>
            <a:off x="630382" y="886284"/>
            <a:ext cx="10515600" cy="4667250"/>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fontAlgn="auto">
              <a:spcAft>
                <a:spcPts val="0"/>
              </a:spcAft>
              <a:buFont typeface="+mj-lt"/>
              <a:buAutoNum type="arabicPeriod"/>
            </a:pPr>
            <a:r>
              <a:rPr lang="en-US" altLang="en-US" dirty="0"/>
              <a:t>Let </a:t>
            </a:r>
            <a:r>
              <a:rPr lang="en-US" altLang="en-US" b="1" i="1" dirty="0">
                <a:solidFill>
                  <a:srgbClr val="000000"/>
                </a:solidFill>
              </a:rPr>
              <a:t>Work</a:t>
            </a:r>
            <a:r>
              <a:rPr lang="en-US" altLang="en-US" i="1" dirty="0">
                <a:solidFill>
                  <a:srgbClr val="000000"/>
                </a:solidFill>
              </a:rPr>
              <a:t> </a:t>
            </a:r>
            <a:r>
              <a:rPr lang="en-US" altLang="en-US" dirty="0"/>
              <a:t>and </a:t>
            </a:r>
            <a:r>
              <a:rPr lang="en-US" altLang="en-US" b="1" i="1" dirty="0">
                <a:solidFill>
                  <a:srgbClr val="000000"/>
                </a:solidFill>
              </a:rPr>
              <a:t>Finish</a:t>
            </a:r>
            <a:r>
              <a:rPr lang="en-US" altLang="en-US" dirty="0">
                <a:solidFill>
                  <a:srgbClr val="000000"/>
                </a:solidFill>
              </a:rPr>
              <a:t> </a:t>
            </a:r>
            <a:r>
              <a:rPr lang="en-US" altLang="en-US" dirty="0"/>
              <a:t>be vectors of length</a:t>
            </a:r>
            <a:r>
              <a:rPr lang="en-US" altLang="en-US" i="1" dirty="0"/>
              <a:t> m</a:t>
            </a:r>
            <a:r>
              <a:rPr lang="en-US" altLang="en-US" dirty="0"/>
              <a:t> and</a:t>
            </a:r>
            <a:r>
              <a:rPr lang="en-US" altLang="en-US" i="1" dirty="0"/>
              <a:t> n</a:t>
            </a:r>
            <a:r>
              <a:rPr lang="en-US" altLang="en-US" dirty="0"/>
              <a:t>, respectively.  Initialize:</a:t>
            </a:r>
          </a:p>
          <a:p>
            <a:pPr marL="1543050" lvl="3" indent="-342900" fontAlgn="auto">
              <a:spcAft>
                <a:spcPts val="0"/>
              </a:spcAft>
              <a:buFontTx/>
              <a:buNone/>
            </a:pPr>
            <a:r>
              <a:rPr lang="en-US" altLang="en-US" b="1" i="1" dirty="0"/>
              <a:t>Work </a:t>
            </a:r>
            <a:r>
              <a:rPr lang="en-US" altLang="en-US" b="1" dirty="0"/>
              <a:t>= </a:t>
            </a:r>
            <a:r>
              <a:rPr lang="en-US" altLang="en-US" b="1" i="1" dirty="0"/>
              <a:t>Available</a:t>
            </a:r>
          </a:p>
          <a:p>
            <a:pPr marL="1543050" lvl="3" indent="-342900" fontAlgn="auto">
              <a:spcAft>
                <a:spcPts val="0"/>
              </a:spcAft>
              <a:buFontTx/>
              <a:buNone/>
            </a:pPr>
            <a:r>
              <a:rPr lang="en-US" altLang="en-US" b="1" i="1" dirty="0"/>
              <a:t>Finish </a:t>
            </a:r>
            <a:r>
              <a:rPr lang="en-US" altLang="en-US" b="1" dirty="0"/>
              <a:t>[</a:t>
            </a:r>
            <a:r>
              <a:rPr lang="en-US" altLang="en-US" b="1" i="1" dirty="0" err="1"/>
              <a:t>i</a:t>
            </a:r>
            <a:r>
              <a:rPr lang="en-US" altLang="en-US" b="1" dirty="0"/>
              <a:t>] =</a:t>
            </a:r>
            <a:r>
              <a:rPr lang="en-US" altLang="en-US" b="1" i="1" dirty="0"/>
              <a:t> false </a:t>
            </a:r>
            <a:r>
              <a:rPr lang="en-US" altLang="en-US" b="1" dirty="0"/>
              <a:t>for</a:t>
            </a:r>
            <a:r>
              <a:rPr lang="en-US" altLang="en-US" b="1" i="1" dirty="0"/>
              <a:t> </a:t>
            </a:r>
            <a:r>
              <a:rPr lang="en-US" altLang="en-US" b="1" i="1" dirty="0" err="1"/>
              <a:t>i</a:t>
            </a:r>
            <a:r>
              <a:rPr lang="en-US" altLang="en-US" b="1" dirty="0"/>
              <a:t> = 0, 1, …, </a:t>
            </a:r>
            <a:r>
              <a:rPr lang="en-US" altLang="en-US" b="1" i="1" dirty="0"/>
              <a:t>n- </a:t>
            </a:r>
            <a:r>
              <a:rPr lang="en-US" altLang="en-US" b="1" dirty="0"/>
              <a:t>1</a:t>
            </a:r>
          </a:p>
          <a:p>
            <a:pPr marL="1543050" lvl="3" indent="-342900" fontAlgn="auto">
              <a:spcAft>
                <a:spcPts val="0"/>
              </a:spcAft>
              <a:buFontTx/>
              <a:buNone/>
            </a:pPr>
            <a:endParaRPr lang="en-US" altLang="en-US" sz="800" dirty="0"/>
          </a:p>
          <a:p>
            <a:pPr marL="342900" indent="-342900" fontAlgn="auto">
              <a:spcAft>
                <a:spcPts val="0"/>
              </a:spcAft>
              <a:buFont typeface="+mj-lt"/>
              <a:buAutoNum type="arabicPeriod"/>
            </a:pPr>
            <a:r>
              <a:rPr lang="en-US" altLang="en-US" dirty="0"/>
              <a:t>Find an </a:t>
            </a:r>
            <a:r>
              <a:rPr lang="en-US" altLang="en-US" b="1" i="1" dirty="0" err="1"/>
              <a:t>i</a:t>
            </a:r>
            <a:r>
              <a:rPr lang="en-US" altLang="en-US" i="1" dirty="0"/>
              <a:t> </a:t>
            </a:r>
            <a:r>
              <a:rPr lang="en-US" altLang="en-US" dirty="0"/>
              <a:t>such that both: </a:t>
            </a:r>
          </a:p>
          <a:p>
            <a:pPr marL="800100" lvl="1" indent="-342900" fontAlgn="auto">
              <a:spcAft>
                <a:spcPts val="0"/>
              </a:spcAft>
              <a:buFont typeface="Monotype Sorts" pitchFamily="-84" charset="2"/>
              <a:buNone/>
            </a:pPr>
            <a:r>
              <a:rPr lang="en-US" altLang="en-US" dirty="0"/>
              <a:t>  (a) </a:t>
            </a:r>
            <a:r>
              <a:rPr lang="en-US" altLang="en-US" b="1" i="1" dirty="0"/>
              <a:t>Finish</a:t>
            </a:r>
            <a:r>
              <a:rPr lang="en-US" altLang="en-US" b="1" dirty="0"/>
              <a:t> [</a:t>
            </a:r>
            <a:r>
              <a:rPr lang="en-US" altLang="en-US" b="1" i="1" dirty="0" err="1"/>
              <a:t>i</a:t>
            </a:r>
            <a:r>
              <a:rPr lang="en-US" altLang="en-US" b="1" dirty="0"/>
              <a:t>] = </a:t>
            </a:r>
            <a:r>
              <a:rPr lang="en-US" altLang="en-US" b="1" i="1" dirty="0"/>
              <a:t>false</a:t>
            </a:r>
            <a:endParaRPr lang="en-US" altLang="en-US" b="1" dirty="0"/>
          </a:p>
          <a:p>
            <a:pPr marL="800100" lvl="1" indent="-342900" fontAlgn="auto">
              <a:spcAft>
                <a:spcPts val="0"/>
              </a:spcAft>
              <a:buFont typeface="Monotype Sorts" pitchFamily="-84" charset="2"/>
              <a:buNone/>
            </a:pPr>
            <a:r>
              <a:rPr lang="en-US" altLang="en-US" dirty="0"/>
              <a:t>  (b) </a:t>
            </a:r>
            <a:r>
              <a:rPr lang="en-US" altLang="en-US" b="1" i="1" dirty="0" err="1"/>
              <a:t>Need</a:t>
            </a:r>
            <a:r>
              <a:rPr lang="en-US" altLang="en-US" b="1" i="1" baseline="-25000" dirty="0" err="1"/>
              <a:t>i</a:t>
            </a:r>
            <a:r>
              <a:rPr lang="en-US" altLang="en-US" b="1" dirty="0"/>
              <a:t> </a:t>
            </a:r>
            <a:r>
              <a:rPr lang="en-US" altLang="en-US" b="1" dirty="0">
                <a:sym typeface="Symbol" panose="05050102010706020507" pitchFamily="18" charset="2"/>
              </a:rPr>
              <a:t> </a:t>
            </a:r>
            <a:r>
              <a:rPr lang="en-US" altLang="en-US" b="1" i="1" dirty="0">
                <a:sym typeface="Symbol" panose="05050102010706020507" pitchFamily="18" charset="2"/>
              </a:rPr>
              <a:t>Work</a:t>
            </a:r>
          </a:p>
          <a:p>
            <a:pPr marL="800100" lvl="1" indent="-342900" fontAlgn="auto">
              <a:spcAft>
                <a:spcPts val="0"/>
              </a:spcAft>
              <a:buFont typeface="Monotype Sorts" pitchFamily="-84" charset="2"/>
              <a:buNone/>
            </a:pPr>
            <a:r>
              <a:rPr lang="en-US" altLang="en-US" dirty="0">
                <a:sym typeface="Symbol" panose="05050102010706020507" pitchFamily="18" charset="2"/>
              </a:rPr>
              <a:t>   If no such</a:t>
            </a:r>
            <a:r>
              <a:rPr lang="en-US" altLang="en-US" b="1" dirty="0">
                <a:sym typeface="Symbol" panose="05050102010706020507" pitchFamily="18" charset="2"/>
              </a:rPr>
              <a:t> </a:t>
            </a:r>
            <a:r>
              <a:rPr lang="en-US" altLang="en-US" b="1" i="1" dirty="0" err="1">
                <a:sym typeface="Symbol" panose="05050102010706020507" pitchFamily="18" charset="2"/>
              </a:rPr>
              <a:t>i</a:t>
            </a:r>
            <a:r>
              <a:rPr lang="en-US" altLang="en-US" b="1" i="1" dirty="0">
                <a:sym typeface="Symbol" panose="05050102010706020507" pitchFamily="18" charset="2"/>
              </a:rPr>
              <a:t> </a:t>
            </a:r>
            <a:r>
              <a:rPr lang="en-US" altLang="en-US" dirty="0">
                <a:sym typeface="Symbol" panose="05050102010706020507" pitchFamily="18" charset="2"/>
              </a:rPr>
              <a:t>exists, go to step 4</a:t>
            </a:r>
          </a:p>
          <a:p>
            <a:pPr marL="800100" lvl="1" indent="-342900" fontAlgn="auto">
              <a:spcAft>
                <a:spcPts val="0"/>
              </a:spcAft>
              <a:buFont typeface="Monotype Sorts" pitchFamily="-84" charset="2"/>
              <a:buNone/>
            </a:pPr>
            <a:endParaRPr lang="en-US" altLang="en-US" sz="800" dirty="0">
              <a:sym typeface="Symbol" panose="05050102010706020507" pitchFamily="18" charset="2"/>
            </a:endParaRPr>
          </a:p>
          <a:p>
            <a:pPr marL="342900" indent="-342900" fontAlgn="auto">
              <a:spcAft>
                <a:spcPts val="0"/>
              </a:spcAft>
              <a:buFont typeface="+mj-lt"/>
              <a:buAutoNum type="arabicPeriod"/>
            </a:pPr>
            <a:r>
              <a:rPr lang="en-US" altLang="en-US" dirty="0"/>
              <a:t> </a:t>
            </a:r>
            <a:r>
              <a:rPr lang="en-US" altLang="en-US" b="1" i="1" dirty="0"/>
              <a:t>Work</a:t>
            </a:r>
            <a:r>
              <a:rPr lang="en-US" altLang="en-US" b="1" dirty="0"/>
              <a:t> = </a:t>
            </a:r>
            <a:r>
              <a:rPr lang="en-US" altLang="en-US" b="1" i="1" dirty="0"/>
              <a:t>Work </a:t>
            </a:r>
            <a:r>
              <a:rPr lang="en-US" altLang="en-US" b="1" dirty="0"/>
              <a:t>+ </a:t>
            </a:r>
            <a:r>
              <a:rPr lang="en-US" altLang="en-US" b="1" i="1" dirty="0" err="1"/>
              <a:t>Allocation</a:t>
            </a:r>
            <a:r>
              <a:rPr lang="en-US" altLang="en-US" b="1" i="1" baseline="-25000" dirty="0" err="1"/>
              <a:t>i</a:t>
            </a:r>
            <a:br>
              <a:rPr lang="en-US" altLang="en-US" b="1" dirty="0"/>
            </a:br>
            <a:r>
              <a:rPr lang="en-US" altLang="en-US" b="1" dirty="0"/>
              <a:t> </a:t>
            </a:r>
            <a:r>
              <a:rPr lang="en-US" altLang="en-US" b="1" i="1" dirty="0"/>
              <a:t>Finish</a:t>
            </a:r>
            <a:r>
              <a:rPr lang="en-US" altLang="en-US" b="1" dirty="0"/>
              <a:t>[</a:t>
            </a:r>
            <a:r>
              <a:rPr lang="en-US" altLang="en-US" b="1" i="1" dirty="0" err="1"/>
              <a:t>i</a:t>
            </a:r>
            <a:r>
              <a:rPr lang="en-US" altLang="en-US" b="1" dirty="0"/>
              <a:t>] =</a:t>
            </a:r>
            <a:r>
              <a:rPr lang="en-US" altLang="en-US" b="1" i="1" dirty="0"/>
              <a:t> true</a:t>
            </a:r>
            <a:br>
              <a:rPr lang="en-US" altLang="en-US" b="1" dirty="0"/>
            </a:br>
            <a:r>
              <a:rPr lang="en-US" altLang="en-US" b="1" dirty="0"/>
              <a:t>  </a:t>
            </a:r>
            <a:r>
              <a:rPr lang="en-US" altLang="en-US" dirty="0"/>
              <a:t>go to step 2</a:t>
            </a:r>
          </a:p>
          <a:p>
            <a:pPr marL="342900" indent="-342900" fontAlgn="auto">
              <a:spcAft>
                <a:spcPts val="0"/>
              </a:spcAft>
              <a:buFont typeface="+mj-lt"/>
              <a:buAutoNum type="arabicPeriod"/>
            </a:pPr>
            <a:endParaRPr lang="en-US" altLang="en-US" sz="700" dirty="0"/>
          </a:p>
          <a:p>
            <a:pPr marL="342900" indent="-342900" fontAlgn="auto">
              <a:spcAft>
                <a:spcPts val="0"/>
              </a:spcAft>
              <a:buFont typeface="+mj-lt"/>
              <a:buAutoNum type="arabicPeriod"/>
            </a:pPr>
            <a:r>
              <a:rPr lang="en-US" altLang="en-US" dirty="0"/>
              <a:t>If </a:t>
            </a:r>
            <a:r>
              <a:rPr lang="en-US" altLang="en-US" b="1" i="1" dirty="0"/>
              <a:t>Finish</a:t>
            </a:r>
            <a:r>
              <a:rPr lang="en-US" altLang="en-US" b="1" dirty="0"/>
              <a:t> [</a:t>
            </a:r>
            <a:r>
              <a:rPr lang="en-US" altLang="en-US" b="1" i="1" dirty="0" err="1"/>
              <a:t>i</a:t>
            </a:r>
            <a:r>
              <a:rPr lang="en-US" altLang="en-US" b="1" dirty="0"/>
              <a:t>] == </a:t>
            </a:r>
            <a:r>
              <a:rPr lang="en-US" altLang="en-US" b="1" i="1" dirty="0"/>
              <a:t>true</a:t>
            </a:r>
            <a:r>
              <a:rPr lang="en-US" altLang="en-US" b="1" dirty="0"/>
              <a:t> </a:t>
            </a:r>
            <a:r>
              <a:rPr lang="en-US" altLang="en-US" dirty="0"/>
              <a:t>for all </a:t>
            </a:r>
            <a:r>
              <a:rPr lang="en-US" altLang="en-US" b="1" i="1" dirty="0" err="1"/>
              <a:t>i</a:t>
            </a:r>
            <a:r>
              <a:rPr lang="en-US" altLang="en-US" dirty="0"/>
              <a:t>, then the system is in a safe state</a:t>
            </a:r>
          </a:p>
        </p:txBody>
      </p:sp>
    </p:spTree>
    <p:extLst>
      <p:ext uri="{BB962C8B-B14F-4D97-AF65-F5344CB8AC3E}">
        <p14:creationId xmlns:p14="http://schemas.microsoft.com/office/powerpoint/2010/main" val="1403882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8C45A105-881D-0249-F655-1439F8E9E1E0}"/>
              </a:ext>
            </a:extLst>
          </p:cNvPr>
          <p:cNvSpPr txBox="1">
            <a:spLocks noGrp="1" noChangeArrowheads="1"/>
          </p:cNvSpPr>
          <p:nvPr>
            <p:ph idx="1"/>
          </p:nvPr>
        </p:nvSpPr>
        <p:spPr>
          <a:xfrm>
            <a:off x="838200" y="1825624"/>
            <a:ext cx="10515600" cy="50323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buFont typeface="Monotype Sorts" pitchFamily="-84" charset="2"/>
              <a:buNone/>
            </a:pPr>
            <a:r>
              <a:rPr lang="en-US" altLang="en-US" b="1" i="1" dirty="0"/>
              <a:t>     </a:t>
            </a:r>
            <a:r>
              <a:rPr lang="en-US" altLang="en-US" b="1" i="1" dirty="0" err="1"/>
              <a:t>Request</a:t>
            </a:r>
            <a:r>
              <a:rPr lang="en-US" altLang="en-US" b="1" i="1" baseline="-25000" dirty="0" err="1"/>
              <a:t>i</a:t>
            </a:r>
            <a:r>
              <a:rPr lang="en-US" altLang="en-US" dirty="0"/>
              <a:t> = request vector for process </a:t>
            </a:r>
            <a:r>
              <a:rPr lang="en-US" altLang="en-US" b="1" i="1" dirty="0" err="1"/>
              <a:t>T</a:t>
            </a:r>
            <a:r>
              <a:rPr lang="en-US" altLang="en-US" b="1" i="1" baseline="-25000" dirty="0" err="1"/>
              <a:t>i</a:t>
            </a:r>
            <a:r>
              <a:rPr lang="en-US" altLang="en-US" dirty="0"/>
              <a:t>.  If </a:t>
            </a:r>
            <a:r>
              <a:rPr lang="en-US" altLang="en-US" b="1" i="1" dirty="0" err="1"/>
              <a:t>Request</a:t>
            </a:r>
            <a:r>
              <a:rPr lang="en-US" altLang="en-US" b="1" i="1" baseline="-25000" dirty="0" err="1"/>
              <a:t>i</a:t>
            </a:r>
            <a:r>
              <a:rPr lang="en-US" altLang="en-US" b="1" baseline="-25000" dirty="0"/>
              <a:t> </a:t>
            </a:r>
            <a:r>
              <a:rPr lang="en-US" altLang="en-US" b="1" dirty="0"/>
              <a:t>[</a:t>
            </a:r>
            <a:r>
              <a:rPr lang="en-US" altLang="en-US" b="1" i="1" dirty="0"/>
              <a:t>j</a:t>
            </a:r>
            <a:r>
              <a:rPr lang="en-US" altLang="en-US" b="1" dirty="0"/>
              <a:t>] = </a:t>
            </a:r>
            <a:r>
              <a:rPr lang="en-US" altLang="en-US" b="1" i="1" dirty="0"/>
              <a:t>k</a:t>
            </a:r>
            <a:r>
              <a:rPr lang="en-US" altLang="en-US" b="1" dirty="0"/>
              <a:t> </a:t>
            </a:r>
            <a:r>
              <a:rPr lang="en-US" altLang="en-US" dirty="0"/>
              <a:t>then process </a:t>
            </a:r>
            <a:r>
              <a:rPr lang="en-US" altLang="en-US" b="1" i="1" dirty="0" err="1"/>
              <a:t>T</a:t>
            </a:r>
            <a:r>
              <a:rPr lang="en-US" altLang="en-US" b="1" i="1" baseline="-25000" dirty="0" err="1"/>
              <a:t>i</a:t>
            </a:r>
            <a:r>
              <a:rPr lang="en-US" altLang="en-US" dirty="0"/>
              <a:t> wants </a:t>
            </a:r>
            <a:r>
              <a:rPr lang="en-US" altLang="en-US" b="1" i="1" dirty="0"/>
              <a:t>k</a:t>
            </a:r>
            <a:r>
              <a:rPr lang="en-US" altLang="en-US" dirty="0"/>
              <a:t> instances of resource type </a:t>
            </a:r>
            <a:r>
              <a:rPr lang="en-US" altLang="en-US" b="1" i="1" dirty="0" err="1"/>
              <a:t>R</a:t>
            </a:r>
            <a:r>
              <a:rPr lang="en-US" altLang="en-US" b="1" i="1" baseline="-25000" dirty="0" err="1"/>
              <a:t>j</a:t>
            </a:r>
            <a:endParaRPr lang="en-US" altLang="en-US" b="1" baseline="-25000" dirty="0"/>
          </a:p>
          <a:p>
            <a:pPr marL="800100" lvl="1" indent="-342900" fontAlgn="auto">
              <a:spcAft>
                <a:spcPts val="0"/>
              </a:spcAft>
              <a:buFont typeface="+mj-lt"/>
              <a:buAutoNum type="arabicPeriod"/>
            </a:pPr>
            <a:r>
              <a:rPr lang="en-US" altLang="en-US" dirty="0"/>
              <a:t>If </a:t>
            </a:r>
            <a:r>
              <a:rPr lang="en-US" altLang="en-US" b="1" i="1" dirty="0" err="1"/>
              <a:t>Request</a:t>
            </a:r>
            <a:r>
              <a:rPr lang="en-US" altLang="en-US" b="1" i="1" baseline="-25000" dirty="0" err="1"/>
              <a:t>i</a:t>
            </a:r>
            <a:r>
              <a:rPr lang="en-US" altLang="en-US" b="1" i="1" dirty="0"/>
              <a:t> </a:t>
            </a:r>
            <a:r>
              <a:rPr lang="en-US" altLang="en-US" b="1" dirty="0">
                <a:sym typeface="Symbol" panose="05050102010706020507" pitchFamily="18" charset="2"/>
              </a:rPr>
              <a:t> </a:t>
            </a:r>
            <a:r>
              <a:rPr lang="en-US" altLang="en-US" b="1" i="1" dirty="0" err="1">
                <a:sym typeface="Symbol" panose="05050102010706020507" pitchFamily="18" charset="2"/>
              </a:rPr>
              <a:t>Need</a:t>
            </a:r>
            <a:r>
              <a:rPr lang="en-US" altLang="en-US" b="1" i="1" baseline="-25000" dirty="0" err="1">
                <a:sym typeface="Symbol" panose="05050102010706020507" pitchFamily="18" charset="2"/>
              </a:rPr>
              <a:t>i</a:t>
            </a:r>
            <a:r>
              <a:rPr lang="en-US" altLang="en-US" b="1" i="1" dirty="0">
                <a:sym typeface="Symbol" panose="05050102010706020507" pitchFamily="18" charset="2"/>
              </a:rPr>
              <a:t> </a:t>
            </a:r>
            <a:r>
              <a:rPr lang="en-US" altLang="en-US" dirty="0">
                <a:sym typeface="Symbol" panose="05050102010706020507" pitchFamily="18" charset="2"/>
              </a:rPr>
              <a:t>go to step 2.  Otherwise, raise error condition, since process has exceeded its maximum claim</a:t>
            </a:r>
          </a:p>
          <a:p>
            <a:pPr marL="800100" lvl="1" indent="-342900" fontAlgn="auto">
              <a:spcAft>
                <a:spcPts val="0"/>
              </a:spcAft>
              <a:buFont typeface="+mj-lt"/>
              <a:buAutoNum type="arabicPeriod"/>
            </a:pPr>
            <a:r>
              <a:rPr lang="en-US" altLang="en-US" dirty="0">
                <a:sym typeface="Symbol" panose="05050102010706020507" pitchFamily="18" charset="2"/>
              </a:rPr>
              <a:t>If </a:t>
            </a:r>
            <a:r>
              <a:rPr lang="en-US" altLang="en-US" b="1" i="1" dirty="0" err="1"/>
              <a:t>Request</a:t>
            </a:r>
            <a:r>
              <a:rPr lang="en-US" altLang="en-US" b="1" i="1" baseline="-25000" dirty="0" err="1"/>
              <a:t>i</a:t>
            </a:r>
            <a:r>
              <a:rPr lang="en-US" altLang="en-US" b="1" dirty="0"/>
              <a:t> </a:t>
            </a:r>
            <a:r>
              <a:rPr lang="en-US" altLang="en-US" b="1" dirty="0">
                <a:sym typeface="Symbol" panose="05050102010706020507" pitchFamily="18" charset="2"/>
              </a:rPr>
              <a:t> </a:t>
            </a:r>
            <a:r>
              <a:rPr lang="en-US" altLang="en-US" b="1" i="1" dirty="0">
                <a:sym typeface="Symbol" panose="05050102010706020507" pitchFamily="18" charset="2"/>
              </a:rPr>
              <a:t>Available</a:t>
            </a:r>
            <a:r>
              <a:rPr lang="en-US" altLang="en-US" dirty="0">
                <a:sym typeface="Symbol" panose="05050102010706020507" pitchFamily="18" charset="2"/>
              </a:rPr>
              <a:t>, go to step 3.  Otherwise </a:t>
            </a:r>
            <a:r>
              <a:rPr lang="en-US" altLang="en-US" b="1" i="1" dirty="0" err="1">
                <a:sym typeface="Symbol" panose="05050102010706020507" pitchFamily="18" charset="2"/>
              </a:rPr>
              <a:t>T</a:t>
            </a:r>
            <a:r>
              <a:rPr lang="en-US" altLang="en-US" b="1" i="1" baseline="-25000" dirty="0" err="1">
                <a:sym typeface="Symbol" panose="05050102010706020507" pitchFamily="18" charset="2"/>
              </a:rPr>
              <a:t>i</a:t>
            </a:r>
            <a:r>
              <a:rPr lang="en-US" altLang="en-US" dirty="0">
                <a:sym typeface="Symbol" panose="05050102010706020507" pitchFamily="18" charset="2"/>
              </a:rPr>
              <a:t>  must wait, since resources are not available</a:t>
            </a:r>
          </a:p>
          <a:p>
            <a:pPr marL="800100" lvl="1" indent="-342900" fontAlgn="auto">
              <a:spcAft>
                <a:spcPts val="0"/>
              </a:spcAft>
              <a:buFont typeface="+mj-lt"/>
              <a:buAutoNum type="arabicPeriod"/>
            </a:pPr>
            <a:r>
              <a:rPr lang="en-US" altLang="en-US" dirty="0">
                <a:sym typeface="Symbol" panose="05050102010706020507" pitchFamily="18" charset="2"/>
              </a:rPr>
              <a:t>Pretend to allocate requested resources to </a:t>
            </a:r>
            <a:r>
              <a:rPr lang="en-US" altLang="en-US" b="1" i="1" dirty="0" err="1">
                <a:sym typeface="Symbol" panose="05050102010706020507" pitchFamily="18" charset="2"/>
              </a:rPr>
              <a:t>T</a:t>
            </a:r>
            <a:r>
              <a:rPr lang="en-US" altLang="en-US" b="1" i="1" baseline="-25000" dirty="0" err="1">
                <a:sym typeface="Symbol" panose="05050102010706020507" pitchFamily="18" charset="2"/>
              </a:rPr>
              <a:t>i</a:t>
            </a:r>
            <a:r>
              <a:rPr lang="en-US" altLang="en-US" dirty="0">
                <a:sym typeface="Symbol" panose="05050102010706020507" pitchFamily="18" charset="2"/>
              </a:rPr>
              <a:t> by modifying the state as follows:</a:t>
            </a:r>
          </a:p>
          <a:p>
            <a:pPr lvl="3" fontAlgn="auto">
              <a:spcAft>
                <a:spcPts val="0"/>
              </a:spcAft>
              <a:buFontTx/>
              <a:buNone/>
            </a:pPr>
            <a:r>
              <a:rPr lang="en-US" altLang="en-US" dirty="0">
                <a:sym typeface="Symbol" panose="05050102010706020507" pitchFamily="18" charset="2"/>
              </a:rPr>
              <a:t>		</a:t>
            </a:r>
            <a:r>
              <a:rPr lang="en-US" altLang="en-US" b="1" i="1" dirty="0">
                <a:sym typeface="Symbol" panose="05050102010706020507" pitchFamily="18" charset="2"/>
              </a:rPr>
              <a:t>Available</a:t>
            </a:r>
            <a:r>
              <a:rPr lang="en-US" altLang="en-US" b="1" dirty="0">
                <a:sym typeface="Symbol" panose="05050102010706020507" pitchFamily="18" charset="2"/>
              </a:rPr>
              <a:t> = </a:t>
            </a:r>
            <a:r>
              <a:rPr lang="en-US" altLang="en-US" b="1" i="1" dirty="0">
                <a:sym typeface="Symbol" panose="05050102010706020507" pitchFamily="18" charset="2"/>
              </a:rPr>
              <a:t>Available  </a:t>
            </a:r>
            <a:r>
              <a:rPr lang="en-US" altLang="en-US" b="1" dirty="0">
                <a:sym typeface="Symbol" panose="05050102010706020507" pitchFamily="18" charset="2"/>
              </a:rPr>
              <a:t>–</a:t>
            </a:r>
            <a:r>
              <a:rPr lang="en-US" altLang="en-US" b="1" i="1" dirty="0">
                <a:sym typeface="Symbol" panose="05050102010706020507" pitchFamily="18" charset="2"/>
              </a:rPr>
              <a:t> </a:t>
            </a:r>
            <a:r>
              <a:rPr lang="en-US" altLang="en-US" b="1" i="1" dirty="0" err="1">
                <a:sym typeface="Symbol" panose="05050102010706020507" pitchFamily="18" charset="2"/>
              </a:rPr>
              <a:t>Request</a:t>
            </a:r>
            <a:r>
              <a:rPr lang="en-US" altLang="en-US" b="1" i="1" baseline="-25000" dirty="0" err="1">
                <a:sym typeface="Symbol" panose="05050102010706020507" pitchFamily="18" charset="2"/>
              </a:rPr>
              <a:t>i</a:t>
            </a:r>
            <a:r>
              <a:rPr lang="en-US" altLang="en-US" b="1" i="1" dirty="0">
                <a:sym typeface="Symbol" panose="05050102010706020507" pitchFamily="18" charset="2"/>
              </a:rPr>
              <a:t>;</a:t>
            </a:r>
          </a:p>
          <a:p>
            <a:pPr lvl="3" fontAlgn="auto">
              <a:spcAft>
                <a:spcPts val="0"/>
              </a:spcAft>
              <a:buFontTx/>
              <a:buNone/>
            </a:pPr>
            <a:r>
              <a:rPr lang="en-US" altLang="en-US" b="1" dirty="0">
                <a:sym typeface="Symbol" panose="05050102010706020507" pitchFamily="18" charset="2"/>
              </a:rPr>
              <a:t>		</a:t>
            </a:r>
            <a:r>
              <a:rPr lang="en-US" altLang="en-US" b="1" i="1" dirty="0" err="1">
                <a:sym typeface="Symbol" panose="05050102010706020507" pitchFamily="18" charset="2"/>
              </a:rPr>
              <a:t>Allocation</a:t>
            </a:r>
            <a:r>
              <a:rPr lang="en-US" altLang="en-US" b="1" i="1" baseline="-25000" dirty="0" err="1">
                <a:sym typeface="Symbol" panose="05050102010706020507" pitchFamily="18" charset="2"/>
              </a:rPr>
              <a:t>i</a:t>
            </a:r>
            <a:r>
              <a:rPr lang="en-US" altLang="en-US" b="1" baseline="-25000" dirty="0">
                <a:sym typeface="Symbol" panose="05050102010706020507" pitchFamily="18" charset="2"/>
              </a:rPr>
              <a:t> </a:t>
            </a:r>
            <a:r>
              <a:rPr lang="en-US" altLang="en-US" b="1" dirty="0">
                <a:sym typeface="Symbol" panose="05050102010706020507" pitchFamily="18" charset="2"/>
              </a:rPr>
              <a:t>= </a:t>
            </a:r>
            <a:r>
              <a:rPr lang="en-US" altLang="en-US" b="1" i="1" dirty="0" err="1">
                <a:sym typeface="Symbol" panose="05050102010706020507" pitchFamily="18" charset="2"/>
              </a:rPr>
              <a:t>Allocation</a:t>
            </a:r>
            <a:r>
              <a:rPr lang="en-US" altLang="en-US" b="1" i="1" baseline="-25000" dirty="0" err="1">
                <a:sym typeface="Symbol" panose="05050102010706020507" pitchFamily="18" charset="2"/>
              </a:rPr>
              <a:t>i</a:t>
            </a:r>
            <a:r>
              <a:rPr lang="en-US" altLang="en-US" b="1" dirty="0">
                <a:sym typeface="Symbol" panose="05050102010706020507" pitchFamily="18" charset="2"/>
              </a:rPr>
              <a:t> + </a:t>
            </a:r>
            <a:r>
              <a:rPr lang="en-US" altLang="en-US" b="1" i="1" dirty="0" err="1">
                <a:sym typeface="Symbol" panose="05050102010706020507" pitchFamily="18" charset="2"/>
              </a:rPr>
              <a:t>Request</a:t>
            </a:r>
            <a:r>
              <a:rPr lang="en-US" altLang="en-US" b="1" i="1" baseline="-25000" dirty="0" err="1">
                <a:sym typeface="Symbol" panose="05050102010706020507" pitchFamily="18" charset="2"/>
              </a:rPr>
              <a:t>i</a:t>
            </a:r>
            <a:r>
              <a:rPr lang="en-US" altLang="en-US" b="1" dirty="0">
                <a:sym typeface="Symbol" panose="05050102010706020507" pitchFamily="18" charset="2"/>
              </a:rPr>
              <a:t>;</a:t>
            </a:r>
          </a:p>
          <a:p>
            <a:pPr lvl="3" fontAlgn="auto">
              <a:spcAft>
                <a:spcPts val="0"/>
              </a:spcAft>
              <a:buFontTx/>
              <a:buNone/>
            </a:pPr>
            <a:r>
              <a:rPr lang="en-US" altLang="en-US" b="1" dirty="0">
                <a:sym typeface="Symbol" panose="05050102010706020507" pitchFamily="18" charset="2"/>
              </a:rPr>
              <a:t>		</a:t>
            </a:r>
            <a:r>
              <a:rPr lang="en-US" altLang="en-US" b="1" i="1" dirty="0" err="1">
                <a:sym typeface="Symbol" panose="05050102010706020507" pitchFamily="18" charset="2"/>
              </a:rPr>
              <a:t>Need</a:t>
            </a:r>
            <a:r>
              <a:rPr lang="en-US" altLang="en-US" b="1" i="1" baseline="-25000" dirty="0" err="1">
                <a:sym typeface="Symbol" panose="05050102010706020507" pitchFamily="18" charset="2"/>
              </a:rPr>
              <a:t>i</a:t>
            </a:r>
            <a:r>
              <a:rPr lang="en-US" altLang="en-US" b="1" i="1" dirty="0">
                <a:sym typeface="Symbol" panose="05050102010706020507" pitchFamily="18" charset="2"/>
              </a:rPr>
              <a:t> </a:t>
            </a:r>
            <a:r>
              <a:rPr lang="en-US" altLang="en-US" b="1" dirty="0">
                <a:sym typeface="Symbol" panose="05050102010706020507" pitchFamily="18" charset="2"/>
              </a:rPr>
              <a:t>=</a:t>
            </a:r>
            <a:r>
              <a:rPr lang="en-US" altLang="en-US" b="1" i="1" dirty="0">
                <a:sym typeface="Symbol" panose="05050102010706020507" pitchFamily="18" charset="2"/>
              </a:rPr>
              <a:t> </a:t>
            </a:r>
            <a:r>
              <a:rPr lang="en-US" altLang="en-US" b="1" i="1" dirty="0" err="1">
                <a:sym typeface="Symbol" panose="05050102010706020507" pitchFamily="18" charset="2"/>
              </a:rPr>
              <a:t>Need</a:t>
            </a:r>
            <a:r>
              <a:rPr lang="en-US" altLang="en-US" b="1" i="1" baseline="-25000" dirty="0" err="1">
                <a:sym typeface="Symbol" panose="05050102010706020507" pitchFamily="18" charset="2"/>
              </a:rPr>
              <a:t>i</a:t>
            </a:r>
            <a:r>
              <a:rPr lang="en-US" altLang="en-US" b="1" dirty="0">
                <a:sym typeface="Symbol" panose="05050102010706020507" pitchFamily="18" charset="2"/>
              </a:rPr>
              <a:t> – </a:t>
            </a:r>
            <a:r>
              <a:rPr lang="en-US" altLang="en-US" b="1" i="1" dirty="0" err="1">
                <a:sym typeface="Symbol" panose="05050102010706020507" pitchFamily="18" charset="2"/>
              </a:rPr>
              <a:t>Request</a:t>
            </a:r>
            <a:r>
              <a:rPr lang="en-US" altLang="en-US" b="1" i="1" baseline="-25000" dirty="0" err="1">
                <a:sym typeface="Symbol" panose="05050102010706020507" pitchFamily="18" charset="2"/>
              </a:rPr>
              <a:t>i</a:t>
            </a:r>
            <a:r>
              <a:rPr lang="en-US" altLang="en-US" b="1" i="1" dirty="0">
                <a:sym typeface="Symbol" panose="05050102010706020507" pitchFamily="18" charset="2"/>
              </a:rPr>
              <a:t>;</a:t>
            </a:r>
          </a:p>
          <a:p>
            <a:pPr lvl="2" fontAlgn="auto">
              <a:spcAft>
                <a:spcPts val="0"/>
              </a:spcAft>
              <a:buClr>
                <a:srgbClr val="CC6600"/>
              </a:buClr>
              <a:buSzPct val="110000"/>
            </a:pPr>
            <a:r>
              <a:rPr lang="en-US" altLang="en-US" dirty="0">
                <a:sym typeface="Symbol" panose="05050102010706020507" pitchFamily="18" charset="2"/>
              </a:rPr>
              <a:t>If safe  the resources are allocated to </a:t>
            </a:r>
            <a:r>
              <a:rPr lang="en-US" altLang="en-US" b="1" i="1" dirty="0" err="1">
                <a:sym typeface="Symbol" panose="05050102010706020507" pitchFamily="18" charset="2"/>
              </a:rPr>
              <a:t>T</a:t>
            </a:r>
            <a:r>
              <a:rPr lang="en-US" altLang="en-US" b="1" i="1" baseline="-25000" dirty="0" err="1">
                <a:sym typeface="Symbol" panose="05050102010706020507" pitchFamily="18" charset="2"/>
              </a:rPr>
              <a:t>i</a:t>
            </a:r>
            <a:endParaRPr lang="en-US" altLang="en-US" b="1" i="1" baseline="-25000" dirty="0">
              <a:sym typeface="Symbol" panose="05050102010706020507" pitchFamily="18" charset="2"/>
            </a:endParaRPr>
          </a:p>
          <a:p>
            <a:pPr lvl="2" fontAlgn="auto">
              <a:spcAft>
                <a:spcPts val="0"/>
              </a:spcAft>
              <a:buClr>
                <a:srgbClr val="CC6600"/>
              </a:buClr>
              <a:buSzPct val="110000"/>
            </a:pPr>
            <a:r>
              <a:rPr lang="en-US" altLang="en-US" dirty="0">
                <a:sym typeface="Symbol" panose="05050102010706020507" pitchFamily="18" charset="2"/>
              </a:rPr>
              <a:t>If unsafe  </a:t>
            </a:r>
            <a:r>
              <a:rPr lang="en-US" altLang="en-US" b="1" i="1" dirty="0" err="1">
                <a:sym typeface="Symbol" panose="05050102010706020507" pitchFamily="18" charset="2"/>
              </a:rPr>
              <a:t>T</a:t>
            </a:r>
            <a:r>
              <a:rPr lang="en-US" altLang="en-US" b="1" i="1" baseline="-25000" dirty="0" err="1">
                <a:sym typeface="Symbol" panose="05050102010706020507" pitchFamily="18" charset="2"/>
              </a:rPr>
              <a:t>i</a:t>
            </a:r>
            <a:r>
              <a:rPr lang="en-US" altLang="en-US" dirty="0">
                <a:sym typeface="Symbol" panose="05050102010706020507" pitchFamily="18" charset="2"/>
              </a:rPr>
              <a:t> must wait, and the old resource-allocation state is restored</a:t>
            </a:r>
          </a:p>
        </p:txBody>
      </p:sp>
      <p:sp>
        <p:nvSpPr>
          <p:cNvPr id="4" name="Rectangle 2">
            <a:extLst>
              <a:ext uri="{FF2B5EF4-FFF2-40B4-BE49-F238E27FC236}">
                <a16:creationId xmlns:a16="http://schemas.microsoft.com/office/drawing/2014/main" id="{D8FA72B0-F0D6-EA76-E702-4A9AB53749D7}"/>
              </a:ext>
            </a:extLst>
          </p:cNvPr>
          <p:cNvSpPr txBox="1">
            <a:spLocks noGrp="1" noChangeArrowheads="1"/>
          </p:cNvSpPr>
          <p:nvPr>
            <p:ph type="title"/>
          </p:nvPr>
        </p:nvSpPr>
        <p:spPr>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altLang="en-US" sz="2800" b="1" dirty="0"/>
              <a:t>Resource-Request Algorithm for Process </a:t>
            </a:r>
            <a:r>
              <a:rPr lang="en-US" altLang="en-US" sz="2800" b="1" i="1" dirty="0"/>
              <a:t>P</a:t>
            </a:r>
            <a:r>
              <a:rPr lang="en-US" altLang="en-US" sz="2800" b="1" i="1" baseline="-25000" dirty="0"/>
              <a:t>i</a:t>
            </a:r>
            <a:endParaRPr lang="en-US" altLang="en-US" sz="2800" b="1" dirty="0"/>
          </a:p>
        </p:txBody>
      </p:sp>
    </p:spTree>
    <p:extLst>
      <p:ext uri="{BB962C8B-B14F-4D97-AF65-F5344CB8AC3E}">
        <p14:creationId xmlns:p14="http://schemas.microsoft.com/office/powerpoint/2010/main" val="37158167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6BAE4-8383-4438-3B59-2AE19BB4D4B0}"/>
              </a:ext>
            </a:extLst>
          </p:cNvPr>
          <p:cNvSpPr>
            <a:spLocks noGrp="1"/>
          </p:cNvSpPr>
          <p:nvPr>
            <p:ph type="title"/>
          </p:nvPr>
        </p:nvSpPr>
        <p:spPr/>
        <p:txBody>
          <a:bodyPr/>
          <a:lstStyle/>
          <a:p>
            <a:r>
              <a:rPr lang="en-IN" dirty="0"/>
              <a:t>Example of Bankers Algorithm</a:t>
            </a:r>
            <a:endParaRPr lang="en-US" dirty="0"/>
          </a:p>
        </p:txBody>
      </p:sp>
      <p:sp>
        <p:nvSpPr>
          <p:cNvPr id="5" name="Rectangle 3">
            <a:extLst>
              <a:ext uri="{FF2B5EF4-FFF2-40B4-BE49-F238E27FC236}">
                <a16:creationId xmlns:a16="http://schemas.microsoft.com/office/drawing/2014/main" id="{5DC660BA-79C3-58C3-5789-D2E31300BC43}"/>
              </a:ext>
            </a:extLst>
          </p:cNvPr>
          <p:cNvSpPr txBox="1">
            <a:spLocks noGrp="1" noChangeArrowheads="1"/>
          </p:cNvSpPr>
          <p:nvPr>
            <p:ph idx="1"/>
          </p:nvPr>
        </p:nvSpPr>
        <p:spPr>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tabLst>
                <a:tab pos="1371600" algn="l"/>
                <a:tab pos="2395538" algn="ctr"/>
                <a:tab pos="3594100" algn="ctr"/>
                <a:tab pos="4805363" algn="ctr"/>
              </a:tabLst>
            </a:pPr>
            <a:r>
              <a:rPr lang="en-US" altLang="en-US" dirty="0"/>
              <a:t>5</a:t>
            </a:r>
            <a:r>
              <a:rPr lang="en-IN" altLang="en-US" dirty="0"/>
              <a:t> process</a:t>
            </a:r>
            <a:r>
              <a:rPr lang="en-US" altLang="en-US" dirty="0"/>
              <a:t> </a:t>
            </a:r>
            <a:r>
              <a:rPr lang="en-US" altLang="en-US" i="1" dirty="0"/>
              <a:t>T</a:t>
            </a:r>
            <a:r>
              <a:rPr lang="en-US" altLang="en-US" baseline="-25000" dirty="0"/>
              <a:t>0  </a:t>
            </a:r>
            <a:r>
              <a:rPr lang="en-US" altLang="en-US" dirty="0"/>
              <a:t>through </a:t>
            </a:r>
            <a:r>
              <a:rPr lang="en-US" altLang="en-US" i="1" dirty="0"/>
              <a:t>T</a:t>
            </a:r>
            <a:r>
              <a:rPr lang="en-US" altLang="en-US" baseline="-25000" dirty="0"/>
              <a:t>4</a:t>
            </a:r>
            <a:r>
              <a:rPr lang="en-US" altLang="en-US" dirty="0"/>
              <a:t>; </a:t>
            </a:r>
          </a:p>
          <a:p>
            <a:pPr fontAlgn="auto">
              <a:spcAft>
                <a:spcPts val="0"/>
              </a:spcAft>
              <a:buFont typeface="Monotype Sorts" pitchFamily="-84" charset="2"/>
              <a:buNone/>
              <a:tabLst>
                <a:tab pos="1371600" algn="l"/>
                <a:tab pos="2395538" algn="ctr"/>
                <a:tab pos="3594100" algn="ctr"/>
                <a:tab pos="4805363" algn="ctr"/>
              </a:tabLst>
            </a:pPr>
            <a:r>
              <a:rPr lang="en-US" altLang="en-US" dirty="0"/>
              <a:t>      3 resource types:</a:t>
            </a:r>
          </a:p>
          <a:p>
            <a:pPr fontAlgn="auto">
              <a:spcAft>
                <a:spcPts val="0"/>
              </a:spcAft>
              <a:buFont typeface="Monotype Sorts" pitchFamily="-84" charset="2"/>
              <a:buNone/>
              <a:tabLst>
                <a:tab pos="1371600" algn="l"/>
                <a:tab pos="2395538" algn="ctr"/>
                <a:tab pos="3594100" algn="ctr"/>
                <a:tab pos="4805363" algn="ctr"/>
              </a:tabLst>
            </a:pPr>
            <a:r>
              <a:rPr lang="en-US" altLang="en-US" dirty="0"/>
              <a:t>              </a:t>
            </a:r>
            <a:r>
              <a:rPr lang="en-US" altLang="en-US" i="1" dirty="0"/>
              <a:t>A</a:t>
            </a:r>
            <a:r>
              <a:rPr lang="en-US" altLang="en-US" dirty="0"/>
              <a:t> (10 instances),  </a:t>
            </a:r>
            <a:r>
              <a:rPr lang="en-US" altLang="en-US" i="1" dirty="0"/>
              <a:t>B</a:t>
            </a:r>
            <a:r>
              <a:rPr lang="en-US" altLang="en-US" dirty="0"/>
              <a:t> (5instances), and </a:t>
            </a:r>
            <a:r>
              <a:rPr lang="en-US" altLang="en-US" i="1" dirty="0"/>
              <a:t>C</a:t>
            </a:r>
            <a:r>
              <a:rPr lang="en-US" altLang="en-US" dirty="0"/>
              <a:t> (7 instances)</a:t>
            </a:r>
          </a:p>
          <a:p>
            <a:pPr fontAlgn="auto">
              <a:spcAft>
                <a:spcPts val="0"/>
              </a:spcAft>
              <a:tabLst>
                <a:tab pos="1371600" algn="l"/>
                <a:tab pos="2395538" algn="ctr"/>
                <a:tab pos="3594100" algn="ctr"/>
                <a:tab pos="4805363" algn="ctr"/>
              </a:tabLst>
            </a:pPr>
            <a:r>
              <a:rPr lang="en-US" altLang="en-US" dirty="0"/>
              <a:t>Snapshot at </a:t>
            </a:r>
            <a:r>
              <a:rPr lang="en-US" altLang="en-US"/>
              <a:t>time t</a:t>
            </a:r>
            <a:r>
              <a:rPr lang="en-US" altLang="en-US" baseline="-25000"/>
              <a:t>0</a:t>
            </a:r>
            <a:r>
              <a:rPr lang="en-US" altLang="en-US" dirty="0"/>
              <a:t>:</a:t>
            </a:r>
          </a:p>
          <a:p>
            <a:pPr fontAlgn="auto">
              <a:spcAft>
                <a:spcPts val="0"/>
              </a:spcAft>
              <a:buFont typeface="Monotype Sorts" pitchFamily="-84" charset="2"/>
              <a:buNone/>
              <a:tabLst>
                <a:tab pos="1371600" algn="l"/>
                <a:tab pos="2395538" algn="ctr"/>
                <a:tab pos="3594100" algn="ctr"/>
                <a:tab pos="4805363" algn="ctr"/>
              </a:tabLst>
            </a:pPr>
            <a:r>
              <a:rPr lang="en-US" altLang="en-US" dirty="0"/>
              <a:t>			</a:t>
            </a:r>
            <a:r>
              <a:rPr lang="en-US" altLang="en-US" i="1" u="sng" dirty="0"/>
              <a:t>Allocation</a:t>
            </a:r>
            <a:r>
              <a:rPr lang="en-US" altLang="en-US" i="1" dirty="0"/>
              <a:t>	  </a:t>
            </a:r>
            <a:r>
              <a:rPr lang="en-US" altLang="en-US" i="1" u="sng" dirty="0"/>
              <a:t>Max</a:t>
            </a:r>
            <a:r>
              <a:rPr lang="en-US" altLang="en-US" i="1" dirty="0"/>
              <a:t>	</a:t>
            </a:r>
            <a:r>
              <a:rPr lang="en-IN" altLang="en-US" i="1" dirty="0"/>
              <a:t>        </a:t>
            </a:r>
            <a:r>
              <a:rPr lang="en-US" altLang="en-US" i="1" u="sng" dirty="0"/>
              <a:t>Available</a:t>
            </a:r>
            <a:endParaRPr lang="en-US" altLang="en-US" i="1" dirty="0"/>
          </a:p>
          <a:p>
            <a:pPr fontAlgn="auto">
              <a:spcAft>
                <a:spcPts val="0"/>
              </a:spcAft>
              <a:buFont typeface="Monotype Sorts" pitchFamily="-84" charset="2"/>
              <a:buNone/>
              <a:tabLst>
                <a:tab pos="1371600" algn="l"/>
                <a:tab pos="2395538" algn="ctr"/>
                <a:tab pos="3594100" algn="ctr"/>
                <a:tab pos="4805363" algn="ctr"/>
              </a:tabLst>
            </a:pPr>
            <a:r>
              <a:rPr lang="en-US" altLang="en-US" i="1" dirty="0"/>
              <a:t>			A B C	       A B C </a:t>
            </a:r>
            <a:r>
              <a:rPr lang="en-IN" altLang="en-US" i="1" dirty="0"/>
              <a:t>   </a:t>
            </a:r>
            <a:r>
              <a:rPr lang="en-US" altLang="en-US" i="1" dirty="0"/>
              <a:t>	A B C</a:t>
            </a:r>
          </a:p>
          <a:p>
            <a:pPr fontAlgn="auto">
              <a:spcAft>
                <a:spcPts val="0"/>
              </a:spcAft>
              <a:buFont typeface="Monotype Sorts" pitchFamily="-84" charset="2"/>
              <a:buNone/>
              <a:tabLst>
                <a:tab pos="1371600" algn="l"/>
                <a:tab pos="2395538" algn="ctr"/>
                <a:tab pos="3594100" algn="ctr"/>
                <a:tab pos="4805363" algn="ctr"/>
              </a:tabLst>
            </a:pPr>
            <a:r>
              <a:rPr lang="en-US" altLang="en-US" dirty="0"/>
              <a:t>		 </a:t>
            </a:r>
            <a:r>
              <a:rPr lang="en-US" altLang="en-US" i="1" dirty="0"/>
              <a:t>T</a:t>
            </a:r>
            <a:r>
              <a:rPr lang="en-US" altLang="en-US" baseline="-25000" dirty="0"/>
              <a:t>0	</a:t>
            </a:r>
            <a:r>
              <a:rPr lang="en-US" altLang="en-US" dirty="0"/>
              <a:t>0 1 0	         7 5 3</a:t>
            </a:r>
            <a:r>
              <a:rPr lang="en-IN" altLang="en-US" dirty="0"/>
              <a:t>     </a:t>
            </a:r>
            <a:r>
              <a:rPr lang="en-US" altLang="en-US" dirty="0"/>
              <a:t> 3 3 2</a:t>
            </a:r>
          </a:p>
          <a:p>
            <a:pPr fontAlgn="auto">
              <a:spcAft>
                <a:spcPts val="0"/>
              </a:spcAft>
              <a:buFont typeface="Monotype Sorts" pitchFamily="-84" charset="2"/>
              <a:buNone/>
              <a:tabLst>
                <a:tab pos="1371600" algn="l"/>
                <a:tab pos="2395538" algn="ctr"/>
                <a:tab pos="3594100" algn="ctr"/>
                <a:tab pos="4805363" algn="ctr"/>
              </a:tabLst>
            </a:pPr>
            <a:r>
              <a:rPr lang="en-US" altLang="en-US" dirty="0"/>
              <a:t>		 </a:t>
            </a:r>
            <a:r>
              <a:rPr lang="en-US" altLang="en-US" i="1" dirty="0"/>
              <a:t>T</a:t>
            </a:r>
            <a:r>
              <a:rPr lang="en-US" altLang="en-US" baseline="-25000" dirty="0"/>
              <a:t>1	</a:t>
            </a:r>
            <a:r>
              <a:rPr lang="en-US" altLang="en-US" dirty="0"/>
              <a:t>2 0 0 	        3 2 2  </a:t>
            </a:r>
          </a:p>
          <a:p>
            <a:pPr fontAlgn="auto">
              <a:spcAft>
                <a:spcPts val="0"/>
              </a:spcAft>
              <a:buFont typeface="Monotype Sorts" pitchFamily="-84" charset="2"/>
              <a:buNone/>
              <a:tabLst>
                <a:tab pos="1371600" algn="l"/>
                <a:tab pos="2395538" algn="ctr"/>
                <a:tab pos="3594100" algn="ctr"/>
                <a:tab pos="4805363" algn="ctr"/>
              </a:tabLst>
            </a:pPr>
            <a:r>
              <a:rPr lang="en-US" altLang="en-US" dirty="0"/>
              <a:t>		 </a:t>
            </a:r>
            <a:r>
              <a:rPr lang="en-US" altLang="en-US" i="1" dirty="0"/>
              <a:t>T</a:t>
            </a:r>
            <a:r>
              <a:rPr lang="en-US" altLang="en-US" baseline="-25000" dirty="0"/>
              <a:t>2</a:t>
            </a:r>
            <a:r>
              <a:rPr lang="en-US" altLang="en-US" dirty="0"/>
              <a:t>	3 0 2 	        9 0 2</a:t>
            </a:r>
          </a:p>
          <a:p>
            <a:pPr fontAlgn="auto">
              <a:spcAft>
                <a:spcPts val="0"/>
              </a:spcAft>
              <a:buFont typeface="Monotype Sorts" pitchFamily="-84" charset="2"/>
              <a:buNone/>
              <a:tabLst>
                <a:tab pos="1371600" algn="l"/>
                <a:tab pos="2395538" algn="ctr"/>
                <a:tab pos="3594100" algn="ctr"/>
                <a:tab pos="4805363" algn="ctr"/>
              </a:tabLst>
            </a:pPr>
            <a:r>
              <a:rPr lang="en-US" altLang="en-US" dirty="0"/>
              <a:t>		 </a:t>
            </a:r>
            <a:r>
              <a:rPr lang="en-US" altLang="en-US" i="1" dirty="0"/>
              <a:t>T</a:t>
            </a:r>
            <a:r>
              <a:rPr lang="en-US" altLang="en-US" baseline="-25000" dirty="0"/>
              <a:t>3</a:t>
            </a:r>
            <a:r>
              <a:rPr lang="en-US" altLang="en-US" dirty="0"/>
              <a:t>	2 1 1 	        2 2 2</a:t>
            </a:r>
          </a:p>
          <a:p>
            <a:pPr fontAlgn="auto">
              <a:spcAft>
                <a:spcPts val="0"/>
              </a:spcAft>
              <a:buFont typeface="Monotype Sorts" pitchFamily="-84" charset="2"/>
              <a:buNone/>
              <a:tabLst>
                <a:tab pos="1371600" algn="l"/>
                <a:tab pos="2395538" algn="ctr"/>
                <a:tab pos="3594100" algn="ctr"/>
                <a:tab pos="4805363" algn="ctr"/>
              </a:tabLst>
            </a:pPr>
            <a:r>
              <a:rPr lang="en-US" altLang="en-US" dirty="0"/>
              <a:t>		 </a:t>
            </a:r>
            <a:r>
              <a:rPr lang="en-US" altLang="en-US" i="1" dirty="0"/>
              <a:t>T</a:t>
            </a:r>
            <a:r>
              <a:rPr lang="en-US" altLang="en-US" baseline="-25000" dirty="0"/>
              <a:t>4</a:t>
            </a:r>
            <a:r>
              <a:rPr lang="en-US" altLang="en-US" dirty="0"/>
              <a:t>	0 0 2	         4 3 3  		</a:t>
            </a:r>
          </a:p>
        </p:txBody>
      </p:sp>
    </p:spTree>
    <p:extLst>
      <p:ext uri="{BB962C8B-B14F-4D97-AF65-F5344CB8AC3E}">
        <p14:creationId xmlns:p14="http://schemas.microsoft.com/office/powerpoint/2010/main" val="27026370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26D456-6880-0BD4-29A2-7D46BE888ABB}"/>
              </a:ext>
            </a:extLst>
          </p:cNvPr>
          <p:cNvSpPr>
            <a:spLocks noGrp="1"/>
          </p:cNvSpPr>
          <p:nvPr>
            <p:ph idx="1"/>
          </p:nvPr>
        </p:nvSpPr>
        <p:spPr/>
        <p:txBody>
          <a:bodyPr/>
          <a:lstStyle/>
          <a:p>
            <a:r>
              <a:rPr lang="en-IN" dirty="0"/>
              <a:t>The content of the matrix Need is defined to be Max – Allocation
Need [</a:t>
            </a:r>
            <a:r>
              <a:rPr lang="en-IN" dirty="0" err="1"/>
              <a:t>i</a:t>
            </a:r>
            <a:r>
              <a:rPr lang="en-IN" dirty="0"/>
              <a:t>, j] = Max [</a:t>
            </a:r>
            <a:r>
              <a:rPr lang="en-IN" dirty="0" err="1"/>
              <a:t>i</a:t>
            </a:r>
            <a:r>
              <a:rPr lang="en-IN" dirty="0"/>
              <a:t>, j] – Allocation [</a:t>
            </a:r>
            <a:r>
              <a:rPr lang="en-IN" dirty="0" err="1"/>
              <a:t>i</a:t>
            </a:r>
            <a:r>
              <a:rPr lang="en-IN" dirty="0"/>
              <a:t>, j]</a:t>
            </a:r>
            <a:endParaRPr lang="en-US" dirty="0"/>
          </a:p>
        </p:txBody>
      </p:sp>
      <p:sp>
        <p:nvSpPr>
          <p:cNvPr id="5" name="Rectangle 2">
            <a:extLst>
              <a:ext uri="{FF2B5EF4-FFF2-40B4-BE49-F238E27FC236}">
                <a16:creationId xmlns:a16="http://schemas.microsoft.com/office/drawing/2014/main" id="{B349BB7C-B0EB-B2BB-1940-6C609E562F7B}"/>
              </a:ext>
            </a:extLst>
          </p:cNvPr>
          <p:cNvSpPr txBox="1">
            <a:spLocks noGrp="1" noChangeArrowheads="1"/>
          </p:cNvSpPr>
          <p:nvPr>
            <p:ph type="title"/>
          </p:nvPr>
        </p:nvSpPr>
        <p:spPr>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IN" b="1" dirty="0">
                <a:solidFill>
                  <a:srgbClr val="353535"/>
                </a:solidFill>
                <a:latin typeface="Arial" panose="020B0604020202020204" pitchFamily="34" charset="0"/>
              </a:rPr>
              <a:t>What will be the content of the Need matrix?</a:t>
            </a:r>
            <a:endParaRPr lang="en-US" altLang="en-US" dirty="0"/>
          </a:p>
        </p:txBody>
      </p:sp>
      <p:pic>
        <p:nvPicPr>
          <p:cNvPr id="4" name="Picture 2">
            <a:extLst>
              <a:ext uri="{FF2B5EF4-FFF2-40B4-BE49-F238E27FC236}">
                <a16:creationId xmlns:a16="http://schemas.microsoft.com/office/drawing/2014/main" id="{C3AC1A65-3E7E-07E7-A23A-3919A23F4A37}"/>
              </a:ext>
            </a:extLst>
          </p:cNvPr>
          <p:cNvPicPr>
            <a:picLocks noChangeAspect="1"/>
          </p:cNvPicPr>
          <p:nvPr/>
        </p:nvPicPr>
        <p:blipFill>
          <a:blip r:embed="rId2"/>
          <a:stretch>
            <a:fillRect/>
          </a:stretch>
        </p:blipFill>
        <p:spPr>
          <a:xfrm>
            <a:off x="1430740" y="3429000"/>
            <a:ext cx="7771152" cy="3216492"/>
          </a:xfrm>
          <a:prstGeom prst="rect">
            <a:avLst/>
          </a:prstGeom>
        </p:spPr>
      </p:pic>
    </p:spTree>
    <p:extLst>
      <p:ext uri="{BB962C8B-B14F-4D97-AF65-F5344CB8AC3E}">
        <p14:creationId xmlns:p14="http://schemas.microsoft.com/office/powerpoint/2010/main" val="20747391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9AEEB55E-8E9D-067C-0E3D-930169792832}"/>
              </a:ext>
            </a:extLst>
          </p:cNvPr>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IN" dirty="0"/>
              <a:t>Is the system in a safe state? If Yes, then what is the safe sequence?</a:t>
            </a:r>
            <a:endParaRPr lang="en-US" dirty="0"/>
          </a:p>
        </p:txBody>
      </p:sp>
      <p:pic>
        <p:nvPicPr>
          <p:cNvPr id="4" name="Picture 6">
            <a:extLst>
              <a:ext uri="{FF2B5EF4-FFF2-40B4-BE49-F238E27FC236}">
                <a16:creationId xmlns:a16="http://schemas.microsoft.com/office/drawing/2014/main" id="{F4973167-831B-D7B7-FE01-E9BC23686789}"/>
              </a:ext>
            </a:extLst>
          </p:cNvPr>
          <p:cNvPicPr>
            <a:picLocks noGrp="1" noChangeAspect="1"/>
          </p:cNvPicPr>
          <p:nvPr>
            <p:ph idx="1"/>
          </p:nvPr>
        </p:nvPicPr>
        <p:blipFill>
          <a:blip r:embed="rId2"/>
          <a:stretch>
            <a:fillRect/>
          </a:stretch>
        </p:blipFill>
        <p:spPr bwMode="auto">
          <a:xfrm>
            <a:off x="1149112" y="1825625"/>
            <a:ext cx="9877475" cy="4775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706084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BE0BC2BC-026F-BBDC-A151-AAA4F87A0F1F}"/>
              </a:ext>
            </a:extLst>
          </p:cNvPr>
          <p:cNvSpPr txBox="1">
            <a:spLocks noGrp="1" noChangeArrowheads="1"/>
          </p:cNvSpPr>
          <p:nvPr>
            <p:ph type="title"/>
          </p:nvPr>
        </p:nvSpPr>
        <p:spPr>
          <a:xfrm>
            <a:off x="1156039" y="281167"/>
            <a:ext cx="10515600" cy="2664962"/>
          </a:xfrm>
          <a:prstGeom prst="rect">
            <a:avLst/>
          </a:prstGeom>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IN" b="1" dirty="0">
                <a:solidFill>
                  <a:srgbClr val="353535"/>
                </a:solidFill>
                <a:latin typeface="Arial" panose="020B0604020202020204" pitchFamily="34" charset="0"/>
              </a:rPr>
              <a:t>What will happen if process P</a:t>
            </a:r>
            <a:r>
              <a:rPr lang="en-IN" b="1" baseline="-25000" dirty="0">
                <a:solidFill>
                  <a:srgbClr val="353535"/>
                </a:solidFill>
                <a:latin typeface="Arial" panose="020B0604020202020204" pitchFamily="34" charset="0"/>
              </a:rPr>
              <a:t>1 </a:t>
            </a:r>
            <a:r>
              <a:rPr lang="en-IN" b="1" dirty="0">
                <a:solidFill>
                  <a:srgbClr val="353535"/>
                </a:solidFill>
                <a:latin typeface="Arial" panose="020B0604020202020204" pitchFamily="34" charset="0"/>
              </a:rPr>
              <a:t>requests one additional instance of resource type A and two instances of resource type C?</a:t>
            </a:r>
            <a:r>
              <a:rPr lang="en-US" altLang="en-US" dirty="0"/>
              <a:t>: </a:t>
            </a:r>
            <a:br>
              <a:rPr lang="en-IN" altLang="en-US" dirty="0"/>
            </a:br>
            <a:r>
              <a:rPr lang="en-US" altLang="en-US" dirty="0"/>
              <a:t> </a:t>
            </a:r>
            <a:r>
              <a:rPr lang="en-US" altLang="en-US" b="1" i="1" dirty="0"/>
              <a:t>P</a:t>
            </a:r>
            <a:r>
              <a:rPr lang="en-US" altLang="en-US" b="1" baseline="-25000" dirty="0"/>
              <a:t>1</a:t>
            </a:r>
            <a:r>
              <a:rPr lang="en-US" altLang="en-US" b="1" dirty="0"/>
              <a:t> Request (1,0,2)</a:t>
            </a:r>
          </a:p>
        </p:txBody>
      </p:sp>
      <p:pic>
        <p:nvPicPr>
          <p:cNvPr id="4" name="Picture 2">
            <a:extLst>
              <a:ext uri="{FF2B5EF4-FFF2-40B4-BE49-F238E27FC236}">
                <a16:creationId xmlns:a16="http://schemas.microsoft.com/office/drawing/2014/main" id="{08A976EA-D797-8208-3CA0-D574E2078E2C}"/>
              </a:ext>
            </a:extLst>
          </p:cNvPr>
          <p:cNvPicPr>
            <a:picLocks noGrp="1" noChangeAspect="1"/>
          </p:cNvPicPr>
          <p:nvPr>
            <p:ph idx="1"/>
          </p:nvPr>
        </p:nvPicPr>
        <p:blipFill>
          <a:blip r:embed="rId2"/>
          <a:stretch>
            <a:fillRect/>
          </a:stretch>
        </p:blipFill>
        <p:spPr>
          <a:xfrm>
            <a:off x="1515850" y="2714625"/>
            <a:ext cx="8985080" cy="3862208"/>
          </a:xfrm>
          <a:prstGeom prst="rect">
            <a:avLst/>
          </a:prstGeom>
        </p:spPr>
      </p:pic>
    </p:spTree>
    <p:extLst>
      <p:ext uri="{BB962C8B-B14F-4D97-AF65-F5344CB8AC3E}">
        <p14:creationId xmlns:p14="http://schemas.microsoft.com/office/powerpoint/2010/main" val="29918902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77571-AAFC-E1B1-D654-881BB951918D}"/>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63DE5A6B-B85B-3238-BC6C-7389DE6D3E8F}"/>
              </a:ext>
            </a:extLst>
          </p:cNvPr>
          <p:cNvPicPr>
            <a:picLocks noGrp="1" noChangeAspect="1"/>
          </p:cNvPicPr>
          <p:nvPr>
            <p:ph idx="1"/>
          </p:nvPr>
        </p:nvPicPr>
        <p:blipFill>
          <a:blip r:embed="rId2"/>
          <a:stretch>
            <a:fillRect/>
          </a:stretch>
        </p:blipFill>
        <p:spPr>
          <a:xfrm>
            <a:off x="977969" y="2506662"/>
            <a:ext cx="9926374" cy="4351338"/>
          </a:xfrm>
          <a:prstGeom prst="rect">
            <a:avLst/>
          </a:prstGeom>
        </p:spPr>
      </p:pic>
      <p:sp>
        <p:nvSpPr>
          <p:cNvPr id="6" name="TextBox 5">
            <a:extLst>
              <a:ext uri="{FF2B5EF4-FFF2-40B4-BE49-F238E27FC236}">
                <a16:creationId xmlns:a16="http://schemas.microsoft.com/office/drawing/2014/main" id="{8C4E29A7-A802-1A8E-3852-73A9C157B248}"/>
              </a:ext>
            </a:extLst>
          </p:cNvPr>
          <p:cNvSpPr txBox="1"/>
          <p:nvPr/>
        </p:nvSpPr>
        <p:spPr>
          <a:xfrm>
            <a:off x="977969" y="1690688"/>
            <a:ext cx="10375831" cy="646331"/>
          </a:xfrm>
          <a:prstGeom prst="rect">
            <a:avLst/>
          </a:prstGeom>
          <a:noFill/>
        </p:spPr>
        <p:txBody>
          <a:bodyPr wrap="square" rtlCol="0">
            <a:spAutoFit/>
          </a:bodyPr>
          <a:lstStyle/>
          <a:p>
            <a:pPr algn="l"/>
            <a:r>
              <a:rPr lang="en-IN" dirty="0"/>
              <a:t>We must determine whether this new system state is safe. To do so, we again execute </a:t>
            </a:r>
            <a:r>
              <a:rPr lang="en-IN"/>
              <a:t>Safety algorithm </a:t>
            </a:r>
            <a:endParaRPr lang="en-US" dirty="0"/>
          </a:p>
        </p:txBody>
      </p:sp>
    </p:spTree>
    <p:extLst>
      <p:ext uri="{BB962C8B-B14F-4D97-AF65-F5344CB8AC3E}">
        <p14:creationId xmlns:p14="http://schemas.microsoft.com/office/powerpoint/2010/main" val="35570073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2F3B8-B546-C8DA-B863-4808755F63EA}"/>
              </a:ext>
            </a:extLst>
          </p:cNvPr>
          <p:cNvSpPr>
            <a:spLocks noGrp="1"/>
          </p:cNvSpPr>
          <p:nvPr>
            <p:ph type="title"/>
          </p:nvPr>
        </p:nvSpPr>
        <p:spPr/>
        <p:txBody>
          <a:bodyPr/>
          <a:lstStyle/>
          <a:p>
            <a:r>
              <a:rPr lang="en-IN" dirty="0"/>
              <a:t>Deadlock Detection</a:t>
            </a:r>
            <a:endParaRPr lang="en-US" dirty="0"/>
          </a:p>
        </p:txBody>
      </p:sp>
      <p:sp>
        <p:nvSpPr>
          <p:cNvPr id="3" name="Content Placeholder 2">
            <a:extLst>
              <a:ext uri="{FF2B5EF4-FFF2-40B4-BE49-F238E27FC236}">
                <a16:creationId xmlns:a16="http://schemas.microsoft.com/office/drawing/2014/main" id="{AE989139-A188-F8A1-BB20-864568744A64}"/>
              </a:ext>
            </a:extLst>
          </p:cNvPr>
          <p:cNvSpPr>
            <a:spLocks noGrp="1"/>
          </p:cNvSpPr>
          <p:nvPr>
            <p:ph idx="1"/>
          </p:nvPr>
        </p:nvSpPr>
        <p:spPr/>
        <p:txBody>
          <a:bodyPr/>
          <a:lstStyle/>
          <a:p>
            <a:pPr marL="0" indent="0">
              <a:buNone/>
            </a:pPr>
            <a:r>
              <a:rPr lang="en-IN" b="1" dirty="0"/>
              <a:t>1)Single Instance of Each Resource Type</a:t>
            </a:r>
          </a:p>
          <a:p>
            <a:r>
              <a:rPr lang="en-IN" dirty="0"/>
              <a:t> </a:t>
            </a:r>
            <a:r>
              <a:rPr lang="en-IN" dirty="0">
                <a:latin typeface="Times New Roman" panose="02020603050405020304" pitchFamily="18" charset="0"/>
                <a:cs typeface="Times New Roman" panose="02020603050405020304" pitchFamily="18" charset="0"/>
              </a:rPr>
              <a:t>If all resources have only a single instance, then we can define a deadlock detection algorithm that uses a variant of the resource allocation graph, called a wait-for graph.</a:t>
            </a:r>
          </a:p>
          <a:p>
            <a:r>
              <a:rPr lang="en-IN" dirty="0">
                <a:latin typeface="Times New Roman" panose="02020603050405020304" pitchFamily="18" charset="0"/>
                <a:cs typeface="Times New Roman" panose="02020603050405020304" pitchFamily="18" charset="0"/>
              </a:rPr>
              <a:t> We obtain this graph from the resource-allocation graph by removing the resource nodes and collapsing the appropriate edges.</a:t>
            </a:r>
          </a:p>
        </p:txBody>
      </p:sp>
    </p:spTree>
    <p:extLst>
      <p:ext uri="{BB962C8B-B14F-4D97-AF65-F5344CB8AC3E}">
        <p14:creationId xmlns:p14="http://schemas.microsoft.com/office/powerpoint/2010/main" val="4551641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CD452307-5A11-DC86-177C-6D963AF0C5A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199" y="1825625"/>
            <a:ext cx="10515599" cy="4351338"/>
          </a:xfrm>
        </p:spPr>
      </p:pic>
      <p:sp>
        <p:nvSpPr>
          <p:cNvPr id="6" name="Title 1">
            <a:extLst>
              <a:ext uri="{FF2B5EF4-FFF2-40B4-BE49-F238E27FC236}">
                <a16:creationId xmlns:a16="http://schemas.microsoft.com/office/drawing/2014/main" id="{4511E16A-1D39-B290-D5C8-573112A8344F}"/>
              </a:ext>
            </a:extLst>
          </p:cNvPr>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Deadlock Detection</a:t>
            </a:r>
            <a:endParaRPr lang="en-US" dirty="0"/>
          </a:p>
        </p:txBody>
      </p:sp>
    </p:spTree>
    <p:extLst>
      <p:ext uri="{BB962C8B-B14F-4D97-AF65-F5344CB8AC3E}">
        <p14:creationId xmlns:p14="http://schemas.microsoft.com/office/powerpoint/2010/main" val="34479205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410C9A-9C5D-CC7E-FB3C-AF6A93A4A377}"/>
              </a:ext>
            </a:extLst>
          </p:cNvPr>
          <p:cNvSpPr>
            <a:spLocks noGrp="1"/>
          </p:cNvSpPr>
          <p:nvPr>
            <p:ph idx="1"/>
          </p:nvPr>
        </p:nvSpPr>
        <p:spPr/>
        <p:txBody>
          <a:bodyPr/>
          <a:lstStyle/>
          <a:p>
            <a:r>
              <a:rPr lang="en-IN" dirty="0"/>
              <a:t> an edge from </a:t>
            </a:r>
            <a:r>
              <a:rPr lang="en-IN" dirty="0" err="1"/>
              <a:t>Ti</a:t>
            </a:r>
            <a:r>
              <a:rPr lang="en-IN" dirty="0"/>
              <a:t> to </a:t>
            </a:r>
            <a:r>
              <a:rPr lang="en-IN" dirty="0" err="1"/>
              <a:t>Tj</a:t>
            </a:r>
            <a:r>
              <a:rPr lang="en-IN" dirty="0"/>
              <a:t> in a wait-for graph implies that process </a:t>
            </a:r>
            <a:r>
              <a:rPr lang="en-IN" dirty="0" err="1"/>
              <a:t>Ti</a:t>
            </a:r>
            <a:r>
              <a:rPr lang="en-IN" dirty="0"/>
              <a:t> is waiting for </a:t>
            </a:r>
            <a:r>
              <a:rPr lang="en-IN" dirty="0" err="1"/>
              <a:t>Tj</a:t>
            </a:r>
            <a:r>
              <a:rPr lang="en-IN" dirty="0"/>
              <a:t> to release a resource that </a:t>
            </a:r>
            <a:r>
              <a:rPr lang="en-IN" dirty="0" err="1"/>
              <a:t>Ti</a:t>
            </a:r>
            <a:r>
              <a:rPr lang="en-IN" dirty="0"/>
              <a:t> needs. </a:t>
            </a:r>
          </a:p>
          <a:p>
            <a:r>
              <a:rPr lang="en-IN" dirty="0"/>
              <a:t>An edge </a:t>
            </a:r>
            <a:r>
              <a:rPr lang="en-IN" dirty="0" err="1"/>
              <a:t>Ti</a:t>
            </a:r>
            <a:r>
              <a:rPr lang="en-IN" dirty="0"/>
              <a:t> → </a:t>
            </a:r>
            <a:r>
              <a:rPr lang="en-IN" dirty="0" err="1"/>
              <a:t>Tj</a:t>
            </a:r>
            <a:r>
              <a:rPr lang="en-IN" dirty="0"/>
              <a:t> exists in a wait-for graph if and only if the corresponding resource-allocation graph contains two edges </a:t>
            </a:r>
            <a:r>
              <a:rPr lang="en-IN" dirty="0" err="1"/>
              <a:t>Ti</a:t>
            </a:r>
            <a:r>
              <a:rPr lang="en-IN" dirty="0"/>
              <a:t> → </a:t>
            </a:r>
            <a:r>
              <a:rPr lang="en-IN" dirty="0" err="1"/>
              <a:t>Rq</a:t>
            </a:r>
            <a:r>
              <a:rPr lang="en-IN" dirty="0"/>
              <a:t> and </a:t>
            </a:r>
            <a:r>
              <a:rPr lang="en-IN" dirty="0" err="1"/>
              <a:t>Rq</a:t>
            </a:r>
            <a:r>
              <a:rPr lang="en-IN" dirty="0"/>
              <a:t> → </a:t>
            </a:r>
            <a:r>
              <a:rPr lang="en-IN" dirty="0" err="1"/>
              <a:t>Tj</a:t>
            </a:r>
            <a:r>
              <a:rPr lang="en-IN" dirty="0"/>
              <a:t> for some resource </a:t>
            </a:r>
            <a:r>
              <a:rPr lang="en-IN" dirty="0" err="1"/>
              <a:t>Rq</a:t>
            </a:r>
            <a:r>
              <a:rPr lang="en-IN" dirty="0"/>
              <a:t>.</a:t>
            </a:r>
            <a:endParaRPr lang="en-US" dirty="0"/>
          </a:p>
        </p:txBody>
      </p:sp>
      <p:sp>
        <p:nvSpPr>
          <p:cNvPr id="5" name="Title 1">
            <a:extLst>
              <a:ext uri="{FF2B5EF4-FFF2-40B4-BE49-F238E27FC236}">
                <a16:creationId xmlns:a16="http://schemas.microsoft.com/office/drawing/2014/main" id="{DFB2B8F2-BC59-7EAB-DD82-E53617C30B91}"/>
              </a:ext>
            </a:extLst>
          </p:cNvPr>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Deadlock Detection</a:t>
            </a:r>
            <a:endParaRPr lang="en-US" dirty="0"/>
          </a:p>
        </p:txBody>
      </p:sp>
    </p:spTree>
    <p:extLst>
      <p:ext uri="{BB962C8B-B14F-4D97-AF65-F5344CB8AC3E}">
        <p14:creationId xmlns:p14="http://schemas.microsoft.com/office/powerpoint/2010/main" val="37847580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62BF63-D0C5-4E6F-14C0-8BD9BAAD31F9}"/>
              </a:ext>
            </a:extLst>
          </p:cNvPr>
          <p:cNvSpPr>
            <a:spLocks noGrp="1"/>
          </p:cNvSpPr>
          <p:nvPr>
            <p:ph idx="1"/>
          </p:nvPr>
        </p:nvSpPr>
        <p:spPr/>
        <p:txBody>
          <a:bodyPr/>
          <a:lstStyle/>
          <a:p>
            <a:r>
              <a:rPr lang="en-IN" dirty="0"/>
              <a:t>A deadlock exists in the system if and only if the wait-for graph contains a cycle. </a:t>
            </a:r>
          </a:p>
          <a:p>
            <a:r>
              <a:rPr lang="en-IN" dirty="0"/>
              <a:t>To detect deadlocks, the system needs to maintain the wait-for graph and periodically invoke an algorithm that searches for a cycle in the graph. </a:t>
            </a:r>
            <a:endParaRPr lang="en-US" dirty="0"/>
          </a:p>
        </p:txBody>
      </p:sp>
      <p:sp>
        <p:nvSpPr>
          <p:cNvPr id="5" name="Title 1">
            <a:extLst>
              <a:ext uri="{FF2B5EF4-FFF2-40B4-BE49-F238E27FC236}">
                <a16:creationId xmlns:a16="http://schemas.microsoft.com/office/drawing/2014/main" id="{841ED143-366B-9A84-A92A-021FAC3E8C30}"/>
              </a:ext>
            </a:extLst>
          </p:cNvPr>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Deadlock Detection</a:t>
            </a:r>
            <a:endParaRPr lang="en-US" dirty="0"/>
          </a:p>
        </p:txBody>
      </p:sp>
    </p:spTree>
    <p:extLst>
      <p:ext uri="{BB962C8B-B14F-4D97-AF65-F5344CB8AC3E}">
        <p14:creationId xmlns:p14="http://schemas.microsoft.com/office/powerpoint/2010/main" val="26033071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62E595-7DBA-80ED-2054-9FE2799D8409}"/>
              </a:ext>
            </a:extLst>
          </p:cNvPr>
          <p:cNvSpPr>
            <a:spLocks noGrp="1"/>
          </p:cNvSpPr>
          <p:nvPr>
            <p:ph idx="1"/>
          </p:nvPr>
        </p:nvSpPr>
        <p:spPr/>
        <p:txBody>
          <a:bodyPr>
            <a:normAutofit lnSpcReduction="10000"/>
          </a:bodyPr>
          <a:lstStyle/>
          <a:p>
            <a:pPr marL="0" indent="0">
              <a:buNone/>
            </a:pPr>
            <a:r>
              <a:rPr lang="en-IN" b="1" dirty="0"/>
              <a:t>2)Several Instances of a Resource Type</a:t>
            </a:r>
          </a:p>
          <a:p>
            <a:pPr marL="0" indent="0">
              <a:buNone/>
            </a:pPr>
            <a:r>
              <a:rPr lang="en-US" b="1" dirty="0"/>
              <a:t>Available.</a:t>
            </a:r>
            <a:r>
              <a:rPr lang="en-US" dirty="0"/>
              <a:t> A vector of length m indicates the number of available resources</a:t>
            </a:r>
            <a:r>
              <a:rPr lang="en-IN" dirty="0"/>
              <a:t> </a:t>
            </a:r>
            <a:r>
              <a:rPr lang="en-US" dirty="0"/>
              <a:t>of each type</a:t>
            </a:r>
            <a:endParaRPr lang="en-IN" dirty="0"/>
          </a:p>
          <a:p>
            <a:pPr marL="0" indent="0">
              <a:buNone/>
            </a:pPr>
            <a:endParaRPr lang="en-IN" dirty="0"/>
          </a:p>
          <a:p>
            <a:pPr marL="0" indent="0">
              <a:buNone/>
            </a:pPr>
            <a:r>
              <a:rPr lang="en-IN" b="1" dirty="0"/>
              <a:t>Allocation</a:t>
            </a:r>
            <a:r>
              <a:rPr lang="en-IN" dirty="0"/>
              <a:t>. An n × m matrix defines the number of resources of each type currently allocated to each process</a:t>
            </a:r>
          </a:p>
          <a:p>
            <a:pPr marL="0" indent="0">
              <a:buNone/>
            </a:pPr>
            <a:r>
              <a:rPr lang="en-IN" dirty="0"/>
              <a:t>
 </a:t>
            </a:r>
            <a:r>
              <a:rPr lang="en-IN" b="1" dirty="0"/>
              <a:t>Request</a:t>
            </a:r>
            <a:r>
              <a:rPr lang="en-IN" dirty="0"/>
              <a:t>. An n × m matrix indicates the current request of each process. If Request[</a:t>
            </a:r>
            <a:r>
              <a:rPr lang="en-IN" dirty="0" err="1"/>
              <a:t>i</a:t>
            </a:r>
            <a:r>
              <a:rPr lang="en-IN" dirty="0"/>
              <a:t>][j] equals k, then  Ti is requesting k instances of resource type </a:t>
            </a:r>
            <a:r>
              <a:rPr lang="en-IN" dirty="0" err="1"/>
              <a:t>Rj</a:t>
            </a:r>
            <a:endParaRPr lang="en-US" dirty="0"/>
          </a:p>
        </p:txBody>
      </p:sp>
      <p:sp>
        <p:nvSpPr>
          <p:cNvPr id="5" name="Title 1">
            <a:extLst>
              <a:ext uri="{FF2B5EF4-FFF2-40B4-BE49-F238E27FC236}">
                <a16:creationId xmlns:a16="http://schemas.microsoft.com/office/drawing/2014/main" id="{D4C948D8-ADE8-3AB6-711E-92A50CCEC81B}"/>
              </a:ext>
            </a:extLst>
          </p:cNvPr>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Deadlock Detection</a:t>
            </a:r>
            <a:endParaRPr lang="en-US" dirty="0"/>
          </a:p>
        </p:txBody>
      </p:sp>
    </p:spTree>
    <p:extLst>
      <p:ext uri="{BB962C8B-B14F-4D97-AF65-F5344CB8AC3E}">
        <p14:creationId xmlns:p14="http://schemas.microsoft.com/office/powerpoint/2010/main" val="26776493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6">
            <a:extLst>
              <a:ext uri="{FF2B5EF4-FFF2-40B4-BE49-F238E27FC236}">
                <a16:creationId xmlns:a16="http://schemas.microsoft.com/office/drawing/2014/main" id="{4F9E9F17-99C1-06FF-C75E-0DEE1863032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44734" y="1825625"/>
            <a:ext cx="9302532" cy="4351338"/>
          </a:xfrm>
        </p:spPr>
      </p:pic>
      <p:sp>
        <p:nvSpPr>
          <p:cNvPr id="5" name="Title 1">
            <a:extLst>
              <a:ext uri="{FF2B5EF4-FFF2-40B4-BE49-F238E27FC236}">
                <a16:creationId xmlns:a16="http://schemas.microsoft.com/office/drawing/2014/main" id="{3201837B-0F03-10A3-78FB-A427C3A0DDB3}"/>
              </a:ext>
            </a:extLst>
          </p:cNvPr>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Deadlock Detection</a:t>
            </a:r>
            <a:endParaRPr lang="en-US" dirty="0"/>
          </a:p>
        </p:txBody>
      </p:sp>
    </p:spTree>
    <p:extLst>
      <p:ext uri="{BB962C8B-B14F-4D97-AF65-F5344CB8AC3E}">
        <p14:creationId xmlns:p14="http://schemas.microsoft.com/office/powerpoint/2010/main" val="18633110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6">
            <a:extLst>
              <a:ext uri="{FF2B5EF4-FFF2-40B4-BE49-F238E27FC236}">
                <a16:creationId xmlns:a16="http://schemas.microsoft.com/office/drawing/2014/main" id="{DCA4CECD-1CE6-7D9E-E42E-B28AE18FCCA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7751" y="96185"/>
            <a:ext cx="6096000" cy="6455444"/>
          </a:xfrm>
        </p:spPr>
      </p:pic>
      <p:sp>
        <p:nvSpPr>
          <p:cNvPr id="5" name="Title 1">
            <a:extLst>
              <a:ext uri="{FF2B5EF4-FFF2-40B4-BE49-F238E27FC236}">
                <a16:creationId xmlns:a16="http://schemas.microsoft.com/office/drawing/2014/main" id="{20773998-B3DC-4945-C47F-DA1E8960E2FF}"/>
              </a:ext>
            </a:extLst>
          </p:cNvPr>
          <p:cNvSpPr txBox="1">
            <a:spLocks noGrp="1"/>
          </p:cNvSpPr>
          <p:nvPr>
            <p:ph type="title"/>
          </p:nvPr>
        </p:nvSpPr>
        <p:spPr>
          <a:xfrm>
            <a:off x="6283750" y="96185"/>
            <a:ext cx="5070049" cy="429474"/>
          </a:xfrm>
          <a:prstGeom prst="rect">
            <a:avLst/>
          </a:prstGeom>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Deadlock Detection</a:t>
            </a:r>
            <a:endParaRPr lang="en-US" dirty="0"/>
          </a:p>
        </p:txBody>
      </p:sp>
      <p:pic>
        <p:nvPicPr>
          <p:cNvPr id="8" name="Picture 8">
            <a:extLst>
              <a:ext uri="{FF2B5EF4-FFF2-40B4-BE49-F238E27FC236}">
                <a16:creationId xmlns:a16="http://schemas.microsoft.com/office/drawing/2014/main" id="{9106D7E6-C8DC-0E66-3AEB-4B77207858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98158" y="3127790"/>
            <a:ext cx="6096000" cy="3423839"/>
          </a:xfrm>
          <a:prstGeom prst="rect">
            <a:avLst/>
          </a:prstGeom>
        </p:spPr>
      </p:pic>
    </p:spTree>
    <p:extLst>
      <p:ext uri="{BB962C8B-B14F-4D97-AF65-F5344CB8AC3E}">
        <p14:creationId xmlns:p14="http://schemas.microsoft.com/office/powerpoint/2010/main" val="35150448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6">
            <a:extLst>
              <a:ext uri="{FF2B5EF4-FFF2-40B4-BE49-F238E27FC236}">
                <a16:creationId xmlns:a16="http://schemas.microsoft.com/office/drawing/2014/main" id="{46850274-C990-9D7E-0017-69C8D97905F6}"/>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b="55297"/>
          <a:stretch/>
        </p:blipFill>
        <p:spPr>
          <a:xfrm>
            <a:off x="907473" y="1361091"/>
            <a:ext cx="4275757" cy="2294064"/>
          </a:xfrm>
        </p:spPr>
      </p:pic>
      <p:sp>
        <p:nvSpPr>
          <p:cNvPr id="5" name="Title 1">
            <a:extLst>
              <a:ext uri="{FF2B5EF4-FFF2-40B4-BE49-F238E27FC236}">
                <a16:creationId xmlns:a16="http://schemas.microsoft.com/office/drawing/2014/main" id="{182519F4-7F5D-FBD5-FB08-5AF7665B972A}"/>
              </a:ext>
            </a:extLst>
          </p:cNvPr>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Deadlock Detection</a:t>
            </a:r>
            <a:endParaRPr lang="en-US" dirty="0"/>
          </a:p>
        </p:txBody>
      </p:sp>
      <p:pic>
        <p:nvPicPr>
          <p:cNvPr id="2" name="Picture 2">
            <a:extLst>
              <a:ext uri="{FF2B5EF4-FFF2-40B4-BE49-F238E27FC236}">
                <a16:creationId xmlns:a16="http://schemas.microsoft.com/office/drawing/2014/main" id="{A8AC2747-D2B4-B9F3-B136-D430F58509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628785"/>
            <a:ext cx="8128000" cy="3600430"/>
          </a:xfrm>
          <a:prstGeom prst="rect">
            <a:avLst/>
          </a:prstGeom>
        </p:spPr>
      </p:pic>
      <p:sp>
        <p:nvSpPr>
          <p:cNvPr id="3" name="TextBox 2">
            <a:extLst>
              <a:ext uri="{FF2B5EF4-FFF2-40B4-BE49-F238E27FC236}">
                <a16:creationId xmlns:a16="http://schemas.microsoft.com/office/drawing/2014/main" id="{D0D17376-728E-24CF-782E-B63AFDC24870}"/>
              </a:ext>
            </a:extLst>
          </p:cNvPr>
          <p:cNvSpPr txBox="1"/>
          <p:nvPr/>
        </p:nvSpPr>
        <p:spPr>
          <a:xfrm>
            <a:off x="1084320" y="5578476"/>
            <a:ext cx="8597562" cy="400110"/>
          </a:xfrm>
          <a:prstGeom prst="rect">
            <a:avLst/>
          </a:prstGeom>
          <a:noFill/>
        </p:spPr>
        <p:txBody>
          <a:bodyPr wrap="square" rtlCol="0">
            <a:spAutoFit/>
          </a:bodyPr>
          <a:lstStyle/>
          <a:p>
            <a:pPr algn="l"/>
            <a:r>
              <a:rPr lang="en-IN" sz="2000" dirty="0">
                <a:latin typeface="Times New Roman" panose="02020603050405020304" pitchFamily="18" charset="0"/>
                <a:cs typeface="Times New Roman" panose="02020603050405020304" pitchFamily="18" charset="0"/>
              </a:rPr>
              <a:t>A has 7 instances, B has 2instances, C has 6 instances</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78535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E8A85-B91A-2AB9-1058-014820BCB8AC}"/>
              </a:ext>
            </a:extLst>
          </p:cNvPr>
          <p:cNvSpPr>
            <a:spLocks noGrp="1"/>
          </p:cNvSpPr>
          <p:nvPr>
            <p:ph type="title"/>
          </p:nvPr>
        </p:nvSpPr>
        <p:spPr/>
        <p:txBody>
          <a:bodyPr/>
          <a:lstStyle/>
          <a:p>
            <a:r>
              <a:rPr lang="en-IN" dirty="0"/>
              <a:t>Deadlock Recovery</a:t>
            </a:r>
            <a:endParaRPr lang="en-US" dirty="0"/>
          </a:p>
        </p:txBody>
      </p:sp>
      <p:sp>
        <p:nvSpPr>
          <p:cNvPr id="3" name="Content Placeholder 2">
            <a:extLst>
              <a:ext uri="{FF2B5EF4-FFF2-40B4-BE49-F238E27FC236}">
                <a16:creationId xmlns:a16="http://schemas.microsoft.com/office/drawing/2014/main" id="{39EFF5BB-F0BF-A019-17EF-A88AB7BC59D6}"/>
              </a:ext>
            </a:extLst>
          </p:cNvPr>
          <p:cNvSpPr>
            <a:spLocks noGrp="1"/>
          </p:cNvSpPr>
          <p:nvPr>
            <p:ph idx="1"/>
          </p:nvPr>
        </p:nvSpPr>
        <p:spPr/>
        <p:txBody>
          <a:bodyPr>
            <a:normAutofit/>
          </a:bodyPr>
          <a:lstStyle/>
          <a:p>
            <a:r>
              <a:rPr lang="en-IN" dirty="0">
                <a:latin typeface="Times New Roman" panose="02020603050405020304" pitchFamily="18" charset="0"/>
                <a:cs typeface="Times New Roman" panose="02020603050405020304" pitchFamily="18" charset="0"/>
              </a:rPr>
              <a:t> When a detection algorithm determines that a deadlock exists, several alternatives exist.</a:t>
            </a:r>
          </a:p>
          <a:p>
            <a:pPr marL="514350" indent="-514350">
              <a:buAutoNum type="arabicParenR"/>
            </a:pPr>
            <a:r>
              <a:rPr lang="en-IN" b="1" dirty="0">
                <a:latin typeface="Times New Roman" panose="02020603050405020304" pitchFamily="18" charset="0"/>
                <a:cs typeface="Times New Roman" panose="02020603050405020304" pitchFamily="18" charset="0"/>
              </a:rPr>
              <a:t>Process Termination</a:t>
            </a:r>
          </a:p>
          <a:p>
            <a:pPr marL="0" indent="0">
              <a:buNone/>
            </a:pPr>
            <a:r>
              <a:rPr lang="en-US" dirty="0">
                <a:latin typeface="Times New Roman" panose="02020603050405020304" pitchFamily="18" charset="0"/>
                <a:cs typeface="Times New Roman" panose="02020603050405020304" pitchFamily="18" charset="0"/>
              </a:rPr>
              <a:t>To eliminate deadlocks by aborting a process, we use one of two methods.</a:t>
            </a:r>
            <a:endParaRPr lang="en-IN" dirty="0">
              <a:latin typeface="Times New Roman" panose="02020603050405020304" pitchFamily="18" charset="0"/>
              <a:cs typeface="Times New Roman" panose="02020603050405020304" pitchFamily="18" charset="0"/>
            </a:endParaRPr>
          </a:p>
          <a:p>
            <a:pPr marL="0" indent="0">
              <a:buNone/>
            </a:pPr>
            <a:r>
              <a:rPr lang="en-IN" b="1" dirty="0">
                <a:latin typeface="Times New Roman" panose="02020603050405020304" pitchFamily="18" charset="0"/>
                <a:cs typeface="Times New Roman" panose="02020603050405020304" pitchFamily="18" charset="0"/>
              </a:rPr>
              <a:t>a) Abort all deadlocked processes: </a:t>
            </a:r>
            <a:r>
              <a:rPr lang="en-IN" dirty="0">
                <a:latin typeface="Times New Roman" panose="02020603050405020304" pitchFamily="18" charset="0"/>
                <a:cs typeface="Times New Roman" panose="02020603050405020304" pitchFamily="18" charset="0"/>
              </a:rPr>
              <a:t>This method clearly will break the deadlock cycle, but at a great expense; these processes may have computed for a long time, and the results of these partial computations must be discarded and probably recomputed later</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74343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84E7D3-3F0C-248F-C821-9FF28015B297}"/>
              </a:ext>
            </a:extLst>
          </p:cNvPr>
          <p:cNvSpPr>
            <a:spLocks noGrp="1"/>
          </p:cNvSpPr>
          <p:nvPr>
            <p:ph idx="1"/>
          </p:nvPr>
        </p:nvSpPr>
        <p:spPr/>
        <p:txBody>
          <a:bodyPr>
            <a:normAutofit/>
          </a:bodyPr>
          <a:lstStyle/>
          <a:p>
            <a:r>
              <a:rPr lang="en-IN" b="1" dirty="0"/>
              <a:t>b) Abort one process at a time </a:t>
            </a:r>
            <a:r>
              <a:rPr lang="en-IN" dirty="0"/>
              <a:t>until the deadlock cycle is eliminated: This method incurs considerable overhead, since, after each process is aborted, a deadlock-detection algorithm must be invoked to determine whether any processes are still deadlocked</a:t>
            </a:r>
            <a:endParaRPr lang="en-US" dirty="0"/>
          </a:p>
        </p:txBody>
      </p:sp>
      <p:sp>
        <p:nvSpPr>
          <p:cNvPr id="5" name="Title 1">
            <a:extLst>
              <a:ext uri="{FF2B5EF4-FFF2-40B4-BE49-F238E27FC236}">
                <a16:creationId xmlns:a16="http://schemas.microsoft.com/office/drawing/2014/main" id="{FD927201-7172-A5A8-A7D4-7D8B6CB8AAEC}"/>
              </a:ext>
            </a:extLst>
          </p:cNvPr>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Deadlock Recovery</a:t>
            </a:r>
            <a:endParaRPr lang="en-US" dirty="0"/>
          </a:p>
        </p:txBody>
      </p:sp>
    </p:spTree>
    <p:extLst>
      <p:ext uri="{BB962C8B-B14F-4D97-AF65-F5344CB8AC3E}">
        <p14:creationId xmlns:p14="http://schemas.microsoft.com/office/powerpoint/2010/main" val="7222005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F62519-6C06-49CA-DABB-A2E85BCE267E}"/>
              </a:ext>
            </a:extLst>
          </p:cNvPr>
          <p:cNvSpPr>
            <a:spLocks noGrp="1"/>
          </p:cNvSpPr>
          <p:nvPr>
            <p:ph idx="1"/>
          </p:nvPr>
        </p:nvSpPr>
        <p:spPr/>
        <p:txBody>
          <a:bodyPr>
            <a:normAutofit fontScale="92500" lnSpcReduction="20000"/>
          </a:bodyPr>
          <a:lstStyle/>
          <a:p>
            <a:pPr marL="0" indent="0">
              <a:buNone/>
            </a:pPr>
            <a:r>
              <a:rPr lang="en-IN" b="1" dirty="0"/>
              <a:t>2) Resource Pre-emption </a:t>
            </a:r>
          </a:p>
          <a:p>
            <a:r>
              <a:rPr lang="en-IN" dirty="0">
                <a:latin typeface="Times New Roman" panose="02020603050405020304" pitchFamily="18" charset="0"/>
                <a:cs typeface="Times New Roman" panose="02020603050405020304" pitchFamily="18" charset="0"/>
              </a:rPr>
              <a:t>To eliminate deadlocks using resource pre-emption, we successively pre-empt some resources from processes and give these resources to other processes until the deadlock cycle is broken</a:t>
            </a:r>
          </a:p>
          <a:p>
            <a:r>
              <a:rPr lang="en-IN" dirty="0">
                <a:latin typeface="Times New Roman" panose="02020603050405020304" pitchFamily="18" charset="0"/>
                <a:cs typeface="Times New Roman" panose="02020603050405020304" pitchFamily="18" charset="0"/>
              </a:rPr>
              <a:t>If pre-emption is required to deal with deadlocks, then three issues need to address</a:t>
            </a:r>
            <a:r>
              <a:rPr lang="en-IN" dirty="0"/>
              <a:t>
1. </a:t>
            </a:r>
            <a:r>
              <a:rPr lang="en-IN" b="1" dirty="0">
                <a:latin typeface="Times New Roman" panose="02020603050405020304" pitchFamily="18" charset="0"/>
                <a:cs typeface="Times New Roman" panose="02020603050405020304" pitchFamily="18" charset="0"/>
              </a:rPr>
              <a:t>Selecting a victim: </a:t>
            </a:r>
            <a:r>
              <a:rPr lang="en-IN" dirty="0">
                <a:latin typeface="Times New Roman" panose="02020603050405020304" pitchFamily="18" charset="0"/>
                <a:cs typeface="Times New Roman" panose="02020603050405020304" pitchFamily="18" charset="0"/>
              </a:rPr>
              <a:t>Which resources and which processes are to be preempted? </a:t>
            </a:r>
          </a:p>
          <a:p>
            <a:r>
              <a:rPr lang="en-IN" dirty="0">
                <a:latin typeface="Times New Roman" panose="02020603050405020304" pitchFamily="18" charset="0"/>
                <a:cs typeface="Times New Roman" panose="02020603050405020304" pitchFamily="18" charset="0"/>
              </a:rPr>
              <a:t>As in process termination, we must determine the order of pre-emption to minimize cost. Cost factors may include such parameters as the number of resources a deadlock process is holding, and the amount of time a deadlocked process has thus far consumed during its execution. </a:t>
            </a:r>
            <a:endParaRPr lang="en-US" dirty="0">
              <a:latin typeface="Times New Roman" panose="02020603050405020304" pitchFamily="18" charset="0"/>
              <a:cs typeface="Times New Roman" panose="02020603050405020304" pitchFamily="18" charset="0"/>
            </a:endParaRPr>
          </a:p>
        </p:txBody>
      </p:sp>
      <p:sp>
        <p:nvSpPr>
          <p:cNvPr id="5" name="Title 1">
            <a:extLst>
              <a:ext uri="{FF2B5EF4-FFF2-40B4-BE49-F238E27FC236}">
                <a16:creationId xmlns:a16="http://schemas.microsoft.com/office/drawing/2014/main" id="{C481DC2A-2DDC-1F4E-8035-D323E66350C3}"/>
              </a:ext>
            </a:extLst>
          </p:cNvPr>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Deadlock Recovery</a:t>
            </a:r>
            <a:endParaRPr lang="en-US" dirty="0"/>
          </a:p>
        </p:txBody>
      </p:sp>
    </p:spTree>
    <p:extLst>
      <p:ext uri="{BB962C8B-B14F-4D97-AF65-F5344CB8AC3E}">
        <p14:creationId xmlns:p14="http://schemas.microsoft.com/office/powerpoint/2010/main" val="10713583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0714B0-6C81-A6F1-340F-58EB278A692A}"/>
              </a:ext>
            </a:extLst>
          </p:cNvPr>
          <p:cNvSpPr>
            <a:spLocks noGrp="1"/>
          </p:cNvSpPr>
          <p:nvPr>
            <p:ph idx="1"/>
          </p:nvPr>
        </p:nvSpPr>
        <p:spPr/>
        <p:txBody>
          <a:bodyPr>
            <a:normAutofit fontScale="85000" lnSpcReduction="20000"/>
          </a:bodyPr>
          <a:lstStyle/>
          <a:p>
            <a:pPr marL="0" indent="0">
              <a:buNone/>
            </a:pPr>
            <a:r>
              <a:rPr lang="en-IN" b="1" dirty="0">
                <a:latin typeface="Times New Roman" panose="02020603050405020304" pitchFamily="18" charset="0"/>
                <a:cs typeface="Times New Roman" panose="02020603050405020304" pitchFamily="18" charset="0"/>
              </a:rPr>
              <a:t>2. Rollback:</a:t>
            </a:r>
            <a:r>
              <a:rPr lang="en-IN" dirty="0">
                <a:latin typeface="Times New Roman" panose="02020603050405020304" pitchFamily="18" charset="0"/>
                <a:cs typeface="Times New Roman" panose="02020603050405020304" pitchFamily="18" charset="0"/>
              </a:rPr>
              <a:t> If we pre-empt a resource from a process, what should be done with that process? </a:t>
            </a:r>
          </a:p>
          <a:p>
            <a:r>
              <a:rPr lang="en-IN" dirty="0">
                <a:latin typeface="Times New Roman" panose="02020603050405020304" pitchFamily="18" charset="0"/>
                <a:cs typeface="Times New Roman" panose="02020603050405020304" pitchFamily="18" charset="0"/>
              </a:rPr>
              <a:t>Clearly, it cannot continue with its normal execution; it is missing some needed resource. We must roll back the process to some safe state, and restart it from that state. </a:t>
            </a:r>
          </a:p>
          <a:p>
            <a:endParaRPr lang="en-IN" dirty="0">
              <a:latin typeface="Times New Roman" panose="02020603050405020304" pitchFamily="18" charset="0"/>
              <a:cs typeface="Times New Roman" panose="02020603050405020304" pitchFamily="18" charset="0"/>
            </a:endParaRPr>
          </a:p>
          <a:p>
            <a:pPr marL="0" indent="0">
              <a:buNone/>
            </a:pPr>
            <a:r>
              <a:rPr lang="en-IN" b="1" dirty="0">
                <a:latin typeface="Times New Roman" panose="02020603050405020304" pitchFamily="18" charset="0"/>
                <a:cs typeface="Times New Roman" panose="02020603050405020304" pitchFamily="18" charset="0"/>
              </a:rPr>
              <a:t>3. Starvation</a:t>
            </a:r>
            <a:r>
              <a:rPr lang="en-IN" dirty="0">
                <a:latin typeface="Times New Roman" panose="02020603050405020304" pitchFamily="18" charset="0"/>
                <a:cs typeface="Times New Roman" panose="02020603050405020304" pitchFamily="18" charset="0"/>
              </a:rPr>
              <a:t>: How do we ensure that starvation will not occur? </a:t>
            </a:r>
          </a:p>
          <a:p>
            <a:pPr marL="0" indent="0">
              <a:buNone/>
            </a:pPr>
            <a:r>
              <a:rPr lang="en-US" dirty="0">
                <a:latin typeface="Times New Roman" panose="02020603050405020304" pitchFamily="18" charset="0"/>
                <a:cs typeface="Times New Roman" panose="02020603050405020304" pitchFamily="18" charset="0"/>
              </a:rPr>
              <a:t>In a system where victim selection is based primarily on cost factors, it </a:t>
            </a:r>
          </a:p>
          <a:p>
            <a:pPr marL="0" indent="0">
              <a:buNone/>
            </a:pPr>
            <a:r>
              <a:rPr lang="en-US" dirty="0">
                <a:latin typeface="Times New Roman" panose="02020603050405020304" pitchFamily="18" charset="0"/>
                <a:cs typeface="Times New Roman" panose="02020603050405020304" pitchFamily="18" charset="0"/>
              </a:rPr>
              <a:t>may happen that the same process is always picked as a victim. As a result, </a:t>
            </a:r>
          </a:p>
          <a:p>
            <a:pPr marL="0" indent="0">
              <a:buNone/>
            </a:pPr>
            <a:r>
              <a:rPr lang="en-US" dirty="0">
                <a:latin typeface="Times New Roman" panose="02020603050405020304" pitchFamily="18" charset="0"/>
                <a:cs typeface="Times New Roman" panose="02020603050405020304" pitchFamily="18" charset="0"/>
              </a:rPr>
              <a:t>this process never completes its designated task, a starvation situation that </a:t>
            </a:r>
          </a:p>
          <a:p>
            <a:pPr marL="0" indent="0">
              <a:buNone/>
            </a:pPr>
            <a:r>
              <a:rPr lang="en-US" dirty="0">
                <a:latin typeface="Times New Roman" panose="02020603050405020304" pitchFamily="18" charset="0"/>
                <a:cs typeface="Times New Roman" panose="02020603050405020304" pitchFamily="18" charset="0"/>
              </a:rPr>
              <a:t>needs to be dealt with in any practical system. Clearly, we must ensure that </a:t>
            </a:r>
          </a:p>
          <a:p>
            <a:pPr marL="0" indent="0">
              <a:buNone/>
            </a:pPr>
            <a:r>
              <a:rPr lang="en-US" dirty="0">
                <a:latin typeface="Times New Roman" panose="02020603050405020304" pitchFamily="18" charset="0"/>
                <a:cs typeface="Times New Roman" panose="02020603050405020304" pitchFamily="18" charset="0"/>
              </a:rPr>
              <a:t>a process can be picked as a victim only a (small) finite number of times.</a:t>
            </a:r>
          </a:p>
        </p:txBody>
      </p:sp>
      <p:sp>
        <p:nvSpPr>
          <p:cNvPr id="5" name="Title 1">
            <a:extLst>
              <a:ext uri="{FF2B5EF4-FFF2-40B4-BE49-F238E27FC236}">
                <a16:creationId xmlns:a16="http://schemas.microsoft.com/office/drawing/2014/main" id="{8DFB96D7-D21D-D29D-19E8-E2F20CA9A1EF}"/>
              </a:ext>
            </a:extLst>
          </p:cNvPr>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a:t>Deadlock Recovery</a:t>
            </a:r>
            <a:endParaRPr lang="en-US" dirty="0"/>
          </a:p>
        </p:txBody>
      </p:sp>
    </p:spTree>
    <p:extLst>
      <p:ext uri="{BB962C8B-B14F-4D97-AF65-F5344CB8AC3E}">
        <p14:creationId xmlns:p14="http://schemas.microsoft.com/office/powerpoint/2010/main" val="3616926854"/>
      </p:ext>
    </p:extLst>
  </p:cSld>
  <p:clrMapOvr>
    <a:masterClrMapping/>
  </p:clrMapOvr>
</p:sld>
</file>

<file path=ppt/theme/theme1.xml><?xml version="1.0" encoding="utf-8"?>
<a:theme xmlns:a="http://schemas.openxmlformats.org/drawingml/2006/main" name="GradientVTI">
  <a:themeElements>
    <a:clrScheme name="Office">
      <a:dk1>
        <a:srgbClr val="000000"/>
      </a:dk1>
      <a:lt1>
        <a:srgbClr val="FFFFFF"/>
      </a:lt1>
      <a:dk2>
        <a:srgbClr val="10013F"/>
      </a:dk2>
      <a:lt2>
        <a:srgbClr val="F2F0FF"/>
      </a:lt2>
      <a:accent1>
        <a:srgbClr val="814DFF"/>
      </a:accent1>
      <a:accent2>
        <a:srgbClr val="243FFF"/>
      </a:accent2>
      <a:accent3>
        <a:srgbClr val="FF83B6"/>
      </a:accent3>
      <a:accent4>
        <a:srgbClr val="FF9022"/>
      </a:accent4>
      <a:accent5>
        <a:srgbClr val="FF1F85"/>
      </a:accent5>
      <a:accent6>
        <a:srgbClr val="1A98FF"/>
      </a:accent6>
      <a:hlink>
        <a:srgbClr val="0563C1"/>
      </a:hlink>
      <a:folHlink>
        <a:srgbClr val="954F72"/>
      </a:folHlink>
    </a:clrScheme>
    <a:fontScheme name="Univers">
      <a:majorFont>
        <a:latin typeface="Univers"/>
        <a:ea typeface=""/>
        <a:cs typeface=""/>
      </a:majorFont>
      <a:minorFont>
        <a:latin typeface="Univer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VTI" id="{605F9078-86F9-4258-A3E1-F8EFF02AE8CC}" vid="{4848699B-BB01-41E3-9EC4-3D97DFE5292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397DE89D8B2294088076E7E633FAFB3" ma:contentTypeVersion="3" ma:contentTypeDescription="Create a new document." ma:contentTypeScope="" ma:versionID="68e9da64cba84b518d63157d1ee02d09">
  <xsd:schema xmlns:xsd="http://www.w3.org/2001/XMLSchema" xmlns:xs="http://www.w3.org/2001/XMLSchema" xmlns:p="http://schemas.microsoft.com/office/2006/metadata/properties" xmlns:ns2="29787a04-f269-45e9-ac3d-7cd421e08c88" targetNamespace="http://schemas.microsoft.com/office/2006/metadata/properties" ma:root="true" ma:fieldsID="affe80de74db8b666572cf5169c49c8f" ns2:_="">
    <xsd:import namespace="29787a04-f269-45e9-ac3d-7cd421e08c8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9787a04-f269-45e9-ac3d-7cd421e08c8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6B49277-887A-4CFD-9D2F-48A8EB84FCC8}"/>
</file>

<file path=customXml/itemProps2.xml><?xml version="1.0" encoding="utf-8"?>
<ds:datastoreItem xmlns:ds="http://schemas.openxmlformats.org/officeDocument/2006/customXml" ds:itemID="{3FEB5608-90AD-4215-8298-E482BB3DFD4F}"/>
</file>

<file path=customXml/itemProps3.xml><?xml version="1.0" encoding="utf-8"?>
<ds:datastoreItem xmlns:ds="http://schemas.openxmlformats.org/officeDocument/2006/customXml" ds:itemID="{BF19AFE9-365E-4077-BC98-1DCBACA35856}"/>
</file>

<file path=docProps/app.xml><?xml version="1.0" encoding="utf-8"?>
<Properties xmlns="http://schemas.openxmlformats.org/officeDocument/2006/extended-properties" xmlns:vt="http://schemas.openxmlformats.org/officeDocument/2006/docPropsVTypes">
  <TotalTime>617</TotalTime>
  <Words>2933</Words>
  <Application>Microsoft Office PowerPoint</Application>
  <PresentationFormat>Widescreen</PresentationFormat>
  <Paragraphs>193</Paragraphs>
  <Slides>46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46</vt:i4>
      </vt:variant>
    </vt:vector>
  </HeadingPairs>
  <TitlesOfParts>
    <vt:vector size="55" baseType="lpstr">
      <vt:lpstr>Arial</vt:lpstr>
      <vt:lpstr>Calibri</vt:lpstr>
      <vt:lpstr>Monotype Sorts</vt:lpstr>
      <vt:lpstr>Symbol</vt:lpstr>
      <vt:lpstr>Times New Roman</vt:lpstr>
      <vt:lpstr>Univers</vt:lpstr>
      <vt:lpstr>Webdings</vt:lpstr>
      <vt:lpstr>Wingdings</vt:lpstr>
      <vt:lpstr>GradientVTI</vt:lpstr>
      <vt:lpstr>Deadlock</vt:lpstr>
      <vt:lpstr>PowerPoint Presentation</vt:lpstr>
      <vt:lpstr>Deadlock</vt:lpstr>
      <vt:lpstr>PowerPoint Presentation</vt:lpstr>
      <vt:lpstr>Deadlock</vt:lpstr>
      <vt:lpstr>Deadlock</vt:lpstr>
      <vt:lpstr>Deadlock Characterization </vt:lpstr>
      <vt:lpstr>Deadlock Characterization </vt:lpstr>
      <vt:lpstr>Resource-Allocation Graph</vt:lpstr>
      <vt:lpstr>Resource-Allocation Graph</vt:lpstr>
      <vt:lpstr>Resource-Allocation Graph</vt:lpstr>
      <vt:lpstr>Resource-Allocation Graph</vt:lpstr>
      <vt:lpstr>Resource-Allocation Graph</vt:lpstr>
      <vt:lpstr>Find Resource Allocation Graph</vt:lpstr>
      <vt:lpstr>Does this graph produce deadlock? </vt:lpstr>
      <vt:lpstr>Find Resource Allocation Graph</vt:lpstr>
      <vt:lpstr>Does this graph produce deadlock?</vt:lpstr>
      <vt:lpstr>Methods for Handling Deadlocks</vt:lpstr>
      <vt:lpstr>Deadlock Prevention</vt:lpstr>
      <vt:lpstr>PowerPoint Presentation</vt:lpstr>
      <vt:lpstr>Deadlock Prevention</vt:lpstr>
      <vt:lpstr>Deadlock Avoidance</vt:lpstr>
      <vt:lpstr>Basic facts</vt:lpstr>
      <vt:lpstr>Safe, unsafe, deadlocked state  </vt:lpstr>
      <vt:lpstr>Basic facts</vt:lpstr>
      <vt:lpstr>Deadlock Avoidance-Bankers Algorithm</vt:lpstr>
      <vt:lpstr>Data structures for Bankers algorithm</vt:lpstr>
      <vt:lpstr>Safety Algorithm</vt:lpstr>
      <vt:lpstr>Resource-Request Algorithm for Process Pi</vt:lpstr>
      <vt:lpstr>Example of Bankers Algorithm</vt:lpstr>
      <vt:lpstr>What will be the content of the Need matrix?</vt:lpstr>
      <vt:lpstr>Is the system in a safe state? If Yes, then what is the safe sequence?</vt:lpstr>
      <vt:lpstr>What will happen if process P1 requests one additional instance of resource type A and two instances of resource type C?:   P1 Request (1,0,2)</vt:lpstr>
      <vt:lpstr>PowerPoint Presentation</vt:lpstr>
      <vt:lpstr>Deadlock Detection</vt:lpstr>
      <vt:lpstr>Deadlock Detection</vt:lpstr>
      <vt:lpstr>Deadlock Detection</vt:lpstr>
      <vt:lpstr>Deadlock Detection</vt:lpstr>
      <vt:lpstr>Deadlock Detection</vt:lpstr>
      <vt:lpstr>Deadlock Detection</vt:lpstr>
      <vt:lpstr>Deadlock Detection</vt:lpstr>
      <vt:lpstr>Deadlock Detection</vt:lpstr>
      <vt:lpstr>Deadlock Recovery</vt:lpstr>
      <vt:lpstr>Deadlock Recovery</vt:lpstr>
      <vt:lpstr>Deadlock Recovery</vt:lpstr>
      <vt:lpstr>Deadlock Recovery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Deadlock</dc:title>
  <dc:creator>Savitha Gopal</dc:creator>
  <cp:lastModifiedBy>Anisha GS</cp:lastModifiedBy>
  <cp:revision>88</cp:revision>
  <dcterms:created xsi:type="dcterms:W3CDTF">2024-02-24T03:28:16Z</dcterms:created>
  <dcterms:modified xsi:type="dcterms:W3CDTF">2025-10-29T05:08:26Z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0x010100A397DE89D8B2294088076E7E633FAFB3</vt:lpwstr>
  </property>
</Properties>
</file>