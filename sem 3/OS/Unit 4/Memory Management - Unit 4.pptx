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6"/>
  </p:notesMasterIdLst>
  <p:handoutMasterIdLst>
    <p:handoutMasterId r:id="rId67"/>
  </p:handoutMasterIdLst>
  <p:sldIdLst>
    <p:sldId id="331" r:id="rId2"/>
    <p:sldId id="420" r:id="rId3"/>
    <p:sldId id="421" r:id="rId4"/>
    <p:sldId id="422" r:id="rId5"/>
    <p:sldId id="334" r:id="rId6"/>
    <p:sldId id="436" r:id="rId7"/>
    <p:sldId id="441" r:id="rId8"/>
    <p:sldId id="437" r:id="rId9"/>
    <p:sldId id="438" r:id="rId10"/>
    <p:sldId id="439" r:id="rId11"/>
    <p:sldId id="335" r:id="rId12"/>
    <p:sldId id="336" r:id="rId13"/>
    <p:sldId id="337" r:id="rId14"/>
    <p:sldId id="423" r:id="rId15"/>
    <p:sldId id="442" r:id="rId16"/>
    <p:sldId id="443" r:id="rId17"/>
    <p:sldId id="444" r:id="rId18"/>
    <p:sldId id="445" r:id="rId19"/>
    <p:sldId id="446" r:id="rId20"/>
    <p:sldId id="338" r:id="rId21"/>
    <p:sldId id="451" r:id="rId22"/>
    <p:sldId id="452" r:id="rId23"/>
    <p:sldId id="339" r:id="rId24"/>
    <p:sldId id="447" r:id="rId25"/>
    <p:sldId id="448" r:id="rId26"/>
    <p:sldId id="449" r:id="rId27"/>
    <p:sldId id="450" r:id="rId28"/>
    <p:sldId id="340" r:id="rId29"/>
    <p:sldId id="341" r:id="rId30"/>
    <p:sldId id="403" r:id="rId31"/>
    <p:sldId id="349" r:id="rId32"/>
    <p:sldId id="348" r:id="rId33"/>
    <p:sldId id="453" r:id="rId34"/>
    <p:sldId id="454" r:id="rId35"/>
    <p:sldId id="455" r:id="rId36"/>
    <p:sldId id="456" r:id="rId37"/>
    <p:sldId id="350" r:id="rId38"/>
    <p:sldId id="352" r:id="rId39"/>
    <p:sldId id="426" r:id="rId40"/>
    <p:sldId id="427" r:id="rId41"/>
    <p:sldId id="424" r:id="rId42"/>
    <p:sldId id="425" r:id="rId43"/>
    <p:sldId id="457" r:id="rId44"/>
    <p:sldId id="428" r:id="rId45"/>
    <p:sldId id="429" r:id="rId46"/>
    <p:sldId id="430" r:id="rId47"/>
    <p:sldId id="431" r:id="rId48"/>
    <p:sldId id="432" r:id="rId49"/>
    <p:sldId id="458" r:id="rId50"/>
    <p:sldId id="433" r:id="rId51"/>
    <p:sldId id="362" r:id="rId52"/>
    <p:sldId id="363" r:id="rId53"/>
    <p:sldId id="419" r:id="rId54"/>
    <p:sldId id="434" r:id="rId55"/>
    <p:sldId id="365" r:id="rId56"/>
    <p:sldId id="366" r:id="rId57"/>
    <p:sldId id="367" r:id="rId58"/>
    <p:sldId id="435" r:id="rId59"/>
    <p:sldId id="369" r:id="rId60"/>
    <p:sldId id="371" r:id="rId61"/>
    <p:sldId id="372" r:id="rId62"/>
    <p:sldId id="373" r:id="rId63"/>
    <p:sldId id="374" r:id="rId64"/>
    <p:sldId id="395" r:id="rId65"/>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0000"/>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71" autoAdjust="0"/>
    <p:restoredTop sz="94660"/>
  </p:normalViewPr>
  <p:slideViewPr>
    <p:cSldViewPr snapToGrid="0">
      <p:cViewPr varScale="1">
        <p:scale>
          <a:sx n="81" d="100"/>
          <a:sy n="81" d="100"/>
        </p:scale>
        <p:origin x="1560" y="4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858"/>
    </p:cViewPr>
  </p:sorterViewPr>
  <p:notesViewPr>
    <p:cSldViewPr snapToGrid="0">
      <p:cViewPr varScale="1">
        <p:scale>
          <a:sx n="65" d="100"/>
          <a:sy n="65" d="100"/>
        </p:scale>
        <p:origin x="3125" y="3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241D02D-F0BE-479D-BFAE-28F6DABC062E}"/>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09A33344-A246-47EE-87AD-DC2B769C31C4}"/>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AF886B7E-9DF3-450F-92F2-1A3BF26B8AC0}"/>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53339C26-84D6-4CAB-9ACB-F216D653813F}"/>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DF7B4608-F3D0-4E52-ABA4-6F2681683C1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345CDFB-7A76-4C4D-913D-3C7D6FE5DE2A}"/>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7FB24A69-0B86-44C0-95FA-F8D9A6931146}"/>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71684" name="Rectangle 4">
            <a:extLst>
              <a:ext uri="{FF2B5EF4-FFF2-40B4-BE49-F238E27FC236}">
                <a16:creationId xmlns:a16="http://schemas.microsoft.com/office/drawing/2014/main" id="{AA27146D-C92E-4EEF-9F79-56BA93AB219B}"/>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01186F9-B596-4A19-9264-7D2B4FC636C4}"/>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0C645014-0F43-4A0F-901D-B500E062F28B}"/>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A87C6AF3-49D0-4016-A1FB-7B03E0453DCB}"/>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47794835-A72A-4AEF-B6EC-BD8CE85FBF4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99622B3D-0367-4444-9539-0A19B9C5C9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F231A0-42E6-42C1-AA16-355CDC8B6E93}" type="slidenum">
              <a:rPr lang="en-US" altLang="en-US">
                <a:latin typeface="Helvetica" panose="020B0604020202020204" pitchFamily="34" charset="0"/>
              </a:rPr>
              <a:pPr/>
              <a:t>1</a:t>
            </a:fld>
            <a:endParaRPr lang="en-US" altLang="en-US">
              <a:latin typeface="Helvetica" panose="020B0604020202020204" pitchFamily="34" charset="0"/>
            </a:endParaRPr>
          </a:p>
        </p:txBody>
      </p:sp>
      <p:sp>
        <p:nvSpPr>
          <p:cNvPr id="72707" name="Rectangle 2">
            <a:extLst>
              <a:ext uri="{FF2B5EF4-FFF2-40B4-BE49-F238E27FC236}">
                <a16:creationId xmlns:a16="http://schemas.microsoft.com/office/drawing/2014/main" id="{EA8275E6-FD6A-48F9-B73C-B9CBBABB92EC}"/>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E929097-3E92-4823-A49C-65FB8759C7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E4CBE908-8BB0-4DF6-A630-7278A1DB2F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2CC5BE-059E-4E33-A616-7566B8C50E03}" type="slidenum">
              <a:rPr lang="en-US" altLang="en-US">
                <a:latin typeface="Helvetica" panose="020B0604020202020204" pitchFamily="34" charset="0"/>
              </a:rPr>
              <a:pPr/>
              <a:t>5</a:t>
            </a:fld>
            <a:endParaRPr lang="en-US" altLang="en-US">
              <a:latin typeface="Helvetica" panose="020B0604020202020204" pitchFamily="34" charset="0"/>
            </a:endParaRPr>
          </a:p>
        </p:txBody>
      </p:sp>
      <p:sp>
        <p:nvSpPr>
          <p:cNvPr id="75779" name="Rectangle 2">
            <a:extLst>
              <a:ext uri="{FF2B5EF4-FFF2-40B4-BE49-F238E27FC236}">
                <a16:creationId xmlns:a16="http://schemas.microsoft.com/office/drawing/2014/main" id="{8C41B09B-CF38-410C-AB74-BB59838E0F40}"/>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0C60F9F9-E7B8-45A8-91CF-E2EF6341B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8DA1FFB-D227-47BC-9728-00B782DC28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9090DC-ADAD-4D5C-A055-EC054CBA9BCF}" type="slidenum">
              <a:rPr lang="en-US" altLang="en-US">
                <a:latin typeface="Helvetica" panose="020B0604020202020204" pitchFamily="34" charset="0"/>
              </a:rPr>
              <a:pPr/>
              <a:t>11</a:t>
            </a:fld>
            <a:endParaRPr lang="en-US" altLang="en-US">
              <a:latin typeface="Helvetica" panose="020B0604020202020204" pitchFamily="34" charset="0"/>
            </a:endParaRPr>
          </a:p>
        </p:txBody>
      </p:sp>
      <p:sp>
        <p:nvSpPr>
          <p:cNvPr id="76803" name="Rectangle 2">
            <a:extLst>
              <a:ext uri="{FF2B5EF4-FFF2-40B4-BE49-F238E27FC236}">
                <a16:creationId xmlns:a16="http://schemas.microsoft.com/office/drawing/2014/main" id="{CD1394AA-6D61-4202-8BF0-CEA24B547311}"/>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F15A9A43-7F68-408F-9962-E7E257DA42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2F9B0566-9DAA-40C6-BD9B-DA3EA41304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4794C4-13B3-47CE-ACEF-23B8A06F7C64}" type="slidenum">
              <a:rPr lang="en-US" altLang="en-US">
                <a:latin typeface="Helvetica" panose="020B0604020202020204" pitchFamily="34" charset="0"/>
              </a:rPr>
              <a:pPr/>
              <a:t>20</a:t>
            </a:fld>
            <a:endParaRPr lang="en-US" altLang="en-US">
              <a:latin typeface="Helvetica" panose="020B0604020202020204" pitchFamily="34" charset="0"/>
            </a:endParaRPr>
          </a:p>
        </p:txBody>
      </p:sp>
      <p:sp>
        <p:nvSpPr>
          <p:cNvPr id="77827" name="Rectangle 2">
            <a:extLst>
              <a:ext uri="{FF2B5EF4-FFF2-40B4-BE49-F238E27FC236}">
                <a16:creationId xmlns:a16="http://schemas.microsoft.com/office/drawing/2014/main" id="{81609710-F8FF-4ADB-8E3E-64DA55F859A2}"/>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DAD31A64-FBDF-459A-A519-16090EBFF3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45A6516-3DB2-4824-B72A-8EE1BBC964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DB922B-DA28-4C54-94E7-219C3AC7D96C}" type="slidenum">
              <a:rPr lang="en-US" altLang="en-US">
                <a:latin typeface="Helvetica" panose="020B0604020202020204" pitchFamily="34" charset="0"/>
              </a:rPr>
              <a:pPr/>
              <a:t>23</a:t>
            </a:fld>
            <a:endParaRPr lang="en-US" altLang="en-US">
              <a:latin typeface="Helvetica" panose="020B0604020202020204" pitchFamily="34" charset="0"/>
            </a:endParaRPr>
          </a:p>
        </p:txBody>
      </p:sp>
      <p:sp>
        <p:nvSpPr>
          <p:cNvPr id="78851" name="Rectangle 2">
            <a:extLst>
              <a:ext uri="{FF2B5EF4-FFF2-40B4-BE49-F238E27FC236}">
                <a16:creationId xmlns:a16="http://schemas.microsoft.com/office/drawing/2014/main" id="{A894EF00-BCDC-4C20-B789-F97A7D949885}"/>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9C601010-0C10-45CE-AA58-E5A36F0C52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8A20251-A093-4172-BD74-A36C2A3F8B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EEF4FF4-C9FD-46D9-BF24-6598973F25B8}" type="slidenum">
              <a:rPr lang="en-US" altLang="en-US">
                <a:latin typeface="Helvetica" panose="020B0604020202020204" pitchFamily="34" charset="0"/>
              </a:rPr>
              <a:pPr/>
              <a:t>28</a:t>
            </a:fld>
            <a:endParaRPr lang="en-US" altLang="en-US">
              <a:latin typeface="Helvetica" panose="020B0604020202020204" pitchFamily="34" charset="0"/>
            </a:endParaRPr>
          </a:p>
        </p:txBody>
      </p:sp>
      <p:sp>
        <p:nvSpPr>
          <p:cNvPr id="79875" name="Rectangle 2">
            <a:extLst>
              <a:ext uri="{FF2B5EF4-FFF2-40B4-BE49-F238E27FC236}">
                <a16:creationId xmlns:a16="http://schemas.microsoft.com/office/drawing/2014/main" id="{6BD19E41-E753-43B4-A52C-F3C0FDC8098C}"/>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AFC68E5A-AEFD-4D41-934B-C0BEE5796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2D03978-248F-4696-B60F-15CD45A7CC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5C935A-6734-4108-A7F7-F209D07F3D5B}" type="slidenum">
              <a:rPr lang="en-US" altLang="en-US">
                <a:latin typeface="Helvetica" panose="020B0604020202020204" pitchFamily="34" charset="0"/>
              </a:rPr>
              <a:pPr/>
              <a:t>29</a:t>
            </a:fld>
            <a:endParaRPr lang="en-US" altLang="en-US">
              <a:latin typeface="Helvetica" panose="020B0604020202020204" pitchFamily="34" charset="0"/>
            </a:endParaRPr>
          </a:p>
        </p:txBody>
      </p:sp>
      <p:sp>
        <p:nvSpPr>
          <p:cNvPr id="80899" name="Rectangle 2">
            <a:extLst>
              <a:ext uri="{FF2B5EF4-FFF2-40B4-BE49-F238E27FC236}">
                <a16:creationId xmlns:a16="http://schemas.microsoft.com/office/drawing/2014/main" id="{14A40313-58A0-42FC-AA3D-42531811087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BA8BA248-769F-4CA6-AD44-A8BE8C9CDC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CE0E1E75-0157-44F3-9622-F350D085CC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07A095-AA18-4824-800F-5810C91ED729}" type="slidenum">
              <a:rPr lang="en-US" altLang="en-US">
                <a:latin typeface="Helvetica" panose="020B0604020202020204" pitchFamily="34" charset="0"/>
              </a:rPr>
              <a:pPr/>
              <a:t>30</a:t>
            </a:fld>
            <a:endParaRPr lang="en-US" altLang="en-US">
              <a:latin typeface="Helvetica" panose="020B0604020202020204" pitchFamily="34" charset="0"/>
            </a:endParaRPr>
          </a:p>
        </p:txBody>
      </p:sp>
      <p:sp>
        <p:nvSpPr>
          <p:cNvPr id="81923" name="Rectangle 2">
            <a:extLst>
              <a:ext uri="{FF2B5EF4-FFF2-40B4-BE49-F238E27FC236}">
                <a16:creationId xmlns:a16="http://schemas.microsoft.com/office/drawing/2014/main" id="{325FA7A5-5293-4037-A8FE-84A57628CC52}"/>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B76E2EA0-63AB-4CE6-9C1C-A93A950A4A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3FCA68B-76DE-4E19-AFEB-C704D673A8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AA47A3-9678-4904-932E-9EDB75B03B24}" type="slidenum">
              <a:rPr lang="en-US" altLang="en-US">
                <a:latin typeface="Helvetica" panose="020B0604020202020204" pitchFamily="34" charset="0"/>
              </a:rPr>
              <a:pPr/>
              <a:t>31</a:t>
            </a:fld>
            <a:endParaRPr lang="en-US" altLang="en-US">
              <a:latin typeface="Helvetica" panose="020B0604020202020204" pitchFamily="34" charset="0"/>
            </a:endParaRPr>
          </a:p>
        </p:txBody>
      </p:sp>
      <p:sp>
        <p:nvSpPr>
          <p:cNvPr id="88067" name="Rectangle 2">
            <a:extLst>
              <a:ext uri="{FF2B5EF4-FFF2-40B4-BE49-F238E27FC236}">
                <a16:creationId xmlns:a16="http://schemas.microsoft.com/office/drawing/2014/main" id="{2DA20A22-D5AD-48A6-BFB6-E91F19D04240}"/>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B366905-0837-46D1-8A35-E7D3946BBF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C1E2D357-98EF-44EF-B229-8FA6D52439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A78D6B-1C3F-43B1-8131-69093AE887F4}" type="slidenum">
              <a:rPr lang="en-US" altLang="en-US">
                <a:latin typeface="Helvetica" panose="020B0604020202020204" pitchFamily="34" charset="0"/>
              </a:rPr>
              <a:pPr/>
              <a:t>32</a:t>
            </a:fld>
            <a:endParaRPr lang="en-US" altLang="en-US">
              <a:latin typeface="Helvetica" panose="020B0604020202020204" pitchFamily="34" charset="0"/>
            </a:endParaRPr>
          </a:p>
        </p:txBody>
      </p:sp>
      <p:sp>
        <p:nvSpPr>
          <p:cNvPr id="86019" name="Rectangle 2">
            <a:extLst>
              <a:ext uri="{FF2B5EF4-FFF2-40B4-BE49-F238E27FC236}">
                <a16:creationId xmlns:a16="http://schemas.microsoft.com/office/drawing/2014/main" id="{B9137F58-B6E2-4DA1-8F77-D8941EA61BC4}"/>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9923125C-6B37-4814-8FA7-9CCA22E99A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4DF6CBB8-BE1B-4115-8FA4-3DA7E66845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8548D9-7E48-4BD7-865E-CD96DE02414D}" type="slidenum">
              <a:rPr lang="en-US" altLang="en-US">
                <a:latin typeface="Helvetica" panose="020B0604020202020204" pitchFamily="34" charset="0"/>
              </a:rPr>
              <a:pPr/>
              <a:t>37</a:t>
            </a:fld>
            <a:endParaRPr lang="en-US" altLang="en-US">
              <a:latin typeface="Helvetica" panose="020B0604020202020204" pitchFamily="34" charset="0"/>
            </a:endParaRPr>
          </a:p>
        </p:txBody>
      </p:sp>
      <p:sp>
        <p:nvSpPr>
          <p:cNvPr id="89091" name="Rectangle 2">
            <a:extLst>
              <a:ext uri="{FF2B5EF4-FFF2-40B4-BE49-F238E27FC236}">
                <a16:creationId xmlns:a16="http://schemas.microsoft.com/office/drawing/2014/main" id="{6AA81E7E-1E15-49B4-BC44-1BDAD2867737}"/>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0D836AD2-F06B-4210-85C4-32B1FA7D46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0C617EC-69D7-48FD-96B7-888407EFA1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82E3722-5434-4F37-913B-2B1F1F97A901}" type="slidenum">
              <a:rPr lang="en-US" altLang="en-US">
                <a:latin typeface="Helvetica" panose="020B0604020202020204" pitchFamily="34" charset="0"/>
              </a:rPr>
              <a:pPr/>
              <a:t>38</a:t>
            </a:fld>
            <a:endParaRPr lang="en-US" altLang="en-US">
              <a:latin typeface="Helvetica" panose="020B0604020202020204" pitchFamily="34" charset="0"/>
            </a:endParaRPr>
          </a:p>
        </p:txBody>
      </p:sp>
      <p:sp>
        <p:nvSpPr>
          <p:cNvPr id="91139" name="Rectangle 2">
            <a:extLst>
              <a:ext uri="{FF2B5EF4-FFF2-40B4-BE49-F238E27FC236}">
                <a16:creationId xmlns:a16="http://schemas.microsoft.com/office/drawing/2014/main" id="{6E09880E-5593-4F49-B83A-1998139242D8}"/>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2A483F1E-ED51-4E4A-83B7-93984987F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E23A9656-86B1-4C99-926E-64E7EC4E86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CB05FC-BB22-4350-90D1-FD01A765181B}" type="slidenum">
              <a:rPr lang="en-US" altLang="en-US">
                <a:latin typeface="Helvetica" panose="020B0604020202020204" pitchFamily="34" charset="0"/>
              </a:rPr>
              <a:pPr/>
              <a:t>51</a:t>
            </a:fld>
            <a:endParaRPr lang="en-US" altLang="en-US">
              <a:latin typeface="Helvetica" panose="020B0604020202020204" pitchFamily="34" charset="0"/>
            </a:endParaRPr>
          </a:p>
        </p:txBody>
      </p:sp>
      <p:sp>
        <p:nvSpPr>
          <p:cNvPr id="94211" name="Rectangle 2">
            <a:extLst>
              <a:ext uri="{FF2B5EF4-FFF2-40B4-BE49-F238E27FC236}">
                <a16:creationId xmlns:a16="http://schemas.microsoft.com/office/drawing/2014/main" id="{8512BC6C-8103-4427-AE5D-8B165659894D}"/>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365BBC49-203D-48FB-B5E3-E304CAFE68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46A3333C-AE35-4AAE-8347-17622A596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A05447-E3CE-4EF1-A94F-D7CBC0B7D017}" type="slidenum">
              <a:rPr lang="en-US" altLang="en-US">
                <a:latin typeface="Helvetica" panose="020B0604020202020204" pitchFamily="34" charset="0"/>
              </a:rPr>
              <a:pPr/>
              <a:t>52</a:t>
            </a:fld>
            <a:endParaRPr lang="en-US" altLang="en-US">
              <a:latin typeface="Helvetica" panose="020B0604020202020204" pitchFamily="34" charset="0"/>
            </a:endParaRPr>
          </a:p>
        </p:txBody>
      </p:sp>
      <p:sp>
        <p:nvSpPr>
          <p:cNvPr id="95235" name="Rectangle 2">
            <a:extLst>
              <a:ext uri="{FF2B5EF4-FFF2-40B4-BE49-F238E27FC236}">
                <a16:creationId xmlns:a16="http://schemas.microsoft.com/office/drawing/2014/main" id="{F3D210D4-6BF0-4A24-8068-30C18155C840}"/>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F3DC1F24-2CCF-4C8C-A244-1B90B164B6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8C2DA0D5-8D6D-4EE4-9EE4-6DBD76E8F7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994C-A057-4A63-AE72-3FF0DACC8E52}" type="slidenum">
              <a:rPr lang="en-US" altLang="en-US">
                <a:latin typeface="Helvetica" panose="020B0604020202020204" pitchFamily="34" charset="0"/>
              </a:rPr>
              <a:pPr/>
              <a:t>56</a:t>
            </a:fld>
            <a:endParaRPr lang="en-US" altLang="en-US">
              <a:latin typeface="Helvetica" panose="020B0604020202020204" pitchFamily="34" charset="0"/>
            </a:endParaRPr>
          </a:p>
        </p:txBody>
      </p:sp>
      <p:sp>
        <p:nvSpPr>
          <p:cNvPr id="96259" name="Rectangle 2">
            <a:extLst>
              <a:ext uri="{FF2B5EF4-FFF2-40B4-BE49-F238E27FC236}">
                <a16:creationId xmlns:a16="http://schemas.microsoft.com/office/drawing/2014/main" id="{0B2AAB34-98DF-4C8C-A90B-B710AF16F0BF}"/>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FF7C1FB6-D31C-46B7-9D58-808998AF76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1F8059EB-C1F4-41C7-8BDD-788F7EBF2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913BD3-2B56-45D2-9EE3-2D6BA22F452A}" type="slidenum">
              <a:rPr lang="en-US" altLang="en-US">
                <a:latin typeface="Helvetica" panose="020B0604020202020204" pitchFamily="34" charset="0"/>
              </a:rPr>
              <a:pPr/>
              <a:t>57</a:t>
            </a:fld>
            <a:endParaRPr lang="en-US" altLang="en-US">
              <a:latin typeface="Helvetica" panose="020B0604020202020204" pitchFamily="34" charset="0"/>
            </a:endParaRPr>
          </a:p>
        </p:txBody>
      </p:sp>
      <p:sp>
        <p:nvSpPr>
          <p:cNvPr id="97283" name="Rectangle 2">
            <a:extLst>
              <a:ext uri="{FF2B5EF4-FFF2-40B4-BE49-F238E27FC236}">
                <a16:creationId xmlns:a16="http://schemas.microsoft.com/office/drawing/2014/main" id="{858E480D-A895-4DA3-BB9A-E02ED49B55E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B96BF19E-94FF-4012-BDC7-437E159A15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63E5A769-B41F-409B-96F7-18D03BDE4B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4B1DCA8-7D2E-45C2-A17E-B777FE8BF056}" type="slidenum">
              <a:rPr lang="en-US" altLang="en-US">
                <a:latin typeface="Helvetica" panose="020B0604020202020204" pitchFamily="34" charset="0"/>
              </a:rPr>
              <a:pPr/>
              <a:t>59</a:t>
            </a:fld>
            <a:endParaRPr lang="en-US" altLang="en-US">
              <a:latin typeface="Helvetica" panose="020B0604020202020204" pitchFamily="34" charset="0"/>
            </a:endParaRPr>
          </a:p>
        </p:txBody>
      </p:sp>
      <p:sp>
        <p:nvSpPr>
          <p:cNvPr id="100355" name="Rectangle 2">
            <a:extLst>
              <a:ext uri="{FF2B5EF4-FFF2-40B4-BE49-F238E27FC236}">
                <a16:creationId xmlns:a16="http://schemas.microsoft.com/office/drawing/2014/main" id="{8F55E19D-E8B3-4452-A038-9BCF911F5FE8}"/>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6D1C4F68-5A97-427E-AB9C-31AA19BCF8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C3F4BD51-7370-4471-9455-9FAA962FEC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D35ECC-3C35-45A9-90FF-173B28872470}" type="slidenum">
              <a:rPr lang="en-US" altLang="en-US">
                <a:latin typeface="Helvetica" panose="020B0604020202020204" pitchFamily="34" charset="0"/>
              </a:rPr>
              <a:pPr/>
              <a:t>60</a:t>
            </a:fld>
            <a:endParaRPr lang="en-US" altLang="en-US">
              <a:latin typeface="Helvetica" panose="020B0604020202020204" pitchFamily="34" charset="0"/>
            </a:endParaRPr>
          </a:p>
        </p:txBody>
      </p:sp>
      <p:sp>
        <p:nvSpPr>
          <p:cNvPr id="102403" name="Rectangle 2">
            <a:extLst>
              <a:ext uri="{FF2B5EF4-FFF2-40B4-BE49-F238E27FC236}">
                <a16:creationId xmlns:a16="http://schemas.microsoft.com/office/drawing/2014/main" id="{0AB19387-36B0-44FF-A334-CD940F2A753E}"/>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35F188A5-8C67-46D5-8035-90BDFED9F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C05E2778-289B-4FA5-A492-109BEB5330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7FBAA6-8447-4B86-94DA-8EBECE675900}" type="slidenum">
              <a:rPr lang="en-US" altLang="en-US">
                <a:latin typeface="Helvetica" panose="020B0604020202020204" pitchFamily="34" charset="0"/>
              </a:rPr>
              <a:pPr/>
              <a:t>61</a:t>
            </a:fld>
            <a:endParaRPr lang="en-US" altLang="en-US">
              <a:latin typeface="Helvetica" panose="020B0604020202020204" pitchFamily="34" charset="0"/>
            </a:endParaRPr>
          </a:p>
        </p:txBody>
      </p:sp>
      <p:sp>
        <p:nvSpPr>
          <p:cNvPr id="103427" name="Rectangle 2">
            <a:extLst>
              <a:ext uri="{FF2B5EF4-FFF2-40B4-BE49-F238E27FC236}">
                <a16:creationId xmlns:a16="http://schemas.microsoft.com/office/drawing/2014/main" id="{79229461-A223-439E-9F67-F96DEE523FE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1408816B-F76B-4AC2-A2E1-9FCADC0E3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CC0926BF-5F58-45F3-886B-2FC15B7FF7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89229-DE4E-445F-987B-9FB85B6EB635}" type="slidenum">
              <a:rPr lang="en-US" altLang="en-US">
                <a:latin typeface="Helvetica" panose="020B0604020202020204" pitchFamily="34" charset="0"/>
              </a:rPr>
              <a:pPr/>
              <a:t>62</a:t>
            </a:fld>
            <a:endParaRPr lang="en-US" altLang="en-US">
              <a:latin typeface="Helvetica" panose="020B0604020202020204" pitchFamily="34" charset="0"/>
            </a:endParaRPr>
          </a:p>
        </p:txBody>
      </p:sp>
      <p:sp>
        <p:nvSpPr>
          <p:cNvPr id="104451" name="Rectangle 2">
            <a:extLst>
              <a:ext uri="{FF2B5EF4-FFF2-40B4-BE49-F238E27FC236}">
                <a16:creationId xmlns:a16="http://schemas.microsoft.com/office/drawing/2014/main" id="{77D4AAE1-3D09-4155-A61A-3F1F36C42C7A}"/>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86A985B6-3037-4C54-BA8E-73201FFC52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E95F55ED-CF22-47BB-A4F1-B460B1D8B5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3E603D-49B1-4296-AFD2-423EB8C53B4D}" type="slidenum">
              <a:rPr lang="en-US" altLang="en-US">
                <a:latin typeface="Helvetica" panose="020B0604020202020204" pitchFamily="34" charset="0"/>
              </a:rPr>
              <a:pPr/>
              <a:t>63</a:t>
            </a:fld>
            <a:endParaRPr lang="en-US" altLang="en-US">
              <a:latin typeface="Helvetica" panose="020B0604020202020204" pitchFamily="34" charset="0"/>
            </a:endParaRPr>
          </a:p>
        </p:txBody>
      </p:sp>
      <p:sp>
        <p:nvSpPr>
          <p:cNvPr id="105475" name="Rectangle 2">
            <a:extLst>
              <a:ext uri="{FF2B5EF4-FFF2-40B4-BE49-F238E27FC236}">
                <a16:creationId xmlns:a16="http://schemas.microsoft.com/office/drawing/2014/main" id="{9BC7AB09-93B9-4BA4-877E-3CCE3D14DAA5}"/>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4F8C03A3-1A3A-401F-BD0A-A1C0DA492D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DF69C08F-D0B7-4A7F-B4BC-CA12D73A0F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09B2EB-74E1-4827-890E-11429954D163}" type="slidenum">
              <a:rPr lang="en-US" altLang="en-US">
                <a:latin typeface="Helvetica" panose="020B0604020202020204" pitchFamily="34" charset="0"/>
              </a:rPr>
              <a:pPr/>
              <a:t>64</a:t>
            </a:fld>
            <a:endParaRPr lang="en-US" altLang="en-US">
              <a:latin typeface="Helvetica" panose="020B0604020202020204" pitchFamily="34" charset="0"/>
            </a:endParaRPr>
          </a:p>
        </p:txBody>
      </p:sp>
      <p:sp>
        <p:nvSpPr>
          <p:cNvPr id="131075" name="Rectangle 2">
            <a:extLst>
              <a:ext uri="{FF2B5EF4-FFF2-40B4-BE49-F238E27FC236}">
                <a16:creationId xmlns:a16="http://schemas.microsoft.com/office/drawing/2014/main" id="{503BE3B8-8709-416F-955A-C1B867F72270}"/>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5E9933E8-7EB8-47B5-A34A-BA868C636A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2CCE4291-D714-4279-B2A7-8F16FBBE1455}"/>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7EC0B7F-4FC3-4478-9027-E8EE05E80D7B}"/>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D2D394CA-65D6-4B9E-8B3A-820F32DF20C8}"/>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DB53706C-F40D-4391-BED3-927BEFA54546}"/>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DBF7E6E-01C9-4F8E-8169-2A534741B1B1}"/>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40A712DA-57B7-4C35-AF2D-585D6C4CA1FA}"/>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23FF6E01-B082-4987-9C4A-C0A440FA87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F35C5DFA-BB79-4089-88B7-D92F5341E6A5}"/>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688459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9848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9751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569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5735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5758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7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8852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6906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933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23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AB84DD3-4A46-4765-841C-BF9DFC0870A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8B8B9C40-FB55-4BC1-9678-A5A9E978A91C}"/>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9E491697-DEDE-4F27-95FC-692C936D7A56}"/>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E35AC41D-CD6D-4AA1-A267-3D1BBA2D3828}"/>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82C41C68-24EF-44DE-8ADF-448757180CE8}"/>
              </a:ext>
            </a:extLst>
          </p:cNvPr>
          <p:cNvSpPr>
            <a:spLocks noChangeShapeType="1"/>
          </p:cNvSpPr>
          <p:nvPr/>
        </p:nvSpPr>
        <p:spPr bwMode="auto">
          <a:xfrm>
            <a:off x="457200" y="860425"/>
            <a:ext cx="8077200" cy="0"/>
          </a:xfrm>
          <a:prstGeom prst="line">
            <a:avLst/>
          </a:prstGeom>
          <a:noFill/>
          <a:ln w="19050">
            <a:solidFill>
              <a:srgbClr val="336699"/>
            </a:solidFill>
            <a:round/>
            <a:headEnd/>
            <a:tailEnd/>
          </a:ln>
        </p:spPr>
        <p:txBody>
          <a:bodyPr/>
          <a:lstStyle/>
          <a:p>
            <a:pPr>
              <a:defRPr/>
            </a:pPr>
            <a:endParaRPr lang="en-US"/>
          </a:p>
        </p:txBody>
      </p:sp>
      <p:sp>
        <p:nvSpPr>
          <p:cNvPr id="1031" name="Rectangle 7">
            <a:extLst>
              <a:ext uri="{FF2B5EF4-FFF2-40B4-BE49-F238E27FC236}">
                <a16:creationId xmlns:a16="http://schemas.microsoft.com/office/drawing/2014/main" id="{4DE0286C-F756-496E-ABEB-5613EE236414}"/>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18630376-BF82-4C11-BC51-C4D2919A3EAC}"/>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7051F425-51BF-47D4-98B0-661C9EA67464}"/>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9.</a:t>
            </a:r>
            <a:fld id="{A1B636A9-AB21-4ABC-8AA3-56D421424B49}" type="slidenum">
              <a:rPr lang="en-US" altLang="en-US" sz="1000" b="1">
                <a:solidFill>
                  <a:srgbClr val="006699"/>
                </a:solidFill>
                <a:latin typeface="Helvetica" panose="020B0604020202020204" pitchFamily="34" charset="0"/>
              </a:rPr>
              <a:pPr algn="ctr">
                <a:spcBef>
                  <a:spcPct val="50000"/>
                </a:spcBef>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6623C3AB-13C0-4491-A41B-99C50D89DE04}"/>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8853500B-FBC1-47E1-B755-E9D8F229BA1E}"/>
              </a:ext>
            </a:extLst>
          </p:cNvPr>
          <p:cNvSpPr txBox="1">
            <a:spLocks noChangeArrowheads="1"/>
          </p:cNvSpPr>
          <p:nvPr/>
        </p:nvSpPr>
        <p:spPr bwMode="auto">
          <a:xfrm>
            <a:off x="185738" y="6621463"/>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E96BDB3D-3FA1-40ED-87F9-5B98734506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43" r:id="rId1"/>
    <p:sldLayoutId id="2147484133" r:id="rId2"/>
    <p:sldLayoutId id="2147484134" r:id="rId3"/>
    <p:sldLayoutId id="2147484135" r:id="rId4"/>
    <p:sldLayoutId id="2147484136" r:id="rId5"/>
    <p:sldLayoutId id="2147484137" r:id="rId6"/>
    <p:sldLayoutId id="2147484138" r:id="rId7"/>
    <p:sldLayoutId id="2147484139" r:id="rId8"/>
    <p:sldLayoutId id="2147484140" r:id="rId9"/>
    <p:sldLayoutId id="2147484141" r:id="rId10"/>
    <p:sldLayoutId id="214748414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79997BE-9BB1-4138-B224-8F7553DD5026}"/>
              </a:ext>
            </a:extLst>
          </p:cNvPr>
          <p:cNvSpPr>
            <a:spLocks noGrp="1" noChangeArrowheads="1"/>
          </p:cNvSpPr>
          <p:nvPr>
            <p:ph type="ctrTitle"/>
          </p:nvPr>
        </p:nvSpPr>
        <p:spPr>
          <a:xfrm>
            <a:off x="685800" y="793750"/>
            <a:ext cx="7772400" cy="2128838"/>
          </a:xfrm>
        </p:spPr>
        <p:txBody>
          <a:bodyPr/>
          <a:lstStyle/>
          <a:p>
            <a:pPr eaLnBrk="1" hangingPunct="1"/>
            <a:r>
              <a:rPr lang="en-US" altLang="en-US" dirty="0"/>
              <a:t>Main Memory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C9072-8137-B8E1-B421-58E771B3658F}"/>
              </a:ext>
            </a:extLst>
          </p:cNvPr>
          <p:cNvSpPr>
            <a:spLocks noGrp="1"/>
          </p:cNvSpPr>
          <p:nvPr>
            <p:ph type="title"/>
          </p:nvPr>
        </p:nvSpPr>
        <p:spPr/>
        <p:txBody>
          <a:bodyPr/>
          <a:lstStyle/>
          <a:p>
            <a:r>
              <a:rPr lang="en-IN" dirty="0"/>
              <a:t>Memory Hierarchy</a:t>
            </a:r>
            <a:endParaRPr lang="en-US" dirty="0"/>
          </a:p>
        </p:txBody>
      </p:sp>
      <p:sp>
        <p:nvSpPr>
          <p:cNvPr id="3" name="Content Placeholder 2">
            <a:extLst>
              <a:ext uri="{FF2B5EF4-FFF2-40B4-BE49-F238E27FC236}">
                <a16:creationId xmlns:a16="http://schemas.microsoft.com/office/drawing/2014/main" id="{AD333860-446F-5903-4255-BCDBF8B763B4}"/>
              </a:ext>
            </a:extLst>
          </p:cNvPr>
          <p:cNvSpPr>
            <a:spLocks noGrp="1"/>
          </p:cNvSpPr>
          <p:nvPr>
            <p:ph idx="1"/>
          </p:nvPr>
        </p:nvSpPr>
        <p:spPr>
          <a:xfrm>
            <a:off x="806450" y="1233488"/>
            <a:ext cx="7727950" cy="5190804"/>
          </a:xfrm>
        </p:spPr>
        <p:txBody>
          <a:bodyPr/>
          <a:lstStyle/>
          <a:p>
            <a:r>
              <a:rPr lang="en-IN" dirty="0">
                <a:latin typeface="Times New Roman" panose="02020603050405020304" pitchFamily="18" charset="0"/>
                <a:cs typeface="Times New Roman" panose="02020603050405020304" pitchFamily="18" charset="0"/>
              </a:rPr>
              <a:t>Memory hierarchy is arranging different kinds of storage present on a computing device based on speed of access.</a:t>
            </a:r>
          </a:p>
          <a:p>
            <a:r>
              <a:rPr lang="en-IN" dirty="0">
                <a:latin typeface="Times New Roman" panose="02020603050405020304" pitchFamily="18" charset="0"/>
                <a:cs typeface="Times New Roman" panose="02020603050405020304" pitchFamily="18" charset="0"/>
              </a:rPr>
              <a:t>Separates the computer storage based on hierarchy.</a:t>
            </a:r>
          </a:p>
          <a:p>
            <a:pPr marL="0" indent="0">
              <a:buNone/>
            </a:pPr>
            <a:r>
              <a:rPr lang="en-IN" dirty="0"/>
              <a:t> </a:t>
            </a:r>
            <a:r>
              <a:rPr lang="en-IN" sz="2000" b="1" dirty="0">
                <a:latin typeface="Times New Roman" panose="02020603050405020304" pitchFamily="18" charset="0"/>
                <a:cs typeface="Times New Roman" panose="02020603050405020304" pitchFamily="18" charset="0"/>
              </a:rPr>
              <a:t>Registers</a:t>
            </a:r>
          </a:p>
          <a:p>
            <a:pPr marL="0" indent="0">
              <a:buNone/>
            </a:pPr>
            <a:r>
              <a:rPr lang="en-IN" sz="2000" dirty="0">
                <a:solidFill>
                  <a:srgbClr val="000000"/>
                </a:solidFill>
                <a:latin typeface="Times New Roman" panose="02020603050405020304" pitchFamily="18" charset="0"/>
                <a:cs typeface="Times New Roman" panose="02020603050405020304" pitchFamily="18" charset="0"/>
              </a:rPr>
              <a:t>R</a:t>
            </a:r>
            <a:r>
              <a:rPr lang="en-IN" sz="2000" b="0" i="0" dirty="0">
                <a:solidFill>
                  <a:srgbClr val="000000"/>
                </a:solidFill>
                <a:effectLst/>
                <a:latin typeface="Times New Roman" panose="02020603050405020304" pitchFamily="18" charset="0"/>
                <a:cs typeface="Times New Roman" panose="02020603050405020304" pitchFamily="18" charset="0"/>
              </a:rPr>
              <a:t>egisters are present inside the </a:t>
            </a:r>
            <a:r>
              <a:rPr lang="en-IN" sz="2000" i="0" u="none" strike="noStrike" dirty="0">
                <a:effectLst/>
                <a:latin typeface="Times New Roman" panose="02020603050405020304" pitchFamily="18" charset="0"/>
                <a:cs typeface="Times New Roman" panose="02020603050405020304" pitchFamily="18" charset="0"/>
              </a:rPr>
              <a:t>CPU</a:t>
            </a:r>
            <a:r>
              <a:rPr lang="en-IN" sz="2000" b="0" i="0" dirty="0">
                <a:solidFill>
                  <a:srgbClr val="000000"/>
                </a:solidFill>
                <a:effectLst/>
                <a:latin typeface="Times New Roman" panose="02020603050405020304" pitchFamily="18" charset="0"/>
                <a:cs typeface="Times New Roman" panose="02020603050405020304" pitchFamily="18" charset="0"/>
              </a:rPr>
              <a:t>. As they are present inside the CPU, they have least access time. Registers are most expensive and smallest in size generally in kilobytes.</a:t>
            </a:r>
          </a:p>
          <a:p>
            <a:pPr marL="0" indent="0">
              <a:buNone/>
            </a:pPr>
            <a:r>
              <a:rPr lang="en-IN" sz="2000" b="1" dirty="0">
                <a:latin typeface="Times New Roman" panose="02020603050405020304" pitchFamily="18" charset="0"/>
                <a:cs typeface="Times New Roman" panose="02020603050405020304" pitchFamily="18" charset="0"/>
              </a:rPr>
              <a:t>Cache memory</a:t>
            </a:r>
          </a:p>
          <a:p>
            <a:pPr marL="0" indent="0">
              <a:buNone/>
            </a:pPr>
            <a:r>
              <a:rPr lang="en-IN" sz="2000" dirty="0">
                <a:solidFill>
                  <a:srgbClr val="000000"/>
                </a:solidFill>
                <a:latin typeface="Times New Roman" panose="02020603050405020304" pitchFamily="18" charset="0"/>
                <a:cs typeface="Times New Roman" panose="02020603050405020304" pitchFamily="18" charset="0"/>
              </a:rPr>
              <a:t>U</a:t>
            </a:r>
            <a:r>
              <a:rPr lang="en-IN" sz="2000" b="0" i="0" dirty="0">
                <a:solidFill>
                  <a:srgbClr val="000000"/>
                </a:solidFill>
                <a:effectLst/>
                <a:latin typeface="Times New Roman" panose="02020603050405020304" pitchFamily="18" charset="0"/>
                <a:cs typeface="Times New Roman" panose="02020603050405020304" pitchFamily="18" charset="0"/>
              </a:rPr>
              <a:t>sed to store the segments of a program that are frequently accessed by the processor. It is expensive and smaller in size generally in Megabytes</a:t>
            </a:r>
          </a:p>
          <a:p>
            <a:pPr marL="0" indent="0">
              <a:buNone/>
            </a:pPr>
            <a:r>
              <a:rPr lang="en-IN" sz="2000" b="1" i="0" dirty="0">
                <a:solidFill>
                  <a:srgbClr val="000000"/>
                </a:solidFill>
                <a:effectLst/>
                <a:latin typeface="Times New Roman" panose="02020603050405020304" pitchFamily="18" charset="0"/>
                <a:cs typeface="Times New Roman" panose="02020603050405020304" pitchFamily="18" charset="0"/>
              </a:rPr>
              <a:t>Main memory</a:t>
            </a:r>
          </a:p>
          <a:p>
            <a:pPr marL="0" indent="0">
              <a:buNone/>
            </a:pPr>
            <a:r>
              <a:rPr lang="en-IN" sz="2000" dirty="0">
                <a:solidFill>
                  <a:srgbClr val="000000"/>
                </a:solidFill>
                <a:latin typeface="Times New Roman" panose="02020603050405020304" pitchFamily="18" charset="0"/>
                <a:cs typeface="Times New Roman" panose="02020603050405020304" pitchFamily="18" charset="0"/>
              </a:rPr>
              <a:t>D</a:t>
            </a:r>
            <a:r>
              <a:rPr lang="en-IN" sz="2000" b="0" i="0" dirty="0">
                <a:solidFill>
                  <a:srgbClr val="000000"/>
                </a:solidFill>
                <a:effectLst/>
                <a:latin typeface="Times New Roman" panose="02020603050405020304" pitchFamily="18" charset="0"/>
                <a:cs typeface="Times New Roman" panose="02020603050405020304" pitchFamily="18" charset="0"/>
              </a:rPr>
              <a:t>irectly communicates with the CPU and with auxiliary memory devices through an I/O processor. </a:t>
            </a:r>
            <a:r>
              <a:rPr lang="en-IN" sz="2000" i="0" u="none" strike="noStrike" dirty="0">
                <a:effectLst/>
                <a:latin typeface="Times New Roman" panose="02020603050405020304" pitchFamily="18" charset="0"/>
                <a:cs typeface="Times New Roman" panose="02020603050405020304" pitchFamily="18" charset="0"/>
              </a:rPr>
              <a:t>Main memory</a:t>
            </a:r>
            <a:r>
              <a:rPr lang="en-IN" sz="2000" b="0" i="0" dirty="0">
                <a:solidFill>
                  <a:srgbClr val="000000"/>
                </a:solidFill>
                <a:effectLst/>
                <a:latin typeface="Times New Roman" panose="02020603050405020304" pitchFamily="18" charset="0"/>
                <a:cs typeface="Times New Roman" panose="02020603050405020304" pitchFamily="18" charset="0"/>
              </a:rPr>
              <a:t> is less expensive than cache memory and larger in size generally in Gigabytes.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803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B3C86F-CE13-E60A-4A09-021E31A0C472}"/>
              </a:ext>
            </a:extLst>
          </p:cNvPr>
          <p:cNvSpPr>
            <a:spLocks noGrp="1"/>
          </p:cNvSpPr>
          <p:nvPr>
            <p:ph idx="1"/>
          </p:nvPr>
        </p:nvSpPr>
        <p:spPr/>
        <p:txBody>
          <a:bodyPr/>
          <a:lstStyle/>
          <a:p>
            <a:pPr marL="0" indent="0">
              <a:buNone/>
            </a:pPr>
            <a:r>
              <a:rPr lang="en-IN" sz="2000" b="1" dirty="0">
                <a:latin typeface="Times New Roman" panose="02020603050405020304" pitchFamily="18" charset="0"/>
                <a:cs typeface="Times New Roman" panose="02020603050405020304" pitchFamily="18" charset="0"/>
              </a:rPr>
              <a:t>Secondary memory</a:t>
            </a:r>
          </a:p>
          <a:p>
            <a:pPr marL="0" indent="0">
              <a:buNone/>
            </a:pPr>
            <a:r>
              <a:rPr lang="en-IN" sz="2000" b="0" i="0" dirty="0">
                <a:solidFill>
                  <a:srgbClr val="000000"/>
                </a:solidFill>
                <a:effectLst/>
                <a:latin typeface="Times New Roman" panose="02020603050405020304" pitchFamily="18" charset="0"/>
                <a:cs typeface="Times New Roman" panose="02020603050405020304" pitchFamily="18" charset="0"/>
              </a:rPr>
              <a:t>Secondary memory like magnetic disk are present here. They are used as permanent storage. They are cheaper than main memory and larger in size generally in a few TB.</a:t>
            </a:r>
          </a:p>
          <a:p>
            <a:pPr marL="0" indent="0">
              <a:buNone/>
            </a:pPr>
            <a:r>
              <a:rPr lang="en-IN" sz="2000" b="1" dirty="0">
                <a:latin typeface="Times New Roman" panose="02020603050405020304" pitchFamily="18" charset="0"/>
                <a:cs typeface="Times New Roman" panose="02020603050405020304" pitchFamily="18" charset="0"/>
              </a:rPr>
              <a:t>Tertiary memory</a:t>
            </a:r>
          </a:p>
          <a:p>
            <a:pPr marL="0" indent="0">
              <a:buNone/>
            </a:pPr>
            <a:r>
              <a:rPr lang="en-IN" sz="2000" b="0" i="0" dirty="0">
                <a:solidFill>
                  <a:srgbClr val="000000"/>
                </a:solidFill>
                <a:effectLst/>
                <a:latin typeface="Times New Roman" panose="02020603050405020304" pitchFamily="18" charset="0"/>
                <a:cs typeface="Times New Roman" panose="02020603050405020304" pitchFamily="18" charset="0"/>
              </a:rPr>
              <a:t>Tertiary storage devices like magnetic tape are present at this level. They are used to store removable files and are the cheapest and largest in size (1-20 TB).</a:t>
            </a:r>
            <a:endParaRPr lang="en-US" sz="2000" b="1"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8543639B-517F-1E3D-E9F8-C511E4C2E23F}"/>
              </a:ext>
            </a:extLst>
          </p:cNvPr>
          <p:cNvSpPr txBox="1">
            <a:spLocks noGrp="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IN" kern="0" dirty="0"/>
              <a:t>Memory Hierarchy</a:t>
            </a:r>
            <a:endParaRPr lang="en-US" kern="0" dirty="0"/>
          </a:p>
        </p:txBody>
      </p:sp>
    </p:spTree>
    <p:extLst>
      <p:ext uri="{BB962C8B-B14F-4D97-AF65-F5344CB8AC3E}">
        <p14:creationId xmlns:p14="http://schemas.microsoft.com/office/powerpoint/2010/main" val="410071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4D433E7C-E329-EA0A-D403-8D4F7DCFA9B8}"/>
              </a:ext>
            </a:extLst>
          </p:cNvPr>
          <p:cNvPicPr>
            <a:picLocks noGrp="1" noChangeAspect="1"/>
          </p:cNvPicPr>
          <p:nvPr>
            <p:ph idx="1"/>
          </p:nvPr>
        </p:nvPicPr>
        <p:blipFill>
          <a:blip r:embed="rId2"/>
          <a:stretch>
            <a:fillRect/>
          </a:stretch>
        </p:blipFill>
        <p:spPr>
          <a:xfrm>
            <a:off x="1826139" y="1349984"/>
            <a:ext cx="5200650" cy="4333875"/>
          </a:xfrm>
        </p:spPr>
      </p:pic>
      <p:sp>
        <p:nvSpPr>
          <p:cNvPr id="5" name="Title 1">
            <a:extLst>
              <a:ext uri="{FF2B5EF4-FFF2-40B4-BE49-F238E27FC236}">
                <a16:creationId xmlns:a16="http://schemas.microsoft.com/office/drawing/2014/main" id="{B8F44A24-1C5E-38D5-76CF-87871D4B6F62}"/>
              </a:ext>
            </a:extLst>
          </p:cNvPr>
          <p:cNvSpPr txBox="1">
            <a:spLocks noGrp="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IN" kern="0" dirty="0"/>
              <a:t>Memory Hierarchy</a:t>
            </a:r>
            <a:endParaRPr lang="en-US" kern="0" dirty="0"/>
          </a:p>
        </p:txBody>
      </p:sp>
    </p:spTree>
    <p:extLst>
      <p:ext uri="{BB962C8B-B14F-4D97-AF65-F5344CB8AC3E}">
        <p14:creationId xmlns:p14="http://schemas.microsoft.com/office/powerpoint/2010/main" val="1904927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a:extLst>
              <a:ext uri="{FF2B5EF4-FFF2-40B4-BE49-F238E27FC236}">
                <a16:creationId xmlns:a16="http://schemas.microsoft.com/office/drawing/2014/main" id="{14E85D12-A179-49DD-AB72-1C6EAAF20EF7}"/>
              </a:ext>
            </a:extLst>
          </p:cNvPr>
          <p:cNvSpPr>
            <a:spLocks noGrp="1" noChangeArrowheads="1"/>
          </p:cNvSpPr>
          <p:nvPr>
            <p:ph type="title"/>
          </p:nvPr>
        </p:nvSpPr>
        <p:spPr>
          <a:xfrm>
            <a:off x="1060450" y="228830"/>
            <a:ext cx="6764338" cy="576262"/>
          </a:xfrm>
        </p:spPr>
        <p:txBody>
          <a:bodyPr/>
          <a:lstStyle/>
          <a:p>
            <a:pPr eaLnBrk="1" hangingPunct="1"/>
            <a:r>
              <a:rPr lang="en-US" altLang="en-US" dirty="0"/>
              <a:t>Background</a:t>
            </a:r>
          </a:p>
        </p:txBody>
      </p:sp>
      <p:sp>
        <p:nvSpPr>
          <p:cNvPr id="6147" name="Rectangle 1027">
            <a:extLst>
              <a:ext uri="{FF2B5EF4-FFF2-40B4-BE49-F238E27FC236}">
                <a16:creationId xmlns:a16="http://schemas.microsoft.com/office/drawing/2014/main" id="{3919CD36-C961-4D2E-8F87-B9EA333CBE98}"/>
              </a:ext>
            </a:extLst>
          </p:cNvPr>
          <p:cNvSpPr>
            <a:spLocks noGrp="1" noChangeArrowheads="1"/>
          </p:cNvSpPr>
          <p:nvPr>
            <p:ph type="body" idx="1"/>
          </p:nvPr>
        </p:nvSpPr>
        <p:spPr>
          <a:xfrm>
            <a:off x="849085" y="1208088"/>
            <a:ext cx="7669763" cy="4483100"/>
          </a:xfrm>
        </p:spPr>
        <p:txBody>
          <a:bodyPr/>
          <a:lstStyle/>
          <a:p>
            <a:r>
              <a:rPr lang="en-IN" altLang="en-US" dirty="0"/>
              <a:t> Memory consists of a large array of words or bytes, each with its own address. The CPU fetches instructions from memory according to the value of the program counter</a:t>
            </a:r>
          </a:p>
          <a:p>
            <a:r>
              <a:rPr lang="en-IN" altLang="en-US" dirty="0"/>
              <a:t> </a:t>
            </a:r>
            <a:r>
              <a:rPr lang="en-US" altLang="en-US" dirty="0"/>
              <a:t>After the instruction has been executed on the</a:t>
            </a:r>
            <a:r>
              <a:rPr lang="en-IN" altLang="en-US" dirty="0"/>
              <a:t> operands, results may be stored back in memory. The memory unit sees only a stream of memory addresses; it does not know how they are generated</a:t>
            </a:r>
          </a:p>
          <a:p>
            <a:r>
              <a:rPr lang="en-US" altLang="en-US" dirty="0"/>
              <a:t>Memory unit only sees a stream of:</a:t>
            </a:r>
          </a:p>
          <a:p>
            <a:pPr lvl="1"/>
            <a:r>
              <a:rPr lang="en-US" altLang="en-US" dirty="0"/>
              <a:t>addresses + read requests, or </a:t>
            </a:r>
          </a:p>
          <a:p>
            <a:pPr lvl="1"/>
            <a:r>
              <a:rPr lang="en-US" altLang="en-US" dirty="0"/>
              <a:t>address + data and write requests</a:t>
            </a:r>
            <a:endParaRPr lang="en-US" altLang="en-US" sz="800" dirty="0"/>
          </a:p>
          <a:p>
            <a:r>
              <a:rPr lang="en-US" altLang="en-US" dirty="0"/>
              <a:t>Protection of memory required to ensure correct operation</a:t>
            </a:r>
          </a:p>
          <a:p>
            <a:pPr>
              <a:buFont typeface="Monotype Sorts" pitchFamily="-84" charset="2"/>
              <a:buNone/>
            </a:pPr>
            <a:endParaRPr lang="en-US"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36C7-FF21-787B-B6E7-CCF99CAF5A1E}"/>
              </a:ext>
            </a:extLst>
          </p:cNvPr>
          <p:cNvSpPr>
            <a:spLocks noGrp="1"/>
          </p:cNvSpPr>
          <p:nvPr>
            <p:ph type="title"/>
          </p:nvPr>
        </p:nvSpPr>
        <p:spPr/>
        <p:txBody>
          <a:bodyPr/>
          <a:lstStyle/>
          <a:p>
            <a:r>
              <a:rPr lang="en-US" dirty="0"/>
              <a:t>Logical Address</a:t>
            </a:r>
            <a:endParaRPr lang="en-IN" dirty="0"/>
          </a:p>
        </p:txBody>
      </p:sp>
      <p:sp>
        <p:nvSpPr>
          <p:cNvPr id="3" name="Content Placeholder 2">
            <a:extLst>
              <a:ext uri="{FF2B5EF4-FFF2-40B4-BE49-F238E27FC236}">
                <a16:creationId xmlns:a16="http://schemas.microsoft.com/office/drawing/2014/main" id="{C5A05B8F-52DF-C221-C6C8-A681871E603E}"/>
              </a:ext>
            </a:extLst>
          </p:cNvPr>
          <p:cNvSpPr>
            <a:spLocks noGrp="1"/>
          </p:cNvSpPr>
          <p:nvPr>
            <p:ph idx="1"/>
          </p:nvPr>
        </p:nvSpPr>
        <p:spPr/>
        <p:txBody>
          <a:bodyPr/>
          <a:lstStyle/>
          <a:p>
            <a:r>
              <a:rPr lang="en-US" b="1" dirty="0"/>
              <a:t>Logical Address (Virtual Address)</a:t>
            </a:r>
          </a:p>
          <a:p>
            <a:r>
              <a:rPr lang="en-US" dirty="0"/>
              <a:t>A </a:t>
            </a:r>
            <a:r>
              <a:rPr lang="en-US" b="1" dirty="0"/>
              <a:t>logical address</a:t>
            </a:r>
            <a:r>
              <a:rPr lang="en-US" dirty="0"/>
              <a:t> (also called a </a:t>
            </a:r>
            <a:r>
              <a:rPr lang="en-US" b="1" dirty="0"/>
              <a:t>virtual address</a:t>
            </a:r>
            <a:r>
              <a:rPr lang="en-US" dirty="0"/>
              <a:t>) is the address </a:t>
            </a:r>
            <a:r>
              <a:rPr lang="en-US" b="1" dirty="0"/>
              <a:t>generated by the CPU</a:t>
            </a:r>
            <a:r>
              <a:rPr lang="en-US" dirty="0"/>
              <a:t> during program execution.</a:t>
            </a:r>
          </a:p>
          <a:p>
            <a:r>
              <a:rPr lang="en-US" dirty="0"/>
              <a:t>It’s the address that a </a:t>
            </a:r>
            <a:r>
              <a:rPr lang="en-US" b="1" dirty="0"/>
              <a:t>process thinks</a:t>
            </a:r>
            <a:r>
              <a:rPr lang="en-US" dirty="0"/>
              <a:t> it’s using.</a:t>
            </a:r>
          </a:p>
          <a:p>
            <a:r>
              <a:rPr lang="en-US" dirty="0"/>
              <a:t>Each process has its </a:t>
            </a:r>
            <a:r>
              <a:rPr lang="en-US" b="1" dirty="0"/>
              <a:t>own logical address space</a:t>
            </a:r>
            <a:r>
              <a:rPr lang="en-US" dirty="0"/>
              <a:t>, usually starting at 0.</a:t>
            </a:r>
          </a:p>
          <a:p>
            <a:r>
              <a:rPr lang="en-US" b="1" dirty="0"/>
              <a:t>Example:</a:t>
            </a:r>
            <a:br>
              <a:rPr lang="en-US" dirty="0"/>
            </a:br>
            <a:r>
              <a:rPr lang="en-US" dirty="0"/>
              <a:t>If a program accesses memory location 100, that’s a </a:t>
            </a:r>
            <a:r>
              <a:rPr lang="en-US" i="1" dirty="0"/>
              <a:t>logical address</a:t>
            </a:r>
            <a:r>
              <a:rPr lang="en-US" dirty="0"/>
              <a:t> — it’s not yet tied to a real RAM address.</a:t>
            </a:r>
          </a:p>
          <a:p>
            <a:pPr marL="0" indent="0">
              <a:buNone/>
            </a:pPr>
            <a:endParaRPr lang="en-IN" dirty="0"/>
          </a:p>
        </p:txBody>
      </p:sp>
    </p:spTree>
    <p:extLst>
      <p:ext uri="{BB962C8B-B14F-4D97-AF65-F5344CB8AC3E}">
        <p14:creationId xmlns:p14="http://schemas.microsoft.com/office/powerpoint/2010/main" val="2302431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2A886-5294-18CC-9F8E-5BE2569B8CB9}"/>
              </a:ext>
            </a:extLst>
          </p:cNvPr>
          <p:cNvSpPr>
            <a:spLocks noGrp="1"/>
          </p:cNvSpPr>
          <p:nvPr>
            <p:ph idx="1"/>
          </p:nvPr>
        </p:nvSpPr>
        <p:spPr/>
        <p:txBody>
          <a:bodyPr/>
          <a:lstStyle/>
          <a:p>
            <a:r>
              <a:rPr lang="fr-FR" dirty="0" err="1"/>
              <a:t>int</a:t>
            </a:r>
            <a:r>
              <a:rPr lang="fr-FR" dirty="0"/>
              <a:t> x = 10;</a:t>
            </a:r>
          </a:p>
          <a:p>
            <a:r>
              <a:rPr lang="fr-FR" dirty="0" err="1"/>
              <a:t>int</a:t>
            </a:r>
            <a:r>
              <a:rPr lang="fr-FR" dirty="0"/>
              <a:t> *p = &amp;x;</a:t>
            </a:r>
          </a:p>
          <a:p>
            <a:r>
              <a:rPr lang="fr-FR" dirty="0"/>
              <a:t>printf("%p", p);</a:t>
            </a:r>
          </a:p>
          <a:p>
            <a:r>
              <a:rPr lang="en-US" dirty="0"/>
              <a:t>p stores the </a:t>
            </a:r>
            <a:r>
              <a:rPr lang="en-US" b="1" dirty="0"/>
              <a:t>address of x</a:t>
            </a:r>
            <a:r>
              <a:rPr lang="en-US" dirty="0"/>
              <a:t>, but this address is a </a:t>
            </a:r>
            <a:r>
              <a:rPr lang="en-US" b="1" dirty="0"/>
              <a:t>logical (virtual) address</a:t>
            </a:r>
            <a:r>
              <a:rPr lang="en-US" dirty="0"/>
              <a:t>.</a:t>
            </a:r>
          </a:p>
          <a:p>
            <a:r>
              <a:rPr lang="en-US" dirty="0"/>
              <a:t>The OS and MMU translate this logical address → to the </a:t>
            </a:r>
            <a:r>
              <a:rPr lang="en-US" b="1" dirty="0"/>
              <a:t>physical address</a:t>
            </a:r>
            <a:r>
              <a:rPr lang="en-US" dirty="0"/>
              <a:t> where x actually resides in RAM.</a:t>
            </a:r>
          </a:p>
          <a:p>
            <a:r>
              <a:rPr lang="en-US" dirty="0"/>
              <a:t>So, the value printed by </a:t>
            </a:r>
            <a:r>
              <a:rPr lang="en-US" dirty="0" err="1"/>
              <a:t>printf</a:t>
            </a:r>
            <a:r>
              <a:rPr lang="en-US" dirty="0"/>
              <a:t>("%p", p); is a </a:t>
            </a:r>
            <a:r>
              <a:rPr lang="en-US" b="1" dirty="0"/>
              <a:t>virtual address</a:t>
            </a:r>
            <a:r>
              <a:rPr lang="en-US" dirty="0"/>
              <a:t>, meaningful </a:t>
            </a:r>
            <a:r>
              <a:rPr lang="en-US" b="1" dirty="0"/>
              <a:t>only within your process</a:t>
            </a:r>
            <a:r>
              <a:rPr lang="en-US" dirty="0"/>
              <a:t> — not the real hardware address.</a:t>
            </a:r>
          </a:p>
        </p:txBody>
      </p:sp>
    </p:spTree>
    <p:extLst>
      <p:ext uri="{BB962C8B-B14F-4D97-AF65-F5344CB8AC3E}">
        <p14:creationId xmlns:p14="http://schemas.microsoft.com/office/powerpoint/2010/main" val="1557708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6073-AEE8-7C3A-E6E8-FC0ECDA49DC4}"/>
              </a:ext>
            </a:extLst>
          </p:cNvPr>
          <p:cNvSpPr>
            <a:spLocks noGrp="1"/>
          </p:cNvSpPr>
          <p:nvPr>
            <p:ph type="title"/>
          </p:nvPr>
        </p:nvSpPr>
        <p:spPr/>
        <p:txBody>
          <a:bodyPr/>
          <a:lstStyle/>
          <a:p>
            <a:r>
              <a:rPr lang="en-US" dirty="0"/>
              <a:t>Physical Address</a:t>
            </a:r>
            <a:endParaRPr lang="en-IN" dirty="0"/>
          </a:p>
        </p:txBody>
      </p:sp>
      <p:sp>
        <p:nvSpPr>
          <p:cNvPr id="3" name="Content Placeholder 2">
            <a:extLst>
              <a:ext uri="{FF2B5EF4-FFF2-40B4-BE49-F238E27FC236}">
                <a16:creationId xmlns:a16="http://schemas.microsoft.com/office/drawing/2014/main" id="{7C5327CF-BF3F-5974-C9A4-AC6FAF944C71}"/>
              </a:ext>
            </a:extLst>
          </p:cNvPr>
          <p:cNvSpPr>
            <a:spLocks noGrp="1"/>
          </p:cNvSpPr>
          <p:nvPr>
            <p:ph idx="1"/>
          </p:nvPr>
        </p:nvSpPr>
        <p:spPr/>
        <p:txBody>
          <a:bodyPr/>
          <a:lstStyle/>
          <a:p>
            <a:r>
              <a:rPr lang="en-US" b="1" dirty="0"/>
              <a:t>Physical Address</a:t>
            </a:r>
          </a:p>
          <a:p>
            <a:r>
              <a:rPr lang="en-US" dirty="0"/>
              <a:t>The </a:t>
            </a:r>
            <a:r>
              <a:rPr lang="en-US" b="1" dirty="0"/>
              <a:t>physical address</a:t>
            </a:r>
            <a:r>
              <a:rPr lang="en-US" dirty="0"/>
              <a:t> is the </a:t>
            </a:r>
            <a:r>
              <a:rPr lang="en-US" b="1" dirty="0"/>
              <a:t>actual location in RAM</a:t>
            </a:r>
            <a:r>
              <a:rPr lang="en-US" dirty="0"/>
              <a:t> where the data or instruction resides.</a:t>
            </a:r>
          </a:p>
          <a:p>
            <a:r>
              <a:rPr lang="en-US" dirty="0"/>
              <a:t>The </a:t>
            </a:r>
            <a:r>
              <a:rPr lang="en-US" b="1" dirty="0"/>
              <a:t>Memory Management Unit (MMU)</a:t>
            </a:r>
            <a:r>
              <a:rPr lang="en-US" dirty="0"/>
              <a:t> or </a:t>
            </a:r>
            <a:r>
              <a:rPr lang="en-US" b="1" dirty="0"/>
              <a:t>address binding mechanism</a:t>
            </a:r>
            <a:r>
              <a:rPr lang="en-US" dirty="0"/>
              <a:t> translates the logical address into a physical address.</a:t>
            </a:r>
          </a:p>
          <a:p>
            <a:r>
              <a:rPr lang="en-US" b="1" dirty="0"/>
              <a:t>Example:</a:t>
            </a:r>
            <a:br>
              <a:rPr lang="en-US" dirty="0"/>
            </a:br>
            <a:r>
              <a:rPr lang="en-US" dirty="0"/>
              <a:t>If the MMU maps logical address 100 to physical address 3100,</a:t>
            </a:r>
            <a:br>
              <a:rPr lang="en-US" dirty="0"/>
            </a:br>
            <a:r>
              <a:rPr lang="en-US" dirty="0"/>
              <a:t>then the data at </a:t>
            </a:r>
            <a:r>
              <a:rPr lang="en-US" b="1" dirty="0"/>
              <a:t>RAM[3100]</a:t>
            </a:r>
            <a:r>
              <a:rPr lang="en-US" dirty="0"/>
              <a:t> is accessed.</a:t>
            </a:r>
          </a:p>
          <a:p>
            <a:endParaRPr lang="en-IN" dirty="0"/>
          </a:p>
        </p:txBody>
      </p:sp>
    </p:spTree>
    <p:extLst>
      <p:ext uri="{BB962C8B-B14F-4D97-AF65-F5344CB8AC3E}">
        <p14:creationId xmlns:p14="http://schemas.microsoft.com/office/powerpoint/2010/main" val="422201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86D9-1254-8CD5-452D-EC3FA36C71C1}"/>
              </a:ext>
            </a:extLst>
          </p:cNvPr>
          <p:cNvSpPr>
            <a:spLocks noGrp="1"/>
          </p:cNvSpPr>
          <p:nvPr>
            <p:ph type="title"/>
          </p:nvPr>
        </p:nvSpPr>
        <p:spPr/>
        <p:txBody>
          <a:bodyPr/>
          <a:lstStyle/>
          <a:p>
            <a:r>
              <a:rPr lang="en-US" dirty="0"/>
              <a:t>Base Register</a:t>
            </a:r>
            <a:endParaRPr lang="en-IN" dirty="0"/>
          </a:p>
        </p:txBody>
      </p:sp>
      <p:sp>
        <p:nvSpPr>
          <p:cNvPr id="3" name="Content Placeholder 2">
            <a:extLst>
              <a:ext uri="{FF2B5EF4-FFF2-40B4-BE49-F238E27FC236}">
                <a16:creationId xmlns:a16="http://schemas.microsoft.com/office/drawing/2014/main" id="{F24867EF-E9C0-6C11-65BC-0870BE882917}"/>
              </a:ext>
            </a:extLst>
          </p:cNvPr>
          <p:cNvSpPr>
            <a:spLocks noGrp="1"/>
          </p:cNvSpPr>
          <p:nvPr>
            <p:ph idx="1"/>
          </p:nvPr>
        </p:nvSpPr>
        <p:spPr/>
        <p:txBody>
          <a:bodyPr/>
          <a:lstStyle/>
          <a:p>
            <a:r>
              <a:rPr lang="en-US" b="1" dirty="0"/>
              <a:t>Base Register</a:t>
            </a:r>
          </a:p>
          <a:p>
            <a:r>
              <a:rPr lang="en-US" dirty="0"/>
              <a:t>The </a:t>
            </a:r>
            <a:r>
              <a:rPr lang="en-US" b="1" dirty="0"/>
              <a:t>base register</a:t>
            </a:r>
            <a:r>
              <a:rPr lang="en-US" dirty="0"/>
              <a:t> holds the </a:t>
            </a:r>
            <a:r>
              <a:rPr lang="en-US" b="1" dirty="0"/>
              <a:t>starting physical address</a:t>
            </a:r>
            <a:r>
              <a:rPr lang="en-US" dirty="0"/>
              <a:t> of a process’s memory area in RAM.</a:t>
            </a:r>
          </a:p>
          <a:p>
            <a:r>
              <a:rPr lang="en-US" dirty="0"/>
              <a:t>It is used by the </a:t>
            </a:r>
            <a:r>
              <a:rPr lang="en-US" b="1" dirty="0"/>
              <a:t>MMU</a:t>
            </a:r>
            <a:r>
              <a:rPr lang="en-US" dirty="0"/>
              <a:t> to </a:t>
            </a:r>
            <a:r>
              <a:rPr lang="en-US" b="1" dirty="0"/>
              <a:t>translate logical → physical addresses</a:t>
            </a:r>
            <a:r>
              <a:rPr lang="en-US" dirty="0"/>
              <a:t> dynamically.</a:t>
            </a:r>
          </a:p>
          <a:p>
            <a:r>
              <a:rPr lang="en-US" b="1" dirty="0"/>
              <a:t>Example:</a:t>
            </a:r>
            <a:br>
              <a:rPr lang="en-US" dirty="0"/>
            </a:br>
            <a:r>
              <a:rPr lang="en-US" dirty="0"/>
              <a:t>If base register = 3000 and logical address = 100</a:t>
            </a:r>
            <a:br>
              <a:rPr lang="en-US" dirty="0"/>
            </a:br>
            <a:r>
              <a:rPr lang="en-US" dirty="0"/>
              <a:t>Physical address = 3100</a:t>
            </a:r>
            <a:endParaRPr lang="en-IN" dirty="0"/>
          </a:p>
        </p:txBody>
      </p:sp>
    </p:spTree>
    <p:extLst>
      <p:ext uri="{BB962C8B-B14F-4D97-AF65-F5344CB8AC3E}">
        <p14:creationId xmlns:p14="http://schemas.microsoft.com/office/powerpoint/2010/main" val="131203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4A00-5983-EBBB-5CCB-BC99CEEAD3A0}"/>
              </a:ext>
            </a:extLst>
          </p:cNvPr>
          <p:cNvSpPr>
            <a:spLocks noGrp="1"/>
          </p:cNvSpPr>
          <p:nvPr>
            <p:ph type="title"/>
          </p:nvPr>
        </p:nvSpPr>
        <p:spPr/>
        <p:txBody>
          <a:bodyPr/>
          <a:lstStyle/>
          <a:p>
            <a:r>
              <a:rPr lang="en-US" dirty="0"/>
              <a:t>Limit Register</a:t>
            </a:r>
            <a:endParaRPr lang="en-IN" dirty="0"/>
          </a:p>
        </p:txBody>
      </p:sp>
      <p:sp>
        <p:nvSpPr>
          <p:cNvPr id="3" name="Content Placeholder 2">
            <a:extLst>
              <a:ext uri="{FF2B5EF4-FFF2-40B4-BE49-F238E27FC236}">
                <a16:creationId xmlns:a16="http://schemas.microsoft.com/office/drawing/2014/main" id="{4F199102-7481-9FC8-6529-F4DDAA5583CB}"/>
              </a:ext>
            </a:extLst>
          </p:cNvPr>
          <p:cNvSpPr>
            <a:spLocks noGrp="1"/>
          </p:cNvSpPr>
          <p:nvPr>
            <p:ph idx="1"/>
          </p:nvPr>
        </p:nvSpPr>
        <p:spPr>
          <a:xfrm>
            <a:off x="806450" y="1233488"/>
            <a:ext cx="7727950" cy="4799667"/>
          </a:xfrm>
        </p:spPr>
        <p:txBody>
          <a:bodyPr/>
          <a:lstStyle/>
          <a:p>
            <a:r>
              <a:rPr lang="en-US" b="1" dirty="0"/>
              <a:t>Limit Register</a:t>
            </a:r>
          </a:p>
          <a:p>
            <a:r>
              <a:rPr lang="en-US" dirty="0"/>
              <a:t>The </a:t>
            </a:r>
            <a:r>
              <a:rPr lang="en-US" b="1" dirty="0"/>
              <a:t>limit register</a:t>
            </a:r>
            <a:r>
              <a:rPr lang="en-US" dirty="0"/>
              <a:t> holds the </a:t>
            </a:r>
            <a:r>
              <a:rPr lang="en-US" b="1" dirty="0"/>
              <a:t>size (range)</a:t>
            </a:r>
            <a:r>
              <a:rPr lang="en-US" dirty="0"/>
              <a:t> of the process’s address space.</a:t>
            </a:r>
          </a:p>
          <a:p>
            <a:r>
              <a:rPr lang="en-US" dirty="0"/>
              <a:t>It specifies the </a:t>
            </a:r>
            <a:r>
              <a:rPr lang="en-US" b="1" dirty="0"/>
              <a:t>maximum valid logical address</a:t>
            </a:r>
            <a:r>
              <a:rPr lang="en-US" dirty="0"/>
              <a:t> a process can generate.</a:t>
            </a:r>
          </a:p>
          <a:p>
            <a:pPr marL="0" indent="0">
              <a:buNone/>
            </a:pPr>
            <a:r>
              <a:rPr lang="en-US" dirty="0"/>
              <a:t>The MMU checks:</a:t>
            </a:r>
          </a:p>
          <a:p>
            <a:pPr marL="400050" lvl="1" indent="0">
              <a:buNone/>
            </a:pPr>
            <a:r>
              <a:rPr lang="en-US" b="1" dirty="0"/>
              <a:t>If (Logical Address &lt; Limit Register) [within the range]</a:t>
            </a:r>
          </a:p>
          <a:p>
            <a:pPr marL="400050" lvl="1" indent="0">
              <a:buNone/>
            </a:pPr>
            <a:r>
              <a:rPr lang="en-US" b="1" dirty="0"/>
              <a:t>      Access is valid</a:t>
            </a:r>
          </a:p>
          <a:p>
            <a:pPr marL="400050" lvl="1" indent="0">
              <a:buNone/>
            </a:pPr>
            <a:r>
              <a:rPr lang="en-US" b="1" dirty="0"/>
              <a:t>Else</a:t>
            </a:r>
          </a:p>
          <a:p>
            <a:pPr marL="400050" lvl="1" indent="0">
              <a:buNone/>
            </a:pPr>
            <a:r>
              <a:rPr lang="en-US" b="1" dirty="0"/>
              <a:t>      Trap → Access is invalid, and a trap is generated by the hardware to the operating system's kernel</a:t>
            </a:r>
          </a:p>
          <a:p>
            <a:r>
              <a:rPr lang="en-US" b="1" dirty="0"/>
              <a:t>Example:</a:t>
            </a:r>
            <a:br>
              <a:rPr lang="en-US" dirty="0"/>
            </a:br>
            <a:r>
              <a:rPr lang="en-US" dirty="0"/>
              <a:t>If limit register = 1200 </a:t>
            </a:r>
            <a:br>
              <a:rPr lang="en-US" dirty="0"/>
            </a:br>
            <a:r>
              <a:rPr lang="en-US" dirty="0"/>
              <a:t>Process can legally access logical addresses 0–1199 only.</a:t>
            </a:r>
          </a:p>
          <a:p>
            <a:endParaRPr lang="en-IN" dirty="0"/>
          </a:p>
        </p:txBody>
      </p:sp>
    </p:spTree>
    <p:extLst>
      <p:ext uri="{BB962C8B-B14F-4D97-AF65-F5344CB8AC3E}">
        <p14:creationId xmlns:p14="http://schemas.microsoft.com/office/powerpoint/2010/main" val="2231624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E119B86-5C5B-4A93-AC7C-158FC121EE16}"/>
              </a:ext>
            </a:extLst>
          </p:cNvPr>
          <p:cNvSpPr>
            <a:spLocks noGrp="1" noChangeArrowheads="1"/>
          </p:cNvSpPr>
          <p:nvPr>
            <p:ph type="title"/>
          </p:nvPr>
        </p:nvSpPr>
        <p:spPr>
          <a:xfrm>
            <a:off x="1265238" y="224685"/>
            <a:ext cx="6559550" cy="576262"/>
          </a:xfrm>
        </p:spPr>
        <p:txBody>
          <a:bodyPr/>
          <a:lstStyle/>
          <a:p>
            <a:pPr eaLnBrk="1" hangingPunct="1"/>
            <a:r>
              <a:rPr lang="en-US" altLang="en-US" dirty="0"/>
              <a:t>Protection</a:t>
            </a:r>
          </a:p>
        </p:txBody>
      </p:sp>
      <p:sp>
        <p:nvSpPr>
          <p:cNvPr id="7171" name="Rectangle 3">
            <a:extLst>
              <a:ext uri="{FF2B5EF4-FFF2-40B4-BE49-F238E27FC236}">
                <a16:creationId xmlns:a16="http://schemas.microsoft.com/office/drawing/2014/main" id="{2CDF6D2A-F8C6-4CEA-AF47-307E410F6C37}"/>
              </a:ext>
            </a:extLst>
          </p:cNvPr>
          <p:cNvSpPr>
            <a:spLocks noGrp="1" noChangeArrowheads="1"/>
          </p:cNvSpPr>
          <p:nvPr>
            <p:ph type="body" idx="1"/>
          </p:nvPr>
        </p:nvSpPr>
        <p:spPr>
          <a:xfrm>
            <a:off x="858416" y="1200636"/>
            <a:ext cx="7436498" cy="1673193"/>
          </a:xfrm>
        </p:spPr>
        <p:txBody>
          <a:bodyPr/>
          <a:lstStyle/>
          <a:p>
            <a:r>
              <a:rPr lang="en-US" altLang="en-US" dirty="0"/>
              <a:t>Need to ensure that a process can access only those addresses in its address space.</a:t>
            </a:r>
          </a:p>
          <a:p>
            <a:r>
              <a:rPr lang="en-US" altLang="en-US" dirty="0"/>
              <a:t>We can provide this protection by using  a pair of </a:t>
            </a:r>
            <a:r>
              <a:rPr lang="en-US" altLang="en-US" b="1" dirty="0">
                <a:solidFill>
                  <a:srgbClr val="006699"/>
                </a:solidFill>
                <a:latin typeface="+mj-lt"/>
              </a:rPr>
              <a:t>base</a:t>
            </a:r>
            <a:r>
              <a:rPr lang="en-US" altLang="en-US" dirty="0">
                <a:solidFill>
                  <a:srgbClr val="3366FF"/>
                </a:solidFill>
              </a:rPr>
              <a:t> </a:t>
            </a:r>
            <a:r>
              <a:rPr lang="en-US" altLang="en-US" dirty="0"/>
              <a:t>and</a:t>
            </a:r>
            <a:r>
              <a:rPr lang="en-US" altLang="en-US" b="1" dirty="0">
                <a:solidFill>
                  <a:srgbClr val="FF0000"/>
                </a:solidFill>
              </a:rPr>
              <a:t> </a:t>
            </a:r>
            <a:r>
              <a:rPr lang="en-US" altLang="en-US" b="1" dirty="0">
                <a:solidFill>
                  <a:srgbClr val="006699"/>
                </a:solidFill>
                <a:latin typeface="+mj-lt"/>
              </a:rPr>
              <a:t>limit registers</a:t>
            </a:r>
            <a:r>
              <a:rPr lang="en-US" altLang="en-US" dirty="0"/>
              <a:t> which define the logical address space of a process</a:t>
            </a:r>
          </a:p>
        </p:txBody>
      </p:sp>
      <p:pic>
        <p:nvPicPr>
          <p:cNvPr id="7172" name="Picture 5" descr="W:\os-book\OS10\slide-dir\os-figures\9_01.jpg">
            <a:extLst>
              <a:ext uri="{FF2B5EF4-FFF2-40B4-BE49-F238E27FC236}">
                <a16:creationId xmlns:a16="http://schemas.microsoft.com/office/drawing/2014/main" id="{AFDDF805-A4EF-4AEB-B1EC-649AE08850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0790" y="2725414"/>
            <a:ext cx="32639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0FEA4152-F51E-450F-8EB1-7EDAF762DFDB}"/>
              </a:ext>
            </a:extLst>
          </p:cNvPr>
          <p:cNvSpPr>
            <a:spLocks noGrp="1"/>
          </p:cNvSpPr>
          <p:nvPr>
            <p:ph type="title"/>
          </p:nvPr>
        </p:nvSpPr>
        <p:spPr>
          <a:xfrm>
            <a:off x="941388" y="228636"/>
            <a:ext cx="7745412" cy="576262"/>
          </a:xfrm>
        </p:spPr>
        <p:txBody>
          <a:bodyPr/>
          <a:lstStyle/>
          <a:p>
            <a:r>
              <a:rPr lang="en-US" altLang="en-US" dirty="0"/>
              <a:t>Hardware Address Protection</a:t>
            </a:r>
          </a:p>
        </p:txBody>
      </p:sp>
      <p:sp>
        <p:nvSpPr>
          <p:cNvPr id="8195" name="Content Placeholder 3">
            <a:extLst>
              <a:ext uri="{FF2B5EF4-FFF2-40B4-BE49-F238E27FC236}">
                <a16:creationId xmlns:a16="http://schemas.microsoft.com/office/drawing/2014/main" id="{E339BA72-DE38-4DD0-AECD-94CEBF5B201D}"/>
              </a:ext>
            </a:extLst>
          </p:cNvPr>
          <p:cNvSpPr>
            <a:spLocks noGrp="1"/>
          </p:cNvSpPr>
          <p:nvPr>
            <p:ph idx="1"/>
          </p:nvPr>
        </p:nvSpPr>
        <p:spPr>
          <a:xfrm>
            <a:off x="849086" y="1147763"/>
            <a:ext cx="7380514" cy="4610100"/>
          </a:xfrm>
        </p:spPr>
        <p:txBody>
          <a:bodyPr/>
          <a:lstStyle/>
          <a:p>
            <a:r>
              <a:rPr lang="en-US" altLang="en-US" dirty="0"/>
              <a:t>CPU must check every memory access generated in user mode to be sure it is between base and limit for that user</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r>
              <a:rPr lang="en-US" altLang="en-US" dirty="0"/>
              <a:t> </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p:txBody>
      </p:sp>
      <p:pic>
        <p:nvPicPr>
          <p:cNvPr id="8196" name="Picture 4" descr="W:\os-book\OS10\slide-dir\os-figures\9_02.jpg">
            <a:extLst>
              <a:ext uri="{FF2B5EF4-FFF2-40B4-BE49-F238E27FC236}">
                <a16:creationId xmlns:a16="http://schemas.microsoft.com/office/drawing/2014/main" id="{174AFAC5-44F9-4ADE-8DC6-07277643F8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275" y="2032000"/>
            <a:ext cx="525145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270BE95-63FA-4E80-993B-493058D85F67}"/>
              </a:ext>
            </a:extLst>
          </p:cNvPr>
          <p:cNvSpPr>
            <a:spLocks noGrp="1"/>
          </p:cNvSpPr>
          <p:nvPr>
            <p:ph type="title"/>
          </p:nvPr>
        </p:nvSpPr>
        <p:spPr>
          <a:xfrm>
            <a:off x="457200" y="235568"/>
            <a:ext cx="8229600" cy="576262"/>
          </a:xfrm>
        </p:spPr>
        <p:txBody>
          <a:bodyPr/>
          <a:lstStyle/>
          <a:p>
            <a:r>
              <a:rPr lang="en-US" altLang="en-US" dirty="0"/>
              <a:t>Address Binding</a:t>
            </a:r>
          </a:p>
        </p:txBody>
      </p:sp>
      <p:sp>
        <p:nvSpPr>
          <p:cNvPr id="9219" name="Content Placeholder 2">
            <a:extLst>
              <a:ext uri="{FF2B5EF4-FFF2-40B4-BE49-F238E27FC236}">
                <a16:creationId xmlns:a16="http://schemas.microsoft.com/office/drawing/2014/main" id="{8A5804ED-6C6C-4BF4-8BFF-7FB99CC306D3}"/>
              </a:ext>
            </a:extLst>
          </p:cNvPr>
          <p:cNvSpPr>
            <a:spLocks noGrp="1"/>
          </p:cNvSpPr>
          <p:nvPr>
            <p:ph idx="1"/>
          </p:nvPr>
        </p:nvSpPr>
        <p:spPr>
          <a:xfrm>
            <a:off x="849085" y="1144588"/>
            <a:ext cx="7688424" cy="5067676"/>
          </a:xfrm>
        </p:spPr>
        <p:txBody>
          <a:bodyPr/>
          <a:lstStyle/>
          <a:p>
            <a:pPr algn="just"/>
            <a:r>
              <a:rPr kumimoji="0" lang="en-US" altLang="en-US" dirty="0"/>
              <a:t>A program resides on a disk as a binary executable file (</a:t>
            </a:r>
            <a:r>
              <a:rPr lang="en-US" dirty="0"/>
              <a:t>a file that contains a </a:t>
            </a:r>
            <a:r>
              <a:rPr lang="en-US" b="1" dirty="0"/>
              <a:t>program in machine code</a:t>
            </a:r>
            <a:r>
              <a:rPr lang="en-US" dirty="0"/>
              <a:t> — instructions that the </a:t>
            </a:r>
            <a:r>
              <a:rPr lang="en-US" b="1" dirty="0"/>
              <a:t>CPU can execute directly)</a:t>
            </a:r>
            <a:r>
              <a:rPr kumimoji="0" lang="en-US" altLang="en-US" dirty="0"/>
              <a:t>. </a:t>
            </a:r>
          </a:p>
          <a:p>
            <a:pPr algn="just"/>
            <a:r>
              <a:rPr kumimoji="0" lang="en-US" altLang="en-US" dirty="0"/>
              <a:t>The program must be brought into memory and placed within a process for it to be executed. </a:t>
            </a:r>
          </a:p>
          <a:p>
            <a:pPr algn="just"/>
            <a:r>
              <a:rPr kumimoji="0" lang="en-US" altLang="en-US" dirty="0"/>
              <a:t>Depending on the memory management in use, the process may be moved between disk and memory during its execution. </a:t>
            </a:r>
          </a:p>
          <a:p>
            <a:pPr algn="just"/>
            <a:r>
              <a:rPr kumimoji="0" lang="en-US" altLang="en-US" dirty="0"/>
              <a:t>The collection of processes on the disk that is waiting to be brought into memory for execution forms the </a:t>
            </a:r>
            <a:r>
              <a:rPr kumimoji="0" lang="en-US" altLang="en-US" b="1" dirty="0"/>
              <a:t>input queue.</a:t>
            </a:r>
            <a:endParaRPr kumimoji="0" lang="en-IN" altLang="en-US" b="1" dirty="0"/>
          </a:p>
          <a:p>
            <a:r>
              <a:rPr lang="en-US" altLang="en-US" dirty="0"/>
              <a:t>Normal procedure is to select one of the processes in the input queue and to load that process into memory. </a:t>
            </a:r>
          </a:p>
          <a:p>
            <a:r>
              <a:rPr lang="en-US" altLang="en-US" dirty="0"/>
              <a:t>As the process is executed, it accesses instructions and data from memory. </a:t>
            </a:r>
          </a:p>
          <a:p>
            <a:r>
              <a:rPr lang="en-US" altLang="en-US" dirty="0"/>
              <a:t>Eventually, the process terminates, and its memory space is declared available. </a:t>
            </a:r>
            <a:endParaRPr lang="en-IN" altLang="en-US" dirty="0"/>
          </a:p>
          <a:p>
            <a:pPr>
              <a:buFont typeface="Monotype Sorts" pitchFamily="-84" charset="2"/>
              <a:buNone/>
            </a:pPr>
            <a:endParaRPr kumimoji="0" lang="en-US" altLang="en-US" dirty="0"/>
          </a:p>
          <a:p>
            <a:pPr lvl="1"/>
            <a:endParaRPr kumimoji="0"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C141D3-D0B5-245A-0D52-FAA79D6B2264}"/>
              </a:ext>
            </a:extLst>
          </p:cNvPr>
          <p:cNvSpPr>
            <a:spLocks noGrp="1"/>
          </p:cNvSpPr>
          <p:nvPr>
            <p:ph idx="1"/>
          </p:nvPr>
        </p:nvSpPr>
        <p:spPr/>
        <p:txBody>
          <a:bodyPr/>
          <a:lstStyle/>
          <a:p>
            <a:r>
              <a:rPr lang="en-US" altLang="en-US" dirty="0"/>
              <a:t>Addresses</a:t>
            </a:r>
            <a:r>
              <a:rPr kumimoji="0" lang="en-US" altLang="en-US" dirty="0"/>
              <a:t> represented in different ways at different stages of a program</a:t>
            </a:r>
            <a:r>
              <a:rPr kumimoji="0" lang="ja-JP" altLang="en-US" dirty="0"/>
              <a:t>’</a:t>
            </a:r>
            <a:r>
              <a:rPr kumimoji="0" lang="en-US" altLang="ja-JP" dirty="0"/>
              <a:t>s life</a:t>
            </a:r>
          </a:p>
          <a:p>
            <a:pPr lvl="1"/>
            <a:r>
              <a:rPr kumimoji="0" lang="en-US" altLang="en-US" dirty="0"/>
              <a:t>Source code addresses usually symbolic</a:t>
            </a:r>
            <a:r>
              <a:rPr kumimoji="0" lang="en-IN" altLang="en-US" dirty="0"/>
              <a:t> addresses</a:t>
            </a:r>
            <a:endParaRPr kumimoji="0" lang="en-US" altLang="en-US" dirty="0"/>
          </a:p>
          <a:p>
            <a:pPr lvl="1"/>
            <a:r>
              <a:rPr kumimoji="0" lang="en-US" altLang="en-US" dirty="0"/>
              <a:t>Compiled code addresses </a:t>
            </a:r>
            <a:r>
              <a:rPr lang="en-US" altLang="en-US" b="1" dirty="0">
                <a:solidFill>
                  <a:srgbClr val="006699"/>
                </a:solidFill>
                <a:latin typeface="+mj-lt"/>
              </a:rPr>
              <a:t>bind</a:t>
            </a:r>
            <a:r>
              <a:rPr kumimoji="0" lang="en-US" altLang="en-US" b="1" dirty="0">
                <a:solidFill>
                  <a:srgbClr val="0000FF"/>
                </a:solidFill>
              </a:rPr>
              <a:t> </a:t>
            </a:r>
            <a:r>
              <a:rPr kumimoji="0" lang="en-US" altLang="en-US" dirty="0"/>
              <a:t>to </a:t>
            </a:r>
            <a:r>
              <a:rPr kumimoji="0" lang="en-US" altLang="en-US" dirty="0" err="1"/>
              <a:t>relocatable</a:t>
            </a:r>
            <a:r>
              <a:rPr kumimoji="0" lang="en-US" altLang="en-US" dirty="0"/>
              <a:t> addresses</a:t>
            </a:r>
          </a:p>
          <a:p>
            <a:pPr lvl="2"/>
            <a:r>
              <a:rPr kumimoji="0" lang="en-US" altLang="en-US" dirty="0"/>
              <a:t>i.e., </a:t>
            </a:r>
            <a:r>
              <a:rPr kumimoji="0" lang="ja-JP" altLang="en-US" dirty="0"/>
              <a:t>“</a:t>
            </a:r>
            <a:r>
              <a:rPr kumimoji="0" lang="en-US" altLang="ja-JP" dirty="0"/>
              <a:t>14 bytes from beginning of this module</a:t>
            </a:r>
            <a:r>
              <a:rPr kumimoji="0" lang="ja-JP" altLang="en-US" dirty="0"/>
              <a:t>”</a:t>
            </a:r>
            <a:endParaRPr kumimoji="0" lang="en-US" altLang="ja-JP" dirty="0"/>
          </a:p>
          <a:p>
            <a:pPr lvl="1"/>
            <a:r>
              <a:rPr kumimoji="0" lang="en-US" altLang="en-US" dirty="0"/>
              <a:t>Linker or loader will bind </a:t>
            </a:r>
            <a:r>
              <a:rPr kumimoji="0" lang="en-US" altLang="en-US" dirty="0" err="1"/>
              <a:t>relocatable</a:t>
            </a:r>
            <a:r>
              <a:rPr kumimoji="0" lang="en-US" altLang="en-US" dirty="0"/>
              <a:t> addresses to absolute addresses</a:t>
            </a:r>
          </a:p>
          <a:p>
            <a:pPr lvl="2"/>
            <a:r>
              <a:rPr kumimoji="0" lang="en-US" altLang="en-US" dirty="0"/>
              <a:t>i.e., 74014</a:t>
            </a:r>
          </a:p>
          <a:p>
            <a:pPr lvl="1"/>
            <a:r>
              <a:rPr kumimoji="0" lang="en-US" altLang="en-US" dirty="0"/>
              <a:t>Each binding maps one address space to another</a:t>
            </a:r>
          </a:p>
          <a:p>
            <a:endParaRPr lang="en-US" dirty="0"/>
          </a:p>
        </p:txBody>
      </p:sp>
      <p:sp>
        <p:nvSpPr>
          <p:cNvPr id="5" name="Title 1">
            <a:extLst>
              <a:ext uri="{FF2B5EF4-FFF2-40B4-BE49-F238E27FC236}">
                <a16:creationId xmlns:a16="http://schemas.microsoft.com/office/drawing/2014/main" id="{D9CA7303-99B8-52DE-68C4-A12C165DE1C4}"/>
              </a:ext>
            </a:extLst>
          </p:cNvPr>
          <p:cNvSpPr txBox="1">
            <a:spLocks noGrp="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altLang="en-US" kern="0" dirty="0"/>
              <a:t>Address Binding</a:t>
            </a:r>
          </a:p>
        </p:txBody>
      </p:sp>
    </p:spTree>
    <p:extLst>
      <p:ext uri="{BB962C8B-B14F-4D97-AF65-F5344CB8AC3E}">
        <p14:creationId xmlns:p14="http://schemas.microsoft.com/office/powerpoint/2010/main" val="1142865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48DA-FC3E-9790-A52E-312BE95743FE}"/>
              </a:ext>
            </a:extLst>
          </p:cNvPr>
          <p:cNvSpPr>
            <a:spLocks noGrp="1"/>
          </p:cNvSpPr>
          <p:nvPr>
            <p:ph type="title"/>
          </p:nvPr>
        </p:nvSpPr>
        <p:spPr/>
        <p:txBody>
          <a:bodyPr/>
          <a:lstStyle/>
          <a:p>
            <a:r>
              <a:rPr lang="en-US" dirty="0"/>
              <a:t>Address binding</a:t>
            </a:r>
            <a:endParaRPr lang="en-IN" dirty="0"/>
          </a:p>
        </p:txBody>
      </p:sp>
      <p:sp>
        <p:nvSpPr>
          <p:cNvPr id="3" name="Content Placeholder 2">
            <a:extLst>
              <a:ext uri="{FF2B5EF4-FFF2-40B4-BE49-F238E27FC236}">
                <a16:creationId xmlns:a16="http://schemas.microsoft.com/office/drawing/2014/main" id="{3D16791E-E74A-B50F-959B-2F8EC64565E3}"/>
              </a:ext>
            </a:extLst>
          </p:cNvPr>
          <p:cNvSpPr>
            <a:spLocks noGrp="1"/>
          </p:cNvSpPr>
          <p:nvPr>
            <p:ph idx="1"/>
          </p:nvPr>
        </p:nvSpPr>
        <p:spPr/>
        <p:txBody>
          <a:bodyPr/>
          <a:lstStyle/>
          <a:p>
            <a:pPr>
              <a:buFont typeface="Wingdings" panose="05000000000000000000" pitchFamily="2" charset="2"/>
              <a:buChar char="v"/>
            </a:pPr>
            <a:r>
              <a:rPr lang="en-US" b="1" dirty="0"/>
              <a:t>Source Code Stage (Symbolic Addresses)</a:t>
            </a:r>
          </a:p>
          <a:p>
            <a:r>
              <a:rPr lang="en-US" dirty="0"/>
              <a:t>Written by the programmer.</a:t>
            </a:r>
          </a:p>
          <a:p>
            <a:r>
              <a:rPr lang="en-US" dirty="0"/>
              <a:t>Uses </a:t>
            </a:r>
            <a:r>
              <a:rPr lang="en-US" b="1" dirty="0"/>
              <a:t>variable names</a:t>
            </a:r>
            <a:r>
              <a:rPr lang="en-US" dirty="0"/>
              <a:t> or </a:t>
            </a:r>
            <a:r>
              <a:rPr lang="en-US" b="1" dirty="0"/>
              <a:t>labels</a:t>
            </a:r>
            <a:r>
              <a:rPr lang="en-US" dirty="0"/>
              <a:t> instead of actual memory locations.</a:t>
            </a:r>
          </a:p>
          <a:p>
            <a:r>
              <a:rPr lang="en-US" dirty="0"/>
              <a:t>Example:</a:t>
            </a:r>
          </a:p>
          <a:p>
            <a:r>
              <a:rPr lang="en-IN" dirty="0"/>
              <a:t>int total = a + b;</a:t>
            </a:r>
          </a:p>
          <a:p>
            <a:r>
              <a:rPr lang="en-US" dirty="0"/>
              <a:t>Here total, a, and b are </a:t>
            </a:r>
            <a:r>
              <a:rPr lang="en-US" b="1" dirty="0"/>
              <a:t>symbolic addresses</a:t>
            </a:r>
            <a:r>
              <a:rPr lang="en-US" dirty="0"/>
              <a:t>.</a:t>
            </a:r>
          </a:p>
          <a:p>
            <a:pPr>
              <a:buFont typeface="Wingdings" panose="05000000000000000000" pitchFamily="2" charset="2"/>
              <a:buChar char="v"/>
            </a:pPr>
            <a:r>
              <a:rPr lang="en-US" b="1" dirty="0"/>
              <a:t>Compilation Stage (Relocatable Addresses)</a:t>
            </a:r>
          </a:p>
          <a:p>
            <a:r>
              <a:rPr lang="en-US" dirty="0"/>
              <a:t>The </a:t>
            </a:r>
            <a:r>
              <a:rPr lang="en-US" b="1" dirty="0"/>
              <a:t>compiler</a:t>
            </a:r>
            <a:r>
              <a:rPr lang="en-US" dirty="0"/>
              <a:t> translates source code into </a:t>
            </a:r>
            <a:r>
              <a:rPr lang="en-US" b="1" dirty="0"/>
              <a:t>machine instructions</a:t>
            </a:r>
            <a:r>
              <a:rPr lang="en-US" dirty="0"/>
              <a:t>.</a:t>
            </a:r>
          </a:p>
          <a:p>
            <a:r>
              <a:rPr lang="en-US" dirty="0"/>
              <a:t>It doesn’t yet know </a:t>
            </a:r>
            <a:r>
              <a:rPr lang="en-US" b="1" dirty="0"/>
              <a:t>where in memory</a:t>
            </a:r>
            <a:r>
              <a:rPr lang="en-US" dirty="0"/>
              <a:t> the program will be loaded.</a:t>
            </a:r>
          </a:p>
          <a:p>
            <a:r>
              <a:rPr lang="en-US" dirty="0"/>
              <a:t>So, it assigns </a:t>
            </a:r>
            <a:r>
              <a:rPr lang="en-US" b="1" dirty="0"/>
              <a:t>relocatable (relative) addresses</a:t>
            </a:r>
            <a:r>
              <a:rPr lang="en-US" dirty="0"/>
              <a:t>, like:</a:t>
            </a:r>
          </a:p>
          <a:p>
            <a:r>
              <a:rPr lang="en-US" dirty="0"/>
              <a:t>"variable x is at offset 14 bytes from start of code segment"</a:t>
            </a:r>
          </a:p>
          <a:p>
            <a:r>
              <a:rPr lang="en-US" dirty="0"/>
              <a:t>These addresses are </a:t>
            </a:r>
            <a:r>
              <a:rPr lang="en-US" b="1" dirty="0"/>
              <a:t>relative</a:t>
            </a:r>
            <a:r>
              <a:rPr lang="en-US" dirty="0"/>
              <a:t>, not fixed.</a:t>
            </a:r>
          </a:p>
          <a:p>
            <a:endParaRPr lang="en-US" dirty="0"/>
          </a:p>
          <a:p>
            <a:endParaRPr lang="en-IN" dirty="0"/>
          </a:p>
        </p:txBody>
      </p:sp>
    </p:spTree>
    <p:extLst>
      <p:ext uri="{BB962C8B-B14F-4D97-AF65-F5344CB8AC3E}">
        <p14:creationId xmlns:p14="http://schemas.microsoft.com/office/powerpoint/2010/main" val="2868997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D98A-EC4E-B934-3881-FA56389CD48D}"/>
              </a:ext>
            </a:extLst>
          </p:cNvPr>
          <p:cNvSpPr>
            <a:spLocks noGrp="1"/>
          </p:cNvSpPr>
          <p:nvPr>
            <p:ph type="title"/>
          </p:nvPr>
        </p:nvSpPr>
        <p:spPr/>
        <p:txBody>
          <a:bodyPr/>
          <a:lstStyle/>
          <a:p>
            <a:r>
              <a:rPr lang="en-US" dirty="0"/>
              <a:t>Address binding</a:t>
            </a:r>
            <a:endParaRPr lang="en-IN" dirty="0"/>
          </a:p>
        </p:txBody>
      </p:sp>
      <p:sp>
        <p:nvSpPr>
          <p:cNvPr id="3" name="Content Placeholder 2">
            <a:extLst>
              <a:ext uri="{FF2B5EF4-FFF2-40B4-BE49-F238E27FC236}">
                <a16:creationId xmlns:a16="http://schemas.microsoft.com/office/drawing/2014/main" id="{AE1B549E-7532-F947-E867-630AC8C65205}"/>
              </a:ext>
            </a:extLst>
          </p:cNvPr>
          <p:cNvSpPr>
            <a:spLocks noGrp="1"/>
          </p:cNvSpPr>
          <p:nvPr>
            <p:ph idx="1"/>
          </p:nvPr>
        </p:nvSpPr>
        <p:spPr/>
        <p:txBody>
          <a:bodyPr/>
          <a:lstStyle/>
          <a:p>
            <a:pPr>
              <a:buFont typeface="Wingdings" panose="05000000000000000000" pitchFamily="2" charset="2"/>
              <a:buChar char="v"/>
            </a:pPr>
            <a:r>
              <a:rPr lang="en-US" b="1" dirty="0"/>
              <a:t>Linking and Loading Stage (Absolute Address/ Actual Address)</a:t>
            </a:r>
          </a:p>
          <a:p>
            <a:r>
              <a:rPr lang="en-US" dirty="0"/>
              <a:t>The </a:t>
            </a:r>
            <a:r>
              <a:rPr lang="en-US" b="1" dirty="0"/>
              <a:t>linker</a:t>
            </a:r>
            <a:r>
              <a:rPr lang="en-US" dirty="0"/>
              <a:t> combines multiple object files (modules) and </a:t>
            </a:r>
            <a:r>
              <a:rPr lang="en-US" b="1" dirty="0"/>
              <a:t>assigns absolute addresses</a:t>
            </a:r>
            <a:r>
              <a:rPr lang="en-US" dirty="0"/>
              <a:t>.</a:t>
            </a:r>
          </a:p>
          <a:p>
            <a:r>
              <a:rPr lang="en-US" dirty="0"/>
              <a:t>The </a:t>
            </a:r>
            <a:r>
              <a:rPr lang="en-US" b="1" dirty="0"/>
              <a:t>loader</a:t>
            </a:r>
            <a:r>
              <a:rPr lang="en-US" dirty="0"/>
              <a:t> then places the entire program into </a:t>
            </a:r>
            <a:r>
              <a:rPr lang="en-US" b="1" dirty="0"/>
              <a:t>main memory</a:t>
            </a:r>
            <a:r>
              <a:rPr lang="en-US" dirty="0"/>
              <a:t>, starting at a chosen base address.</a:t>
            </a:r>
          </a:p>
          <a:p>
            <a:r>
              <a:rPr lang="en-US" dirty="0"/>
              <a:t>For example:</a:t>
            </a:r>
          </a:p>
          <a:p>
            <a:r>
              <a:rPr lang="en-US" dirty="0"/>
              <a:t>The program is loaded starting at address </a:t>
            </a:r>
            <a:r>
              <a:rPr lang="en-US" b="1" dirty="0"/>
              <a:t>74000 (base register)</a:t>
            </a:r>
            <a:endParaRPr lang="en-US" dirty="0"/>
          </a:p>
          <a:p>
            <a:r>
              <a:rPr lang="en-US" dirty="0"/>
              <a:t>So, the relocatable address </a:t>
            </a:r>
            <a:r>
              <a:rPr lang="en-US" b="1" dirty="0"/>
              <a:t>+14</a:t>
            </a:r>
            <a:r>
              <a:rPr lang="en-US" dirty="0"/>
              <a:t> becomes </a:t>
            </a:r>
            <a:r>
              <a:rPr lang="en-US" b="1" dirty="0"/>
              <a:t>74014 (actual address)</a:t>
            </a:r>
            <a:endParaRPr lang="en-US" dirty="0"/>
          </a:p>
          <a:p>
            <a:endParaRPr lang="en-IN" dirty="0"/>
          </a:p>
        </p:txBody>
      </p:sp>
    </p:spTree>
    <p:extLst>
      <p:ext uri="{BB962C8B-B14F-4D97-AF65-F5344CB8AC3E}">
        <p14:creationId xmlns:p14="http://schemas.microsoft.com/office/powerpoint/2010/main" val="1662503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24E926-B4E3-4CAB-8F2C-C954307515BB}"/>
              </a:ext>
            </a:extLst>
          </p:cNvPr>
          <p:cNvSpPr>
            <a:spLocks noGrp="1"/>
          </p:cNvSpPr>
          <p:nvPr>
            <p:ph idx="1"/>
          </p:nvPr>
        </p:nvSpPr>
        <p:spPr/>
        <p:txBody>
          <a:bodyPr/>
          <a:lstStyle/>
          <a:p>
            <a:r>
              <a:rPr lang="en-US" dirty="0"/>
              <a:t>Source Code (.c/.</a:t>
            </a:r>
            <a:r>
              <a:rPr lang="en-US" dirty="0" err="1"/>
              <a:t>cpp</a:t>
            </a:r>
            <a:r>
              <a:rPr lang="en-US" dirty="0"/>
              <a:t>)</a:t>
            </a:r>
          </a:p>
          <a:p>
            <a:pPr marL="0" indent="0">
              <a:buNone/>
            </a:pPr>
            <a:r>
              <a:rPr lang="en-US" dirty="0"/>
              <a:t>     	↓ (compiled)</a:t>
            </a:r>
          </a:p>
          <a:p>
            <a:r>
              <a:rPr lang="en-US" dirty="0"/>
              <a:t>Object Code (.o/.obj)</a:t>
            </a:r>
          </a:p>
          <a:p>
            <a:pPr marL="0" indent="0">
              <a:buNone/>
            </a:pPr>
            <a:r>
              <a:rPr lang="en-US" dirty="0"/>
              <a:t>	↓ (linked)</a:t>
            </a:r>
          </a:p>
          <a:p>
            <a:r>
              <a:rPr lang="en-US" dirty="0"/>
              <a:t>Executable File (.exe/.out)</a:t>
            </a:r>
          </a:p>
          <a:p>
            <a:pPr marL="0" indent="0">
              <a:buNone/>
            </a:pPr>
            <a:r>
              <a:rPr lang="en-US" dirty="0"/>
              <a:t>	↓ (loaded)</a:t>
            </a:r>
          </a:p>
          <a:p>
            <a:r>
              <a:rPr lang="en-US" dirty="0"/>
              <a:t>Program in Memory (ready to run)</a:t>
            </a:r>
          </a:p>
          <a:p>
            <a:endParaRPr lang="en-IN" dirty="0"/>
          </a:p>
        </p:txBody>
      </p:sp>
    </p:spTree>
    <p:extLst>
      <p:ext uri="{BB962C8B-B14F-4D97-AF65-F5344CB8AC3E}">
        <p14:creationId xmlns:p14="http://schemas.microsoft.com/office/powerpoint/2010/main" val="2143670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E40DF-8DE5-D1D2-9686-4E40D700852D}"/>
              </a:ext>
            </a:extLst>
          </p:cNvPr>
          <p:cNvSpPr>
            <a:spLocks noGrp="1"/>
          </p:cNvSpPr>
          <p:nvPr>
            <p:ph idx="1"/>
          </p:nvPr>
        </p:nvSpPr>
        <p:spPr>
          <a:xfrm>
            <a:off x="806450" y="169682"/>
            <a:ext cx="7727950" cy="5948314"/>
          </a:xfrm>
        </p:spPr>
        <p:txBody>
          <a:bodyPr/>
          <a:lstStyle/>
          <a:p>
            <a:pPr marL="0" indent="0">
              <a:buNone/>
            </a:pPr>
            <a:endParaRPr lang="en-US" dirty="0"/>
          </a:p>
          <a:p>
            <a:r>
              <a:rPr lang="en-US" b="1" dirty="0"/>
              <a:t>Linking</a:t>
            </a:r>
            <a:r>
              <a:rPr lang="en-US" dirty="0"/>
              <a:t> is the process of </a:t>
            </a:r>
            <a:r>
              <a:rPr lang="en-US" b="1" dirty="0"/>
              <a:t>combining one or more object files</a:t>
            </a:r>
            <a:r>
              <a:rPr lang="en-US" dirty="0"/>
              <a:t> (and libraries) into a </a:t>
            </a:r>
            <a:r>
              <a:rPr lang="en-US" b="1" dirty="0"/>
              <a:t>single executable file</a:t>
            </a:r>
            <a:r>
              <a:rPr lang="en-US" dirty="0"/>
              <a:t>, and </a:t>
            </a:r>
            <a:r>
              <a:rPr lang="en-US" b="1" dirty="0"/>
              <a:t>resolving all symbol references</a:t>
            </a:r>
            <a:r>
              <a:rPr lang="en-US" dirty="0"/>
              <a:t> (functions, variables, etc.) among them.</a:t>
            </a:r>
          </a:p>
          <a:p>
            <a:r>
              <a:rPr lang="en-US" dirty="0"/>
              <a:t>When you compile a program, each source file is compiled </a:t>
            </a:r>
            <a:r>
              <a:rPr lang="en-US" b="1" dirty="0"/>
              <a:t>separately</a:t>
            </a:r>
            <a:r>
              <a:rPr lang="en-US" dirty="0"/>
              <a:t> into an </a:t>
            </a:r>
            <a:r>
              <a:rPr lang="en-US" b="1" dirty="0"/>
              <a:t>object file</a:t>
            </a:r>
            <a:r>
              <a:rPr lang="en-US" dirty="0"/>
              <a:t>.</a:t>
            </a:r>
            <a:br>
              <a:rPr lang="en-US" dirty="0"/>
            </a:br>
            <a:r>
              <a:rPr lang="en-US" dirty="0"/>
              <a:t>But functions and variables can be defined in </a:t>
            </a:r>
            <a:r>
              <a:rPr lang="en-US" b="1" dirty="0"/>
              <a:t>different files</a:t>
            </a:r>
            <a:r>
              <a:rPr lang="en-US" dirty="0"/>
              <a:t>.</a:t>
            </a:r>
          </a:p>
          <a:p>
            <a:endParaRPr lang="en-US" dirty="0"/>
          </a:p>
          <a:p>
            <a:endParaRPr lang="en-US" dirty="0"/>
          </a:p>
          <a:p>
            <a:endParaRPr lang="en-US" dirty="0"/>
          </a:p>
          <a:p>
            <a:endParaRPr lang="en-US" dirty="0"/>
          </a:p>
          <a:p>
            <a:endParaRPr lang="en-US" dirty="0"/>
          </a:p>
          <a:p>
            <a:r>
              <a:rPr lang="en-US" dirty="0"/>
              <a:t>After compilation:</a:t>
            </a:r>
          </a:p>
          <a:p>
            <a:r>
              <a:rPr lang="en-US" dirty="0"/>
              <a:t>file1.o has an </a:t>
            </a:r>
            <a:r>
              <a:rPr lang="en-US" b="1" dirty="0"/>
              <a:t>unresolved reference</a:t>
            </a:r>
            <a:r>
              <a:rPr lang="en-US" dirty="0"/>
              <a:t> to hello()</a:t>
            </a:r>
          </a:p>
          <a:p>
            <a:r>
              <a:rPr lang="en-US" dirty="0"/>
              <a:t>file2.o has the </a:t>
            </a:r>
            <a:r>
              <a:rPr lang="en-US" b="1" dirty="0"/>
              <a:t>definition</a:t>
            </a:r>
            <a:r>
              <a:rPr lang="en-US" dirty="0"/>
              <a:t> of hello()</a:t>
            </a:r>
          </a:p>
          <a:p>
            <a:r>
              <a:rPr lang="en-US" dirty="0"/>
              <a:t>The </a:t>
            </a:r>
            <a:r>
              <a:rPr lang="en-US" b="1" dirty="0"/>
              <a:t>linker</a:t>
            </a:r>
            <a:r>
              <a:rPr lang="en-US" dirty="0"/>
              <a:t> connects them together into one </a:t>
            </a:r>
            <a:r>
              <a:rPr lang="en-US" b="1" dirty="0"/>
              <a:t>executable file</a:t>
            </a:r>
            <a:r>
              <a:rPr lang="en-US" dirty="0"/>
              <a:t> (like program.exe).</a:t>
            </a:r>
          </a:p>
          <a:p>
            <a:endParaRPr lang="en-US" dirty="0"/>
          </a:p>
          <a:p>
            <a:pPr marL="0" indent="0">
              <a:buNone/>
            </a:pPr>
            <a:endParaRPr lang="en-US" dirty="0"/>
          </a:p>
          <a:p>
            <a:endParaRPr lang="en-IN" dirty="0"/>
          </a:p>
        </p:txBody>
      </p:sp>
      <p:sp>
        <p:nvSpPr>
          <p:cNvPr id="4" name="Rectangle 3">
            <a:extLst>
              <a:ext uri="{FF2B5EF4-FFF2-40B4-BE49-F238E27FC236}">
                <a16:creationId xmlns:a16="http://schemas.microsoft.com/office/drawing/2014/main" id="{207998B9-975A-80BC-D5BD-27F9AB12BE8F}"/>
              </a:ext>
            </a:extLst>
          </p:cNvPr>
          <p:cNvSpPr/>
          <p:nvPr/>
        </p:nvSpPr>
        <p:spPr bwMode="auto">
          <a:xfrm>
            <a:off x="5142223" y="2333134"/>
            <a:ext cx="3271101" cy="180052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1800" b="0" i="0" u="none" strike="noStrike" cap="none" normalizeH="0" baseline="0">
                <a:ln>
                  <a:noFill/>
                </a:ln>
                <a:solidFill>
                  <a:schemeClr val="tx1"/>
                </a:solidFill>
                <a:effectLst/>
                <a:latin typeface="Verdana" charset="0"/>
              </a:rPr>
              <a:t>// file2.c</a:t>
            </a:r>
          </a:p>
          <a:p>
            <a:pPr marL="0" marR="0" indent="0" algn="l" defTabSz="914400" rtl="0" eaLnBrk="0" fontAlgn="base" latinLnBrk="0" hangingPunct="0">
              <a:lnSpc>
                <a:spcPct val="100000"/>
              </a:lnSpc>
              <a:spcBef>
                <a:spcPct val="0"/>
              </a:spcBef>
              <a:spcAft>
                <a:spcPct val="0"/>
              </a:spcAft>
              <a:buClrTx/>
              <a:buSzTx/>
              <a:buFontTx/>
              <a:buNone/>
              <a:tabLst/>
            </a:pPr>
            <a:r>
              <a:rPr kumimoji="0" lang="en-IN" sz="1800" b="0" i="0" u="none" strike="noStrike" cap="none" normalizeH="0" baseline="0">
                <a:ln>
                  <a:noFill/>
                </a:ln>
                <a:solidFill>
                  <a:schemeClr val="tx1"/>
                </a:solidFill>
                <a:effectLst/>
                <a:latin typeface="Verdana" charset="0"/>
              </a:rPr>
              <a:t>#include &lt;stdio.h&gt;</a:t>
            </a:r>
          </a:p>
          <a:p>
            <a:pPr marL="0" marR="0" indent="0" algn="l" defTabSz="914400" rtl="0" eaLnBrk="0" fontAlgn="base" latinLnBrk="0" hangingPunct="0">
              <a:lnSpc>
                <a:spcPct val="100000"/>
              </a:lnSpc>
              <a:spcBef>
                <a:spcPct val="0"/>
              </a:spcBef>
              <a:spcAft>
                <a:spcPct val="0"/>
              </a:spcAft>
              <a:buClrTx/>
              <a:buSzTx/>
              <a:buFontTx/>
              <a:buNone/>
              <a:tabLst/>
            </a:pPr>
            <a:r>
              <a:rPr kumimoji="0" lang="en-IN" sz="1800" b="0" i="0" u="none" strike="noStrike" cap="none" normalizeH="0" baseline="0">
                <a:ln>
                  <a:noFill/>
                </a:ln>
                <a:solidFill>
                  <a:schemeClr val="tx1"/>
                </a:solidFill>
                <a:effectLst/>
                <a:latin typeface="Verdana" charset="0"/>
              </a:rPr>
              <a:t>void hello() {</a:t>
            </a:r>
          </a:p>
          <a:p>
            <a:pPr marL="0" marR="0" indent="0" algn="l" defTabSz="914400" rtl="0" eaLnBrk="0" fontAlgn="base" latinLnBrk="0" hangingPunct="0">
              <a:lnSpc>
                <a:spcPct val="100000"/>
              </a:lnSpc>
              <a:spcBef>
                <a:spcPct val="0"/>
              </a:spcBef>
              <a:spcAft>
                <a:spcPct val="0"/>
              </a:spcAft>
              <a:buClrTx/>
              <a:buSzTx/>
              <a:buFontTx/>
              <a:buNone/>
              <a:tabLst/>
            </a:pPr>
            <a:r>
              <a:rPr kumimoji="0" lang="en-IN" sz="1800" b="0" i="0" u="none" strike="noStrike" cap="none" normalizeH="0" baseline="0">
                <a:ln>
                  <a:noFill/>
                </a:ln>
                <a:solidFill>
                  <a:schemeClr val="tx1"/>
                </a:solidFill>
                <a:effectLst/>
                <a:latin typeface="Verdana" charset="0"/>
              </a:rPr>
              <a:t>    printf("Hello, world!\n");</a:t>
            </a:r>
          </a:p>
          <a:p>
            <a:pPr marL="0" marR="0" indent="0" algn="l" defTabSz="914400" rtl="0" eaLnBrk="0" fontAlgn="base" latinLnBrk="0" hangingPunct="0">
              <a:lnSpc>
                <a:spcPct val="100000"/>
              </a:lnSpc>
              <a:spcBef>
                <a:spcPct val="0"/>
              </a:spcBef>
              <a:spcAft>
                <a:spcPct val="0"/>
              </a:spcAft>
              <a:buClrTx/>
              <a:buSzTx/>
              <a:buFontTx/>
              <a:buNone/>
              <a:tabLst/>
            </a:pPr>
            <a:r>
              <a:rPr kumimoji="0" lang="en-IN" sz="1800" b="0" i="0" u="none" strike="noStrike" cap="none" normalizeH="0" baseline="0">
                <a:ln>
                  <a:noFill/>
                </a:ln>
                <a:solidFill>
                  <a:schemeClr val="tx1"/>
                </a:solidFill>
                <a:effectLst/>
                <a:latin typeface="Verdana" charset="0"/>
              </a:rPr>
              <a:t>}</a:t>
            </a:r>
          </a:p>
        </p:txBody>
      </p:sp>
      <p:sp>
        <p:nvSpPr>
          <p:cNvPr id="5" name="Rectangle 4">
            <a:extLst>
              <a:ext uri="{FF2B5EF4-FFF2-40B4-BE49-F238E27FC236}">
                <a16:creationId xmlns:a16="http://schemas.microsoft.com/office/drawing/2014/main" id="{B93738E4-C385-7166-422E-5266088A94AF}"/>
              </a:ext>
            </a:extLst>
          </p:cNvPr>
          <p:cNvSpPr/>
          <p:nvPr/>
        </p:nvSpPr>
        <p:spPr bwMode="auto">
          <a:xfrm>
            <a:off x="867724" y="2318994"/>
            <a:ext cx="4213225" cy="171096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dirty="0">
                <a:latin typeface="Verdana" charset="0"/>
              </a:rPr>
              <a:t>// file1.c</a:t>
            </a:r>
          </a:p>
          <a:p>
            <a:r>
              <a:rPr lang="en-US" dirty="0">
                <a:latin typeface="Verdana" charset="0"/>
              </a:rPr>
              <a:t>void hello();</a:t>
            </a:r>
          </a:p>
          <a:p>
            <a:r>
              <a:rPr lang="en-US" dirty="0">
                <a:latin typeface="Verdana" charset="0"/>
              </a:rPr>
              <a:t>int main() {</a:t>
            </a:r>
          </a:p>
          <a:p>
            <a:r>
              <a:rPr lang="en-US" dirty="0">
                <a:latin typeface="Verdana" charset="0"/>
              </a:rPr>
              <a:t>    hello(); // Function call </a:t>
            </a:r>
          </a:p>
          <a:p>
            <a:r>
              <a:rPr lang="en-US" dirty="0">
                <a:latin typeface="Verdana" charset="0"/>
              </a:rPr>
              <a:t>		//from another file</a:t>
            </a:r>
          </a:p>
          <a:p>
            <a:r>
              <a:rPr lang="en-US" dirty="0">
                <a:latin typeface="Verdana" charset="0"/>
              </a:rPr>
              <a:t>    return 0;}</a:t>
            </a:r>
          </a:p>
        </p:txBody>
      </p:sp>
    </p:spTree>
    <p:extLst>
      <p:ext uri="{BB962C8B-B14F-4D97-AF65-F5344CB8AC3E}">
        <p14:creationId xmlns:p14="http://schemas.microsoft.com/office/powerpoint/2010/main" val="56079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A07A1-7ACD-9FB1-D17A-919D9321A5AC}"/>
              </a:ext>
            </a:extLst>
          </p:cNvPr>
          <p:cNvSpPr>
            <a:spLocks noGrp="1"/>
          </p:cNvSpPr>
          <p:nvPr>
            <p:ph idx="1"/>
          </p:nvPr>
        </p:nvSpPr>
        <p:spPr>
          <a:xfrm>
            <a:off x="806450" y="490194"/>
            <a:ext cx="7727950" cy="5533534"/>
          </a:xfrm>
        </p:spPr>
        <p:txBody>
          <a:bodyPr/>
          <a:lstStyle/>
          <a:p>
            <a:r>
              <a:rPr lang="en-US" b="1" dirty="0"/>
              <a:t>Loading</a:t>
            </a:r>
            <a:r>
              <a:rPr lang="en-US" dirty="0"/>
              <a:t> is the process of </a:t>
            </a:r>
            <a:r>
              <a:rPr lang="en-US" b="1" dirty="0"/>
              <a:t>placing an executable program into main memory (RAM)</a:t>
            </a:r>
            <a:r>
              <a:rPr lang="en-US" dirty="0"/>
              <a:t> so that it can be executed by the CPU.</a:t>
            </a:r>
          </a:p>
          <a:p>
            <a:r>
              <a:rPr lang="en-US" dirty="0"/>
              <a:t>The </a:t>
            </a:r>
            <a:r>
              <a:rPr lang="en-US" b="1" dirty="0"/>
              <a:t>loader</a:t>
            </a:r>
            <a:r>
              <a:rPr lang="en-US" dirty="0"/>
              <a:t> is part of the </a:t>
            </a:r>
            <a:r>
              <a:rPr lang="en-US" b="1" dirty="0"/>
              <a:t>operating system</a:t>
            </a:r>
            <a:r>
              <a:rPr lang="en-US" dirty="0"/>
              <a:t>.</a:t>
            </a:r>
            <a:br>
              <a:rPr lang="en-US" dirty="0"/>
            </a:br>
            <a:r>
              <a:rPr lang="en-US" dirty="0"/>
              <a:t>It performs these steps:</a:t>
            </a:r>
          </a:p>
          <a:p>
            <a:r>
              <a:rPr lang="en-US" b="1" dirty="0"/>
              <a:t>Reads the executable file</a:t>
            </a:r>
            <a:r>
              <a:rPr lang="en-US" dirty="0"/>
              <a:t> (output from linker)</a:t>
            </a:r>
          </a:p>
          <a:p>
            <a:r>
              <a:rPr lang="en-US" b="1" dirty="0"/>
              <a:t>Allocates memory</a:t>
            </a:r>
            <a:r>
              <a:rPr lang="en-US" dirty="0"/>
              <a:t> space for:</a:t>
            </a:r>
          </a:p>
          <a:p>
            <a:pPr lvl="1"/>
            <a:r>
              <a:rPr lang="en-US" dirty="0"/>
              <a:t>Code segment (instructions)</a:t>
            </a:r>
          </a:p>
          <a:p>
            <a:pPr lvl="1"/>
            <a:r>
              <a:rPr lang="en-US" dirty="0"/>
              <a:t>Data segment (variables)</a:t>
            </a:r>
          </a:p>
          <a:p>
            <a:pPr lvl="1"/>
            <a:r>
              <a:rPr lang="en-US" dirty="0"/>
              <a:t>Stack and heap</a:t>
            </a:r>
          </a:p>
          <a:p>
            <a:r>
              <a:rPr lang="en-US" b="1" dirty="0"/>
              <a:t>Loads program segments</a:t>
            </a:r>
            <a:r>
              <a:rPr lang="en-US" dirty="0"/>
              <a:t> into their respective memory areas</a:t>
            </a:r>
          </a:p>
          <a:p>
            <a:r>
              <a:rPr lang="en-US" b="1" dirty="0"/>
              <a:t>Sets up registers:</a:t>
            </a:r>
            <a:endParaRPr lang="en-US" dirty="0"/>
          </a:p>
          <a:p>
            <a:pPr lvl="1"/>
            <a:r>
              <a:rPr lang="en-US" dirty="0"/>
              <a:t>Base and limit registers</a:t>
            </a:r>
          </a:p>
          <a:p>
            <a:pPr lvl="1"/>
            <a:r>
              <a:rPr lang="en-US" dirty="0"/>
              <a:t>Stack pointer</a:t>
            </a:r>
          </a:p>
          <a:p>
            <a:pPr lvl="1"/>
            <a:r>
              <a:rPr lang="en-US" dirty="0"/>
              <a:t>Instruction counter (to point to main())</a:t>
            </a:r>
          </a:p>
          <a:p>
            <a:r>
              <a:rPr lang="en-US" b="1" dirty="0"/>
              <a:t>Transfers control to the program</a:t>
            </a:r>
            <a:r>
              <a:rPr lang="en-US" dirty="0"/>
              <a:t> — CPU starts executing!</a:t>
            </a:r>
          </a:p>
          <a:p>
            <a:endParaRPr lang="en-IN" dirty="0"/>
          </a:p>
        </p:txBody>
      </p:sp>
    </p:spTree>
    <p:extLst>
      <p:ext uri="{BB962C8B-B14F-4D97-AF65-F5344CB8AC3E}">
        <p14:creationId xmlns:p14="http://schemas.microsoft.com/office/powerpoint/2010/main" val="235929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31FDCDF-862F-4130-9AC2-74FFC425A8A9}"/>
              </a:ext>
            </a:extLst>
          </p:cNvPr>
          <p:cNvSpPr>
            <a:spLocks noGrp="1" noChangeArrowheads="1"/>
          </p:cNvSpPr>
          <p:nvPr>
            <p:ph type="title"/>
          </p:nvPr>
        </p:nvSpPr>
        <p:spPr>
          <a:xfrm>
            <a:off x="862692" y="346499"/>
            <a:ext cx="8134350" cy="457200"/>
          </a:xfrm>
        </p:spPr>
        <p:txBody>
          <a:bodyPr/>
          <a:lstStyle/>
          <a:p>
            <a:pPr eaLnBrk="1" hangingPunct="1"/>
            <a:r>
              <a:rPr lang="en-US" altLang="en-US" sz="2800" dirty="0"/>
              <a:t>Binding of Instructions and Data to Memory</a:t>
            </a:r>
          </a:p>
        </p:txBody>
      </p:sp>
      <p:sp>
        <p:nvSpPr>
          <p:cNvPr id="10243" name="Rectangle 3">
            <a:extLst>
              <a:ext uri="{FF2B5EF4-FFF2-40B4-BE49-F238E27FC236}">
                <a16:creationId xmlns:a16="http://schemas.microsoft.com/office/drawing/2014/main" id="{0EEA4A90-B04E-4456-A1FE-DC4568DFF5CA}"/>
              </a:ext>
            </a:extLst>
          </p:cNvPr>
          <p:cNvSpPr>
            <a:spLocks noGrp="1" noChangeArrowheads="1"/>
          </p:cNvSpPr>
          <p:nvPr>
            <p:ph type="body" idx="1"/>
          </p:nvPr>
        </p:nvSpPr>
        <p:spPr>
          <a:xfrm>
            <a:off x="739256" y="1042115"/>
            <a:ext cx="7665488" cy="5373142"/>
          </a:xfrm>
        </p:spPr>
        <p:txBody>
          <a:bodyPr/>
          <a:lstStyle/>
          <a:p>
            <a:r>
              <a:rPr kumimoji="0" lang="en-IN" altLang="en-US" dirty="0"/>
              <a:t>Address binding is the process of mapping from one address space to another address space</a:t>
            </a:r>
          </a:p>
          <a:p>
            <a:r>
              <a:rPr kumimoji="0" lang="en-US" altLang="en-US" dirty="0"/>
              <a:t>Address binding of instructions and data to memory addresses can happen at three different stages</a:t>
            </a:r>
          </a:p>
          <a:p>
            <a:endParaRPr kumimoji="0" lang="en-US" altLang="en-US" dirty="0"/>
          </a:p>
        </p:txBody>
      </p:sp>
      <p:graphicFrame>
        <p:nvGraphicFramePr>
          <p:cNvPr id="2" name="Table 1">
            <a:extLst>
              <a:ext uri="{FF2B5EF4-FFF2-40B4-BE49-F238E27FC236}">
                <a16:creationId xmlns:a16="http://schemas.microsoft.com/office/drawing/2014/main" id="{21D579B9-D22A-39C1-B818-DAB3E8BA0E90}"/>
              </a:ext>
            </a:extLst>
          </p:cNvPr>
          <p:cNvGraphicFramePr>
            <a:graphicFrameLocks noGrp="1"/>
          </p:cNvGraphicFramePr>
          <p:nvPr>
            <p:extLst>
              <p:ext uri="{D42A27DB-BD31-4B8C-83A1-F6EECF244321}">
                <p14:modId xmlns:p14="http://schemas.microsoft.com/office/powerpoint/2010/main" val="2022212435"/>
              </p:ext>
            </p:extLst>
          </p:nvPr>
        </p:nvGraphicFramePr>
        <p:xfrm>
          <a:off x="941468" y="2617485"/>
          <a:ext cx="7463276" cy="3198400"/>
        </p:xfrm>
        <a:graphic>
          <a:graphicData uri="http://schemas.openxmlformats.org/drawingml/2006/table">
            <a:tbl>
              <a:tblPr/>
              <a:tblGrid>
                <a:gridCol w="1865819">
                  <a:extLst>
                    <a:ext uri="{9D8B030D-6E8A-4147-A177-3AD203B41FA5}">
                      <a16:colId xmlns:a16="http://schemas.microsoft.com/office/drawing/2014/main" val="3291028211"/>
                    </a:ext>
                  </a:extLst>
                </a:gridCol>
                <a:gridCol w="1865819">
                  <a:extLst>
                    <a:ext uri="{9D8B030D-6E8A-4147-A177-3AD203B41FA5}">
                      <a16:colId xmlns:a16="http://schemas.microsoft.com/office/drawing/2014/main" val="418977703"/>
                    </a:ext>
                  </a:extLst>
                </a:gridCol>
                <a:gridCol w="1865819">
                  <a:extLst>
                    <a:ext uri="{9D8B030D-6E8A-4147-A177-3AD203B41FA5}">
                      <a16:colId xmlns:a16="http://schemas.microsoft.com/office/drawing/2014/main" val="3734009761"/>
                    </a:ext>
                  </a:extLst>
                </a:gridCol>
                <a:gridCol w="1865819">
                  <a:extLst>
                    <a:ext uri="{9D8B030D-6E8A-4147-A177-3AD203B41FA5}">
                      <a16:colId xmlns:a16="http://schemas.microsoft.com/office/drawing/2014/main" val="1667994989"/>
                    </a:ext>
                  </a:extLst>
                </a:gridCol>
              </a:tblGrid>
              <a:tr h="291367">
                <a:tc>
                  <a:txBody>
                    <a:bodyPr/>
                    <a:lstStyle/>
                    <a:p>
                      <a:pPr>
                        <a:buNone/>
                      </a:pPr>
                      <a:r>
                        <a:rPr lang="en-IN" sz="1700"/>
                        <a:t>Type</a:t>
                      </a:r>
                    </a:p>
                  </a:txBody>
                  <a:tcPr marL="87129" marR="87129" marT="43565" marB="43565" anchor="ctr">
                    <a:lnL>
                      <a:noFill/>
                    </a:lnL>
                    <a:lnR>
                      <a:noFill/>
                    </a:lnR>
                    <a:lnT>
                      <a:noFill/>
                    </a:lnT>
                    <a:lnB>
                      <a:noFill/>
                    </a:lnB>
                    <a:noFill/>
                  </a:tcPr>
                </a:tc>
                <a:tc>
                  <a:txBody>
                    <a:bodyPr/>
                    <a:lstStyle/>
                    <a:p>
                      <a:pPr>
                        <a:buNone/>
                      </a:pPr>
                      <a:r>
                        <a:rPr lang="en-IN" sz="1700"/>
                        <a:t>When It Happens</a:t>
                      </a:r>
                    </a:p>
                  </a:txBody>
                  <a:tcPr marL="87129" marR="87129" marT="43565" marB="43565" anchor="ctr">
                    <a:lnL>
                      <a:noFill/>
                    </a:lnL>
                    <a:lnR>
                      <a:noFill/>
                    </a:lnR>
                    <a:lnT>
                      <a:noFill/>
                    </a:lnT>
                    <a:lnB>
                      <a:noFill/>
                    </a:lnB>
                    <a:noFill/>
                  </a:tcPr>
                </a:tc>
                <a:tc>
                  <a:txBody>
                    <a:bodyPr/>
                    <a:lstStyle/>
                    <a:p>
                      <a:pPr>
                        <a:buNone/>
                      </a:pPr>
                      <a:r>
                        <a:rPr lang="en-IN" sz="1700"/>
                        <a:t>Who Does It</a:t>
                      </a:r>
                    </a:p>
                  </a:txBody>
                  <a:tcPr marL="87129" marR="87129" marT="43565" marB="43565" anchor="ctr">
                    <a:lnL>
                      <a:noFill/>
                    </a:lnL>
                    <a:lnR>
                      <a:noFill/>
                    </a:lnR>
                    <a:lnT>
                      <a:noFill/>
                    </a:lnT>
                    <a:lnB>
                      <a:noFill/>
                    </a:lnB>
                    <a:noFill/>
                  </a:tcPr>
                </a:tc>
                <a:tc>
                  <a:txBody>
                    <a:bodyPr/>
                    <a:lstStyle/>
                    <a:p>
                      <a:pPr>
                        <a:buNone/>
                      </a:pPr>
                      <a:r>
                        <a:rPr lang="en-IN" sz="1700" dirty="0"/>
                        <a:t>Example</a:t>
                      </a:r>
                    </a:p>
                  </a:txBody>
                  <a:tcPr marL="87129" marR="87129" marT="43565" marB="43565" anchor="ctr">
                    <a:lnL>
                      <a:noFill/>
                    </a:lnL>
                    <a:lnR>
                      <a:noFill/>
                    </a:lnR>
                    <a:lnT>
                      <a:noFill/>
                    </a:lnT>
                    <a:lnB>
                      <a:noFill/>
                    </a:lnB>
                    <a:noFill/>
                  </a:tcPr>
                </a:tc>
                <a:extLst>
                  <a:ext uri="{0D108BD9-81ED-4DB2-BD59-A6C34878D82A}">
                    <a16:rowId xmlns:a16="http://schemas.microsoft.com/office/drawing/2014/main" val="2366063767"/>
                  </a:ext>
                </a:extLst>
              </a:tr>
              <a:tr h="665506">
                <a:tc>
                  <a:txBody>
                    <a:bodyPr/>
                    <a:lstStyle/>
                    <a:p>
                      <a:pPr>
                        <a:buNone/>
                      </a:pPr>
                      <a:r>
                        <a:rPr lang="en-IN" sz="1700" b="1"/>
                        <a:t>Compile-Time Binding</a:t>
                      </a:r>
                      <a:endParaRPr lang="en-IN" sz="1700"/>
                    </a:p>
                  </a:txBody>
                  <a:tcPr marL="87129" marR="87129" marT="43565" marB="43565" anchor="ctr">
                    <a:lnL>
                      <a:noFill/>
                    </a:lnL>
                    <a:lnR>
                      <a:noFill/>
                    </a:lnR>
                    <a:lnT>
                      <a:noFill/>
                    </a:lnT>
                    <a:lnB>
                      <a:noFill/>
                    </a:lnB>
                    <a:noFill/>
                  </a:tcPr>
                </a:tc>
                <a:tc>
                  <a:txBody>
                    <a:bodyPr/>
                    <a:lstStyle/>
                    <a:p>
                      <a:pPr>
                        <a:buNone/>
                      </a:pPr>
                      <a:r>
                        <a:rPr lang="en-IN" sz="1700"/>
                        <a:t>During compilation</a:t>
                      </a:r>
                    </a:p>
                  </a:txBody>
                  <a:tcPr marL="87129" marR="87129" marT="43565" marB="43565" anchor="ctr">
                    <a:lnL>
                      <a:noFill/>
                    </a:lnL>
                    <a:lnR>
                      <a:noFill/>
                    </a:lnR>
                    <a:lnT>
                      <a:noFill/>
                    </a:lnT>
                    <a:lnB>
                      <a:noFill/>
                    </a:lnB>
                    <a:noFill/>
                  </a:tcPr>
                </a:tc>
                <a:tc>
                  <a:txBody>
                    <a:bodyPr/>
                    <a:lstStyle/>
                    <a:p>
                      <a:pPr>
                        <a:buNone/>
                      </a:pPr>
                      <a:r>
                        <a:rPr lang="en-IN" sz="1700"/>
                        <a:t>Compiler</a:t>
                      </a:r>
                    </a:p>
                  </a:txBody>
                  <a:tcPr marL="87129" marR="87129" marT="43565" marB="43565" anchor="ctr">
                    <a:lnL>
                      <a:noFill/>
                    </a:lnL>
                    <a:lnR>
                      <a:noFill/>
                    </a:lnR>
                    <a:lnT>
                      <a:noFill/>
                    </a:lnT>
                    <a:lnB>
                      <a:noFill/>
                    </a:lnB>
                    <a:noFill/>
                  </a:tcPr>
                </a:tc>
                <a:tc>
                  <a:txBody>
                    <a:bodyPr/>
                    <a:lstStyle/>
                    <a:p>
                      <a:pPr>
                        <a:buNone/>
                      </a:pPr>
                      <a:r>
                        <a:rPr lang="en-US" sz="1700" dirty="0"/>
                        <a:t>Fixed memory location decided by compiler</a:t>
                      </a:r>
                    </a:p>
                  </a:txBody>
                  <a:tcPr marL="87129" marR="87129" marT="43565" marB="43565" anchor="ctr">
                    <a:lnL>
                      <a:noFill/>
                    </a:lnL>
                    <a:lnR>
                      <a:noFill/>
                    </a:lnR>
                    <a:lnT>
                      <a:noFill/>
                    </a:lnT>
                    <a:lnB>
                      <a:noFill/>
                    </a:lnB>
                    <a:noFill/>
                  </a:tcPr>
                </a:tc>
                <a:extLst>
                  <a:ext uri="{0D108BD9-81ED-4DB2-BD59-A6C34878D82A}">
                    <a16:rowId xmlns:a16="http://schemas.microsoft.com/office/drawing/2014/main" val="1588452279"/>
                  </a:ext>
                </a:extLst>
              </a:tr>
              <a:tr h="540793">
                <a:tc>
                  <a:txBody>
                    <a:bodyPr/>
                    <a:lstStyle/>
                    <a:p>
                      <a:pPr>
                        <a:buNone/>
                      </a:pPr>
                      <a:r>
                        <a:rPr lang="en-IN" sz="1700" b="1"/>
                        <a:t>Load-Time Binding</a:t>
                      </a:r>
                      <a:endParaRPr lang="en-IN" sz="1700"/>
                    </a:p>
                  </a:txBody>
                  <a:tcPr marL="87129" marR="87129" marT="43565" marB="43565" anchor="ctr">
                    <a:lnL>
                      <a:noFill/>
                    </a:lnL>
                    <a:lnR>
                      <a:noFill/>
                    </a:lnR>
                    <a:lnT>
                      <a:noFill/>
                    </a:lnT>
                    <a:lnB>
                      <a:noFill/>
                    </a:lnB>
                    <a:noFill/>
                  </a:tcPr>
                </a:tc>
                <a:tc>
                  <a:txBody>
                    <a:bodyPr/>
                    <a:lstStyle/>
                    <a:p>
                      <a:pPr>
                        <a:buNone/>
                      </a:pPr>
                      <a:r>
                        <a:rPr lang="en-US" sz="1700"/>
                        <a:t>When program is loaded into memory</a:t>
                      </a:r>
                    </a:p>
                  </a:txBody>
                  <a:tcPr marL="87129" marR="87129" marT="43565" marB="43565" anchor="ctr">
                    <a:lnL>
                      <a:noFill/>
                    </a:lnL>
                    <a:lnR>
                      <a:noFill/>
                    </a:lnR>
                    <a:lnT>
                      <a:noFill/>
                    </a:lnT>
                    <a:lnB>
                      <a:noFill/>
                    </a:lnB>
                    <a:noFill/>
                  </a:tcPr>
                </a:tc>
                <a:tc>
                  <a:txBody>
                    <a:bodyPr/>
                    <a:lstStyle/>
                    <a:p>
                      <a:pPr>
                        <a:buNone/>
                      </a:pPr>
                      <a:r>
                        <a:rPr lang="en-IN" sz="1700"/>
                        <a:t>Loader</a:t>
                      </a:r>
                    </a:p>
                  </a:txBody>
                  <a:tcPr marL="87129" marR="87129" marT="43565" marB="43565" anchor="ctr">
                    <a:lnL>
                      <a:noFill/>
                    </a:lnL>
                    <a:lnR>
                      <a:noFill/>
                    </a:lnR>
                    <a:lnT>
                      <a:noFill/>
                    </a:lnT>
                    <a:lnB>
                      <a:noFill/>
                    </a:lnB>
                    <a:noFill/>
                  </a:tcPr>
                </a:tc>
                <a:tc>
                  <a:txBody>
                    <a:bodyPr/>
                    <a:lstStyle/>
                    <a:p>
                      <a:pPr>
                        <a:buNone/>
                      </a:pPr>
                      <a:r>
                        <a:rPr lang="en-IN" sz="1700"/>
                        <a:t>Loader decides base address</a:t>
                      </a:r>
                    </a:p>
                  </a:txBody>
                  <a:tcPr marL="87129" marR="87129" marT="43565" marB="43565" anchor="ctr">
                    <a:lnL>
                      <a:noFill/>
                    </a:lnL>
                    <a:lnR>
                      <a:noFill/>
                    </a:lnR>
                    <a:lnT>
                      <a:noFill/>
                    </a:lnT>
                    <a:lnB>
                      <a:noFill/>
                    </a:lnB>
                    <a:noFill/>
                  </a:tcPr>
                </a:tc>
                <a:extLst>
                  <a:ext uri="{0D108BD9-81ED-4DB2-BD59-A6C34878D82A}">
                    <a16:rowId xmlns:a16="http://schemas.microsoft.com/office/drawing/2014/main" val="1409530440"/>
                  </a:ext>
                </a:extLst>
              </a:tr>
              <a:tr h="665506">
                <a:tc>
                  <a:txBody>
                    <a:bodyPr/>
                    <a:lstStyle/>
                    <a:p>
                      <a:pPr>
                        <a:buNone/>
                      </a:pPr>
                      <a:r>
                        <a:rPr lang="en-IN" sz="1700" b="1"/>
                        <a:t>Execution-Time Binding</a:t>
                      </a:r>
                      <a:endParaRPr lang="en-IN" sz="1700"/>
                    </a:p>
                  </a:txBody>
                  <a:tcPr marL="87129" marR="87129" marT="43565" marB="43565" anchor="ctr">
                    <a:lnL>
                      <a:noFill/>
                    </a:lnL>
                    <a:lnR>
                      <a:noFill/>
                    </a:lnR>
                    <a:lnT>
                      <a:noFill/>
                    </a:lnT>
                    <a:lnB>
                      <a:noFill/>
                    </a:lnB>
                    <a:noFill/>
                  </a:tcPr>
                </a:tc>
                <a:tc>
                  <a:txBody>
                    <a:bodyPr/>
                    <a:lstStyle/>
                    <a:p>
                      <a:pPr>
                        <a:buNone/>
                      </a:pPr>
                      <a:r>
                        <a:rPr lang="en-IN" sz="1700"/>
                        <a:t>While program is running</a:t>
                      </a:r>
                    </a:p>
                  </a:txBody>
                  <a:tcPr marL="87129" marR="87129" marT="43565" marB="43565" anchor="ctr">
                    <a:lnL>
                      <a:noFill/>
                    </a:lnL>
                    <a:lnR>
                      <a:noFill/>
                    </a:lnR>
                    <a:lnT>
                      <a:noFill/>
                    </a:lnT>
                    <a:lnB>
                      <a:noFill/>
                    </a:lnB>
                    <a:noFill/>
                  </a:tcPr>
                </a:tc>
                <a:tc>
                  <a:txBody>
                    <a:bodyPr/>
                    <a:lstStyle/>
                    <a:p>
                      <a:pPr>
                        <a:buNone/>
                      </a:pPr>
                      <a:r>
                        <a:rPr lang="en-IN" sz="1700"/>
                        <a:t>MMU (hardware)</a:t>
                      </a:r>
                    </a:p>
                  </a:txBody>
                  <a:tcPr marL="87129" marR="87129" marT="43565" marB="43565" anchor="ctr">
                    <a:lnL>
                      <a:noFill/>
                    </a:lnL>
                    <a:lnR>
                      <a:noFill/>
                    </a:lnR>
                    <a:lnT>
                      <a:noFill/>
                    </a:lnT>
                    <a:lnB>
                      <a:noFill/>
                    </a:lnB>
                    <a:noFill/>
                  </a:tcPr>
                </a:tc>
                <a:tc>
                  <a:txBody>
                    <a:bodyPr/>
                    <a:lstStyle/>
                    <a:p>
                      <a:pPr>
                        <a:buNone/>
                      </a:pPr>
                      <a:r>
                        <a:rPr lang="en-US" sz="1700" dirty="0"/>
                        <a:t>Logical → physical address translation at runtime</a:t>
                      </a:r>
                    </a:p>
                  </a:txBody>
                  <a:tcPr marL="87129" marR="87129" marT="43565" marB="43565" anchor="ctr">
                    <a:lnL>
                      <a:noFill/>
                    </a:lnL>
                    <a:lnR>
                      <a:noFill/>
                    </a:lnR>
                    <a:lnT>
                      <a:noFill/>
                    </a:lnT>
                    <a:lnB>
                      <a:noFill/>
                    </a:lnB>
                    <a:noFill/>
                  </a:tcPr>
                </a:tc>
                <a:extLst>
                  <a:ext uri="{0D108BD9-81ED-4DB2-BD59-A6C34878D82A}">
                    <a16:rowId xmlns:a16="http://schemas.microsoft.com/office/drawing/2014/main" val="270901363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006E9-E621-BD80-14E0-52D59065B734}"/>
              </a:ext>
            </a:extLst>
          </p:cNvPr>
          <p:cNvSpPr>
            <a:spLocks noGrp="1"/>
          </p:cNvSpPr>
          <p:nvPr>
            <p:ph idx="1"/>
          </p:nvPr>
        </p:nvSpPr>
        <p:spPr>
          <a:xfrm>
            <a:off x="806450" y="254524"/>
            <a:ext cx="7727950" cy="5854045"/>
          </a:xfrm>
        </p:spPr>
        <p:txBody>
          <a:bodyPr/>
          <a:lstStyle/>
          <a:p>
            <a:r>
              <a:rPr lang="en-US" b="1" dirty="0"/>
              <a:t>Compile-time binding </a:t>
            </a:r>
            <a:r>
              <a:rPr lang="en-US" dirty="0"/>
              <a:t>- The compiler knows exactly where the program will be loaded in memory. It generates absolute addresses directly in the machine code. When the program executes, those addresses directly refer to physical memory locations. </a:t>
            </a:r>
          </a:p>
          <a:p>
            <a:r>
              <a:rPr lang="en-US" dirty="0"/>
              <a:t>Eg : Compiler assumes program starts at 1000.</a:t>
            </a:r>
          </a:p>
          <a:p>
            <a:pPr marL="0" indent="0">
              <a:buNone/>
            </a:pPr>
            <a:r>
              <a:rPr lang="en-US" dirty="0"/>
              <a:t>      Instruction uses address 1014 directly in the code.</a:t>
            </a:r>
          </a:p>
          <a:p>
            <a:pPr marL="0" indent="0">
              <a:buNone/>
            </a:pPr>
            <a:r>
              <a:rPr lang="en-US" dirty="0"/>
              <a:t>      CPU accesses physical memory 1014 directly.</a:t>
            </a:r>
          </a:p>
          <a:p>
            <a:r>
              <a:rPr lang="en-US" b="1" dirty="0"/>
              <a:t>Load-time binding </a:t>
            </a:r>
            <a:r>
              <a:rPr lang="en-US" dirty="0"/>
              <a:t>- The compiler produces relocatable addresses (like +14). The loader decides where the program will be placed (say, at address 4000). Loader adds base address to every relocatable address to make them absolute before execution.</a:t>
            </a:r>
          </a:p>
          <a:p>
            <a:r>
              <a:rPr lang="en-IN" dirty="0"/>
              <a:t>Eg:</a:t>
            </a:r>
            <a:r>
              <a:rPr lang="en-US" dirty="0"/>
              <a:t>Relocatable address = +14</a:t>
            </a:r>
          </a:p>
          <a:p>
            <a:pPr marL="0" indent="0">
              <a:buNone/>
            </a:pPr>
            <a:r>
              <a:rPr lang="en-US" dirty="0"/>
              <a:t>     Program loaded at 4000</a:t>
            </a:r>
          </a:p>
          <a:p>
            <a:pPr marL="0" indent="0">
              <a:buNone/>
            </a:pPr>
            <a:r>
              <a:rPr lang="en-US" dirty="0"/>
              <a:t>     Loader binds: 4000 + 14 = 4014</a:t>
            </a:r>
          </a:p>
          <a:p>
            <a:pPr marL="0" indent="0">
              <a:buNone/>
            </a:pPr>
            <a:r>
              <a:rPr lang="en-US" dirty="0"/>
              <a:t>     The instruction uses physical address 4014 directly.</a:t>
            </a:r>
            <a:endParaRPr lang="en-IN" dirty="0"/>
          </a:p>
        </p:txBody>
      </p:sp>
    </p:spTree>
    <p:extLst>
      <p:ext uri="{BB962C8B-B14F-4D97-AF65-F5344CB8AC3E}">
        <p14:creationId xmlns:p14="http://schemas.microsoft.com/office/powerpoint/2010/main" val="3347410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7D4A7E-ABD4-91A9-167A-B1101323ECB2}"/>
              </a:ext>
            </a:extLst>
          </p:cNvPr>
          <p:cNvSpPr>
            <a:spLocks noGrp="1"/>
          </p:cNvSpPr>
          <p:nvPr>
            <p:ph idx="1"/>
          </p:nvPr>
        </p:nvSpPr>
        <p:spPr/>
        <p:txBody>
          <a:bodyPr/>
          <a:lstStyle/>
          <a:p>
            <a:r>
              <a:rPr lang="en-US" b="1" dirty="0"/>
              <a:t>Execution-time binding </a:t>
            </a:r>
            <a:r>
              <a:rPr lang="en-US" dirty="0"/>
              <a:t>- The compiler and loader don’t know where the program will be in memory. CPU generates logical (virtual) addresses during execution. The MMU (Memory Management Unit) translates them into physical addresses on the fly.</a:t>
            </a:r>
          </a:p>
          <a:p>
            <a:r>
              <a:rPr lang="en-US" dirty="0"/>
              <a:t>Eg: CPU generates logical address = 14</a:t>
            </a:r>
          </a:p>
          <a:p>
            <a:r>
              <a:rPr lang="en-US" dirty="0"/>
              <a:t>MMU base = 4000</a:t>
            </a:r>
          </a:p>
          <a:p>
            <a:r>
              <a:rPr lang="en-US" dirty="0"/>
              <a:t>Physical address = 4000 + 14 = 4014</a:t>
            </a:r>
            <a:endParaRPr lang="en-IN" dirty="0"/>
          </a:p>
        </p:txBody>
      </p:sp>
    </p:spTree>
    <p:extLst>
      <p:ext uri="{BB962C8B-B14F-4D97-AF65-F5344CB8AC3E}">
        <p14:creationId xmlns:p14="http://schemas.microsoft.com/office/powerpoint/2010/main" val="2627562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A256429-8A29-4AF1-9F8C-6CD506523C81}"/>
              </a:ext>
            </a:extLst>
          </p:cNvPr>
          <p:cNvSpPr>
            <a:spLocks noGrp="1" noChangeArrowheads="1"/>
          </p:cNvSpPr>
          <p:nvPr>
            <p:ph type="title"/>
          </p:nvPr>
        </p:nvSpPr>
        <p:spPr>
          <a:xfrm>
            <a:off x="1007705" y="239976"/>
            <a:ext cx="7632442" cy="576262"/>
          </a:xfrm>
        </p:spPr>
        <p:txBody>
          <a:bodyPr/>
          <a:lstStyle/>
          <a:p>
            <a:pPr eaLnBrk="1" hangingPunct="1"/>
            <a:r>
              <a:rPr lang="en-US" altLang="en-US" sz="3000" dirty="0"/>
              <a:t>Multistep Processing of a User Program </a:t>
            </a:r>
          </a:p>
        </p:txBody>
      </p:sp>
      <p:pic>
        <p:nvPicPr>
          <p:cNvPr id="11267" name="Picture 4" descr="8">
            <a:extLst>
              <a:ext uri="{FF2B5EF4-FFF2-40B4-BE49-F238E27FC236}">
                <a16:creationId xmlns:a16="http://schemas.microsoft.com/office/drawing/2014/main" id="{75CF92DA-1727-49A0-ABD7-10CB996C9E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738" y="1231900"/>
            <a:ext cx="2554287"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0144CE-1262-AF63-F1EE-A73B6AF9F31D}"/>
              </a:ext>
            </a:extLst>
          </p:cNvPr>
          <p:cNvSpPr>
            <a:spLocks noGrp="1"/>
          </p:cNvSpPr>
          <p:nvPr>
            <p:ph idx="1"/>
          </p:nvPr>
        </p:nvSpPr>
        <p:spPr/>
        <p:txBody>
          <a:bodyPr/>
          <a:lstStyle/>
          <a:p>
            <a:pPr>
              <a:buFont typeface="Wingdings" panose="05000000000000000000" pitchFamily="2" charset="2"/>
              <a:buChar char="Ø"/>
            </a:pPr>
            <a:r>
              <a:rPr lang="en-US" b="1" dirty="0"/>
              <a:t>Preprocessing</a:t>
            </a:r>
          </a:p>
          <a:p>
            <a:r>
              <a:rPr lang="en-US" dirty="0"/>
              <a:t>Performed by the </a:t>
            </a:r>
            <a:r>
              <a:rPr lang="en-US" b="1" dirty="0"/>
              <a:t>preprocessor</a:t>
            </a:r>
            <a:endParaRPr lang="en-US" dirty="0"/>
          </a:p>
          <a:p>
            <a:r>
              <a:rPr lang="en-US" dirty="0"/>
              <a:t>Tasks:</a:t>
            </a:r>
          </a:p>
          <a:p>
            <a:pPr lvl="1"/>
            <a:r>
              <a:rPr lang="en-US" dirty="0"/>
              <a:t>Expand </a:t>
            </a:r>
            <a:r>
              <a:rPr lang="en-US" b="1" dirty="0"/>
              <a:t>macros</a:t>
            </a:r>
            <a:r>
              <a:rPr lang="en-US" dirty="0"/>
              <a:t> (#define PI 3.14)</a:t>
            </a:r>
          </a:p>
          <a:p>
            <a:pPr lvl="1"/>
            <a:r>
              <a:rPr lang="en-US" dirty="0"/>
              <a:t>Include </a:t>
            </a:r>
            <a:r>
              <a:rPr lang="en-US" b="1" dirty="0"/>
              <a:t>header files</a:t>
            </a:r>
            <a:r>
              <a:rPr lang="en-US" dirty="0"/>
              <a:t> (#include &lt;</a:t>
            </a:r>
            <a:r>
              <a:rPr lang="en-US" dirty="0" err="1"/>
              <a:t>stdio.h</a:t>
            </a:r>
            <a:r>
              <a:rPr lang="en-US" dirty="0"/>
              <a:t>&gt;)</a:t>
            </a:r>
          </a:p>
          <a:p>
            <a:pPr lvl="1"/>
            <a:r>
              <a:rPr lang="en-US" dirty="0"/>
              <a:t>Remove </a:t>
            </a:r>
            <a:r>
              <a:rPr lang="en-US" b="1" dirty="0"/>
              <a:t>comments</a:t>
            </a:r>
            <a:endParaRPr lang="en-US" dirty="0"/>
          </a:p>
          <a:p>
            <a:r>
              <a:rPr lang="en-US" dirty="0"/>
              <a:t>Input: </a:t>
            </a:r>
            <a:r>
              <a:rPr lang="en-US" dirty="0" err="1"/>
              <a:t>program.c</a:t>
            </a:r>
            <a:endParaRPr lang="en-US" dirty="0"/>
          </a:p>
          <a:p>
            <a:r>
              <a:rPr lang="en-US" dirty="0"/>
              <a:t>Output: Expanded source code (still text)</a:t>
            </a:r>
          </a:p>
          <a:p>
            <a:endParaRPr lang="en-IN" dirty="0"/>
          </a:p>
        </p:txBody>
      </p:sp>
    </p:spTree>
    <p:extLst>
      <p:ext uri="{BB962C8B-B14F-4D97-AF65-F5344CB8AC3E}">
        <p14:creationId xmlns:p14="http://schemas.microsoft.com/office/powerpoint/2010/main" val="2911344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702A2-6898-F1ED-8E5C-DD6330A122FE}"/>
              </a:ext>
            </a:extLst>
          </p:cNvPr>
          <p:cNvSpPr>
            <a:spLocks noGrp="1"/>
          </p:cNvSpPr>
          <p:nvPr>
            <p:ph idx="1"/>
          </p:nvPr>
        </p:nvSpPr>
        <p:spPr/>
        <p:txBody>
          <a:bodyPr/>
          <a:lstStyle/>
          <a:p>
            <a:pPr>
              <a:buFont typeface="Wingdings" panose="05000000000000000000" pitchFamily="2" charset="2"/>
              <a:buChar char="Ø"/>
            </a:pPr>
            <a:r>
              <a:rPr lang="en-US" b="1" dirty="0"/>
              <a:t>Compilation</a:t>
            </a:r>
          </a:p>
          <a:p>
            <a:r>
              <a:rPr lang="en-US" dirty="0"/>
              <a:t>Performed by the </a:t>
            </a:r>
            <a:r>
              <a:rPr lang="en-US" b="1" dirty="0"/>
              <a:t>compiler</a:t>
            </a:r>
            <a:r>
              <a:rPr lang="en-US" dirty="0"/>
              <a:t>.</a:t>
            </a:r>
          </a:p>
          <a:p>
            <a:r>
              <a:rPr lang="en-US" dirty="0"/>
              <a:t>Converts the </a:t>
            </a:r>
            <a:r>
              <a:rPr lang="en-US" b="1" dirty="0"/>
              <a:t>high-level language</a:t>
            </a:r>
            <a:r>
              <a:rPr lang="en-US" dirty="0"/>
              <a:t> → </a:t>
            </a:r>
            <a:r>
              <a:rPr lang="en-US" b="1" dirty="0"/>
              <a:t>assembly or machine code</a:t>
            </a:r>
            <a:r>
              <a:rPr lang="en-US" dirty="0"/>
              <a:t>.</a:t>
            </a:r>
          </a:p>
          <a:p>
            <a:r>
              <a:rPr lang="en-US" dirty="0"/>
              <a:t>Checks for </a:t>
            </a:r>
            <a:r>
              <a:rPr lang="en-US" b="1" dirty="0"/>
              <a:t>syntax and semantic errors</a:t>
            </a:r>
            <a:r>
              <a:rPr lang="en-US" dirty="0"/>
              <a:t>.</a:t>
            </a:r>
          </a:p>
          <a:p>
            <a:r>
              <a:rPr lang="en-US" dirty="0"/>
              <a:t>Produces </a:t>
            </a:r>
            <a:r>
              <a:rPr lang="en-US" b="1" dirty="0"/>
              <a:t>object code</a:t>
            </a:r>
            <a:r>
              <a:rPr lang="en-US" dirty="0"/>
              <a:t> (machine instructions with </a:t>
            </a:r>
            <a:r>
              <a:rPr lang="en-US" b="1" dirty="0"/>
              <a:t>relocatable addresses</a:t>
            </a:r>
            <a:r>
              <a:rPr lang="en-US" dirty="0"/>
              <a:t>).</a:t>
            </a:r>
          </a:p>
          <a:p>
            <a:r>
              <a:rPr lang="en-US" dirty="0"/>
              <a:t>Example:</a:t>
            </a:r>
          </a:p>
          <a:p>
            <a:pPr marL="0" indent="0">
              <a:buNone/>
            </a:pPr>
            <a:r>
              <a:rPr lang="en-IN" dirty="0"/>
              <a:t>     int sum = a + b;</a:t>
            </a:r>
          </a:p>
          <a:p>
            <a:r>
              <a:rPr lang="en-IN" dirty="0"/>
              <a:t>Becomes something like</a:t>
            </a:r>
          </a:p>
          <a:p>
            <a:pPr marL="400050" lvl="1" indent="0">
              <a:buNone/>
            </a:pPr>
            <a:r>
              <a:rPr lang="en-IN" dirty="0"/>
              <a:t>MOV AX, a</a:t>
            </a:r>
          </a:p>
          <a:p>
            <a:pPr marL="400050" lvl="1" indent="0">
              <a:buNone/>
            </a:pPr>
            <a:r>
              <a:rPr lang="en-IN" dirty="0"/>
              <a:t>ADD AX, b</a:t>
            </a:r>
          </a:p>
          <a:p>
            <a:pPr marL="400050" lvl="1" indent="0">
              <a:buNone/>
            </a:pPr>
            <a:r>
              <a:rPr lang="en-IN" dirty="0"/>
              <a:t>MOV sum, AX</a:t>
            </a:r>
          </a:p>
          <a:p>
            <a:endParaRPr lang="en-IN" dirty="0"/>
          </a:p>
        </p:txBody>
      </p:sp>
    </p:spTree>
    <p:extLst>
      <p:ext uri="{BB962C8B-B14F-4D97-AF65-F5344CB8AC3E}">
        <p14:creationId xmlns:p14="http://schemas.microsoft.com/office/powerpoint/2010/main" val="3580707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C03CD-61AA-5EDA-837B-9FBD5874B0D7}"/>
              </a:ext>
            </a:extLst>
          </p:cNvPr>
          <p:cNvSpPr>
            <a:spLocks noGrp="1"/>
          </p:cNvSpPr>
          <p:nvPr>
            <p:ph idx="1"/>
          </p:nvPr>
        </p:nvSpPr>
        <p:spPr/>
        <p:txBody>
          <a:bodyPr/>
          <a:lstStyle/>
          <a:p>
            <a:pPr>
              <a:buFont typeface="Wingdings" panose="05000000000000000000" pitchFamily="2" charset="2"/>
              <a:buChar char="Ø"/>
            </a:pPr>
            <a:r>
              <a:rPr lang="en-IN" b="1" dirty="0"/>
              <a:t>Linking</a:t>
            </a:r>
          </a:p>
          <a:p>
            <a:r>
              <a:rPr lang="en-IN" dirty="0"/>
              <a:t>Performed by the </a:t>
            </a:r>
            <a:r>
              <a:rPr lang="en-IN" b="1" dirty="0"/>
              <a:t>linker</a:t>
            </a:r>
            <a:r>
              <a:rPr lang="en-IN" dirty="0"/>
              <a:t>.</a:t>
            </a:r>
          </a:p>
          <a:p>
            <a:r>
              <a:rPr lang="en-IN" dirty="0"/>
              <a:t>Combines:</a:t>
            </a:r>
          </a:p>
          <a:p>
            <a:pPr lvl="1"/>
            <a:r>
              <a:rPr lang="en-IN" dirty="0"/>
              <a:t>Multiple object files</a:t>
            </a:r>
          </a:p>
          <a:p>
            <a:pPr lvl="1"/>
            <a:r>
              <a:rPr lang="en-IN" dirty="0"/>
              <a:t>Standard libraries (like </a:t>
            </a:r>
            <a:r>
              <a:rPr lang="en-IN" dirty="0" err="1"/>
              <a:t>printf</a:t>
            </a:r>
            <a:r>
              <a:rPr lang="en-IN" dirty="0"/>
              <a:t> in C)</a:t>
            </a:r>
          </a:p>
          <a:p>
            <a:r>
              <a:rPr lang="en-IN" dirty="0"/>
              <a:t>Resolves </a:t>
            </a:r>
            <a:r>
              <a:rPr lang="en-IN" b="1" dirty="0"/>
              <a:t>external references</a:t>
            </a:r>
            <a:r>
              <a:rPr lang="en-IN" dirty="0"/>
              <a:t> (functions, variables declared in other files).</a:t>
            </a:r>
          </a:p>
          <a:p>
            <a:r>
              <a:rPr lang="en-IN" dirty="0"/>
              <a:t>Produces a </a:t>
            </a:r>
            <a:r>
              <a:rPr lang="en-IN" b="1" dirty="0"/>
              <a:t>single executable file</a:t>
            </a:r>
            <a:r>
              <a:rPr lang="en-IN" dirty="0"/>
              <a:t> (e.g., a.exe).</a:t>
            </a:r>
          </a:p>
          <a:p>
            <a:pPr marL="0" indent="0">
              <a:buNone/>
            </a:pPr>
            <a:r>
              <a:rPr lang="en-IN" dirty="0"/>
              <a:t>🔹 Address binding here:</a:t>
            </a:r>
          </a:p>
          <a:p>
            <a:r>
              <a:rPr lang="en-IN" dirty="0"/>
              <a:t>Converts </a:t>
            </a:r>
            <a:r>
              <a:rPr lang="en-IN" b="1" dirty="0"/>
              <a:t>relocatable addresses → absolute addresses</a:t>
            </a:r>
            <a:r>
              <a:rPr lang="en-IN" dirty="0"/>
              <a:t>.</a:t>
            </a:r>
          </a:p>
          <a:p>
            <a:pPr marL="0" indent="0">
              <a:buNone/>
            </a:pPr>
            <a:endParaRPr lang="en-IN" dirty="0"/>
          </a:p>
        </p:txBody>
      </p:sp>
    </p:spTree>
    <p:extLst>
      <p:ext uri="{BB962C8B-B14F-4D97-AF65-F5344CB8AC3E}">
        <p14:creationId xmlns:p14="http://schemas.microsoft.com/office/powerpoint/2010/main" val="4113740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6F127C-FFBE-B98D-B0D4-F6B02EEB16A5}"/>
              </a:ext>
            </a:extLst>
          </p:cNvPr>
          <p:cNvSpPr>
            <a:spLocks noGrp="1"/>
          </p:cNvSpPr>
          <p:nvPr>
            <p:ph idx="1"/>
          </p:nvPr>
        </p:nvSpPr>
        <p:spPr/>
        <p:txBody>
          <a:bodyPr/>
          <a:lstStyle/>
          <a:p>
            <a:pPr>
              <a:buFont typeface="Wingdings" panose="05000000000000000000" pitchFamily="2" charset="2"/>
              <a:buChar char="Ø"/>
            </a:pPr>
            <a:r>
              <a:rPr lang="en-US" b="1" dirty="0"/>
              <a:t>Loading</a:t>
            </a:r>
          </a:p>
          <a:p>
            <a:r>
              <a:rPr lang="en-US" dirty="0"/>
              <a:t>Performed by the </a:t>
            </a:r>
            <a:r>
              <a:rPr lang="en-US" b="1" dirty="0"/>
              <a:t>loader</a:t>
            </a:r>
            <a:r>
              <a:rPr lang="en-US" dirty="0"/>
              <a:t>, part of the </a:t>
            </a:r>
            <a:r>
              <a:rPr lang="en-US" b="1" dirty="0"/>
              <a:t>operating system</a:t>
            </a:r>
            <a:r>
              <a:rPr lang="en-US" dirty="0"/>
              <a:t>.</a:t>
            </a:r>
          </a:p>
          <a:p>
            <a:r>
              <a:rPr lang="en-US" dirty="0"/>
              <a:t>Loads the executable into </a:t>
            </a:r>
            <a:r>
              <a:rPr lang="en-US" b="1" dirty="0"/>
              <a:t>main memory (RAM)</a:t>
            </a:r>
            <a:r>
              <a:rPr lang="en-US" dirty="0"/>
              <a:t>.</a:t>
            </a:r>
          </a:p>
          <a:p>
            <a:r>
              <a:rPr lang="en-US" dirty="0"/>
              <a:t>Allocates memory for:</a:t>
            </a:r>
          </a:p>
          <a:p>
            <a:pPr lvl="1"/>
            <a:r>
              <a:rPr lang="en-US" b="1" dirty="0"/>
              <a:t>Code segment</a:t>
            </a:r>
            <a:endParaRPr lang="en-US" dirty="0"/>
          </a:p>
          <a:p>
            <a:pPr lvl="1"/>
            <a:r>
              <a:rPr lang="en-US" b="1" dirty="0"/>
              <a:t>Data segment</a:t>
            </a:r>
            <a:endParaRPr lang="en-US" dirty="0"/>
          </a:p>
          <a:p>
            <a:pPr lvl="1"/>
            <a:r>
              <a:rPr lang="en-US" b="1" dirty="0"/>
              <a:t>Stack</a:t>
            </a:r>
            <a:endParaRPr lang="en-US" dirty="0"/>
          </a:p>
          <a:p>
            <a:pPr lvl="1"/>
            <a:r>
              <a:rPr lang="en-US" b="1" dirty="0"/>
              <a:t>Heap</a:t>
            </a:r>
            <a:endParaRPr lang="en-US" dirty="0"/>
          </a:p>
          <a:p>
            <a:r>
              <a:rPr lang="en-US" dirty="0"/>
              <a:t>Initializes </a:t>
            </a:r>
            <a:r>
              <a:rPr lang="en-US" b="1" dirty="0"/>
              <a:t>registers</a:t>
            </a:r>
            <a:r>
              <a:rPr lang="en-US" dirty="0"/>
              <a:t> and </a:t>
            </a:r>
            <a:r>
              <a:rPr lang="en-US" b="1" dirty="0"/>
              <a:t>program counter (PC)</a:t>
            </a:r>
            <a:r>
              <a:rPr lang="en-US" dirty="0"/>
              <a:t> to start execution.</a:t>
            </a:r>
          </a:p>
          <a:p>
            <a:r>
              <a:rPr lang="en-US" dirty="0"/>
              <a:t>Finally, it becomes a </a:t>
            </a:r>
            <a:r>
              <a:rPr lang="en-US" b="1" dirty="0"/>
              <a:t>process</a:t>
            </a:r>
            <a:r>
              <a:rPr lang="en-US" dirty="0"/>
              <a:t> running on the CPU.</a:t>
            </a:r>
          </a:p>
          <a:p>
            <a:endParaRPr lang="en-IN" dirty="0"/>
          </a:p>
        </p:txBody>
      </p:sp>
    </p:spTree>
    <p:extLst>
      <p:ext uri="{BB962C8B-B14F-4D97-AF65-F5344CB8AC3E}">
        <p14:creationId xmlns:p14="http://schemas.microsoft.com/office/powerpoint/2010/main" val="3230872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EE17CB2-3EF8-43F1-A8BB-98F682CD0EF3}"/>
              </a:ext>
            </a:extLst>
          </p:cNvPr>
          <p:cNvSpPr>
            <a:spLocks noGrp="1" noChangeArrowheads="1"/>
          </p:cNvSpPr>
          <p:nvPr>
            <p:ph type="title"/>
          </p:nvPr>
        </p:nvSpPr>
        <p:spPr>
          <a:xfrm>
            <a:off x="993808" y="235762"/>
            <a:ext cx="7548562" cy="576262"/>
          </a:xfrm>
        </p:spPr>
        <p:txBody>
          <a:bodyPr/>
          <a:lstStyle/>
          <a:p>
            <a:pPr eaLnBrk="1" hangingPunct="1"/>
            <a:r>
              <a:rPr lang="en-US" altLang="en-US" dirty="0"/>
              <a:t>Logical vs. Physical Address Space</a:t>
            </a:r>
          </a:p>
        </p:txBody>
      </p:sp>
      <p:sp>
        <p:nvSpPr>
          <p:cNvPr id="12291" name="Rectangle 3">
            <a:extLst>
              <a:ext uri="{FF2B5EF4-FFF2-40B4-BE49-F238E27FC236}">
                <a16:creationId xmlns:a16="http://schemas.microsoft.com/office/drawing/2014/main" id="{C26127BF-B122-444D-8E10-A4BB1E147CB0}"/>
              </a:ext>
            </a:extLst>
          </p:cNvPr>
          <p:cNvSpPr>
            <a:spLocks noGrp="1" noChangeArrowheads="1"/>
          </p:cNvSpPr>
          <p:nvPr>
            <p:ph type="body" idx="1"/>
          </p:nvPr>
        </p:nvSpPr>
        <p:spPr>
          <a:xfrm>
            <a:off x="839754" y="1236663"/>
            <a:ext cx="7702615" cy="4468812"/>
          </a:xfrm>
        </p:spPr>
        <p:txBody>
          <a:bodyPr/>
          <a:lstStyle/>
          <a:p>
            <a:r>
              <a:rPr lang="en-US" altLang="en-US" dirty="0"/>
              <a:t>The concept of a logical address space that is bound to a separate </a:t>
            </a:r>
            <a:r>
              <a:rPr lang="en-US" altLang="en-US" b="1" dirty="0">
                <a:solidFill>
                  <a:srgbClr val="006699"/>
                </a:solidFill>
                <a:latin typeface="+mj-lt"/>
              </a:rPr>
              <a:t>physical</a:t>
            </a:r>
            <a:r>
              <a:rPr lang="en-US" altLang="en-US" b="1" dirty="0">
                <a:solidFill>
                  <a:srgbClr val="3366FF"/>
                </a:solidFill>
              </a:rPr>
              <a:t> </a:t>
            </a:r>
            <a:r>
              <a:rPr lang="en-US" altLang="en-US" b="1" dirty="0">
                <a:solidFill>
                  <a:srgbClr val="006699"/>
                </a:solidFill>
                <a:latin typeface="+mj-lt"/>
              </a:rPr>
              <a:t>address</a:t>
            </a:r>
            <a:r>
              <a:rPr lang="en-US" altLang="en-US" b="1" dirty="0">
                <a:solidFill>
                  <a:srgbClr val="3366FF"/>
                </a:solidFill>
              </a:rPr>
              <a:t> </a:t>
            </a:r>
            <a:r>
              <a:rPr lang="en-US" altLang="en-US" b="1" dirty="0">
                <a:solidFill>
                  <a:srgbClr val="006699"/>
                </a:solidFill>
                <a:latin typeface="+mj-lt"/>
              </a:rPr>
              <a:t>space</a:t>
            </a:r>
            <a:r>
              <a:rPr lang="en-US" altLang="en-US" dirty="0">
                <a:solidFill>
                  <a:srgbClr val="3366FF"/>
                </a:solidFill>
              </a:rPr>
              <a:t> </a:t>
            </a:r>
            <a:r>
              <a:rPr lang="en-US" altLang="en-US" dirty="0"/>
              <a:t>is central to proper memory management</a:t>
            </a:r>
          </a:p>
          <a:p>
            <a:pPr lvl="1"/>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address</a:t>
            </a:r>
            <a:r>
              <a:rPr lang="en-US" altLang="en-US" dirty="0">
                <a:solidFill>
                  <a:srgbClr val="3366FF"/>
                </a:solidFill>
              </a:rPr>
              <a:t> </a:t>
            </a:r>
            <a:r>
              <a:rPr lang="en-US" altLang="en-US" dirty="0"/>
              <a:t>– generated by the CPU; also referred to as </a:t>
            </a:r>
            <a:r>
              <a:rPr lang="en-US" altLang="en-US" b="1" dirty="0">
                <a:solidFill>
                  <a:srgbClr val="006699"/>
                </a:solidFill>
                <a:latin typeface="+mj-lt"/>
              </a:rPr>
              <a:t>virtual</a:t>
            </a:r>
            <a:r>
              <a:rPr lang="en-US" altLang="en-US" b="1" dirty="0">
                <a:solidFill>
                  <a:srgbClr val="3366FF"/>
                </a:solidFill>
              </a:rPr>
              <a:t> </a:t>
            </a:r>
            <a:r>
              <a:rPr lang="en-US" altLang="en-US" b="1" dirty="0">
                <a:solidFill>
                  <a:srgbClr val="006699"/>
                </a:solidFill>
                <a:latin typeface="+mj-lt"/>
              </a:rPr>
              <a:t>address</a:t>
            </a:r>
          </a:p>
          <a:p>
            <a:pPr lvl="1"/>
            <a:r>
              <a:rPr lang="en-US" altLang="en-US" b="1" dirty="0">
                <a:solidFill>
                  <a:srgbClr val="006699"/>
                </a:solidFill>
                <a:latin typeface="+mj-lt"/>
              </a:rPr>
              <a:t>Physical</a:t>
            </a:r>
            <a:r>
              <a:rPr lang="en-US" altLang="en-US" b="1" dirty="0">
                <a:solidFill>
                  <a:srgbClr val="3366FF"/>
                </a:solidFill>
              </a:rPr>
              <a:t> </a:t>
            </a:r>
            <a:r>
              <a:rPr lang="en-US" altLang="en-US" b="1" dirty="0">
                <a:solidFill>
                  <a:srgbClr val="006699"/>
                </a:solidFill>
                <a:latin typeface="+mj-lt"/>
              </a:rPr>
              <a:t>address</a:t>
            </a:r>
            <a:r>
              <a:rPr lang="en-US" altLang="en-US" dirty="0">
                <a:solidFill>
                  <a:srgbClr val="3366FF"/>
                </a:solidFill>
              </a:rPr>
              <a:t> </a:t>
            </a:r>
            <a:r>
              <a:rPr lang="en-US" altLang="en-US" dirty="0"/>
              <a:t>– address seen by the memory unit</a:t>
            </a:r>
          </a:p>
          <a:p>
            <a:r>
              <a:rPr lang="en-US" altLang="en-US" dirty="0"/>
              <a:t>Logical and physical addresses are the same in compile-time and load-time address-binding schemes; logical (virtual) and physical addresses differ in execution-time address-binding scheme</a:t>
            </a:r>
          </a:p>
          <a:p>
            <a:r>
              <a:rPr lang="en-US" altLang="en-US" b="1" dirty="0">
                <a:solidFill>
                  <a:srgbClr val="006699"/>
                </a:solidFill>
                <a:latin typeface="+mj-lt"/>
              </a:rPr>
              <a:t>Logical</a:t>
            </a:r>
            <a:r>
              <a:rPr lang="en-US" altLang="en-US" b="1" dirty="0">
                <a:solidFill>
                  <a:srgbClr val="3366FF"/>
                </a:solidFill>
              </a:rPr>
              <a:t> </a:t>
            </a:r>
            <a:r>
              <a:rPr lang="en-US" altLang="en-US" b="1" dirty="0">
                <a:solidFill>
                  <a:srgbClr val="006699"/>
                </a:solidFill>
                <a:latin typeface="+mj-lt"/>
              </a:rPr>
              <a:t>address</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dirty="0"/>
              <a:t>is the set of all logical addresses generated by a program</a:t>
            </a:r>
          </a:p>
          <a:p>
            <a:r>
              <a:rPr lang="en-US" altLang="en-US" b="1" dirty="0">
                <a:solidFill>
                  <a:srgbClr val="006699"/>
                </a:solidFill>
                <a:latin typeface="+mj-lt"/>
              </a:rPr>
              <a:t>Physical</a:t>
            </a:r>
            <a:r>
              <a:rPr lang="en-US" altLang="en-US" b="1" dirty="0">
                <a:solidFill>
                  <a:srgbClr val="3366FF"/>
                </a:solidFill>
              </a:rPr>
              <a:t> </a:t>
            </a:r>
            <a:r>
              <a:rPr lang="en-US" altLang="en-US" b="1" dirty="0">
                <a:solidFill>
                  <a:srgbClr val="006699"/>
                </a:solidFill>
                <a:latin typeface="+mj-lt"/>
              </a:rPr>
              <a:t>address</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dirty="0"/>
              <a:t>is the set of all physical addresses generated by a program</a:t>
            </a:r>
          </a:p>
          <a:p>
            <a:endParaRPr lang="en-US" altLang="en-US" dirty="0"/>
          </a:p>
          <a:p>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B95EF18-CDEF-4577-B2D3-2194188A6B2D}"/>
              </a:ext>
            </a:extLst>
          </p:cNvPr>
          <p:cNvSpPr>
            <a:spLocks noGrp="1" noChangeArrowheads="1"/>
          </p:cNvSpPr>
          <p:nvPr>
            <p:ph type="title"/>
          </p:nvPr>
        </p:nvSpPr>
        <p:spPr>
          <a:xfrm>
            <a:off x="879475" y="225267"/>
            <a:ext cx="7839075" cy="576262"/>
          </a:xfrm>
        </p:spPr>
        <p:txBody>
          <a:bodyPr/>
          <a:lstStyle/>
          <a:p>
            <a:pPr eaLnBrk="1" hangingPunct="1"/>
            <a:r>
              <a:rPr lang="en-US" altLang="en-US" dirty="0"/>
              <a:t>Memory-Management Unit (</a:t>
            </a:r>
            <a:r>
              <a:rPr lang="en-US" altLang="en-US" sz="2800" dirty="0"/>
              <a:t>MMU</a:t>
            </a:r>
            <a:r>
              <a:rPr lang="en-US" altLang="en-US" dirty="0"/>
              <a:t>)</a:t>
            </a:r>
          </a:p>
        </p:txBody>
      </p:sp>
      <p:sp>
        <p:nvSpPr>
          <p:cNvPr id="13315" name="Rectangle 3">
            <a:extLst>
              <a:ext uri="{FF2B5EF4-FFF2-40B4-BE49-F238E27FC236}">
                <a16:creationId xmlns:a16="http://schemas.microsoft.com/office/drawing/2014/main" id="{48574B01-7329-4E5A-9F99-22E3D937557B}"/>
              </a:ext>
            </a:extLst>
          </p:cNvPr>
          <p:cNvSpPr>
            <a:spLocks noGrp="1" noChangeArrowheads="1"/>
          </p:cNvSpPr>
          <p:nvPr>
            <p:ph type="body" idx="1"/>
          </p:nvPr>
        </p:nvSpPr>
        <p:spPr>
          <a:xfrm>
            <a:off x="839757" y="1147602"/>
            <a:ext cx="7623108" cy="4484688"/>
          </a:xfrm>
        </p:spPr>
        <p:txBody>
          <a:bodyPr/>
          <a:lstStyle/>
          <a:p>
            <a:r>
              <a:rPr lang="en-US" altLang="en-US" dirty="0"/>
              <a:t>Hardware device that at run time maps virtual to physical address</a:t>
            </a:r>
          </a:p>
          <a:p>
            <a:pPr marL="0" indent="0">
              <a:buNone/>
            </a:pPr>
            <a:endParaRPr lang="en-US" altLang="en-US" dirty="0"/>
          </a:p>
          <a:p>
            <a:endParaRPr lang="en-US" altLang="en-US" dirty="0"/>
          </a:p>
          <a:p>
            <a:pPr>
              <a:buFont typeface="Monotype Sorts" pitchFamily="-84" charset="2"/>
              <a:buNone/>
            </a:pPr>
            <a:endParaRPr lang="en-US" altLang="en-US" sz="800" dirty="0"/>
          </a:p>
          <a:p>
            <a:pPr>
              <a:buFont typeface="Monotype Sorts" pitchFamily="-84" charset="2"/>
              <a:buNone/>
            </a:pPr>
            <a:endParaRPr lang="en-US" altLang="en-US" dirty="0"/>
          </a:p>
        </p:txBody>
      </p:sp>
      <p:pic>
        <p:nvPicPr>
          <p:cNvPr id="13316" name="Picture 4" descr="W:\os-book\OS10\slide-dir\os-figures\9_04.jpg">
            <a:extLst>
              <a:ext uri="{FF2B5EF4-FFF2-40B4-BE49-F238E27FC236}">
                <a16:creationId xmlns:a16="http://schemas.microsoft.com/office/drawing/2014/main" id="{2AB2E1F5-A2FA-4767-BE68-4BD3C62D7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7388" y="1900238"/>
            <a:ext cx="513715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1853C0D-86FA-4ABD-BE59-06CB86C67253}"/>
              </a:ext>
            </a:extLst>
          </p:cNvPr>
          <p:cNvSpPr>
            <a:spLocks noGrp="1" noChangeArrowheads="1"/>
          </p:cNvSpPr>
          <p:nvPr>
            <p:ph type="title"/>
          </p:nvPr>
        </p:nvSpPr>
        <p:spPr>
          <a:xfrm>
            <a:off x="879475" y="225265"/>
            <a:ext cx="7839075" cy="576262"/>
          </a:xfrm>
        </p:spPr>
        <p:txBody>
          <a:bodyPr/>
          <a:lstStyle/>
          <a:p>
            <a:pPr eaLnBrk="1" hangingPunct="1"/>
            <a:r>
              <a:rPr lang="en-US" altLang="en-US" dirty="0"/>
              <a:t>Memory-Management Unit (Cont.)</a:t>
            </a:r>
          </a:p>
        </p:txBody>
      </p:sp>
      <p:sp>
        <p:nvSpPr>
          <p:cNvPr id="13315" name="Rectangle 3">
            <a:extLst>
              <a:ext uri="{FF2B5EF4-FFF2-40B4-BE49-F238E27FC236}">
                <a16:creationId xmlns:a16="http://schemas.microsoft.com/office/drawing/2014/main" id="{CFED0DC6-3DA5-44F7-A884-CB2916BA4B49}"/>
              </a:ext>
            </a:extLst>
          </p:cNvPr>
          <p:cNvSpPr>
            <a:spLocks noGrp="1" noChangeArrowheads="1"/>
          </p:cNvSpPr>
          <p:nvPr>
            <p:ph type="body" idx="1"/>
          </p:nvPr>
        </p:nvSpPr>
        <p:spPr>
          <a:xfrm>
            <a:off x="851482" y="1163638"/>
            <a:ext cx="7630045" cy="4484687"/>
          </a:xfrm>
        </p:spPr>
        <p:txBody>
          <a:bodyPr/>
          <a:lstStyle/>
          <a:p>
            <a:pPr>
              <a:defRPr/>
            </a:pPr>
            <a:r>
              <a:rPr lang="en-US" altLang="en-US" dirty="0"/>
              <a:t>Consider simple scheme. which is  a generalization of the base-register scheme.</a:t>
            </a:r>
          </a:p>
          <a:p>
            <a:pPr marL="285750" lvl="1">
              <a:buClr>
                <a:srgbClr val="993300"/>
              </a:buClr>
              <a:buFont typeface="Wingdings" panose="05000000000000000000" pitchFamily="2" charset="2"/>
              <a:buChar char="§"/>
              <a:defRPr/>
            </a:pPr>
            <a:r>
              <a:rPr lang="en-US" altLang="en-US" dirty="0"/>
              <a:t>The base register now called </a:t>
            </a:r>
            <a:r>
              <a:rPr lang="en-US" altLang="en-US" b="1" dirty="0">
                <a:solidFill>
                  <a:srgbClr val="006699"/>
                </a:solidFill>
                <a:latin typeface="+mj-lt"/>
              </a:rPr>
              <a:t>relocation</a:t>
            </a:r>
            <a:r>
              <a:rPr lang="en-US" altLang="en-US" b="1" dirty="0">
                <a:solidFill>
                  <a:srgbClr val="0000FF"/>
                </a:solidFill>
              </a:rPr>
              <a:t> </a:t>
            </a:r>
            <a:r>
              <a:rPr lang="en-US" altLang="en-US" b="1" dirty="0">
                <a:solidFill>
                  <a:srgbClr val="006699"/>
                </a:solidFill>
                <a:latin typeface="+mj-lt"/>
              </a:rPr>
              <a:t>register</a:t>
            </a:r>
          </a:p>
          <a:p>
            <a:pPr>
              <a:defRPr/>
            </a:pPr>
            <a:r>
              <a:rPr lang="en-US" altLang="en-US" dirty="0"/>
              <a:t>The value in the relocation register is added to every address generated by a user process at the time it is sent to memory</a:t>
            </a:r>
          </a:p>
          <a:p>
            <a:pPr>
              <a:defRPr/>
            </a:pPr>
            <a:r>
              <a:rPr lang="en-US" altLang="en-US" dirty="0"/>
              <a:t>The user program deals with </a:t>
            </a:r>
            <a:r>
              <a:rPr lang="en-US" altLang="en-US" i="1" dirty="0"/>
              <a:t>logical</a:t>
            </a:r>
            <a:r>
              <a:rPr lang="en-US" altLang="en-US" dirty="0"/>
              <a:t> addresses; it never sees the </a:t>
            </a:r>
            <a:r>
              <a:rPr lang="en-US" altLang="en-US" i="1" dirty="0"/>
              <a:t>real</a:t>
            </a:r>
            <a:r>
              <a:rPr lang="en-US" altLang="en-US" dirty="0"/>
              <a:t> physical addresses</a:t>
            </a:r>
          </a:p>
          <a:p>
            <a:pPr lvl="1">
              <a:defRPr/>
            </a:pPr>
            <a:r>
              <a:rPr lang="en-US" altLang="en-US" dirty="0"/>
              <a:t>Execution-time binding occurs when reference is made to location in memory</a:t>
            </a:r>
          </a:p>
          <a:p>
            <a:pPr lvl="1">
              <a:defRPr/>
            </a:pPr>
            <a:r>
              <a:rPr lang="en-US" altLang="en-US" dirty="0"/>
              <a:t>Logical address bound to physical addresses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4" descr="8">
            <a:extLst>
              <a:ext uri="{FF2B5EF4-FFF2-40B4-BE49-F238E27FC236}">
                <a16:creationId xmlns:a16="http://schemas.microsoft.com/office/drawing/2014/main" id="{8B9138A6-75B5-441A-842E-43E123DF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134778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a:extLst>
              <a:ext uri="{FF2B5EF4-FFF2-40B4-BE49-F238E27FC236}">
                <a16:creationId xmlns:a16="http://schemas.microsoft.com/office/drawing/2014/main" id="{5A517565-09AB-4767-AA90-A8C1F0CB8474}"/>
              </a:ext>
            </a:extLst>
          </p:cNvPr>
          <p:cNvSpPr>
            <a:spLocks noGrp="1" noChangeArrowheads="1"/>
          </p:cNvSpPr>
          <p:nvPr>
            <p:ph type="title"/>
          </p:nvPr>
        </p:nvSpPr>
        <p:spPr>
          <a:xfrm>
            <a:off x="866775" y="222674"/>
            <a:ext cx="7820025" cy="576262"/>
          </a:xfrm>
        </p:spPr>
        <p:txBody>
          <a:bodyPr/>
          <a:lstStyle/>
          <a:p>
            <a:pPr eaLnBrk="1" hangingPunct="1"/>
            <a:r>
              <a:rPr lang="en-US" altLang="en-US" dirty="0"/>
              <a:t>Contiguous Allocation</a:t>
            </a:r>
          </a:p>
        </p:txBody>
      </p:sp>
      <p:sp>
        <p:nvSpPr>
          <p:cNvPr id="18435" name="Rectangle 1027">
            <a:extLst>
              <a:ext uri="{FF2B5EF4-FFF2-40B4-BE49-F238E27FC236}">
                <a16:creationId xmlns:a16="http://schemas.microsoft.com/office/drawing/2014/main" id="{363EA7DD-91CF-4272-A490-C120271519AF}"/>
              </a:ext>
            </a:extLst>
          </p:cNvPr>
          <p:cNvSpPr>
            <a:spLocks noGrp="1" noChangeArrowheads="1"/>
          </p:cNvSpPr>
          <p:nvPr>
            <p:ph type="body" idx="1"/>
          </p:nvPr>
        </p:nvSpPr>
        <p:spPr>
          <a:xfrm>
            <a:off x="866775" y="798936"/>
            <a:ext cx="7633413" cy="5526450"/>
          </a:xfrm>
        </p:spPr>
        <p:txBody>
          <a:bodyPr/>
          <a:lstStyle/>
          <a:p>
            <a:r>
              <a:rPr lang="en-US" altLang="en-US" dirty="0"/>
              <a:t>Contiguous memory allocation means that each process is allocated a single continuous block of memory in the main memory (RAM).</a:t>
            </a:r>
          </a:p>
          <a:p>
            <a:r>
              <a:rPr lang="en-US" altLang="en-US" dirty="0"/>
              <a:t>In other words, all the bytes or words assigned to a process are stored next to each other in memory — no gaps.</a:t>
            </a:r>
          </a:p>
          <a:p>
            <a:r>
              <a:rPr lang="en-US" dirty="0"/>
              <a:t>Main memory is divided into </a:t>
            </a:r>
            <a:r>
              <a:rPr lang="en-US" b="1" dirty="0"/>
              <a:t>two parts</a:t>
            </a:r>
            <a:r>
              <a:rPr lang="en-US" dirty="0"/>
              <a:t>:</a:t>
            </a:r>
          </a:p>
          <a:p>
            <a:pPr lvl="1"/>
            <a:r>
              <a:rPr lang="en-US" b="1" dirty="0"/>
              <a:t>Operating System (OS)</a:t>
            </a:r>
            <a:r>
              <a:rPr lang="en-US" dirty="0"/>
              <a:t> — usually in lower memory.</a:t>
            </a:r>
          </a:p>
          <a:p>
            <a:pPr lvl="1"/>
            <a:r>
              <a:rPr lang="en-US" b="1" dirty="0"/>
              <a:t>User processes</a:t>
            </a:r>
            <a:r>
              <a:rPr lang="en-US" dirty="0"/>
              <a:t> — loaded into the remaining part.</a:t>
            </a:r>
          </a:p>
          <a:p>
            <a:r>
              <a:rPr lang="en-US" dirty="0"/>
              <a:t>When a process is loaded, it is given </a:t>
            </a:r>
            <a:r>
              <a:rPr lang="en-US" b="1" dirty="0"/>
              <a:t>one contiguous block</a:t>
            </a:r>
            <a:r>
              <a:rPr lang="en-US" dirty="0"/>
              <a:t> large enough to hold:</a:t>
            </a:r>
          </a:p>
          <a:p>
            <a:pPr>
              <a:buFont typeface="Wingdings" panose="05000000000000000000" pitchFamily="2" charset="2"/>
              <a:buChar char="ü"/>
            </a:pPr>
            <a:r>
              <a:rPr lang="en-US" dirty="0"/>
              <a:t>Its code,</a:t>
            </a:r>
          </a:p>
          <a:p>
            <a:pPr>
              <a:buFont typeface="Wingdings" panose="05000000000000000000" pitchFamily="2" charset="2"/>
              <a:buChar char="ü"/>
            </a:pPr>
            <a:r>
              <a:rPr lang="en-US" dirty="0"/>
              <a:t>Data, and</a:t>
            </a:r>
          </a:p>
          <a:p>
            <a:pPr>
              <a:buFont typeface="Wingdings" panose="05000000000000000000" pitchFamily="2" charset="2"/>
              <a:buChar char="ü"/>
            </a:pPr>
            <a:r>
              <a:rPr lang="en-US" dirty="0"/>
              <a:t>Stack.</a:t>
            </a:r>
          </a:p>
          <a:p>
            <a:r>
              <a:rPr lang="en-US" dirty="0"/>
              <a:t>Contiguous memory allocation is a memory allocation technique.</a:t>
            </a:r>
          </a:p>
          <a:p>
            <a:r>
              <a:rPr lang="en-US" dirty="0"/>
              <a:t>It allows to store the process only in a contiguous fashion.</a:t>
            </a:r>
          </a:p>
          <a:p>
            <a:r>
              <a:rPr lang="en-US" dirty="0"/>
              <a:t>Thus, entire process has to be stored as a single entity at one place inside the memory.</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BA27F0-1426-EE7D-77E3-425F4A0CEAC6}"/>
              </a:ext>
            </a:extLst>
          </p:cNvPr>
          <p:cNvPicPr>
            <a:picLocks noChangeAspect="1"/>
          </p:cNvPicPr>
          <p:nvPr/>
        </p:nvPicPr>
        <p:blipFill>
          <a:blip r:embed="rId2"/>
          <a:stretch>
            <a:fillRect/>
          </a:stretch>
        </p:blipFill>
        <p:spPr>
          <a:xfrm>
            <a:off x="1282230" y="2036189"/>
            <a:ext cx="6579540" cy="2468743"/>
          </a:xfrm>
          <a:prstGeom prst="rect">
            <a:avLst/>
          </a:prstGeom>
        </p:spPr>
      </p:pic>
    </p:spTree>
    <p:extLst>
      <p:ext uri="{BB962C8B-B14F-4D97-AF65-F5344CB8AC3E}">
        <p14:creationId xmlns:p14="http://schemas.microsoft.com/office/powerpoint/2010/main" val="2500469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CD55-F1B8-8A4A-363B-C034DBF7924E}"/>
              </a:ext>
            </a:extLst>
          </p:cNvPr>
          <p:cNvSpPr>
            <a:spLocks noGrp="1"/>
          </p:cNvSpPr>
          <p:nvPr>
            <p:ph type="title"/>
          </p:nvPr>
        </p:nvSpPr>
        <p:spPr/>
        <p:txBody>
          <a:bodyPr/>
          <a:lstStyle/>
          <a:p>
            <a:r>
              <a:rPr lang="en-US" dirty="0"/>
              <a:t>Static Partitioning</a:t>
            </a:r>
            <a:endParaRPr lang="en-IN" dirty="0"/>
          </a:p>
        </p:txBody>
      </p:sp>
      <p:sp>
        <p:nvSpPr>
          <p:cNvPr id="3" name="Content Placeholder 2">
            <a:extLst>
              <a:ext uri="{FF2B5EF4-FFF2-40B4-BE49-F238E27FC236}">
                <a16:creationId xmlns:a16="http://schemas.microsoft.com/office/drawing/2014/main" id="{4E7F17F9-C10B-A7C8-D7E5-461472A4BCC0}"/>
              </a:ext>
            </a:extLst>
          </p:cNvPr>
          <p:cNvSpPr>
            <a:spLocks noGrp="1"/>
          </p:cNvSpPr>
          <p:nvPr>
            <p:ph idx="1"/>
          </p:nvPr>
        </p:nvSpPr>
        <p:spPr>
          <a:xfrm>
            <a:off x="806450" y="923828"/>
            <a:ext cx="7727950" cy="4840386"/>
          </a:xfrm>
        </p:spPr>
        <p:txBody>
          <a:bodyPr/>
          <a:lstStyle/>
          <a:p>
            <a:r>
              <a:rPr lang="en-US" dirty="0"/>
              <a:t>Static Partitioning-</a:t>
            </a:r>
          </a:p>
          <a:p>
            <a:r>
              <a:rPr lang="en-US" dirty="0"/>
              <a:t>Static partitioning is a fixed size partitioning scheme.</a:t>
            </a:r>
          </a:p>
          <a:p>
            <a:r>
              <a:rPr lang="en-US" dirty="0"/>
              <a:t>In this technique, main memory is pre-divided into fixed size partitions.</a:t>
            </a:r>
          </a:p>
          <a:p>
            <a:r>
              <a:rPr lang="en-US" dirty="0"/>
              <a:t>The size of each partition is fixed and can not be changed.</a:t>
            </a:r>
          </a:p>
          <a:p>
            <a:r>
              <a:rPr lang="en-US" dirty="0"/>
              <a:t>Each partition is allowed to store only one process.</a:t>
            </a:r>
          </a:p>
          <a:p>
            <a:endParaRPr lang="en-US" dirty="0"/>
          </a:p>
          <a:p>
            <a:endParaRPr lang="en-US" dirty="0"/>
          </a:p>
          <a:p>
            <a:endParaRPr lang="en-US" dirty="0"/>
          </a:p>
          <a:p>
            <a:endParaRPr lang="en-US" dirty="0"/>
          </a:p>
          <a:p>
            <a:endParaRPr lang="en-US" dirty="0"/>
          </a:p>
          <a:p>
            <a:r>
              <a:rPr lang="en-US" dirty="0"/>
              <a:t>These partitions are allocated to the processes as they arrive.</a:t>
            </a:r>
          </a:p>
          <a:p>
            <a:r>
              <a:rPr lang="en-US" dirty="0"/>
              <a:t>The partition allocated to the arrived process depends on the algorithm followed.</a:t>
            </a:r>
            <a:endParaRPr lang="en-IN" dirty="0"/>
          </a:p>
        </p:txBody>
      </p:sp>
      <p:pic>
        <p:nvPicPr>
          <p:cNvPr id="4" name="Picture 3">
            <a:extLst>
              <a:ext uri="{FF2B5EF4-FFF2-40B4-BE49-F238E27FC236}">
                <a16:creationId xmlns:a16="http://schemas.microsoft.com/office/drawing/2014/main" id="{37A4E32D-379E-CF34-F46C-5E80021D1328}"/>
              </a:ext>
            </a:extLst>
          </p:cNvPr>
          <p:cNvPicPr>
            <a:picLocks noChangeAspect="1"/>
          </p:cNvPicPr>
          <p:nvPr/>
        </p:nvPicPr>
        <p:blipFill>
          <a:blip r:embed="rId2"/>
          <a:stretch>
            <a:fillRect/>
          </a:stretch>
        </p:blipFill>
        <p:spPr>
          <a:xfrm>
            <a:off x="1910744" y="2821413"/>
            <a:ext cx="5133975" cy="1743075"/>
          </a:xfrm>
          <a:prstGeom prst="rect">
            <a:avLst/>
          </a:prstGeom>
        </p:spPr>
      </p:pic>
    </p:spTree>
    <p:extLst>
      <p:ext uri="{BB962C8B-B14F-4D97-AF65-F5344CB8AC3E}">
        <p14:creationId xmlns:p14="http://schemas.microsoft.com/office/powerpoint/2010/main" val="3767512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6D33B-99E1-A71C-6025-A47A8D04BF2F}"/>
              </a:ext>
            </a:extLst>
          </p:cNvPr>
          <p:cNvSpPr>
            <a:spLocks noGrp="1"/>
          </p:cNvSpPr>
          <p:nvPr>
            <p:ph type="title"/>
          </p:nvPr>
        </p:nvSpPr>
        <p:spPr/>
        <p:txBody>
          <a:bodyPr/>
          <a:lstStyle/>
          <a:p>
            <a:r>
              <a:rPr lang="en-US" dirty="0"/>
              <a:t>Static Partitioning</a:t>
            </a:r>
            <a:endParaRPr lang="en-IN" dirty="0"/>
          </a:p>
        </p:txBody>
      </p:sp>
      <p:sp>
        <p:nvSpPr>
          <p:cNvPr id="3" name="Content Placeholder 2">
            <a:extLst>
              <a:ext uri="{FF2B5EF4-FFF2-40B4-BE49-F238E27FC236}">
                <a16:creationId xmlns:a16="http://schemas.microsoft.com/office/drawing/2014/main" id="{49E3D2EA-33A9-1E85-9B02-C3AEA05F4F4C}"/>
              </a:ext>
            </a:extLst>
          </p:cNvPr>
          <p:cNvSpPr>
            <a:spLocks noGrp="1"/>
          </p:cNvSpPr>
          <p:nvPr>
            <p:ph idx="1"/>
          </p:nvPr>
        </p:nvSpPr>
        <p:spPr>
          <a:xfrm>
            <a:off x="806450" y="810115"/>
            <a:ext cx="7727950" cy="5392721"/>
          </a:xfrm>
        </p:spPr>
        <p:txBody>
          <a:bodyPr/>
          <a:lstStyle/>
          <a:p>
            <a:r>
              <a:rPr lang="en-US" dirty="0"/>
              <a:t>Popular algorithms used for allocating the partitions to the arriving processes are</a:t>
            </a:r>
          </a:p>
          <a:p>
            <a:pPr>
              <a:buFont typeface="Wingdings" panose="05000000000000000000" pitchFamily="2" charset="2"/>
              <a:buChar char="ü"/>
            </a:pPr>
            <a:r>
              <a:rPr lang="en-US" b="1" dirty="0"/>
              <a:t>First Fit Algorithm </a:t>
            </a:r>
            <a:r>
              <a:rPr lang="en-US" dirty="0"/>
              <a:t>– </a:t>
            </a:r>
          </a:p>
          <a:p>
            <a:r>
              <a:rPr lang="en-US" dirty="0"/>
              <a:t>This algorithm starts scanning the partitions serially from the starting.</a:t>
            </a:r>
          </a:p>
          <a:p>
            <a:r>
              <a:rPr lang="en-US" dirty="0"/>
              <a:t>When an empty partition that is big enough to store the process is found, it is allocated to the process.</a:t>
            </a:r>
          </a:p>
          <a:p>
            <a:r>
              <a:rPr lang="en-US" dirty="0"/>
              <a:t>Obviously, the partition size has to be greater than or at least equal to the process size.</a:t>
            </a:r>
          </a:p>
          <a:p>
            <a:pPr>
              <a:buFont typeface="Wingdings" panose="05000000000000000000" pitchFamily="2" charset="2"/>
              <a:buChar char="ü"/>
            </a:pPr>
            <a:r>
              <a:rPr lang="en-US" b="1" dirty="0"/>
              <a:t>Best Fit Algorithm </a:t>
            </a:r>
            <a:r>
              <a:rPr lang="en-US" dirty="0"/>
              <a:t>– </a:t>
            </a:r>
          </a:p>
          <a:p>
            <a:r>
              <a:rPr lang="en-US" dirty="0"/>
              <a:t>This algorithm first scans all the empty partitions.</a:t>
            </a:r>
          </a:p>
          <a:p>
            <a:r>
              <a:rPr lang="en-US" dirty="0"/>
              <a:t>It then allocates the smallest size partition to the process.</a:t>
            </a:r>
          </a:p>
          <a:p>
            <a:pPr>
              <a:buFont typeface="Wingdings" panose="05000000000000000000" pitchFamily="2" charset="2"/>
              <a:buChar char="ü"/>
            </a:pPr>
            <a:r>
              <a:rPr lang="en-US" b="1" dirty="0"/>
              <a:t>Worst Fit Algorithm </a:t>
            </a:r>
            <a:r>
              <a:rPr lang="en-US" dirty="0"/>
              <a:t>–</a:t>
            </a:r>
          </a:p>
          <a:p>
            <a:r>
              <a:rPr lang="en-US" dirty="0"/>
              <a:t>This algorithm first scans all the empty partitions.</a:t>
            </a:r>
          </a:p>
          <a:p>
            <a:r>
              <a:rPr lang="en-US" dirty="0"/>
              <a:t>It then allocates the largest size partition to the process.</a:t>
            </a:r>
          </a:p>
          <a:p>
            <a:pPr>
              <a:buFont typeface="Wingdings" panose="05000000000000000000" pitchFamily="2" charset="2"/>
              <a:buChar char="ü"/>
            </a:pPr>
            <a:endParaRPr lang="en-US" dirty="0"/>
          </a:p>
          <a:p>
            <a:endParaRPr lang="en-IN" dirty="0"/>
          </a:p>
        </p:txBody>
      </p:sp>
    </p:spTree>
    <p:extLst>
      <p:ext uri="{BB962C8B-B14F-4D97-AF65-F5344CB8AC3E}">
        <p14:creationId xmlns:p14="http://schemas.microsoft.com/office/powerpoint/2010/main" val="2330323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F2885-4FCA-1623-2622-11E4A01998AB}"/>
              </a:ext>
            </a:extLst>
          </p:cNvPr>
          <p:cNvSpPr>
            <a:spLocks noGrp="1"/>
          </p:cNvSpPr>
          <p:nvPr>
            <p:ph type="title"/>
          </p:nvPr>
        </p:nvSpPr>
        <p:spPr/>
        <p:txBody>
          <a:bodyPr/>
          <a:lstStyle/>
          <a:p>
            <a:r>
              <a:rPr lang="en-US" dirty="0"/>
              <a:t>Static Partitioning</a:t>
            </a:r>
            <a:endParaRPr lang="en-IN" dirty="0"/>
          </a:p>
        </p:txBody>
      </p:sp>
      <p:sp>
        <p:nvSpPr>
          <p:cNvPr id="3" name="Content Placeholder 2">
            <a:extLst>
              <a:ext uri="{FF2B5EF4-FFF2-40B4-BE49-F238E27FC236}">
                <a16:creationId xmlns:a16="http://schemas.microsoft.com/office/drawing/2014/main" id="{67AF5E03-58E3-F73C-AC8A-E3809B687C2F}"/>
              </a:ext>
            </a:extLst>
          </p:cNvPr>
          <p:cNvSpPr>
            <a:spLocks noGrp="1"/>
          </p:cNvSpPr>
          <p:nvPr>
            <p:ph idx="1"/>
          </p:nvPr>
        </p:nvSpPr>
        <p:spPr/>
        <p:txBody>
          <a:bodyPr/>
          <a:lstStyle/>
          <a:p>
            <a:r>
              <a:rPr lang="en-US" b="1" dirty="0"/>
              <a:t>For static partitioning,</a:t>
            </a:r>
          </a:p>
          <a:p>
            <a:r>
              <a:rPr lang="en-US" dirty="0"/>
              <a:t>Best Fit Algorithm works best.</a:t>
            </a:r>
          </a:p>
          <a:p>
            <a:r>
              <a:rPr lang="en-US" dirty="0"/>
              <a:t>This is because space left after the allocation inside the partition is of very small size.</a:t>
            </a:r>
          </a:p>
          <a:p>
            <a:r>
              <a:rPr lang="en-US" dirty="0"/>
              <a:t>Thus, internal fragmentation is least.</a:t>
            </a:r>
          </a:p>
          <a:p>
            <a:r>
              <a:rPr lang="en-US" dirty="0"/>
              <a:t>Worst Fit Algorithm works worst.</a:t>
            </a:r>
          </a:p>
          <a:p>
            <a:r>
              <a:rPr lang="en-US" dirty="0"/>
              <a:t>This is because space left after the allocation inside the partition is of very large size.</a:t>
            </a:r>
          </a:p>
          <a:p>
            <a:r>
              <a:rPr lang="en-US" dirty="0"/>
              <a:t>Thus, internal fragmentation is maximum.</a:t>
            </a:r>
          </a:p>
          <a:p>
            <a:endParaRPr lang="en-IN" dirty="0"/>
          </a:p>
        </p:txBody>
      </p:sp>
    </p:spTree>
    <p:extLst>
      <p:ext uri="{BB962C8B-B14F-4D97-AF65-F5344CB8AC3E}">
        <p14:creationId xmlns:p14="http://schemas.microsoft.com/office/powerpoint/2010/main" val="240939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E547A1C-BA00-4FD5-B75F-1BA0C14CB239}"/>
              </a:ext>
            </a:extLst>
          </p:cNvPr>
          <p:cNvSpPr>
            <a:spLocks noGrp="1" noChangeArrowheads="1"/>
          </p:cNvSpPr>
          <p:nvPr>
            <p:ph type="title"/>
          </p:nvPr>
        </p:nvSpPr>
        <p:spPr>
          <a:xfrm>
            <a:off x="559837" y="184150"/>
            <a:ext cx="8438113" cy="615950"/>
          </a:xfrm>
        </p:spPr>
        <p:txBody>
          <a:bodyPr/>
          <a:lstStyle/>
          <a:p>
            <a:pPr eaLnBrk="1" hangingPunct="1"/>
            <a:br>
              <a:rPr lang="en-US" altLang="en-US" dirty="0"/>
            </a:br>
            <a:r>
              <a:rPr lang="en-US" altLang="en-US" dirty="0"/>
              <a:t>Dynamic Partitioning</a:t>
            </a:r>
          </a:p>
        </p:txBody>
      </p:sp>
      <p:sp>
        <p:nvSpPr>
          <p:cNvPr id="21507" name="Rectangle 3">
            <a:extLst>
              <a:ext uri="{FF2B5EF4-FFF2-40B4-BE49-F238E27FC236}">
                <a16:creationId xmlns:a16="http://schemas.microsoft.com/office/drawing/2014/main" id="{4B12B19D-5F62-4569-A4AE-2840954F1ED4}"/>
              </a:ext>
            </a:extLst>
          </p:cNvPr>
          <p:cNvSpPr>
            <a:spLocks noGrp="1" noChangeArrowheads="1"/>
          </p:cNvSpPr>
          <p:nvPr>
            <p:ph type="body" idx="1"/>
          </p:nvPr>
        </p:nvSpPr>
        <p:spPr>
          <a:xfrm>
            <a:off x="787400" y="1076325"/>
            <a:ext cx="7770813" cy="5069951"/>
          </a:xfrm>
        </p:spPr>
        <p:txBody>
          <a:bodyPr/>
          <a:lstStyle/>
          <a:p>
            <a:r>
              <a:rPr lang="en-US" altLang="en-US" sz="1600" dirty="0"/>
              <a:t>Dynamic partitioning is a variable size partitioning scheme.</a:t>
            </a:r>
          </a:p>
          <a:p>
            <a:r>
              <a:rPr lang="en-US" altLang="en-US" sz="1600" dirty="0"/>
              <a:t>It performs the allocation dynamically.</a:t>
            </a:r>
          </a:p>
          <a:p>
            <a:r>
              <a:rPr lang="en-US" altLang="en-US" sz="1600" dirty="0"/>
              <a:t>When a process arrives, a partition of size equal to the size of process is created.</a:t>
            </a:r>
          </a:p>
          <a:p>
            <a:r>
              <a:rPr lang="en-US" altLang="en-US" sz="1600" dirty="0"/>
              <a:t>Then, that partition is allocated to the process.</a:t>
            </a:r>
          </a:p>
          <a:p>
            <a:r>
              <a:rPr lang="en-US" sz="1600" dirty="0"/>
              <a:t>The processes arrive and leave the main memory.</a:t>
            </a:r>
          </a:p>
          <a:p>
            <a:r>
              <a:rPr lang="en-US" sz="1600" dirty="0"/>
              <a:t>As a result, free memory areas(holes) of different size are created in the main memory.</a:t>
            </a:r>
          </a:p>
          <a:p>
            <a:r>
              <a:rPr lang="en-US" sz="1600" dirty="0"/>
              <a:t>These holes are allocated to the processes that arrive in future.</a:t>
            </a:r>
          </a:p>
          <a:p>
            <a:r>
              <a:rPr lang="en-US" sz="1600" dirty="0"/>
              <a:t>Partition allocation algorithms are used to decide which hole should be allocated to the arrived process.</a:t>
            </a:r>
          </a:p>
          <a:p>
            <a:endParaRPr lang="en-US" sz="1600" dirty="0"/>
          </a:p>
          <a:p>
            <a:endParaRPr lang="en-US" alt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534D9BC0-752C-49BF-81BD-50A1A3166DAB}"/>
              </a:ext>
            </a:extLst>
          </p:cNvPr>
          <p:cNvSpPr>
            <a:spLocks noGrp="1" noChangeArrowheads="1"/>
          </p:cNvSpPr>
          <p:nvPr>
            <p:ph type="title"/>
          </p:nvPr>
        </p:nvSpPr>
        <p:spPr>
          <a:xfrm>
            <a:off x="855663" y="236379"/>
            <a:ext cx="7831137" cy="576263"/>
          </a:xfrm>
        </p:spPr>
        <p:txBody>
          <a:bodyPr/>
          <a:lstStyle/>
          <a:p>
            <a:pPr eaLnBrk="1" hangingPunct="1"/>
            <a:r>
              <a:rPr lang="en-US" altLang="en-US" dirty="0"/>
              <a:t>Fragmentation</a:t>
            </a:r>
          </a:p>
        </p:txBody>
      </p:sp>
      <p:sp>
        <p:nvSpPr>
          <p:cNvPr id="23555" name="Rectangle 1027">
            <a:extLst>
              <a:ext uri="{FF2B5EF4-FFF2-40B4-BE49-F238E27FC236}">
                <a16:creationId xmlns:a16="http://schemas.microsoft.com/office/drawing/2014/main" id="{C8EC98FB-DB12-4D53-B1D8-DA0D6EC9FEE0}"/>
              </a:ext>
            </a:extLst>
          </p:cNvPr>
          <p:cNvSpPr>
            <a:spLocks noGrp="1" noChangeArrowheads="1"/>
          </p:cNvSpPr>
          <p:nvPr>
            <p:ph type="body" idx="1"/>
          </p:nvPr>
        </p:nvSpPr>
        <p:spPr>
          <a:xfrm>
            <a:off x="855663" y="1114425"/>
            <a:ext cx="7663186" cy="4999038"/>
          </a:xfrm>
        </p:spPr>
        <p:txBody>
          <a:bodyPr/>
          <a:lstStyle/>
          <a:p>
            <a:r>
              <a:rPr lang="en-US" altLang="en-US" b="1" dirty="0">
                <a:solidFill>
                  <a:srgbClr val="006699"/>
                </a:solidFill>
                <a:latin typeface="+mj-lt"/>
              </a:rPr>
              <a:t>External</a:t>
            </a:r>
            <a:r>
              <a:rPr lang="en-US" altLang="en-US" b="1" dirty="0">
                <a:solidFill>
                  <a:srgbClr val="3366FF"/>
                </a:solidFill>
              </a:rPr>
              <a:t> </a:t>
            </a:r>
            <a:r>
              <a:rPr lang="en-US" altLang="en-US" b="1" dirty="0">
                <a:solidFill>
                  <a:srgbClr val="006699"/>
                </a:solidFill>
                <a:latin typeface="+mj-lt"/>
              </a:rPr>
              <a:t>Fragmentation</a:t>
            </a:r>
            <a:r>
              <a:rPr lang="en-US" altLang="en-US" dirty="0">
                <a:solidFill>
                  <a:srgbClr val="3366FF"/>
                </a:solidFill>
              </a:rPr>
              <a:t> </a:t>
            </a:r>
            <a:r>
              <a:rPr lang="en-US" altLang="en-US" dirty="0"/>
              <a:t>– total memory space exists to satisfy a request, but it is not contiguous</a:t>
            </a:r>
            <a:endParaRPr lang="en-US" altLang="en-US" b="1" dirty="0">
              <a:solidFill>
                <a:srgbClr val="3366FF"/>
              </a:solidFill>
            </a:endParaRPr>
          </a:p>
          <a:p>
            <a:r>
              <a:rPr lang="en-US" altLang="en-US" b="1" dirty="0">
                <a:solidFill>
                  <a:srgbClr val="006699"/>
                </a:solidFill>
                <a:latin typeface="+mj-lt"/>
              </a:rPr>
              <a:t>Internal</a:t>
            </a:r>
            <a:r>
              <a:rPr lang="en-US" altLang="en-US" b="1" dirty="0">
                <a:solidFill>
                  <a:srgbClr val="3366FF"/>
                </a:solidFill>
              </a:rPr>
              <a:t> </a:t>
            </a:r>
            <a:r>
              <a:rPr lang="en-US" altLang="en-US" b="1" dirty="0">
                <a:solidFill>
                  <a:srgbClr val="006699"/>
                </a:solidFill>
                <a:latin typeface="+mj-lt"/>
              </a:rPr>
              <a:t>Fragmentation</a:t>
            </a:r>
            <a:r>
              <a:rPr lang="en-US" altLang="en-US" dirty="0">
                <a:solidFill>
                  <a:srgbClr val="3366FF"/>
                </a:solidFill>
              </a:rPr>
              <a:t> </a:t>
            </a:r>
            <a:r>
              <a:rPr lang="en-US" altLang="en-US" dirty="0"/>
              <a:t>– allocated memory may be slightly larger than requested memory; this size difference is memory internal to a partition, but not being used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311294-889B-E25B-CA92-63322E72AC6F}"/>
              </a:ext>
            </a:extLst>
          </p:cNvPr>
          <p:cNvPicPr>
            <a:picLocks noChangeAspect="1"/>
          </p:cNvPicPr>
          <p:nvPr/>
        </p:nvPicPr>
        <p:blipFill>
          <a:blip r:embed="rId2"/>
          <a:stretch>
            <a:fillRect/>
          </a:stretch>
        </p:blipFill>
        <p:spPr>
          <a:xfrm>
            <a:off x="1791093" y="1138842"/>
            <a:ext cx="4804969" cy="3957033"/>
          </a:xfrm>
          <a:prstGeom prst="rect">
            <a:avLst/>
          </a:prstGeom>
        </p:spPr>
      </p:pic>
    </p:spTree>
    <p:extLst>
      <p:ext uri="{BB962C8B-B14F-4D97-AF65-F5344CB8AC3E}">
        <p14:creationId xmlns:p14="http://schemas.microsoft.com/office/powerpoint/2010/main" val="2820191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5057C-9D1C-97A6-B0A3-7B45AD1F092F}"/>
              </a:ext>
            </a:extLst>
          </p:cNvPr>
          <p:cNvPicPr>
            <a:picLocks noChangeAspect="1"/>
          </p:cNvPicPr>
          <p:nvPr/>
        </p:nvPicPr>
        <p:blipFill>
          <a:blip r:embed="rId2"/>
          <a:stretch>
            <a:fillRect/>
          </a:stretch>
        </p:blipFill>
        <p:spPr>
          <a:xfrm>
            <a:off x="0" y="916086"/>
            <a:ext cx="9144000" cy="5275163"/>
          </a:xfrm>
          <a:prstGeom prst="rect">
            <a:avLst/>
          </a:prstGeom>
        </p:spPr>
      </p:pic>
      <p:sp>
        <p:nvSpPr>
          <p:cNvPr id="5" name="TextBox 4">
            <a:extLst>
              <a:ext uri="{FF2B5EF4-FFF2-40B4-BE49-F238E27FC236}">
                <a16:creationId xmlns:a16="http://schemas.microsoft.com/office/drawing/2014/main" id="{127084D1-24EA-F422-939A-FD4C900F1A6F}"/>
              </a:ext>
            </a:extLst>
          </p:cNvPr>
          <p:cNvSpPr txBox="1"/>
          <p:nvPr/>
        </p:nvSpPr>
        <p:spPr>
          <a:xfrm>
            <a:off x="1753386" y="546755"/>
            <a:ext cx="5015059" cy="369332"/>
          </a:xfrm>
          <a:prstGeom prst="rect">
            <a:avLst/>
          </a:prstGeom>
          <a:noFill/>
        </p:spPr>
        <p:txBody>
          <a:bodyPr wrap="square" rtlCol="0">
            <a:spAutoFit/>
          </a:bodyPr>
          <a:lstStyle/>
          <a:p>
            <a:r>
              <a:rPr lang="en-US" dirty="0"/>
              <a:t>Example of External Fragmentation</a:t>
            </a:r>
            <a:endParaRPr lang="en-IN" dirty="0"/>
          </a:p>
        </p:txBody>
      </p:sp>
    </p:spTree>
    <p:extLst>
      <p:ext uri="{BB962C8B-B14F-4D97-AF65-F5344CB8AC3E}">
        <p14:creationId xmlns:p14="http://schemas.microsoft.com/office/powerpoint/2010/main" val="2667694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08AB-0114-D9E0-AC35-0ECB2BE83A88}"/>
              </a:ext>
            </a:extLst>
          </p:cNvPr>
          <p:cNvSpPr>
            <a:spLocks noGrp="1"/>
          </p:cNvSpPr>
          <p:nvPr>
            <p:ph type="title"/>
          </p:nvPr>
        </p:nvSpPr>
        <p:spPr/>
        <p:txBody>
          <a:bodyPr/>
          <a:lstStyle/>
          <a:p>
            <a:r>
              <a:rPr lang="en-IN" dirty="0"/>
              <a:t>Compaction</a:t>
            </a:r>
            <a:endParaRPr lang="en-US" dirty="0"/>
          </a:p>
        </p:txBody>
      </p:sp>
      <p:sp>
        <p:nvSpPr>
          <p:cNvPr id="3" name="Content Placeholder 2">
            <a:extLst>
              <a:ext uri="{FF2B5EF4-FFF2-40B4-BE49-F238E27FC236}">
                <a16:creationId xmlns:a16="http://schemas.microsoft.com/office/drawing/2014/main" id="{154A3EC3-758D-0C06-9CF1-3E70FAB8B70B}"/>
              </a:ext>
            </a:extLst>
          </p:cNvPr>
          <p:cNvSpPr>
            <a:spLocks noGrp="1"/>
          </p:cNvSpPr>
          <p:nvPr>
            <p:ph idx="1"/>
          </p:nvPr>
        </p:nvSpPr>
        <p:spPr/>
        <p:txBody>
          <a:bodyPr/>
          <a:lstStyle/>
          <a:p>
            <a:r>
              <a:rPr lang="en-IN" b="0" i="0" dirty="0">
                <a:solidFill>
                  <a:srgbClr val="353535"/>
                </a:solidFill>
                <a:effectLst/>
                <a:latin typeface="Arial" panose="020B0604020202020204" pitchFamily="34" charset="0"/>
              </a:rPr>
              <a:t>Compaction is a technique to collect all the free memory present in the form of fragments into one large chunk of free memory, which can be used to run other processes</a:t>
            </a:r>
          </a:p>
          <a:p>
            <a:r>
              <a:rPr lang="en-IN" b="0" i="0" dirty="0">
                <a:solidFill>
                  <a:srgbClr val="353535"/>
                </a:solidFill>
                <a:effectLst/>
                <a:latin typeface="Arial" panose="020B0604020202020204" pitchFamily="34" charset="0"/>
              </a:rPr>
              <a:t>It does that by moving all the processes towards one end of the memory and all the available free space towards the other end of the memory so that it becomes contiguous</a:t>
            </a:r>
          </a:p>
          <a:p>
            <a:r>
              <a:rPr lang="en-IN" dirty="0"/>
              <a:t>It is not always easy to do compaction. Compaction can be done only when the relocation is dynamic and done at execution time.</a:t>
            </a:r>
          </a:p>
          <a:p>
            <a:endParaRPr lang="en-US" dirty="0"/>
          </a:p>
        </p:txBody>
      </p:sp>
    </p:spTree>
    <p:extLst>
      <p:ext uri="{BB962C8B-B14F-4D97-AF65-F5344CB8AC3E}">
        <p14:creationId xmlns:p14="http://schemas.microsoft.com/office/powerpoint/2010/main" val="3917678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9A2AE30D-1006-21AD-2215-2C62EE6F897F}"/>
              </a:ext>
            </a:extLst>
          </p:cNvPr>
          <p:cNvPicPr>
            <a:picLocks noGrp="1" noChangeAspect="1"/>
          </p:cNvPicPr>
          <p:nvPr>
            <p:ph idx="1"/>
          </p:nvPr>
        </p:nvPicPr>
        <p:blipFill>
          <a:blip r:embed="rId2"/>
          <a:stretch>
            <a:fillRect/>
          </a:stretch>
        </p:blipFill>
        <p:spPr>
          <a:xfrm>
            <a:off x="731881" y="2031999"/>
            <a:ext cx="7680238" cy="3823051"/>
          </a:xfrm>
        </p:spPr>
      </p:pic>
      <p:sp>
        <p:nvSpPr>
          <p:cNvPr id="5" name="Title 1">
            <a:extLst>
              <a:ext uri="{FF2B5EF4-FFF2-40B4-BE49-F238E27FC236}">
                <a16:creationId xmlns:a16="http://schemas.microsoft.com/office/drawing/2014/main" id="{1D74ABA4-23B1-5779-5C7E-9EA8FC6ACBF8}"/>
              </a:ext>
            </a:extLst>
          </p:cNvPr>
          <p:cNvSpPr txBox="1">
            <a:spLocks noGrp="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IN" kern="0" dirty="0"/>
              <a:t>Compaction</a:t>
            </a:r>
            <a:endParaRPr lang="en-US" kern="0" dirty="0"/>
          </a:p>
        </p:txBody>
      </p:sp>
    </p:spTree>
    <p:extLst>
      <p:ext uri="{BB962C8B-B14F-4D97-AF65-F5344CB8AC3E}">
        <p14:creationId xmlns:p14="http://schemas.microsoft.com/office/powerpoint/2010/main" val="2919056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4491-26ED-59D7-98F0-3DB6BDB1D929}"/>
              </a:ext>
            </a:extLst>
          </p:cNvPr>
          <p:cNvSpPr>
            <a:spLocks noGrp="1"/>
          </p:cNvSpPr>
          <p:nvPr>
            <p:ph type="title"/>
          </p:nvPr>
        </p:nvSpPr>
        <p:spPr/>
        <p:txBody>
          <a:bodyPr/>
          <a:lstStyle/>
          <a:p>
            <a:r>
              <a:rPr lang="en-US" dirty="0"/>
              <a:t>Non-Contiguous Memory Allocation</a:t>
            </a:r>
            <a:endParaRPr lang="en-IN" dirty="0"/>
          </a:p>
        </p:txBody>
      </p:sp>
      <p:sp>
        <p:nvSpPr>
          <p:cNvPr id="3" name="Content Placeholder 2">
            <a:extLst>
              <a:ext uri="{FF2B5EF4-FFF2-40B4-BE49-F238E27FC236}">
                <a16:creationId xmlns:a16="http://schemas.microsoft.com/office/drawing/2014/main" id="{0E9C297A-E83B-130A-6F87-474C4341C181}"/>
              </a:ext>
            </a:extLst>
          </p:cNvPr>
          <p:cNvSpPr>
            <a:spLocks noGrp="1"/>
          </p:cNvSpPr>
          <p:nvPr>
            <p:ph idx="1"/>
          </p:nvPr>
        </p:nvSpPr>
        <p:spPr/>
        <p:txBody>
          <a:bodyPr/>
          <a:lstStyle/>
          <a:p>
            <a:r>
              <a:rPr lang="en-US" b="1" u="sng" dirty="0"/>
              <a:t>Non-Contiguous Memory Allocation-</a:t>
            </a:r>
            <a:endParaRPr lang="en-US" b="1" dirty="0"/>
          </a:p>
          <a:p>
            <a:r>
              <a:rPr lang="en-US" dirty="0"/>
              <a:t>Non-contiguous memory allocation is a memory allocation technique.</a:t>
            </a:r>
          </a:p>
          <a:p>
            <a:r>
              <a:rPr lang="en-US" dirty="0"/>
              <a:t>It allows to store parts of a single process in a non-contiguous fashion.</a:t>
            </a:r>
          </a:p>
          <a:p>
            <a:r>
              <a:rPr lang="en-US" dirty="0"/>
              <a:t>Thus, different parts of the same process can be stored at different places in the main memory.</a:t>
            </a:r>
          </a:p>
          <a:p>
            <a:pPr marL="0" indent="0">
              <a:buNone/>
            </a:pPr>
            <a:r>
              <a:rPr lang="en-US" dirty="0"/>
              <a:t> </a:t>
            </a:r>
          </a:p>
          <a:p>
            <a:r>
              <a:rPr lang="en-US" b="1" u="sng" dirty="0"/>
              <a:t>Techniques-</a:t>
            </a:r>
            <a:r>
              <a:rPr lang="en-US" dirty="0"/>
              <a:t> </a:t>
            </a:r>
          </a:p>
          <a:p>
            <a:r>
              <a:rPr lang="en-US" dirty="0"/>
              <a:t>There are two popular techniques used for non-contiguous memory allocation-</a:t>
            </a:r>
          </a:p>
          <a:p>
            <a:pPr>
              <a:buFont typeface="Wingdings" panose="05000000000000000000" pitchFamily="2" charset="2"/>
              <a:buChar char="ü"/>
            </a:pPr>
            <a:r>
              <a:rPr lang="en-US" dirty="0"/>
              <a:t>Paging</a:t>
            </a:r>
          </a:p>
          <a:p>
            <a:pPr>
              <a:buFont typeface="Wingdings" panose="05000000000000000000" pitchFamily="2" charset="2"/>
              <a:buChar char="ü"/>
            </a:pPr>
            <a:r>
              <a:rPr lang="en-US" dirty="0"/>
              <a:t>Segmentation</a:t>
            </a:r>
          </a:p>
          <a:p>
            <a:pPr marL="0" indent="0">
              <a:buNone/>
            </a:pPr>
            <a:endParaRPr lang="en-IN" dirty="0"/>
          </a:p>
        </p:txBody>
      </p:sp>
    </p:spTree>
    <p:extLst>
      <p:ext uri="{BB962C8B-B14F-4D97-AF65-F5344CB8AC3E}">
        <p14:creationId xmlns:p14="http://schemas.microsoft.com/office/powerpoint/2010/main" val="4033659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17EE4-C1D4-5482-730B-76C65195EF2C}"/>
              </a:ext>
            </a:extLst>
          </p:cNvPr>
          <p:cNvSpPr>
            <a:spLocks noGrp="1"/>
          </p:cNvSpPr>
          <p:nvPr>
            <p:ph type="title"/>
          </p:nvPr>
        </p:nvSpPr>
        <p:spPr/>
        <p:txBody>
          <a:bodyPr/>
          <a:lstStyle/>
          <a:p>
            <a:r>
              <a:rPr lang="en-IN" dirty="0"/>
              <a:t>Paging</a:t>
            </a:r>
            <a:endParaRPr lang="en-US" dirty="0"/>
          </a:p>
        </p:txBody>
      </p:sp>
      <p:sp>
        <p:nvSpPr>
          <p:cNvPr id="3" name="Content Placeholder 2">
            <a:extLst>
              <a:ext uri="{FF2B5EF4-FFF2-40B4-BE49-F238E27FC236}">
                <a16:creationId xmlns:a16="http://schemas.microsoft.com/office/drawing/2014/main" id="{8E7865E2-F253-44EB-E7F9-6693C925D936}"/>
              </a:ext>
            </a:extLst>
          </p:cNvPr>
          <p:cNvSpPr>
            <a:spLocks noGrp="1"/>
          </p:cNvSpPr>
          <p:nvPr>
            <p:ph idx="1"/>
          </p:nvPr>
        </p:nvSpPr>
        <p:spPr/>
        <p:txBody>
          <a:bodyPr/>
          <a:lstStyle/>
          <a:p>
            <a:r>
              <a:rPr lang="en-US" b="1" u="sng" dirty="0"/>
              <a:t>Paging</a:t>
            </a:r>
            <a:endParaRPr lang="en-US" dirty="0"/>
          </a:p>
          <a:p>
            <a:r>
              <a:rPr lang="en-US" dirty="0"/>
              <a:t>Paging is a fixed size partitioning scheme.</a:t>
            </a:r>
          </a:p>
          <a:p>
            <a:r>
              <a:rPr lang="en-US" dirty="0"/>
              <a:t>In paging, secondary memory and main memory are divided into equal fixed size partitions.</a:t>
            </a:r>
          </a:p>
          <a:p>
            <a:r>
              <a:rPr lang="en-US" dirty="0"/>
              <a:t>The partitions of logical address space are called as </a:t>
            </a:r>
            <a:r>
              <a:rPr lang="en-US" b="1" dirty="0"/>
              <a:t>pages</a:t>
            </a:r>
            <a:r>
              <a:rPr lang="en-US" dirty="0"/>
              <a:t>.</a:t>
            </a:r>
          </a:p>
          <a:p>
            <a:r>
              <a:rPr lang="en-US" dirty="0"/>
              <a:t>The partitions of main memory are called as </a:t>
            </a:r>
            <a:r>
              <a:rPr lang="en-US" b="1" dirty="0"/>
              <a:t>frames</a:t>
            </a:r>
            <a:r>
              <a:rPr lang="en-US" dirty="0"/>
              <a:t>.</a:t>
            </a:r>
          </a:p>
          <a:p>
            <a:r>
              <a:rPr lang="en-IN" dirty="0"/>
              <a:t>One page of the process must be saved in one of the given memory frames. These pages can be stored in various memory locations. </a:t>
            </a:r>
          </a:p>
          <a:p>
            <a:r>
              <a:rPr lang="en-IN" dirty="0"/>
              <a:t>Process pages are usually only brought into the main memory when they are needed; else, they are stored in the secondary storage.</a:t>
            </a:r>
            <a:endParaRPr lang="en-US" dirty="0"/>
          </a:p>
        </p:txBody>
      </p:sp>
    </p:spTree>
    <p:extLst>
      <p:ext uri="{BB962C8B-B14F-4D97-AF65-F5344CB8AC3E}">
        <p14:creationId xmlns:p14="http://schemas.microsoft.com/office/powerpoint/2010/main" val="2829349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E61C1-6EAA-ADEE-A7FB-BD45F1121F3F}"/>
              </a:ext>
            </a:extLst>
          </p:cNvPr>
          <p:cNvSpPr>
            <a:spLocks noGrp="1"/>
          </p:cNvSpPr>
          <p:nvPr>
            <p:ph type="title"/>
          </p:nvPr>
        </p:nvSpPr>
        <p:spPr/>
        <p:txBody>
          <a:bodyPr/>
          <a:lstStyle/>
          <a:p>
            <a:r>
              <a:rPr lang="en-IN" dirty="0"/>
              <a:t>Paging</a:t>
            </a:r>
            <a:endParaRPr lang="en-US" dirty="0"/>
          </a:p>
        </p:txBody>
      </p:sp>
      <p:pic>
        <p:nvPicPr>
          <p:cNvPr id="4" name="Picture 4">
            <a:extLst>
              <a:ext uri="{FF2B5EF4-FFF2-40B4-BE49-F238E27FC236}">
                <a16:creationId xmlns:a16="http://schemas.microsoft.com/office/drawing/2014/main" id="{37650B63-767A-729B-935F-C0C89C71CC91}"/>
              </a:ext>
            </a:extLst>
          </p:cNvPr>
          <p:cNvPicPr>
            <a:picLocks noGrp="1" noChangeAspect="1"/>
          </p:cNvPicPr>
          <p:nvPr>
            <p:ph idx="1"/>
          </p:nvPr>
        </p:nvPicPr>
        <p:blipFill>
          <a:blip r:embed="rId2"/>
          <a:stretch>
            <a:fillRect/>
          </a:stretch>
        </p:blipFill>
        <p:spPr>
          <a:xfrm>
            <a:off x="1098550" y="1841500"/>
            <a:ext cx="7143750" cy="3314700"/>
          </a:xfrm>
        </p:spPr>
      </p:pic>
    </p:spTree>
    <p:extLst>
      <p:ext uri="{BB962C8B-B14F-4D97-AF65-F5344CB8AC3E}">
        <p14:creationId xmlns:p14="http://schemas.microsoft.com/office/powerpoint/2010/main" val="1510220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713AF-F110-A1E8-3B9C-DA80788408D4}"/>
              </a:ext>
            </a:extLst>
          </p:cNvPr>
          <p:cNvSpPr>
            <a:spLocks noGrp="1"/>
          </p:cNvSpPr>
          <p:nvPr>
            <p:ph type="title"/>
          </p:nvPr>
        </p:nvSpPr>
        <p:spPr/>
        <p:txBody>
          <a:bodyPr/>
          <a:lstStyle/>
          <a:p>
            <a:r>
              <a:rPr lang="en-IN" dirty="0"/>
              <a:t>Paging</a:t>
            </a:r>
            <a:endParaRPr lang="en-US" dirty="0"/>
          </a:p>
        </p:txBody>
      </p:sp>
      <p:sp>
        <p:nvSpPr>
          <p:cNvPr id="3" name="Content Placeholder 2">
            <a:extLst>
              <a:ext uri="{FF2B5EF4-FFF2-40B4-BE49-F238E27FC236}">
                <a16:creationId xmlns:a16="http://schemas.microsoft.com/office/drawing/2014/main" id="{07B2A73C-7FEB-B4AB-0788-4B8C20A63D0E}"/>
              </a:ext>
            </a:extLst>
          </p:cNvPr>
          <p:cNvSpPr>
            <a:spLocks noGrp="1"/>
          </p:cNvSpPr>
          <p:nvPr>
            <p:ph idx="1"/>
          </p:nvPr>
        </p:nvSpPr>
        <p:spPr/>
        <p:txBody>
          <a:bodyPr/>
          <a:lstStyle/>
          <a:p>
            <a:r>
              <a:rPr lang="en-IN" dirty="0"/>
              <a:t> </a:t>
            </a:r>
            <a:r>
              <a:rPr lang="en-IN" b="0" i="0" dirty="0">
                <a:solidFill>
                  <a:srgbClr val="444444"/>
                </a:solidFill>
                <a:effectLst/>
                <a:latin typeface="Poppins" pitchFamily="2" charset="0"/>
              </a:rPr>
              <a:t>Assuming that the main memory is 16 KB and the frame size is 1 KB, the main memory will be partitioned into a collection of 16 1 KB frames. P1, P2, P3, and P4 are the four processes in the system, each of which is 4 KB in size. Each process is separated into 1 KB pages, allowing one page to be saved in a single frame.</a:t>
            </a:r>
            <a:endParaRPr lang="en-US" dirty="0"/>
          </a:p>
        </p:txBody>
      </p:sp>
      <p:pic>
        <p:nvPicPr>
          <p:cNvPr id="4" name="Picture 4">
            <a:extLst>
              <a:ext uri="{FF2B5EF4-FFF2-40B4-BE49-F238E27FC236}">
                <a16:creationId xmlns:a16="http://schemas.microsoft.com/office/drawing/2014/main" id="{DDF448B4-33D4-FD2D-275E-6829A367D4E0}"/>
              </a:ext>
            </a:extLst>
          </p:cNvPr>
          <p:cNvPicPr>
            <a:picLocks noChangeAspect="1"/>
          </p:cNvPicPr>
          <p:nvPr/>
        </p:nvPicPr>
        <p:blipFill>
          <a:blip r:embed="rId2"/>
          <a:stretch>
            <a:fillRect/>
          </a:stretch>
        </p:blipFill>
        <p:spPr>
          <a:xfrm>
            <a:off x="1930752" y="2695294"/>
            <a:ext cx="5902922" cy="3928853"/>
          </a:xfrm>
          <a:prstGeom prst="rect">
            <a:avLst/>
          </a:prstGeom>
        </p:spPr>
      </p:pic>
    </p:spTree>
    <p:extLst>
      <p:ext uri="{BB962C8B-B14F-4D97-AF65-F5344CB8AC3E}">
        <p14:creationId xmlns:p14="http://schemas.microsoft.com/office/powerpoint/2010/main" val="27736736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C0D4-5756-FFF2-BDBE-FC448ABA7D07}"/>
              </a:ext>
            </a:extLst>
          </p:cNvPr>
          <p:cNvSpPr>
            <a:spLocks noGrp="1"/>
          </p:cNvSpPr>
          <p:nvPr>
            <p:ph type="title"/>
          </p:nvPr>
        </p:nvSpPr>
        <p:spPr/>
        <p:txBody>
          <a:bodyPr/>
          <a:lstStyle/>
          <a:p>
            <a:r>
              <a:rPr lang="en-IN" dirty="0"/>
              <a:t>Paging</a:t>
            </a:r>
            <a:endParaRPr lang="en-US" dirty="0"/>
          </a:p>
        </p:txBody>
      </p:sp>
      <p:sp>
        <p:nvSpPr>
          <p:cNvPr id="3" name="Content Placeholder 2">
            <a:extLst>
              <a:ext uri="{FF2B5EF4-FFF2-40B4-BE49-F238E27FC236}">
                <a16:creationId xmlns:a16="http://schemas.microsoft.com/office/drawing/2014/main" id="{103B7934-AEE1-2CC8-3E8B-D9A9B1712F21}"/>
              </a:ext>
            </a:extLst>
          </p:cNvPr>
          <p:cNvSpPr>
            <a:spLocks noGrp="1"/>
          </p:cNvSpPr>
          <p:nvPr>
            <p:ph idx="1"/>
          </p:nvPr>
        </p:nvSpPr>
        <p:spPr/>
        <p:txBody>
          <a:bodyPr/>
          <a:lstStyle/>
          <a:p>
            <a:pPr marL="0" indent="0">
              <a:buNone/>
            </a:pPr>
            <a:r>
              <a:rPr lang="en-IN" dirty="0"/>
              <a:t>Suppose p2, p4 terminates and p5 from ready queue loaded into main memory</a:t>
            </a:r>
            <a:endParaRPr lang="en-US" dirty="0"/>
          </a:p>
        </p:txBody>
      </p:sp>
      <p:pic>
        <p:nvPicPr>
          <p:cNvPr id="4" name="Picture 4">
            <a:extLst>
              <a:ext uri="{FF2B5EF4-FFF2-40B4-BE49-F238E27FC236}">
                <a16:creationId xmlns:a16="http://schemas.microsoft.com/office/drawing/2014/main" id="{234356A8-2A59-48A5-86F9-E4FC22B6C466}"/>
              </a:ext>
            </a:extLst>
          </p:cNvPr>
          <p:cNvPicPr>
            <a:picLocks noChangeAspect="1"/>
          </p:cNvPicPr>
          <p:nvPr/>
        </p:nvPicPr>
        <p:blipFill>
          <a:blip r:embed="rId2"/>
          <a:stretch>
            <a:fillRect/>
          </a:stretch>
        </p:blipFill>
        <p:spPr>
          <a:xfrm>
            <a:off x="1515114" y="1930097"/>
            <a:ext cx="6354869" cy="4530725"/>
          </a:xfrm>
          <a:prstGeom prst="rect">
            <a:avLst/>
          </a:prstGeom>
        </p:spPr>
      </p:pic>
    </p:spTree>
    <p:extLst>
      <p:ext uri="{BB962C8B-B14F-4D97-AF65-F5344CB8AC3E}">
        <p14:creationId xmlns:p14="http://schemas.microsoft.com/office/powerpoint/2010/main" val="4028609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287-0119-A6BF-0998-2EB52F338E02}"/>
              </a:ext>
            </a:extLst>
          </p:cNvPr>
          <p:cNvSpPr>
            <a:spLocks noGrp="1"/>
          </p:cNvSpPr>
          <p:nvPr>
            <p:ph type="title"/>
          </p:nvPr>
        </p:nvSpPr>
        <p:spPr>
          <a:xfrm>
            <a:off x="457200" y="94269"/>
            <a:ext cx="8229600" cy="480768"/>
          </a:xfrm>
        </p:spPr>
        <p:txBody>
          <a:bodyPr/>
          <a:lstStyle/>
          <a:p>
            <a:r>
              <a:rPr lang="en-IN" dirty="0"/>
              <a:t>Address scheme mechanism</a:t>
            </a:r>
            <a:endParaRPr lang="en-US" dirty="0"/>
          </a:p>
        </p:txBody>
      </p:sp>
      <p:sp>
        <p:nvSpPr>
          <p:cNvPr id="5" name="Rectangle 1027">
            <a:extLst>
              <a:ext uri="{FF2B5EF4-FFF2-40B4-BE49-F238E27FC236}">
                <a16:creationId xmlns:a16="http://schemas.microsoft.com/office/drawing/2014/main" id="{25BB928D-4F38-0CC3-4ABA-61AFDE4911B2}"/>
              </a:ext>
            </a:extLst>
          </p:cNvPr>
          <p:cNvSpPr txBox="1">
            <a:spLocks noGrp="1" noChangeArrowheads="1"/>
          </p:cNvSpPr>
          <p:nvPr>
            <p:ph idx="1"/>
          </p:nvPr>
        </p:nvSpPr>
        <p:spPr bwMode="auto">
          <a:xfrm>
            <a:off x="806450" y="575036"/>
            <a:ext cx="7727950" cy="573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en-US" altLang="en-US" kern="0" dirty="0"/>
              <a:t>Address generated by CPU is divided into:</a:t>
            </a:r>
          </a:p>
          <a:p>
            <a:pPr lvl="1">
              <a:defRPr/>
            </a:pPr>
            <a:r>
              <a:rPr lang="en-US" altLang="en-US" b="1" kern="0" dirty="0">
                <a:solidFill>
                  <a:srgbClr val="006699"/>
                </a:solidFill>
                <a:latin typeface="+mj-lt"/>
              </a:rPr>
              <a:t>Page</a:t>
            </a:r>
            <a:r>
              <a:rPr lang="en-US" altLang="en-US" b="1" kern="0" dirty="0">
                <a:solidFill>
                  <a:srgbClr val="3366FF"/>
                </a:solidFill>
              </a:rPr>
              <a:t> </a:t>
            </a:r>
            <a:r>
              <a:rPr lang="en-US" altLang="en-US" b="1" kern="0" dirty="0">
                <a:solidFill>
                  <a:srgbClr val="006699"/>
                </a:solidFill>
                <a:latin typeface="+mj-lt"/>
              </a:rPr>
              <a:t>number</a:t>
            </a:r>
            <a:r>
              <a:rPr lang="en-US" altLang="en-US" b="1" kern="0" dirty="0">
                <a:solidFill>
                  <a:srgbClr val="3366FF"/>
                </a:solidFill>
              </a:rPr>
              <a:t> </a:t>
            </a:r>
            <a:r>
              <a:rPr lang="en-US" altLang="en-US" kern="0" dirty="0"/>
              <a:t>(</a:t>
            </a:r>
            <a:r>
              <a:rPr lang="en-US" altLang="en-US" b="1" i="1" kern="0" dirty="0">
                <a:solidFill>
                  <a:srgbClr val="006699"/>
                </a:solidFill>
                <a:latin typeface="+mj-lt"/>
              </a:rPr>
              <a:t>p</a:t>
            </a:r>
            <a:r>
              <a:rPr lang="en-US" altLang="en-US" kern="0" dirty="0"/>
              <a:t>)</a:t>
            </a:r>
            <a:r>
              <a:rPr lang="en-US" altLang="en-US" kern="0" dirty="0">
                <a:solidFill>
                  <a:srgbClr val="3366FF"/>
                </a:solidFill>
              </a:rPr>
              <a:t> </a:t>
            </a:r>
            <a:r>
              <a:rPr lang="en-US" altLang="en-US" kern="0" dirty="0"/>
              <a:t>– (</a:t>
            </a:r>
            <a:r>
              <a:rPr lang="en-US" altLang="en-US" dirty="0" err="1"/>
              <a:t>eg</a:t>
            </a:r>
            <a:r>
              <a:rPr lang="en-US" altLang="en-US" dirty="0"/>
              <a:t>: page 2) </a:t>
            </a:r>
            <a:r>
              <a:rPr lang="en-US" altLang="en-US" kern="0" dirty="0"/>
              <a:t>used as an index into a </a:t>
            </a:r>
            <a:r>
              <a:rPr lang="en-US" altLang="en-US" b="1" kern="0" dirty="0">
                <a:solidFill>
                  <a:srgbClr val="006699"/>
                </a:solidFill>
                <a:latin typeface="+mj-lt"/>
              </a:rPr>
              <a:t>page</a:t>
            </a:r>
            <a:r>
              <a:rPr lang="en-US" altLang="en-US" b="1" kern="0" dirty="0">
                <a:solidFill>
                  <a:srgbClr val="3366FF"/>
                </a:solidFill>
              </a:rPr>
              <a:t> </a:t>
            </a:r>
            <a:r>
              <a:rPr lang="en-US" altLang="en-US" b="1" kern="0" dirty="0">
                <a:solidFill>
                  <a:srgbClr val="006699"/>
                </a:solidFill>
                <a:latin typeface="+mj-lt"/>
              </a:rPr>
              <a:t>table</a:t>
            </a:r>
            <a:r>
              <a:rPr lang="en-US" altLang="en-US" b="1" kern="0" dirty="0">
                <a:solidFill>
                  <a:srgbClr val="3366FF"/>
                </a:solidFill>
              </a:rPr>
              <a:t> </a:t>
            </a:r>
            <a:r>
              <a:rPr lang="en-US" altLang="en-US" kern="0" dirty="0"/>
              <a:t>which contains base address of each page in physical memory or it </a:t>
            </a:r>
            <a:r>
              <a:rPr lang="en-US" dirty="0"/>
              <a:t>specifies the specific page of the process from which CPU wants to read the data.</a:t>
            </a:r>
            <a:endParaRPr lang="en-US" altLang="en-US" kern="0" dirty="0"/>
          </a:p>
          <a:p>
            <a:pPr lvl="1">
              <a:defRPr/>
            </a:pPr>
            <a:r>
              <a:rPr lang="en-US" altLang="en-US" b="1" kern="0" dirty="0">
                <a:solidFill>
                  <a:srgbClr val="006699"/>
                </a:solidFill>
                <a:latin typeface="+mj-lt"/>
              </a:rPr>
              <a:t>Page</a:t>
            </a:r>
            <a:r>
              <a:rPr lang="en-US" altLang="en-US" b="1" kern="0" dirty="0">
                <a:solidFill>
                  <a:srgbClr val="3366FF"/>
                </a:solidFill>
              </a:rPr>
              <a:t> </a:t>
            </a:r>
            <a:r>
              <a:rPr lang="en-US" altLang="en-US" b="1" kern="0" dirty="0">
                <a:solidFill>
                  <a:srgbClr val="006699"/>
                </a:solidFill>
                <a:latin typeface="+mj-lt"/>
              </a:rPr>
              <a:t>offset</a:t>
            </a:r>
            <a:r>
              <a:rPr lang="en-US" altLang="en-US" b="1" kern="0" dirty="0">
                <a:solidFill>
                  <a:srgbClr val="3366FF"/>
                </a:solidFill>
              </a:rPr>
              <a:t> </a:t>
            </a:r>
            <a:r>
              <a:rPr lang="en-US" altLang="en-US" kern="0" dirty="0"/>
              <a:t>(</a:t>
            </a:r>
            <a:r>
              <a:rPr lang="en-US" altLang="en-US" b="1" i="1" kern="0" dirty="0">
                <a:solidFill>
                  <a:srgbClr val="006699"/>
                </a:solidFill>
                <a:latin typeface="+mj-lt"/>
              </a:rPr>
              <a:t>d</a:t>
            </a:r>
            <a:r>
              <a:rPr lang="en-US" altLang="en-US" kern="0" dirty="0"/>
              <a:t>)</a:t>
            </a:r>
            <a:r>
              <a:rPr lang="en-US" altLang="en-US" kern="0" dirty="0">
                <a:solidFill>
                  <a:srgbClr val="3366FF"/>
                </a:solidFill>
              </a:rPr>
              <a:t> </a:t>
            </a:r>
            <a:r>
              <a:rPr lang="en-US" altLang="en-US" kern="0" dirty="0"/>
              <a:t>– (</a:t>
            </a:r>
            <a:r>
              <a:rPr lang="en-US" altLang="en-US" kern="0" dirty="0" err="1"/>
              <a:t>eg</a:t>
            </a:r>
            <a:r>
              <a:rPr lang="en-US" altLang="en-US" kern="0" dirty="0"/>
              <a:t>: 10</a:t>
            </a:r>
            <a:r>
              <a:rPr lang="en-US" altLang="en-US" kern="0" baseline="30000" dirty="0"/>
              <a:t>th</a:t>
            </a:r>
            <a:r>
              <a:rPr lang="en-US" altLang="en-US" kern="0" dirty="0"/>
              <a:t> instruction) combined with base address to define the physical memory address that is sent to the memory unit or </a:t>
            </a:r>
            <a:r>
              <a:rPr lang="en-US" dirty="0"/>
              <a:t>specifies the specific word on the page that CPU wants to read.</a:t>
            </a:r>
            <a:endParaRPr lang="en-US" altLang="en-US" kern="0" dirty="0"/>
          </a:p>
          <a:p>
            <a:r>
              <a:rPr lang="en-US" dirty="0"/>
              <a:t>For the page number generated by the CPU,</a:t>
            </a:r>
          </a:p>
          <a:p>
            <a:r>
              <a:rPr lang="en-US" b="1" dirty="0"/>
              <a:t>Page Table(page no, frame no)</a:t>
            </a:r>
            <a:r>
              <a:rPr lang="en-US" dirty="0"/>
              <a:t> provides the corresponding frame number (base address of the frame) where that page is stored in the main memory.</a:t>
            </a:r>
          </a:p>
          <a:p>
            <a:r>
              <a:rPr lang="en-US" dirty="0"/>
              <a:t>The frame number combined with the page offset forms the required physical address.</a:t>
            </a:r>
          </a:p>
          <a:p>
            <a:r>
              <a:rPr lang="en-US" dirty="0"/>
              <a:t>Frame number specifies the specific frame where the required page is stored.</a:t>
            </a:r>
          </a:p>
          <a:p>
            <a:r>
              <a:rPr lang="en-US" dirty="0"/>
              <a:t>Page Offset specifies the specific word that has to be read from that page.</a:t>
            </a:r>
          </a:p>
          <a:p>
            <a:endParaRPr lang="en-US" dirty="0"/>
          </a:p>
        </p:txBody>
      </p:sp>
    </p:spTree>
    <p:extLst>
      <p:ext uri="{BB962C8B-B14F-4D97-AF65-F5344CB8AC3E}">
        <p14:creationId xmlns:p14="http://schemas.microsoft.com/office/powerpoint/2010/main" val="2408093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CDDAC2-8FEF-B761-1AD8-26BD603D5BF4}"/>
              </a:ext>
            </a:extLst>
          </p:cNvPr>
          <p:cNvPicPr>
            <a:picLocks noChangeAspect="1"/>
          </p:cNvPicPr>
          <p:nvPr/>
        </p:nvPicPr>
        <p:blipFill>
          <a:blip r:embed="rId2"/>
          <a:stretch>
            <a:fillRect/>
          </a:stretch>
        </p:blipFill>
        <p:spPr>
          <a:xfrm>
            <a:off x="847725" y="1285875"/>
            <a:ext cx="7448550" cy="4286250"/>
          </a:xfrm>
          <a:prstGeom prst="rect">
            <a:avLst/>
          </a:prstGeom>
        </p:spPr>
      </p:pic>
    </p:spTree>
    <p:extLst>
      <p:ext uri="{BB962C8B-B14F-4D97-AF65-F5344CB8AC3E}">
        <p14:creationId xmlns:p14="http://schemas.microsoft.com/office/powerpoint/2010/main" val="2569467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DE75-7245-61BF-9540-1B42034CDF26}"/>
              </a:ext>
            </a:extLst>
          </p:cNvPr>
          <p:cNvSpPr>
            <a:spLocks noGrp="1"/>
          </p:cNvSpPr>
          <p:nvPr>
            <p:ph type="title"/>
          </p:nvPr>
        </p:nvSpPr>
        <p:spPr/>
        <p:txBody>
          <a:bodyPr/>
          <a:lstStyle/>
          <a:p>
            <a:r>
              <a:rPr lang="en-IN" dirty="0"/>
              <a:t>Page table</a:t>
            </a:r>
            <a:endParaRPr lang="en-US" dirty="0"/>
          </a:p>
        </p:txBody>
      </p:sp>
      <p:sp>
        <p:nvSpPr>
          <p:cNvPr id="3" name="Content Placeholder 2">
            <a:extLst>
              <a:ext uri="{FF2B5EF4-FFF2-40B4-BE49-F238E27FC236}">
                <a16:creationId xmlns:a16="http://schemas.microsoft.com/office/drawing/2014/main" id="{BD4DD083-78E4-9A0B-1610-2B0798DE803F}"/>
              </a:ext>
            </a:extLst>
          </p:cNvPr>
          <p:cNvSpPr>
            <a:spLocks noGrp="1"/>
          </p:cNvSpPr>
          <p:nvPr>
            <p:ph idx="1"/>
          </p:nvPr>
        </p:nvSpPr>
        <p:spPr>
          <a:xfrm>
            <a:off x="806450" y="1233488"/>
            <a:ext cx="7727950" cy="5488978"/>
          </a:xfrm>
        </p:spPr>
        <p:txBody>
          <a:bodyPr/>
          <a:lstStyle/>
          <a:p>
            <a:r>
              <a:rPr lang="en-IN" dirty="0"/>
              <a:t> </a:t>
            </a:r>
            <a:r>
              <a:rPr lang="en-IN" dirty="0">
                <a:solidFill>
                  <a:srgbClr val="212529"/>
                </a:solidFill>
                <a:latin typeface="system-ui"/>
              </a:rPr>
              <a:t>D</a:t>
            </a:r>
            <a:r>
              <a:rPr lang="en-IN" b="0" i="0" dirty="0">
                <a:solidFill>
                  <a:srgbClr val="212529"/>
                </a:solidFill>
                <a:effectLst/>
                <a:latin typeface="system-ui"/>
              </a:rPr>
              <a:t>ata structure that is used by the operating system of a computer in order to store the mapping between physical and logical addresses is commonly known as </a:t>
            </a:r>
            <a:r>
              <a:rPr lang="en-IN" b="1" i="0" dirty="0">
                <a:solidFill>
                  <a:srgbClr val="212529"/>
                </a:solidFill>
                <a:effectLst/>
                <a:latin typeface="system-ui"/>
              </a:rPr>
              <a:t>Page Table</a:t>
            </a:r>
            <a:r>
              <a:rPr lang="en-IN" b="0" i="0" dirty="0">
                <a:solidFill>
                  <a:srgbClr val="212529"/>
                </a:solidFill>
                <a:effectLst/>
                <a:latin typeface="system-ui"/>
              </a:rPr>
              <a:t>.</a:t>
            </a:r>
          </a:p>
          <a:p>
            <a:r>
              <a:rPr lang="en-IN" dirty="0">
                <a:solidFill>
                  <a:srgbClr val="212529"/>
                </a:solidFill>
                <a:latin typeface="system-ui"/>
              </a:rPr>
              <a:t>Logical address that is generated by the CPU is translated into the physical address with the help of the page table.</a:t>
            </a:r>
          </a:p>
          <a:p>
            <a:r>
              <a:rPr lang="en-IN" dirty="0">
                <a:solidFill>
                  <a:srgbClr val="212529"/>
                </a:solidFill>
                <a:latin typeface="system-ui"/>
              </a:rPr>
              <a:t> Page table mainly provides the corresponding frame number (base address of the frame) where that page is stored in the main memory</a:t>
            </a:r>
          </a:p>
          <a:p>
            <a:r>
              <a:rPr lang="en-IN" dirty="0"/>
              <a:t> </a:t>
            </a:r>
            <a:endParaRPr lang="en-US" dirty="0"/>
          </a:p>
        </p:txBody>
      </p:sp>
      <p:pic>
        <p:nvPicPr>
          <p:cNvPr id="4" name="Picture 4">
            <a:extLst>
              <a:ext uri="{FF2B5EF4-FFF2-40B4-BE49-F238E27FC236}">
                <a16:creationId xmlns:a16="http://schemas.microsoft.com/office/drawing/2014/main" id="{8B3ED4B5-4FEB-BB88-5C59-9251D1C55B71}"/>
              </a:ext>
            </a:extLst>
          </p:cNvPr>
          <p:cNvPicPr>
            <a:picLocks noChangeAspect="1"/>
          </p:cNvPicPr>
          <p:nvPr/>
        </p:nvPicPr>
        <p:blipFill>
          <a:blip r:embed="rId2"/>
          <a:stretch>
            <a:fillRect/>
          </a:stretch>
        </p:blipFill>
        <p:spPr>
          <a:xfrm>
            <a:off x="1277140" y="3535052"/>
            <a:ext cx="6886645" cy="2662090"/>
          </a:xfrm>
          <a:prstGeom prst="rect">
            <a:avLst/>
          </a:prstGeom>
        </p:spPr>
      </p:pic>
    </p:spTree>
    <p:extLst>
      <p:ext uri="{BB962C8B-B14F-4D97-AF65-F5344CB8AC3E}">
        <p14:creationId xmlns:p14="http://schemas.microsoft.com/office/powerpoint/2010/main" val="3545992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EF58487-042D-466C-B9C3-00E5052CDEC4}"/>
              </a:ext>
            </a:extLst>
          </p:cNvPr>
          <p:cNvSpPr>
            <a:spLocks noGrp="1" noChangeArrowheads="1"/>
          </p:cNvSpPr>
          <p:nvPr>
            <p:ph type="title"/>
          </p:nvPr>
        </p:nvSpPr>
        <p:spPr>
          <a:xfrm>
            <a:off x="749300" y="223291"/>
            <a:ext cx="7937500" cy="576263"/>
          </a:xfrm>
        </p:spPr>
        <p:txBody>
          <a:bodyPr/>
          <a:lstStyle/>
          <a:p>
            <a:pPr eaLnBrk="1" hangingPunct="1"/>
            <a:r>
              <a:rPr lang="en-US" altLang="en-US" dirty="0"/>
              <a:t>Paging Hardware</a:t>
            </a:r>
          </a:p>
        </p:txBody>
      </p:sp>
      <p:pic>
        <p:nvPicPr>
          <p:cNvPr id="27651" name="Picture 7" descr="C:\Users\as668\Desktop\9_08.jpg">
            <a:extLst>
              <a:ext uri="{FF2B5EF4-FFF2-40B4-BE49-F238E27FC236}">
                <a16:creationId xmlns:a16="http://schemas.microsoft.com/office/drawing/2014/main" id="{D7F6073E-F3FF-45ED-A7D7-18DC33404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047" y="1666875"/>
            <a:ext cx="6733241" cy="366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a:extLst>
              <a:ext uri="{FF2B5EF4-FFF2-40B4-BE49-F238E27FC236}">
                <a16:creationId xmlns:a16="http://schemas.microsoft.com/office/drawing/2014/main" id="{449B79E3-F191-44B4-954F-BE958071C149}"/>
              </a:ext>
            </a:extLst>
          </p:cNvPr>
          <p:cNvSpPr>
            <a:spLocks noGrp="1" noChangeArrowheads="1"/>
          </p:cNvSpPr>
          <p:nvPr>
            <p:ph type="title"/>
          </p:nvPr>
        </p:nvSpPr>
        <p:spPr>
          <a:xfrm>
            <a:off x="936819" y="167339"/>
            <a:ext cx="8229600" cy="644525"/>
          </a:xfrm>
        </p:spPr>
        <p:txBody>
          <a:bodyPr/>
          <a:lstStyle/>
          <a:p>
            <a:pPr eaLnBrk="1" hangingPunct="1"/>
            <a:r>
              <a:rPr lang="en-US" altLang="en-US" sz="2600" dirty="0"/>
              <a:t>Paging Model of Logical and  Physical Memory</a:t>
            </a:r>
          </a:p>
        </p:txBody>
      </p:sp>
      <p:pic>
        <p:nvPicPr>
          <p:cNvPr id="28675" name="Picture 1030">
            <a:extLst>
              <a:ext uri="{FF2B5EF4-FFF2-40B4-BE49-F238E27FC236}">
                <a16:creationId xmlns:a16="http://schemas.microsoft.com/office/drawing/2014/main" id="{A17EFDC3-16BC-41C6-9509-A548649291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1203325"/>
            <a:ext cx="49387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627C9DD-1BF9-4605-A223-3B7680AC886E}"/>
              </a:ext>
            </a:extLst>
          </p:cNvPr>
          <p:cNvSpPr>
            <a:spLocks noGrp="1"/>
          </p:cNvSpPr>
          <p:nvPr>
            <p:ph type="title"/>
          </p:nvPr>
        </p:nvSpPr>
        <p:spPr>
          <a:xfrm>
            <a:off x="488950" y="232622"/>
            <a:ext cx="8229600" cy="576263"/>
          </a:xfrm>
        </p:spPr>
        <p:txBody>
          <a:bodyPr/>
          <a:lstStyle/>
          <a:p>
            <a:r>
              <a:rPr lang="en-US" altLang="en-US" dirty="0"/>
              <a:t>Paging Example </a:t>
            </a:r>
          </a:p>
        </p:txBody>
      </p:sp>
      <p:sp>
        <p:nvSpPr>
          <p:cNvPr id="29699" name="Content Placeholder 2">
            <a:extLst>
              <a:ext uri="{FF2B5EF4-FFF2-40B4-BE49-F238E27FC236}">
                <a16:creationId xmlns:a16="http://schemas.microsoft.com/office/drawing/2014/main" id="{D53A6D79-A0D1-42C5-8E0A-4AF4B4E95529}"/>
              </a:ext>
            </a:extLst>
          </p:cNvPr>
          <p:cNvSpPr>
            <a:spLocks noGrp="1"/>
          </p:cNvSpPr>
          <p:nvPr>
            <p:ph idx="1"/>
          </p:nvPr>
        </p:nvSpPr>
        <p:spPr>
          <a:xfrm>
            <a:off x="709128" y="1138238"/>
            <a:ext cx="8009422" cy="5253135"/>
          </a:xfrm>
        </p:spPr>
        <p:txBody>
          <a:bodyPr/>
          <a:lstStyle/>
          <a:p>
            <a:r>
              <a:rPr lang="en-US" altLang="en-US" dirty="0"/>
              <a:t>Logical address: Using a page size of 4 bytes and a physical memory of 32 bytes (8 pages)</a:t>
            </a:r>
          </a:p>
        </p:txBody>
      </p:sp>
      <p:pic>
        <p:nvPicPr>
          <p:cNvPr id="29700" name="Picture 6">
            <a:extLst>
              <a:ext uri="{FF2B5EF4-FFF2-40B4-BE49-F238E27FC236}">
                <a16:creationId xmlns:a16="http://schemas.microsoft.com/office/drawing/2014/main" id="{5AE8FE82-D7E1-4A71-B46E-996A46A93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899" y="2014538"/>
            <a:ext cx="4097387"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709FDE1E-E57F-11DF-8A2A-B0C9DB03A5AA}"/>
              </a:ext>
            </a:extLst>
          </p:cNvPr>
          <p:cNvSpPr txBox="1"/>
          <p:nvPr/>
        </p:nvSpPr>
        <p:spPr>
          <a:xfrm>
            <a:off x="709127" y="3087191"/>
            <a:ext cx="1951349" cy="1200329"/>
          </a:xfrm>
          <a:prstGeom prst="rect">
            <a:avLst/>
          </a:prstGeom>
          <a:noFill/>
        </p:spPr>
        <p:txBody>
          <a:bodyPr wrap="square" rtlCol="0">
            <a:spAutoFit/>
          </a:bodyPr>
          <a:lstStyle/>
          <a:p>
            <a:r>
              <a:rPr lang="en-US" dirty="0"/>
              <a:t>Process(P) address space with 4 pages (P0,P1,P2,P3)</a:t>
            </a:r>
            <a:endParaRPr lang="en-IN" dirty="0"/>
          </a:p>
        </p:txBody>
      </p:sp>
      <p:sp>
        <p:nvSpPr>
          <p:cNvPr id="3" name="TextBox 2">
            <a:extLst>
              <a:ext uri="{FF2B5EF4-FFF2-40B4-BE49-F238E27FC236}">
                <a16:creationId xmlns:a16="http://schemas.microsoft.com/office/drawing/2014/main" id="{369CAAED-2637-4F85-73CE-1F7113366E80}"/>
              </a:ext>
            </a:extLst>
          </p:cNvPr>
          <p:cNvSpPr txBox="1"/>
          <p:nvPr/>
        </p:nvSpPr>
        <p:spPr>
          <a:xfrm>
            <a:off x="488951" y="5373278"/>
            <a:ext cx="5251974" cy="830997"/>
          </a:xfrm>
          <a:prstGeom prst="rect">
            <a:avLst/>
          </a:prstGeom>
          <a:noFill/>
        </p:spPr>
        <p:txBody>
          <a:bodyPr wrap="square" rtlCol="0">
            <a:spAutoFit/>
          </a:bodyPr>
          <a:lstStyle/>
          <a:p>
            <a:r>
              <a:rPr lang="en-US" sz="1600" dirty="0"/>
              <a:t>Physical address = (frame no x page size) + 			displacement/offset</a:t>
            </a:r>
          </a:p>
          <a:p>
            <a:r>
              <a:rPr lang="en-IN" sz="1600" dirty="0"/>
              <a:t>Logical address 3 (page 0, offset 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488B94-C5FB-9363-69CC-F4964FCB176D}"/>
              </a:ext>
            </a:extLst>
          </p:cNvPr>
          <p:cNvSpPr>
            <a:spLocks noGrp="1"/>
          </p:cNvSpPr>
          <p:nvPr>
            <p:ph idx="1"/>
          </p:nvPr>
        </p:nvSpPr>
        <p:spPr/>
        <p:txBody>
          <a:bodyPr/>
          <a:lstStyle/>
          <a:p>
            <a:pPr marL="0" indent="0">
              <a:buNone/>
            </a:pPr>
            <a:r>
              <a:rPr lang="en-IN" dirty="0"/>
              <a:t>Logical address 0 is page 0, offset 0. Indexing into the page table, we </a:t>
            </a:r>
          </a:p>
          <a:p>
            <a:pPr marL="0" indent="0">
              <a:buNone/>
            </a:pPr>
            <a:r>
              <a:rPr lang="en-IN" dirty="0"/>
              <a:t>find that page 0 is in frame 5. Thus, logical address 0 maps to physical address 20 (= (5 x 4) + 0).</a:t>
            </a:r>
          </a:p>
          <a:p>
            <a:pPr marL="0" indent="0">
              <a:buNone/>
            </a:pPr>
            <a:r>
              <a:rPr lang="en-IN" dirty="0"/>
              <a:t> Logical address 3 (page 0, offset 3) maps to physical address 23 (= (5 x 4) + 3).</a:t>
            </a:r>
          </a:p>
          <a:p>
            <a:pPr marL="0" indent="0">
              <a:buNone/>
            </a:pPr>
            <a:r>
              <a:rPr lang="en-IN" dirty="0"/>
              <a:t> Logical address 4 is page 1, offset 0; according to the page table, page 1 is mapped to frame 6. Thus, logical address 4 maps to physical address 24 (= (6 x 4) + 0). </a:t>
            </a:r>
            <a:endParaRPr lang="en-US" dirty="0"/>
          </a:p>
        </p:txBody>
      </p:sp>
      <p:sp>
        <p:nvSpPr>
          <p:cNvPr id="5" name="Title 1">
            <a:extLst>
              <a:ext uri="{FF2B5EF4-FFF2-40B4-BE49-F238E27FC236}">
                <a16:creationId xmlns:a16="http://schemas.microsoft.com/office/drawing/2014/main" id="{28631C4A-5FE8-DCB8-10FB-C44382138C69}"/>
              </a:ext>
            </a:extLst>
          </p:cNvPr>
          <p:cNvSpPr txBox="1">
            <a:spLocks noGrp="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altLang="en-US" kern="0" dirty="0"/>
              <a:t>Paging Example </a:t>
            </a:r>
          </a:p>
        </p:txBody>
      </p:sp>
    </p:spTree>
    <p:extLst>
      <p:ext uri="{BB962C8B-B14F-4D97-AF65-F5344CB8AC3E}">
        <p14:creationId xmlns:p14="http://schemas.microsoft.com/office/powerpoint/2010/main" val="4148018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E1C42DCF-3AEE-42B0-9D55-FB1937751EBF}"/>
              </a:ext>
            </a:extLst>
          </p:cNvPr>
          <p:cNvSpPr>
            <a:spLocks noGrp="1"/>
          </p:cNvSpPr>
          <p:nvPr>
            <p:ph type="title"/>
          </p:nvPr>
        </p:nvSpPr>
        <p:spPr>
          <a:xfrm>
            <a:off x="966593" y="175468"/>
            <a:ext cx="7491607" cy="636588"/>
          </a:xfrm>
        </p:spPr>
        <p:txBody>
          <a:bodyPr/>
          <a:lstStyle/>
          <a:p>
            <a:r>
              <a:rPr lang="en-US" altLang="en-US" sz="2600" dirty="0"/>
              <a:t>Paging -- Calculating internal fragmentation</a:t>
            </a:r>
          </a:p>
        </p:txBody>
      </p:sp>
      <p:sp>
        <p:nvSpPr>
          <p:cNvPr id="30723" name="Content Placeholder 2">
            <a:extLst>
              <a:ext uri="{FF2B5EF4-FFF2-40B4-BE49-F238E27FC236}">
                <a16:creationId xmlns:a16="http://schemas.microsoft.com/office/drawing/2014/main" id="{1E5EBE8C-22E3-4150-941E-4711C5E7D5AD}"/>
              </a:ext>
            </a:extLst>
          </p:cNvPr>
          <p:cNvSpPr>
            <a:spLocks noGrp="1"/>
          </p:cNvSpPr>
          <p:nvPr>
            <p:ph idx="1"/>
          </p:nvPr>
        </p:nvSpPr>
        <p:spPr>
          <a:xfrm>
            <a:off x="826196" y="1112044"/>
            <a:ext cx="7491607" cy="4633912"/>
          </a:xfrm>
        </p:spPr>
        <p:txBody>
          <a:bodyPr/>
          <a:lstStyle/>
          <a:p>
            <a:r>
              <a:rPr lang="en-US" altLang="en-US" dirty="0"/>
              <a:t>Page size = 2,048 bytes</a:t>
            </a:r>
          </a:p>
          <a:p>
            <a:r>
              <a:rPr lang="en-US" altLang="en-US" dirty="0"/>
              <a:t>Process size = 72,766 bytes</a:t>
            </a:r>
          </a:p>
          <a:p>
            <a:r>
              <a:rPr lang="en-US" altLang="en-US" dirty="0"/>
              <a:t>35 pages + 1,086 bytes</a:t>
            </a:r>
          </a:p>
          <a:p>
            <a:r>
              <a:rPr lang="en-US" altLang="en-US" dirty="0"/>
              <a:t>Internal fragmentation of 2,048 - 1,086 = 962 bytes</a:t>
            </a:r>
          </a:p>
          <a:p>
            <a:r>
              <a:rPr lang="en-US" altLang="en-US" dirty="0"/>
              <a:t>Worst case fragmentation = 1 frame – 1 byte</a:t>
            </a:r>
          </a:p>
          <a:p>
            <a:r>
              <a:rPr lang="en-US" altLang="en-US" dirty="0"/>
              <a:t>On average fragmentation = 1 / 2 </a:t>
            </a:r>
            <a:r>
              <a:rPr lang="en-IN" altLang="en-US" dirty="0"/>
              <a:t>frame size</a:t>
            </a:r>
            <a:endParaRPr lang="en-US" altLang="en-US" dirty="0"/>
          </a:p>
          <a:p>
            <a:r>
              <a:rPr lang="en-US" altLang="en-US" dirty="0"/>
              <a:t>But each page table entry takes memory to track</a:t>
            </a:r>
          </a:p>
          <a:p>
            <a:r>
              <a:rPr lang="en-US" altLang="en-US" dirty="0"/>
              <a:t>Page sizes growing over </a:t>
            </a:r>
            <a:r>
              <a:rPr lang="en-IN" altLang="en-US" dirty="0"/>
              <a:t>time</a:t>
            </a:r>
          </a:p>
          <a:p>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11DB5D7-2090-4EB1-A4E3-DD891DD5BBF3}"/>
              </a:ext>
            </a:extLst>
          </p:cNvPr>
          <p:cNvSpPr>
            <a:spLocks noGrp="1" noChangeArrowheads="1"/>
          </p:cNvSpPr>
          <p:nvPr>
            <p:ph type="title"/>
          </p:nvPr>
        </p:nvSpPr>
        <p:spPr>
          <a:xfrm>
            <a:off x="457200" y="236379"/>
            <a:ext cx="8229600" cy="576263"/>
          </a:xfrm>
        </p:spPr>
        <p:txBody>
          <a:bodyPr/>
          <a:lstStyle/>
          <a:p>
            <a:pPr eaLnBrk="1" hangingPunct="1"/>
            <a:r>
              <a:rPr lang="en-US" altLang="en-US" dirty="0"/>
              <a:t>Free Frames</a:t>
            </a:r>
          </a:p>
        </p:txBody>
      </p:sp>
      <p:sp>
        <p:nvSpPr>
          <p:cNvPr id="31747" name="Text Box 4">
            <a:extLst>
              <a:ext uri="{FF2B5EF4-FFF2-40B4-BE49-F238E27FC236}">
                <a16:creationId xmlns:a16="http://schemas.microsoft.com/office/drawing/2014/main" id="{2B35E02C-51CA-48A4-B94E-7860BD0EEC7C}"/>
              </a:ext>
            </a:extLst>
          </p:cNvPr>
          <p:cNvSpPr txBox="1">
            <a:spLocks noChangeArrowheads="1"/>
          </p:cNvSpPr>
          <p:nvPr/>
        </p:nvSpPr>
        <p:spPr bwMode="auto">
          <a:xfrm>
            <a:off x="2300288" y="5721350"/>
            <a:ext cx="1901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Before allocation</a:t>
            </a:r>
          </a:p>
        </p:txBody>
      </p:sp>
      <p:sp>
        <p:nvSpPr>
          <p:cNvPr id="31748" name="Text Box 5">
            <a:extLst>
              <a:ext uri="{FF2B5EF4-FFF2-40B4-BE49-F238E27FC236}">
                <a16:creationId xmlns:a16="http://schemas.microsoft.com/office/drawing/2014/main" id="{6981FAE5-4311-453C-B15C-45797AB0C7A9}"/>
              </a:ext>
            </a:extLst>
          </p:cNvPr>
          <p:cNvSpPr txBox="1">
            <a:spLocks noChangeArrowheads="1"/>
          </p:cNvSpPr>
          <p:nvPr/>
        </p:nvSpPr>
        <p:spPr bwMode="auto">
          <a:xfrm>
            <a:off x="5343525" y="5734050"/>
            <a:ext cx="171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After allocation</a:t>
            </a:r>
          </a:p>
        </p:txBody>
      </p:sp>
      <p:pic>
        <p:nvPicPr>
          <p:cNvPr id="31749" name="Picture 7">
            <a:extLst>
              <a:ext uri="{FF2B5EF4-FFF2-40B4-BE49-F238E27FC236}">
                <a16:creationId xmlns:a16="http://schemas.microsoft.com/office/drawing/2014/main" id="{9684D19C-89A5-46D5-A831-8E02C3B93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25" y="1244600"/>
            <a:ext cx="5903913"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0F89E33-0E54-4551-A82B-37622A289F14}"/>
              </a:ext>
            </a:extLst>
          </p:cNvPr>
          <p:cNvSpPr>
            <a:spLocks noGrp="1" noChangeArrowheads="1"/>
          </p:cNvSpPr>
          <p:nvPr>
            <p:ph type="title"/>
          </p:nvPr>
        </p:nvSpPr>
        <p:spPr>
          <a:xfrm>
            <a:off x="646113" y="235762"/>
            <a:ext cx="8229600" cy="576262"/>
          </a:xfrm>
        </p:spPr>
        <p:txBody>
          <a:bodyPr/>
          <a:lstStyle/>
          <a:p>
            <a:pPr eaLnBrk="1" hangingPunct="1"/>
            <a:r>
              <a:rPr lang="en-US" altLang="en-US" dirty="0"/>
              <a:t>Implementation of Page Table</a:t>
            </a:r>
          </a:p>
        </p:txBody>
      </p:sp>
      <p:sp>
        <p:nvSpPr>
          <p:cNvPr id="32771" name="Rectangle 3">
            <a:extLst>
              <a:ext uri="{FF2B5EF4-FFF2-40B4-BE49-F238E27FC236}">
                <a16:creationId xmlns:a16="http://schemas.microsoft.com/office/drawing/2014/main" id="{FB578CE8-E6A7-4D4B-8099-B7E1B8DD66E8}"/>
              </a:ext>
            </a:extLst>
          </p:cNvPr>
          <p:cNvSpPr>
            <a:spLocks noGrp="1" noChangeArrowheads="1"/>
          </p:cNvSpPr>
          <p:nvPr>
            <p:ph type="body" idx="1"/>
          </p:nvPr>
        </p:nvSpPr>
        <p:spPr>
          <a:xfrm>
            <a:off x="802434" y="1146175"/>
            <a:ext cx="7725746" cy="4686300"/>
          </a:xfrm>
        </p:spPr>
        <p:txBody>
          <a:bodyPr/>
          <a:lstStyle/>
          <a:p>
            <a:r>
              <a:rPr lang="en-US" altLang="en-US" dirty="0"/>
              <a:t>Page table is kept in main memory</a:t>
            </a:r>
          </a:p>
          <a:p>
            <a:pPr lvl="1"/>
            <a:r>
              <a:rPr lang="en-US" altLang="en-US" b="1" dirty="0">
                <a:solidFill>
                  <a:srgbClr val="006699"/>
                </a:solidFill>
                <a:latin typeface="+mj-lt"/>
              </a:rPr>
              <a:t>Page-table</a:t>
            </a:r>
            <a:r>
              <a:rPr lang="en-US" altLang="en-US" b="1" dirty="0">
                <a:solidFill>
                  <a:srgbClr val="3366FF"/>
                </a:solidFill>
              </a:rPr>
              <a:t> </a:t>
            </a:r>
            <a:r>
              <a:rPr lang="en-US" altLang="en-US" b="1" dirty="0">
                <a:solidFill>
                  <a:srgbClr val="006699"/>
                </a:solidFill>
                <a:latin typeface="+mj-lt"/>
              </a:rPr>
              <a:t>base</a:t>
            </a:r>
            <a:r>
              <a:rPr lang="en-US" altLang="en-US" b="1" dirty="0">
                <a:solidFill>
                  <a:srgbClr val="3366FF"/>
                </a:solidFill>
              </a:rPr>
              <a:t> </a:t>
            </a:r>
            <a:r>
              <a:rPr lang="en-US" altLang="en-US" b="1" dirty="0">
                <a:solidFill>
                  <a:srgbClr val="006699"/>
                </a:solidFill>
                <a:latin typeface="+mj-lt"/>
              </a:rPr>
              <a:t>register</a:t>
            </a:r>
            <a:r>
              <a:rPr lang="en-US" altLang="en-US" b="1" dirty="0">
                <a:solidFill>
                  <a:srgbClr val="3366FF"/>
                </a:solidFill>
              </a:rPr>
              <a:t> </a:t>
            </a:r>
            <a:r>
              <a:rPr lang="en-US" altLang="en-US" dirty="0"/>
              <a:t>(</a:t>
            </a:r>
            <a:r>
              <a:rPr lang="en-US" altLang="en-US" b="1" dirty="0">
                <a:solidFill>
                  <a:srgbClr val="006699"/>
                </a:solidFill>
                <a:latin typeface="+mj-lt"/>
              </a:rPr>
              <a:t>PTBR</a:t>
            </a:r>
            <a:r>
              <a:rPr lang="en-US" altLang="en-US" dirty="0"/>
              <a:t>)</a:t>
            </a:r>
            <a:r>
              <a:rPr lang="en-US" altLang="en-US" dirty="0">
                <a:solidFill>
                  <a:srgbClr val="3366FF"/>
                </a:solidFill>
              </a:rPr>
              <a:t> </a:t>
            </a:r>
            <a:r>
              <a:rPr lang="en-US" altLang="en-US" dirty="0"/>
              <a:t>points to the page table</a:t>
            </a:r>
          </a:p>
          <a:p>
            <a:pPr lvl="1"/>
            <a:r>
              <a:rPr lang="en-US" altLang="en-US" b="1" dirty="0">
                <a:solidFill>
                  <a:srgbClr val="006699"/>
                </a:solidFill>
                <a:latin typeface="+mj-lt"/>
              </a:rPr>
              <a:t>Page-table</a:t>
            </a:r>
            <a:r>
              <a:rPr lang="en-US" altLang="en-US" b="1" dirty="0">
                <a:solidFill>
                  <a:srgbClr val="3366FF"/>
                </a:solidFill>
              </a:rPr>
              <a:t> </a:t>
            </a:r>
            <a:r>
              <a:rPr lang="en-US" altLang="en-US" b="1" dirty="0">
                <a:solidFill>
                  <a:srgbClr val="006699"/>
                </a:solidFill>
                <a:latin typeface="+mj-lt"/>
              </a:rPr>
              <a:t>length</a:t>
            </a:r>
            <a:r>
              <a:rPr lang="en-US" altLang="en-US" b="1" dirty="0">
                <a:solidFill>
                  <a:srgbClr val="3366FF"/>
                </a:solidFill>
              </a:rPr>
              <a:t> </a:t>
            </a:r>
            <a:r>
              <a:rPr lang="en-US" altLang="en-US" b="1" dirty="0">
                <a:solidFill>
                  <a:srgbClr val="006699"/>
                </a:solidFill>
                <a:latin typeface="+mj-lt"/>
              </a:rPr>
              <a:t>register</a:t>
            </a:r>
            <a:r>
              <a:rPr lang="en-US" altLang="en-US" b="1" dirty="0">
                <a:solidFill>
                  <a:srgbClr val="3366FF"/>
                </a:solidFill>
              </a:rPr>
              <a:t> </a:t>
            </a:r>
            <a:r>
              <a:rPr lang="en-US" altLang="en-US" dirty="0"/>
              <a:t>(</a:t>
            </a:r>
            <a:r>
              <a:rPr lang="en-US" altLang="en-US" b="1" dirty="0">
                <a:solidFill>
                  <a:srgbClr val="006699"/>
                </a:solidFill>
                <a:latin typeface="+mj-lt"/>
              </a:rPr>
              <a:t>PTLR</a:t>
            </a:r>
            <a:r>
              <a:rPr lang="en-US" altLang="en-US" dirty="0"/>
              <a:t>)</a:t>
            </a:r>
            <a:r>
              <a:rPr lang="en-US" altLang="en-US" dirty="0">
                <a:solidFill>
                  <a:srgbClr val="3366FF"/>
                </a:solidFill>
              </a:rPr>
              <a:t> </a:t>
            </a:r>
            <a:r>
              <a:rPr lang="en-US" altLang="en-US" dirty="0"/>
              <a:t>indicates size of the page table</a:t>
            </a:r>
          </a:p>
          <a:p>
            <a:r>
              <a:rPr lang="en-US" altLang="en-US" dirty="0"/>
              <a:t>In this scheme every data/instruction access requires two memory accesses</a:t>
            </a:r>
          </a:p>
          <a:p>
            <a:pPr lvl="1"/>
            <a:r>
              <a:rPr lang="en-US" altLang="en-US" dirty="0"/>
              <a:t>One for the page table and one for the data / instruction</a:t>
            </a:r>
          </a:p>
          <a:p>
            <a:r>
              <a:rPr lang="en-US" altLang="en-US" dirty="0"/>
              <a:t>The two-memory access problem can be solved by the use of a special fast-lookup hardware cache called  </a:t>
            </a:r>
            <a:r>
              <a:rPr lang="en-US" altLang="en-US" b="1" dirty="0">
                <a:solidFill>
                  <a:srgbClr val="006699"/>
                </a:solidFill>
                <a:latin typeface="+mj-lt"/>
              </a:rPr>
              <a:t>translation</a:t>
            </a:r>
            <a:r>
              <a:rPr lang="en-US" altLang="en-US" b="1" dirty="0">
                <a:solidFill>
                  <a:srgbClr val="3366FF"/>
                </a:solidFill>
              </a:rPr>
              <a:t> </a:t>
            </a:r>
            <a:r>
              <a:rPr lang="en-US" altLang="en-US" b="1" dirty="0">
                <a:solidFill>
                  <a:srgbClr val="006699"/>
                </a:solidFill>
                <a:latin typeface="+mj-lt"/>
              </a:rPr>
              <a:t>look-aside</a:t>
            </a:r>
            <a:r>
              <a:rPr lang="en-US" altLang="en-US" b="1" dirty="0">
                <a:solidFill>
                  <a:srgbClr val="3366FF"/>
                </a:solidFill>
              </a:rPr>
              <a:t> </a:t>
            </a:r>
            <a:r>
              <a:rPr lang="en-US" altLang="en-US" b="1" dirty="0">
                <a:solidFill>
                  <a:srgbClr val="006699"/>
                </a:solidFill>
                <a:latin typeface="+mj-lt"/>
              </a:rPr>
              <a:t>buffers</a:t>
            </a:r>
            <a:r>
              <a:rPr lang="en-US" altLang="en-US" b="1" dirty="0">
                <a:solidFill>
                  <a:srgbClr val="3366FF"/>
                </a:solidFill>
              </a:rPr>
              <a:t> </a:t>
            </a:r>
            <a:r>
              <a:rPr lang="en-US" altLang="en-US" dirty="0"/>
              <a:t>(</a:t>
            </a:r>
            <a:r>
              <a:rPr lang="en-US" altLang="en-US" b="1" dirty="0">
                <a:solidFill>
                  <a:srgbClr val="006699"/>
                </a:solidFill>
                <a:latin typeface="+mj-lt"/>
              </a:rPr>
              <a:t>TLBs</a:t>
            </a:r>
            <a:r>
              <a:rPr lang="en-US" altLang="en-US" dirty="0"/>
              <a:t>) (also called </a:t>
            </a:r>
            <a:r>
              <a:rPr lang="en-US" altLang="en-US" b="1" dirty="0">
                <a:solidFill>
                  <a:srgbClr val="006699"/>
                </a:solidFill>
                <a:latin typeface="+mj-lt"/>
              </a:rPr>
              <a:t>associative</a:t>
            </a:r>
            <a:r>
              <a:rPr lang="en-US" altLang="en-US" b="1" dirty="0">
                <a:solidFill>
                  <a:srgbClr val="3366FF"/>
                </a:solidFill>
              </a:rPr>
              <a:t> </a:t>
            </a:r>
            <a:r>
              <a:rPr lang="en-US" altLang="en-US" b="1" dirty="0">
                <a:solidFill>
                  <a:srgbClr val="006699"/>
                </a:solidFill>
                <a:latin typeface="+mj-lt"/>
              </a:rPr>
              <a:t>memory</a:t>
            </a:r>
            <a:r>
              <a:rPr lang="en-US" altLang="en-US"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53459-E133-3E07-6DE8-472EB8C4B733}"/>
              </a:ext>
            </a:extLst>
          </p:cNvPr>
          <p:cNvSpPr>
            <a:spLocks noGrp="1"/>
          </p:cNvSpPr>
          <p:nvPr>
            <p:ph idx="1"/>
          </p:nvPr>
        </p:nvSpPr>
        <p:spPr/>
        <p:txBody>
          <a:bodyPr/>
          <a:lstStyle/>
          <a:p>
            <a:pPr marL="0" indent="0">
              <a:buNone/>
            </a:pPr>
            <a:r>
              <a:rPr lang="en-US" b="1" dirty="0"/>
              <a:t>TLB is the  cache for page table entries</a:t>
            </a:r>
            <a:r>
              <a:rPr lang="en-US" dirty="0"/>
              <a:t>. </a:t>
            </a:r>
          </a:p>
          <a:p>
            <a:pPr marL="0" indent="0">
              <a:buNone/>
            </a:pPr>
            <a:r>
              <a:rPr lang="en-US" dirty="0"/>
              <a:t>It reduces address translation time.</a:t>
            </a:r>
          </a:p>
          <a:p>
            <a:pPr marL="0" indent="0">
              <a:buNone/>
            </a:pPr>
            <a:r>
              <a:rPr lang="en-US" dirty="0"/>
              <a:t>A TLB miss triggers a page table lookup, which is slower.</a:t>
            </a:r>
            <a:endParaRPr lang="en-IN" dirty="0"/>
          </a:p>
          <a:p>
            <a:pPr marL="0" indent="0">
              <a:buNone/>
            </a:pPr>
            <a:r>
              <a:rPr lang="en-IN" dirty="0"/>
              <a:t>The TLB is associative, high-speed memory. Each entry in the TLB consists of two parts: a key (or tag) and a value. </a:t>
            </a:r>
          </a:p>
          <a:p>
            <a:pPr marL="0" indent="0">
              <a:buNone/>
            </a:pPr>
            <a:r>
              <a:rPr lang="en-IN" dirty="0"/>
              <a:t>When the associative memory is presented with  an item, it is compared with all keys simultaneously.</a:t>
            </a:r>
          </a:p>
          <a:p>
            <a:pPr marL="0" indent="0">
              <a:buNone/>
            </a:pPr>
            <a:r>
              <a:rPr lang="en-IN" dirty="0"/>
              <a:t> If the item is found, the corresponding value field is returned. The search is fast; the hardware, however, is expensive. Typically, the number of entries in a TLB is small, often numbering between 64 and 1,024. </a:t>
            </a:r>
          </a:p>
          <a:p>
            <a:r>
              <a:rPr lang="en-US" altLang="en-US" dirty="0"/>
              <a:t>TLBs typically small (64 to 1,024 entries)</a:t>
            </a:r>
          </a:p>
          <a:p>
            <a:r>
              <a:rPr lang="en-US" altLang="en-US" dirty="0"/>
              <a:t>On a TLB miss, value is loaded into the TLB for faster access next </a:t>
            </a:r>
            <a:r>
              <a:rPr lang="en-IN" altLang="en-US" dirty="0"/>
              <a:t>time</a:t>
            </a:r>
          </a:p>
          <a:p>
            <a:pPr marL="0" indent="0">
              <a:buNone/>
            </a:pPr>
            <a:endParaRPr lang="en-IN" dirty="0"/>
          </a:p>
          <a:p>
            <a:pPr marL="0" indent="0">
              <a:buNone/>
            </a:pPr>
            <a:endParaRPr lang="en-US" dirty="0"/>
          </a:p>
        </p:txBody>
      </p:sp>
      <p:sp>
        <p:nvSpPr>
          <p:cNvPr id="5" name="Rectangle 2">
            <a:extLst>
              <a:ext uri="{FF2B5EF4-FFF2-40B4-BE49-F238E27FC236}">
                <a16:creationId xmlns:a16="http://schemas.microsoft.com/office/drawing/2014/main" id="{C426F542-63A6-9703-257D-6A71A40DE84E}"/>
              </a:ext>
            </a:extLst>
          </p:cNvPr>
          <p:cNvSpPr txBox="1">
            <a:spLocks noGrp="1" noChangeArrowheads="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kern="0" dirty="0"/>
              <a:t>Translation Look-Aside Buffer (TLB) </a:t>
            </a:r>
          </a:p>
        </p:txBody>
      </p:sp>
    </p:spTree>
    <p:extLst>
      <p:ext uri="{BB962C8B-B14F-4D97-AF65-F5344CB8AC3E}">
        <p14:creationId xmlns:p14="http://schemas.microsoft.com/office/powerpoint/2010/main" val="14616138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034F0B9-0ADC-441A-ABA1-37FF750921FD}"/>
              </a:ext>
            </a:extLst>
          </p:cNvPr>
          <p:cNvSpPr>
            <a:spLocks noGrp="1" noChangeArrowheads="1"/>
          </p:cNvSpPr>
          <p:nvPr>
            <p:ph type="title"/>
          </p:nvPr>
        </p:nvSpPr>
        <p:spPr>
          <a:xfrm>
            <a:off x="488950" y="238549"/>
            <a:ext cx="8229600" cy="576262"/>
          </a:xfrm>
        </p:spPr>
        <p:txBody>
          <a:bodyPr/>
          <a:lstStyle/>
          <a:p>
            <a:pPr eaLnBrk="1" hangingPunct="1"/>
            <a:r>
              <a:rPr lang="en-US" altLang="en-US" dirty="0"/>
              <a:t>Paging Hardware With TLB</a:t>
            </a:r>
            <a:endParaRPr lang="en-US" altLang="en-US" sz="2400" dirty="0"/>
          </a:p>
        </p:txBody>
      </p:sp>
      <p:pic>
        <p:nvPicPr>
          <p:cNvPr id="35843" name="Picture 5">
            <a:extLst>
              <a:ext uri="{FF2B5EF4-FFF2-40B4-BE49-F238E27FC236}">
                <a16:creationId xmlns:a16="http://schemas.microsoft.com/office/drawing/2014/main" id="{0D2FCA98-0A3D-46E7-B9FC-5E2B1E864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1284288"/>
            <a:ext cx="5637213"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050">
            <a:extLst>
              <a:ext uri="{FF2B5EF4-FFF2-40B4-BE49-F238E27FC236}">
                <a16:creationId xmlns:a16="http://schemas.microsoft.com/office/drawing/2014/main" id="{81EB7566-C4A8-46A0-8405-B237E98989F1}"/>
              </a:ext>
            </a:extLst>
          </p:cNvPr>
          <p:cNvSpPr>
            <a:spLocks noGrp="1" noChangeArrowheads="1"/>
          </p:cNvSpPr>
          <p:nvPr>
            <p:ph type="title"/>
          </p:nvPr>
        </p:nvSpPr>
        <p:spPr>
          <a:xfrm>
            <a:off x="457200" y="247880"/>
            <a:ext cx="8229600" cy="576262"/>
          </a:xfrm>
        </p:spPr>
        <p:txBody>
          <a:bodyPr/>
          <a:lstStyle/>
          <a:p>
            <a:pPr eaLnBrk="1" hangingPunct="1"/>
            <a:r>
              <a:rPr lang="en-US" altLang="en-US" dirty="0"/>
              <a:t>Memory Protection</a:t>
            </a:r>
          </a:p>
        </p:txBody>
      </p:sp>
      <p:sp>
        <p:nvSpPr>
          <p:cNvPr id="37891" name="Rectangle 2051">
            <a:extLst>
              <a:ext uri="{FF2B5EF4-FFF2-40B4-BE49-F238E27FC236}">
                <a16:creationId xmlns:a16="http://schemas.microsoft.com/office/drawing/2014/main" id="{243E4155-B2C5-48A3-9386-D371D820EF99}"/>
              </a:ext>
            </a:extLst>
          </p:cNvPr>
          <p:cNvSpPr>
            <a:spLocks noGrp="1" noChangeArrowheads="1"/>
          </p:cNvSpPr>
          <p:nvPr>
            <p:ph type="body" idx="1"/>
          </p:nvPr>
        </p:nvSpPr>
        <p:spPr>
          <a:xfrm>
            <a:off x="830425" y="1157288"/>
            <a:ext cx="7651102" cy="4468812"/>
          </a:xfrm>
        </p:spPr>
        <p:txBody>
          <a:bodyPr/>
          <a:lstStyle/>
          <a:p>
            <a:pPr marL="0" indent="0">
              <a:buNone/>
            </a:pPr>
            <a:r>
              <a:rPr lang="en-US" altLang="en-US" dirty="0"/>
              <a:t>Memory protection implemented by associating protection bit with each frame to indicate if read-only or read-write access is allowed</a:t>
            </a:r>
          </a:p>
          <a:p>
            <a:pPr lvl="1"/>
            <a:r>
              <a:rPr lang="en-US" altLang="en-US" dirty="0"/>
              <a:t>Can also add more bits to indicate page execute-only, and so on</a:t>
            </a:r>
          </a:p>
          <a:p>
            <a:r>
              <a:rPr lang="en-US" altLang="en-US" b="1" dirty="0">
                <a:solidFill>
                  <a:srgbClr val="006699"/>
                </a:solidFill>
                <a:latin typeface="+mj-lt"/>
              </a:rPr>
              <a:t>Valid-invalid</a:t>
            </a:r>
            <a:r>
              <a:rPr lang="en-US" altLang="en-US" dirty="0">
                <a:solidFill>
                  <a:srgbClr val="3366FF"/>
                </a:solidFill>
              </a:rPr>
              <a:t> </a:t>
            </a:r>
            <a:r>
              <a:rPr lang="en-US" altLang="en-US" dirty="0"/>
              <a:t>bit attached to each entry in the page table:</a:t>
            </a:r>
          </a:p>
          <a:p>
            <a:pPr lvl="1"/>
            <a:r>
              <a:rPr lang="ja-JP" altLang="en-US" dirty="0"/>
              <a:t>“</a:t>
            </a:r>
            <a:r>
              <a:rPr lang="en-US" altLang="ja-JP" dirty="0"/>
              <a:t>valid</a:t>
            </a:r>
            <a:r>
              <a:rPr lang="ja-JP" altLang="en-US" dirty="0"/>
              <a:t>”</a:t>
            </a:r>
            <a:r>
              <a:rPr lang="en-US" altLang="ja-JP" dirty="0"/>
              <a:t> indicates that the associated page is in the process</a:t>
            </a:r>
            <a:r>
              <a:rPr lang="ja-JP" altLang="en-US" dirty="0"/>
              <a:t>’</a:t>
            </a:r>
            <a:r>
              <a:rPr lang="en-US" altLang="ja-JP" dirty="0"/>
              <a:t> logical address space, and is thus a legal page</a:t>
            </a:r>
          </a:p>
          <a:p>
            <a:pPr lvl="1"/>
            <a:r>
              <a:rPr lang="ja-JP" altLang="en-US" dirty="0"/>
              <a:t>“</a:t>
            </a:r>
            <a:r>
              <a:rPr lang="en-US" altLang="ja-JP" dirty="0"/>
              <a:t>invalid</a:t>
            </a:r>
            <a:r>
              <a:rPr lang="ja-JP" altLang="en-US" dirty="0"/>
              <a:t>”</a:t>
            </a:r>
            <a:r>
              <a:rPr lang="en-US" altLang="ja-JP" dirty="0"/>
              <a:t> indicates that the page is not in the process</a:t>
            </a:r>
            <a:r>
              <a:rPr lang="ja-JP" altLang="en-US" dirty="0"/>
              <a:t>’</a:t>
            </a:r>
            <a:r>
              <a:rPr lang="en-US" altLang="ja-JP" dirty="0"/>
              <a:t> logical address </a:t>
            </a:r>
            <a:r>
              <a:rPr lang="en-IN" altLang="ja-JP" dirty="0"/>
              <a:t>space</a:t>
            </a:r>
          </a:p>
          <a:p>
            <a:pPr lvl="1"/>
            <a:endParaRPr lang="en-US" altLang="en-US" dirty="0"/>
          </a:p>
          <a:p>
            <a:r>
              <a:rPr lang="en-US" altLang="en-US" dirty="0"/>
              <a:t>Any violations result in a trap to the kernel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145B4E6-5DED-4B37-B9F1-D64E18F15EDD}"/>
              </a:ext>
            </a:extLst>
          </p:cNvPr>
          <p:cNvSpPr>
            <a:spLocks noGrp="1" noChangeArrowheads="1"/>
          </p:cNvSpPr>
          <p:nvPr>
            <p:ph type="title"/>
          </p:nvPr>
        </p:nvSpPr>
        <p:spPr>
          <a:xfrm>
            <a:off x="709127" y="-95603"/>
            <a:ext cx="8112611" cy="903288"/>
          </a:xfrm>
        </p:spPr>
        <p:txBody>
          <a:bodyPr/>
          <a:lstStyle/>
          <a:p>
            <a:pPr eaLnBrk="1" hangingPunct="1"/>
            <a:r>
              <a:rPr lang="en-US" altLang="en-US" sz="2800" dirty="0"/>
              <a:t>Valid (v) or Invalid (i) Bit In A Page Table</a:t>
            </a:r>
          </a:p>
        </p:txBody>
      </p:sp>
      <p:pic>
        <p:nvPicPr>
          <p:cNvPr id="38915" name="Picture 5">
            <a:extLst>
              <a:ext uri="{FF2B5EF4-FFF2-40B4-BE49-F238E27FC236}">
                <a16:creationId xmlns:a16="http://schemas.microsoft.com/office/drawing/2014/main" id="{51286D0E-48B1-4A77-B77D-2A6859C88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1252538"/>
            <a:ext cx="50990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921CA97-CF77-4743-9E98-4A047BEE3367}"/>
              </a:ext>
            </a:extLst>
          </p:cNvPr>
          <p:cNvSpPr>
            <a:spLocks noGrp="1" noChangeArrowheads="1"/>
          </p:cNvSpPr>
          <p:nvPr>
            <p:ph type="title"/>
          </p:nvPr>
        </p:nvSpPr>
        <p:spPr>
          <a:xfrm>
            <a:off x="457200" y="247880"/>
            <a:ext cx="8229600" cy="576262"/>
          </a:xfrm>
        </p:spPr>
        <p:txBody>
          <a:bodyPr/>
          <a:lstStyle/>
          <a:p>
            <a:pPr eaLnBrk="1" hangingPunct="1"/>
            <a:r>
              <a:rPr lang="en-US" altLang="en-US" dirty="0"/>
              <a:t>Shared Pages</a:t>
            </a:r>
          </a:p>
        </p:txBody>
      </p:sp>
      <p:sp>
        <p:nvSpPr>
          <p:cNvPr id="39939" name="Rectangle 3">
            <a:extLst>
              <a:ext uri="{FF2B5EF4-FFF2-40B4-BE49-F238E27FC236}">
                <a16:creationId xmlns:a16="http://schemas.microsoft.com/office/drawing/2014/main" id="{D36A1277-493F-4EAE-9460-2793BEE19806}"/>
              </a:ext>
            </a:extLst>
          </p:cNvPr>
          <p:cNvSpPr>
            <a:spLocks noGrp="1" noChangeArrowheads="1"/>
          </p:cNvSpPr>
          <p:nvPr>
            <p:ph type="body" idx="1"/>
          </p:nvPr>
        </p:nvSpPr>
        <p:spPr>
          <a:xfrm>
            <a:off x="802433" y="1113421"/>
            <a:ext cx="7734788" cy="4483100"/>
          </a:xfrm>
        </p:spPr>
        <p:txBody>
          <a:bodyPr/>
          <a:lstStyle/>
          <a:p>
            <a:r>
              <a:rPr lang="en-US" altLang="en-US" b="1" dirty="0">
                <a:solidFill>
                  <a:srgbClr val="006699"/>
                </a:solidFill>
                <a:latin typeface="+mj-lt"/>
              </a:rPr>
              <a:t>Shared</a:t>
            </a:r>
            <a:r>
              <a:rPr lang="en-US" altLang="en-US" b="1" dirty="0">
                <a:solidFill>
                  <a:srgbClr val="3366FF"/>
                </a:solidFill>
              </a:rPr>
              <a:t> </a:t>
            </a:r>
            <a:r>
              <a:rPr lang="en-US" altLang="en-US" b="1" dirty="0">
                <a:solidFill>
                  <a:srgbClr val="006699"/>
                </a:solidFill>
                <a:latin typeface="+mj-lt"/>
              </a:rPr>
              <a:t>code</a:t>
            </a:r>
          </a:p>
          <a:p>
            <a:pPr lvl="1"/>
            <a:r>
              <a:rPr lang="en-US" altLang="en-US" dirty="0"/>
              <a:t>One copy of read-only (</a:t>
            </a:r>
            <a:r>
              <a:rPr lang="en-US" altLang="en-US" b="1" dirty="0">
                <a:solidFill>
                  <a:srgbClr val="006699"/>
                </a:solidFill>
                <a:latin typeface="+mj-lt"/>
              </a:rPr>
              <a:t>reentrant</a:t>
            </a:r>
            <a:r>
              <a:rPr lang="en-US" altLang="en-US" dirty="0"/>
              <a:t>) code shared among processes (i.e., text editors, compilers, window systems)</a:t>
            </a:r>
          </a:p>
          <a:p>
            <a:pPr lvl="1"/>
            <a:r>
              <a:rPr lang="en-US" altLang="en-US" dirty="0"/>
              <a:t>Similar to multiple threads sharing the same process space</a:t>
            </a:r>
          </a:p>
          <a:p>
            <a:pPr lvl="1"/>
            <a:r>
              <a:rPr lang="en-US" altLang="en-US" dirty="0"/>
              <a:t>Also useful for interprocess communication if sharing of read-write pages is allowed</a:t>
            </a:r>
          </a:p>
          <a:p>
            <a:r>
              <a:rPr lang="en-US" altLang="en-US" b="1" dirty="0">
                <a:solidFill>
                  <a:srgbClr val="006699"/>
                </a:solidFill>
                <a:latin typeface="+mj-lt"/>
              </a:rPr>
              <a:t>Private</a:t>
            </a:r>
            <a:r>
              <a:rPr lang="en-US" altLang="en-US" b="1" dirty="0">
                <a:solidFill>
                  <a:srgbClr val="3366FF"/>
                </a:solidFill>
              </a:rPr>
              <a:t> </a:t>
            </a:r>
            <a:r>
              <a:rPr lang="en-US" altLang="en-US" b="1" dirty="0">
                <a:solidFill>
                  <a:srgbClr val="006699"/>
                </a:solidFill>
                <a:latin typeface="+mj-lt"/>
              </a:rPr>
              <a:t>code</a:t>
            </a:r>
            <a:r>
              <a:rPr lang="en-US" altLang="en-US" b="1" dirty="0">
                <a:solidFill>
                  <a:srgbClr val="3366FF"/>
                </a:solidFill>
              </a:rPr>
              <a:t> </a:t>
            </a:r>
            <a:r>
              <a:rPr lang="en-US" altLang="en-US" b="1" dirty="0">
                <a:solidFill>
                  <a:srgbClr val="006699"/>
                </a:solidFill>
                <a:latin typeface="+mj-lt"/>
              </a:rPr>
              <a:t>and</a:t>
            </a:r>
            <a:r>
              <a:rPr lang="en-US" altLang="en-US" b="1" dirty="0">
                <a:solidFill>
                  <a:srgbClr val="3366FF"/>
                </a:solidFill>
              </a:rPr>
              <a:t> </a:t>
            </a:r>
            <a:r>
              <a:rPr lang="en-US" altLang="en-US" b="1" dirty="0">
                <a:solidFill>
                  <a:srgbClr val="006699"/>
                </a:solidFill>
                <a:latin typeface="+mj-lt"/>
              </a:rPr>
              <a:t>data</a:t>
            </a:r>
            <a:r>
              <a:rPr lang="en-US" altLang="en-US" dirty="0">
                <a:solidFill>
                  <a:srgbClr val="3366FF"/>
                </a:solidFill>
              </a:rPr>
              <a:t> </a:t>
            </a:r>
          </a:p>
          <a:p>
            <a:pPr lvl="1"/>
            <a:r>
              <a:rPr lang="en-US" altLang="en-US" dirty="0"/>
              <a:t>Each process keeps a separate copy of the code and data</a:t>
            </a:r>
          </a:p>
          <a:p>
            <a:pPr lvl="1"/>
            <a:r>
              <a:rPr lang="en-US" altLang="en-US" dirty="0"/>
              <a:t>The pages for the private code and data can appear anywhere in the logical address space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518330E-1EFB-4794-938C-DE2C8EE9418F}"/>
              </a:ext>
            </a:extLst>
          </p:cNvPr>
          <p:cNvSpPr>
            <a:spLocks noGrp="1" noChangeArrowheads="1"/>
          </p:cNvSpPr>
          <p:nvPr>
            <p:ph type="title"/>
          </p:nvPr>
        </p:nvSpPr>
        <p:spPr>
          <a:xfrm>
            <a:off x="982663" y="245093"/>
            <a:ext cx="7704137" cy="576262"/>
          </a:xfrm>
        </p:spPr>
        <p:txBody>
          <a:bodyPr/>
          <a:lstStyle/>
          <a:p>
            <a:pPr eaLnBrk="1" hangingPunct="1"/>
            <a:r>
              <a:rPr lang="en-US" altLang="en-US" dirty="0"/>
              <a:t>Shared Pages Example</a:t>
            </a:r>
            <a:endParaRPr lang="en-US" altLang="en-US" sz="2400" dirty="0"/>
          </a:p>
        </p:txBody>
      </p:sp>
      <p:pic>
        <p:nvPicPr>
          <p:cNvPr id="40963" name="Picture 5" descr="W:\os-book\OS10\slide-dir\os-figures\9_14.jpg">
            <a:extLst>
              <a:ext uri="{FF2B5EF4-FFF2-40B4-BE49-F238E27FC236}">
                <a16:creationId xmlns:a16="http://schemas.microsoft.com/office/drawing/2014/main" id="{8CF5A6BC-36FF-41D3-9A9A-0B6C47B07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212850"/>
            <a:ext cx="3973512"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0ABA6F6-3348-45EF-9241-C55F4F2E5F83}"/>
              </a:ext>
            </a:extLst>
          </p:cNvPr>
          <p:cNvSpPr>
            <a:spLocks noGrp="1" noChangeArrowheads="1"/>
          </p:cNvSpPr>
          <p:nvPr>
            <p:ph type="ctrTitle"/>
          </p:nvPr>
        </p:nvSpPr>
        <p:spPr/>
        <p:txBody>
          <a:bodyPr/>
          <a:lstStyle/>
          <a:p>
            <a:pPr eaLnBrk="1" hangingPunct="1"/>
            <a:r>
              <a:rPr lang="en-US" altLang="en-US"/>
              <a:t>End of Chapter 9</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7DE89D8B2294088076E7E633FAFB3" ma:contentTypeVersion="3" ma:contentTypeDescription="Create a new document." ma:contentTypeScope="" ma:versionID="68e9da64cba84b518d63157d1ee02d09">
  <xsd:schema xmlns:xsd="http://www.w3.org/2001/XMLSchema" xmlns:xs="http://www.w3.org/2001/XMLSchema" xmlns:p="http://schemas.microsoft.com/office/2006/metadata/properties" xmlns:ns2="29787a04-f269-45e9-ac3d-7cd421e08c88" targetNamespace="http://schemas.microsoft.com/office/2006/metadata/properties" ma:root="true" ma:fieldsID="affe80de74db8b666572cf5169c49c8f" ns2:_="">
    <xsd:import namespace="29787a04-f269-45e9-ac3d-7cd421e08c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787a04-f269-45e9-ac3d-7cd421e08c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9545AB-7D6A-44C7-A793-D80C1D9D2479}"/>
</file>

<file path=customXml/itemProps2.xml><?xml version="1.0" encoding="utf-8"?>
<ds:datastoreItem xmlns:ds="http://schemas.openxmlformats.org/officeDocument/2006/customXml" ds:itemID="{08600DD3-2A19-441E-B62E-BC30C1A0B6EC}"/>
</file>

<file path=customXml/itemProps3.xml><?xml version="1.0" encoding="utf-8"?>
<ds:datastoreItem xmlns:ds="http://schemas.openxmlformats.org/officeDocument/2006/customXml" ds:itemID="{128FECE2-600C-400C-925F-F41BCE6CEB61}"/>
</file>

<file path=docProps/app.xml><?xml version="1.0" encoding="utf-8"?>
<Properties xmlns="http://schemas.openxmlformats.org/officeDocument/2006/extended-properties" xmlns:vt="http://schemas.openxmlformats.org/officeDocument/2006/docPropsVTypes">
  <Template>OS8</Template>
  <TotalTime>13639</TotalTime>
  <Words>4015</Words>
  <Application>Microsoft Office PowerPoint</Application>
  <PresentationFormat>On-screen Show (4:3)</PresentationFormat>
  <Paragraphs>428</Paragraphs>
  <Slides>64</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Helvetica</vt:lpstr>
      <vt:lpstr>Monotype Sorts</vt:lpstr>
      <vt:lpstr>Poppins</vt:lpstr>
      <vt:lpstr>system-ui</vt:lpstr>
      <vt:lpstr>Times New Roman</vt:lpstr>
      <vt:lpstr>Verdana</vt:lpstr>
      <vt:lpstr>Webdings</vt:lpstr>
      <vt:lpstr>Wingdings</vt:lpstr>
      <vt:lpstr>os-8</vt:lpstr>
      <vt:lpstr>Main Memory</vt:lpstr>
      <vt:lpstr>Memory Hierarchy</vt:lpstr>
      <vt:lpstr>Memory Hierarchy</vt:lpstr>
      <vt:lpstr>Memory Hierarchy</vt:lpstr>
      <vt:lpstr>Background</vt:lpstr>
      <vt:lpstr>Logical Address</vt:lpstr>
      <vt:lpstr>PowerPoint Presentation</vt:lpstr>
      <vt:lpstr>Physical Address</vt:lpstr>
      <vt:lpstr>Base Register</vt:lpstr>
      <vt:lpstr>Limit Register</vt:lpstr>
      <vt:lpstr>Protection</vt:lpstr>
      <vt:lpstr>Hardware Address Protection</vt:lpstr>
      <vt:lpstr>Address Binding</vt:lpstr>
      <vt:lpstr>Address Binding</vt:lpstr>
      <vt:lpstr>Address binding</vt:lpstr>
      <vt:lpstr>Address binding</vt:lpstr>
      <vt:lpstr>PowerPoint Presentation</vt:lpstr>
      <vt:lpstr>PowerPoint Presentation</vt:lpstr>
      <vt:lpstr>PowerPoint Presentation</vt:lpstr>
      <vt:lpstr>Binding of Instructions and Data to Memory</vt:lpstr>
      <vt:lpstr>PowerPoint Presentation</vt:lpstr>
      <vt:lpstr>PowerPoint Presentation</vt:lpstr>
      <vt:lpstr>Multistep Processing of a User Program </vt:lpstr>
      <vt:lpstr>PowerPoint Presentation</vt:lpstr>
      <vt:lpstr>PowerPoint Presentation</vt:lpstr>
      <vt:lpstr>PowerPoint Presentation</vt:lpstr>
      <vt:lpstr>PowerPoint Presentation</vt:lpstr>
      <vt:lpstr>Logical vs. Physical Address Space</vt:lpstr>
      <vt:lpstr>Memory-Management Unit (MMU)</vt:lpstr>
      <vt:lpstr>Memory-Management Unit (Cont.)</vt:lpstr>
      <vt:lpstr>PowerPoint Presentation</vt:lpstr>
      <vt:lpstr>Contiguous Allocation</vt:lpstr>
      <vt:lpstr>PowerPoint Presentation</vt:lpstr>
      <vt:lpstr>Static Partitioning</vt:lpstr>
      <vt:lpstr>Static Partitioning</vt:lpstr>
      <vt:lpstr>Static Partitioning</vt:lpstr>
      <vt:lpstr> Dynamic Partitioning</vt:lpstr>
      <vt:lpstr>Fragmentation</vt:lpstr>
      <vt:lpstr>PowerPoint Presentation</vt:lpstr>
      <vt:lpstr>PowerPoint Presentation</vt:lpstr>
      <vt:lpstr>Compaction</vt:lpstr>
      <vt:lpstr>Compaction</vt:lpstr>
      <vt:lpstr>Non-Contiguous Memory Allocation</vt:lpstr>
      <vt:lpstr>Paging</vt:lpstr>
      <vt:lpstr>Paging</vt:lpstr>
      <vt:lpstr>Paging</vt:lpstr>
      <vt:lpstr>Paging</vt:lpstr>
      <vt:lpstr>Address scheme mechanism</vt:lpstr>
      <vt:lpstr>PowerPoint Presentation</vt:lpstr>
      <vt:lpstr>Page table</vt:lpstr>
      <vt:lpstr>Paging Hardware</vt:lpstr>
      <vt:lpstr>Paging Model of Logical and  Physical Memory</vt:lpstr>
      <vt:lpstr>Paging Example </vt:lpstr>
      <vt:lpstr>Paging Example </vt:lpstr>
      <vt:lpstr>Paging -- Calculating internal fragmentation</vt:lpstr>
      <vt:lpstr>Free Frames</vt:lpstr>
      <vt:lpstr>Implementation of Page Table</vt:lpstr>
      <vt:lpstr>Translation Look-Aside Buffer (TLB) </vt:lpstr>
      <vt:lpstr>Paging Hardware With TLB</vt:lpstr>
      <vt:lpstr>Memory Protection</vt:lpstr>
      <vt:lpstr>Valid (v) or Invalid (i) Bit In A Page Table</vt:lpstr>
      <vt:lpstr>Shared Pages</vt:lpstr>
      <vt:lpstr>Shared Pages Example</vt:lpstr>
      <vt:lpstr>End of Chapter 9</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Anisha GS</cp:lastModifiedBy>
  <cp:revision>475</cp:revision>
  <cp:lastPrinted>2013-09-30T19:34:56Z</cp:lastPrinted>
  <dcterms:created xsi:type="dcterms:W3CDTF">2011-01-13T23:43:38Z</dcterms:created>
  <dcterms:modified xsi:type="dcterms:W3CDTF">2025-11-08T12:02:46Z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0x010100A397DE89D8B2294088076E7E633FAFB3</vt:lpwstr>
  </property>
</Properties>
</file>