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3" r:id="rId17"/>
    <p:sldId id="284" r:id="rId18"/>
    <p:sldId id="282" r:id="rId19"/>
    <p:sldId id="285" r:id="rId20"/>
    <p:sldId id="286" r:id="rId21"/>
    <p:sldId id="287" r:id="rId22"/>
    <p:sldId id="288" r:id="rId23"/>
    <p:sldId id="297" r:id="rId24"/>
    <p:sldId id="298" r:id="rId25"/>
    <p:sldId id="29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8002-315D-49B1-B10F-137139C4BF9E}"/>
              </a:ext>
            </a:extLst>
          </p:cNvPr>
          <p:cNvSpPr>
            <a:spLocks noGrp="1"/>
          </p:cNvSpPr>
          <p:nvPr>
            <p:ph type="ctrTitle"/>
          </p:nvPr>
        </p:nvSpPr>
        <p:spPr>
          <a:xfrm>
            <a:off x="854896" y="1122363"/>
            <a:ext cx="7276733" cy="3381398"/>
          </a:xfrm>
        </p:spPr>
        <p:txBody>
          <a:bodyPr anchor="b">
            <a:normAutofit/>
          </a:bodyPr>
          <a:lstStyle>
            <a:lvl1pPr algn="l">
              <a:defRPr sz="4800" cap="none" spc="0" baseline="0"/>
            </a:lvl1pPr>
          </a:lstStyle>
          <a:p>
            <a:r>
              <a:rPr lang="en-US" dirty="0"/>
              <a:t>Click to edit Master title style</a:t>
            </a:r>
          </a:p>
        </p:txBody>
      </p:sp>
      <p:sp>
        <p:nvSpPr>
          <p:cNvPr id="3" name="Subtitle 2">
            <a:extLst>
              <a:ext uri="{FF2B5EF4-FFF2-40B4-BE49-F238E27FC236}">
                <a16:creationId xmlns:a16="http://schemas.microsoft.com/office/drawing/2014/main" id="{804535E0-4D9C-4DCA-8569-64503C5DC1D4}"/>
              </a:ext>
            </a:extLst>
          </p:cNvPr>
          <p:cNvSpPr>
            <a:spLocks noGrp="1"/>
          </p:cNvSpPr>
          <p:nvPr>
            <p:ph type="subTitle" idx="1"/>
          </p:nvPr>
        </p:nvSpPr>
        <p:spPr>
          <a:xfrm>
            <a:off x="854894" y="4612942"/>
            <a:ext cx="7276733" cy="1181683"/>
          </a:xfrm>
        </p:spPr>
        <p:txBody>
          <a:bodyPr>
            <a:normAutofit/>
          </a:bodyPr>
          <a:lstStyle>
            <a:lvl1pPr marL="0" indent="0" algn="l">
              <a:buNone/>
              <a:defRPr sz="18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283B68-70CF-4A98-948C-6EA4BD68D2BC}"/>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5" name="Footer Placeholder 4">
            <a:extLst>
              <a:ext uri="{FF2B5EF4-FFF2-40B4-BE49-F238E27FC236}">
                <a16:creationId xmlns:a16="http://schemas.microsoft.com/office/drawing/2014/main" id="{B3EC2EF9-7F83-4AD3-B3F6-B9D4618D6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1B751B-3464-41CD-B728-A72BB191E29F}"/>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485498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FD42-94A9-4345-AF38-7D562B502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4C458-A63B-4032-B4EC-732DAC188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855B5-7F2F-408B-800D-92CB34B99234}"/>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5" name="Footer Placeholder 4">
            <a:extLst>
              <a:ext uri="{FF2B5EF4-FFF2-40B4-BE49-F238E27FC236}">
                <a16:creationId xmlns:a16="http://schemas.microsoft.com/office/drawing/2014/main" id="{5C203412-EA6B-43CA-8B3A-F502587CB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6E9EE-F895-4ECE-B4B2-586D65ED843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860536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8193F-AFAD-4A9A-B0EF-530DFB19D8DD}"/>
              </a:ext>
            </a:extLst>
          </p:cNvPr>
          <p:cNvSpPr>
            <a:spLocks noGrp="1"/>
          </p:cNvSpPr>
          <p:nvPr>
            <p:ph type="title"/>
          </p:nvPr>
        </p:nvSpPr>
        <p:spPr>
          <a:xfrm>
            <a:off x="831849" y="876299"/>
            <a:ext cx="7876722" cy="3713165"/>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EFD1BBE4-9FC1-4F89-B120-1C49D816FDB9}"/>
              </a:ext>
            </a:extLst>
          </p:cNvPr>
          <p:cNvSpPr>
            <a:spLocks noGrp="1"/>
          </p:cNvSpPr>
          <p:nvPr>
            <p:ph type="body" idx="1"/>
          </p:nvPr>
        </p:nvSpPr>
        <p:spPr>
          <a:xfrm>
            <a:off x="831850" y="4746170"/>
            <a:ext cx="6781301" cy="1048455"/>
          </a:xfrm>
        </p:spPr>
        <p:txBody>
          <a:bodyPr>
            <a:normAutofit/>
          </a:bodyPr>
          <a:lstStyle>
            <a:lvl1pPr marL="0" indent="0">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3530A6B-E3FD-4920-8128-C263CA1D65D1}"/>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5" name="Footer Placeholder 4">
            <a:extLst>
              <a:ext uri="{FF2B5EF4-FFF2-40B4-BE49-F238E27FC236}">
                <a16:creationId xmlns:a16="http://schemas.microsoft.com/office/drawing/2014/main" id="{8C166B85-0649-47DB-AD69-458D8F600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25931-A293-42E9-BDF5-B2AE121D73AD}"/>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817656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5262B-ECD6-47BB-A6F1-92A6033E93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B8779-51E9-44D1-9F7B-28F3C6D3C44D}"/>
              </a:ext>
            </a:extLst>
          </p:cNvPr>
          <p:cNvSpPr>
            <a:spLocks noGrp="1"/>
          </p:cNvSpPr>
          <p:nvPr>
            <p:ph sz="half" idx="1"/>
          </p:nvPr>
        </p:nvSpPr>
        <p:spPr>
          <a:xfrm>
            <a:off x="848474" y="2080517"/>
            <a:ext cx="4970124" cy="39773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E8BFB-5295-4C5E-9CB1-E276E9D0E51F}"/>
              </a:ext>
            </a:extLst>
          </p:cNvPr>
          <p:cNvSpPr>
            <a:spLocks noGrp="1"/>
          </p:cNvSpPr>
          <p:nvPr>
            <p:ph sz="half" idx="2"/>
          </p:nvPr>
        </p:nvSpPr>
        <p:spPr>
          <a:xfrm>
            <a:off x="6310899" y="2080517"/>
            <a:ext cx="4970124" cy="397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E22BF-1819-4301-B699-EF5A2F4D9BC4}"/>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6" name="Footer Placeholder 5">
            <a:extLst>
              <a:ext uri="{FF2B5EF4-FFF2-40B4-BE49-F238E27FC236}">
                <a16:creationId xmlns:a16="http://schemas.microsoft.com/office/drawing/2014/main" id="{3600A2DF-39DE-49C3-A213-3E8423C7AC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5D3A8-238B-4A68-A9F9-672D2F06070B}"/>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038824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468-D010-4225-B024-DCEF543BCEB9}"/>
              </a:ext>
            </a:extLst>
          </p:cNvPr>
          <p:cNvSpPr>
            <a:spLocks noGrp="1"/>
          </p:cNvSpPr>
          <p:nvPr>
            <p:ph type="title"/>
          </p:nvPr>
        </p:nvSpPr>
        <p:spPr>
          <a:xfrm>
            <a:off x="839788" y="571955"/>
            <a:ext cx="10441236" cy="1398359"/>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73D60A0-FCAB-425A-9ECD-94CDE4F472C6}"/>
              </a:ext>
            </a:extLst>
          </p:cNvPr>
          <p:cNvSpPr>
            <a:spLocks noGrp="1"/>
          </p:cNvSpPr>
          <p:nvPr>
            <p:ph type="body" idx="1"/>
          </p:nvPr>
        </p:nvSpPr>
        <p:spPr>
          <a:xfrm>
            <a:off x="844926" y="1983242"/>
            <a:ext cx="5007110"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16F986B-07CB-4FB0-9419-2AAB318B8A10}"/>
              </a:ext>
            </a:extLst>
          </p:cNvPr>
          <p:cNvSpPr>
            <a:spLocks noGrp="1"/>
          </p:cNvSpPr>
          <p:nvPr>
            <p:ph sz="half" idx="2"/>
          </p:nvPr>
        </p:nvSpPr>
        <p:spPr>
          <a:xfrm>
            <a:off x="850063" y="2813959"/>
            <a:ext cx="5007110"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DA9D784-7968-4E8B-B704-E42EE8F1872F}"/>
              </a:ext>
            </a:extLst>
          </p:cNvPr>
          <p:cNvSpPr>
            <a:spLocks noGrp="1"/>
          </p:cNvSpPr>
          <p:nvPr>
            <p:ph type="body" sz="quarter" idx="3"/>
          </p:nvPr>
        </p:nvSpPr>
        <p:spPr>
          <a:xfrm>
            <a:off x="6249255" y="1983242"/>
            <a:ext cx="5031769" cy="814387"/>
          </a:xfrm>
        </p:spPr>
        <p:txBody>
          <a:bodyPr anchor="b">
            <a:normAutofit/>
          </a:bodyPr>
          <a:lstStyle>
            <a:lvl1pPr marL="0" indent="0">
              <a:lnSpc>
                <a:spcPct val="110000"/>
              </a:lnSpc>
              <a:buNone/>
              <a:defRPr sz="2000" b="0" cap="all" spc="14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754F-08D1-4593-988F-95F0ED1A017D}"/>
              </a:ext>
            </a:extLst>
          </p:cNvPr>
          <p:cNvSpPr>
            <a:spLocks noGrp="1"/>
          </p:cNvSpPr>
          <p:nvPr>
            <p:ph sz="quarter" idx="4"/>
          </p:nvPr>
        </p:nvSpPr>
        <p:spPr>
          <a:xfrm>
            <a:off x="6249255" y="2813959"/>
            <a:ext cx="5031769" cy="32439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FED2E61-83B4-4C8F-BBFE-D95920342A1B}"/>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8" name="Footer Placeholder 7">
            <a:extLst>
              <a:ext uri="{FF2B5EF4-FFF2-40B4-BE49-F238E27FC236}">
                <a16:creationId xmlns:a16="http://schemas.microsoft.com/office/drawing/2014/main" id="{5E80C136-A664-4013-8073-B0C6BDEF8C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AE9547-8EE7-461B-9E99-484B11E918A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446179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2E667-0EFA-4EE6-8E4D-20805309A8A4}"/>
              </a:ext>
            </a:extLst>
          </p:cNvPr>
          <p:cNvSpPr>
            <a:spLocks noGrp="1"/>
          </p:cNvSpPr>
          <p:nvPr>
            <p:ph type="title"/>
          </p:nvPr>
        </p:nvSpPr>
        <p:spPr>
          <a:xfrm>
            <a:off x="849759" y="895440"/>
            <a:ext cx="10138451" cy="1832349"/>
          </a:xfrm>
        </p:spPr>
        <p:txBody>
          <a:bodyPr anchor="t">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27EE4825-BB8C-4567-B407-B4452409D7D8}"/>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4" name="Footer Placeholder 3">
            <a:extLst>
              <a:ext uri="{FF2B5EF4-FFF2-40B4-BE49-F238E27FC236}">
                <a16:creationId xmlns:a16="http://schemas.microsoft.com/office/drawing/2014/main" id="{70838892-25DB-4A4E-9D43-6058C45C53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C3DDDA-48EF-4B42-9980-4762AF5094E2}"/>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583541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EFA7D9-6801-4DD0-8D7D-505212F466BD}"/>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3" name="Footer Placeholder 2">
            <a:extLst>
              <a:ext uri="{FF2B5EF4-FFF2-40B4-BE49-F238E27FC236}">
                <a16:creationId xmlns:a16="http://schemas.microsoft.com/office/drawing/2014/main" id="{9E6FA3EA-1519-4178-AC3A-231A5BAA79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423DBE-6FD6-4D60-8336-7843B4BD30B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567178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D9AE-CA1A-4751-9B33-0AC09CE629C8}"/>
              </a:ext>
            </a:extLst>
          </p:cNvPr>
          <p:cNvSpPr>
            <a:spLocks noGrp="1"/>
          </p:cNvSpPr>
          <p:nvPr>
            <p:ph type="title"/>
          </p:nvPr>
        </p:nvSpPr>
        <p:spPr>
          <a:xfrm>
            <a:off x="839789" y="996948"/>
            <a:ext cx="3046410" cy="1479551"/>
          </a:xfrm>
        </p:spPr>
        <p:txBody>
          <a:bodyPr anchor="t">
            <a:normAutofit/>
          </a:bodyPr>
          <a:lstStyle>
            <a:lvl1pPr>
              <a:lnSpc>
                <a:spcPct val="110000"/>
              </a:lnSpc>
              <a:defRPr sz="2400" cap="all" spc="4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E4DF9941-76E5-42B5-8464-C1A7010D94F0}"/>
              </a:ext>
            </a:extLst>
          </p:cNvPr>
          <p:cNvSpPr>
            <a:spLocks noGrp="1"/>
          </p:cNvSpPr>
          <p:nvPr>
            <p:ph idx="1"/>
          </p:nvPr>
        </p:nvSpPr>
        <p:spPr>
          <a:xfrm>
            <a:off x="5260796" y="876300"/>
            <a:ext cx="5758235" cy="5181599"/>
          </a:xfrm>
        </p:spPr>
        <p:txBody>
          <a:bodyPr>
            <a:normAutofit/>
          </a:bodyPr>
          <a:lstStyle>
            <a:lvl1pPr>
              <a:defRPr sz="3600"/>
            </a:lvl1pPr>
            <a:lvl2pPr>
              <a:defRPr sz="3200"/>
            </a:lvl2pPr>
            <a:lvl3pPr>
              <a:defRPr sz="2800"/>
            </a:lvl3pPr>
            <a:lvl4pPr>
              <a:defRPr sz="2400"/>
            </a:lvl4pPr>
            <a:lvl5pPr>
              <a:defRPr sz="2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4785D8-F112-415F-9AB4-5F2AC060D127}"/>
              </a:ext>
            </a:extLst>
          </p:cNvPr>
          <p:cNvSpPr>
            <a:spLocks noGrp="1"/>
          </p:cNvSpPr>
          <p:nvPr>
            <p:ph type="body" sz="half" idx="2"/>
          </p:nvPr>
        </p:nvSpPr>
        <p:spPr>
          <a:xfrm>
            <a:off x="839789" y="2666144"/>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670A0B3-4E9C-4FAC-B1D1-2673F7B5A10F}"/>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6" name="Footer Placeholder 5">
            <a:extLst>
              <a:ext uri="{FF2B5EF4-FFF2-40B4-BE49-F238E27FC236}">
                <a16:creationId xmlns:a16="http://schemas.microsoft.com/office/drawing/2014/main" id="{E1AA370A-33F5-48A6-962A-47C0F15D4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AD606-A37D-4697-AA7A-EAE4F101A707}"/>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9" name="Straight Connector 8">
            <a:extLst>
              <a:ext uri="{FF2B5EF4-FFF2-40B4-BE49-F238E27FC236}">
                <a16:creationId xmlns:a16="http://schemas.microsoft.com/office/drawing/2014/main" id="{644E0B5E-1030-4A34-AB09-05ACB45CE993}"/>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54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21D4C-0A93-40A6-9645-5EF7DE6C5977}"/>
              </a:ext>
            </a:extLst>
          </p:cNvPr>
          <p:cNvSpPr>
            <a:spLocks noGrp="1"/>
          </p:cNvSpPr>
          <p:nvPr>
            <p:ph type="title"/>
          </p:nvPr>
        </p:nvSpPr>
        <p:spPr>
          <a:xfrm>
            <a:off x="839789" y="989314"/>
            <a:ext cx="3046409" cy="1487185"/>
          </a:xfrm>
        </p:spPr>
        <p:txBody>
          <a:bodyPr anchor="t">
            <a:normAutofit/>
          </a:bodyPr>
          <a:lstStyle>
            <a:lvl1pPr>
              <a:lnSpc>
                <a:spcPct val="110000"/>
              </a:lnSpc>
              <a:defRPr sz="2400" cap="all" spc="300" baseline="0"/>
            </a:lvl1pPr>
          </a:lstStyle>
          <a:p>
            <a:r>
              <a:rPr lang="en-US" dirty="0"/>
              <a:t>Click to edit Master title style</a:t>
            </a:r>
          </a:p>
        </p:txBody>
      </p:sp>
      <p:sp>
        <p:nvSpPr>
          <p:cNvPr id="3" name="Picture Placeholder 2">
            <a:extLst>
              <a:ext uri="{FF2B5EF4-FFF2-40B4-BE49-F238E27FC236}">
                <a16:creationId xmlns:a16="http://schemas.microsoft.com/office/drawing/2014/main" id="{222F9455-852F-4604-87D4-801E8D5DB502}"/>
              </a:ext>
            </a:extLst>
          </p:cNvPr>
          <p:cNvSpPr>
            <a:spLocks noGrp="1"/>
          </p:cNvSpPr>
          <p:nvPr>
            <p:ph type="pic" idx="1"/>
          </p:nvPr>
        </p:nvSpPr>
        <p:spPr>
          <a:xfrm>
            <a:off x="5334004" y="876300"/>
            <a:ext cx="5943596"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8842061-B161-4973-9EE4-76D0B73FC18C}"/>
              </a:ext>
            </a:extLst>
          </p:cNvPr>
          <p:cNvSpPr>
            <a:spLocks noGrp="1"/>
          </p:cNvSpPr>
          <p:nvPr>
            <p:ph type="body" sz="half" idx="2"/>
          </p:nvPr>
        </p:nvSpPr>
        <p:spPr>
          <a:xfrm>
            <a:off x="839789" y="2666143"/>
            <a:ext cx="3046409" cy="319490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5DDCE2E0-050A-4BC2-91DF-7A00811D28EB}"/>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6" name="Footer Placeholder 5">
            <a:extLst>
              <a:ext uri="{FF2B5EF4-FFF2-40B4-BE49-F238E27FC236}">
                <a16:creationId xmlns:a16="http://schemas.microsoft.com/office/drawing/2014/main" id="{260AB003-B443-4B96-9DD9-4284E7E1ED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79DBA-16C0-4FFB-B367-B96169B4B005}"/>
              </a:ext>
            </a:extLst>
          </p:cNvPr>
          <p:cNvSpPr>
            <a:spLocks noGrp="1"/>
          </p:cNvSpPr>
          <p:nvPr>
            <p:ph type="sldNum" sz="quarter" idx="12"/>
          </p:nvPr>
        </p:nvSpPr>
        <p:spPr/>
        <p:txBody>
          <a:bodyPr/>
          <a:lstStyle/>
          <a:p>
            <a:fld id="{57871EFB-7B9E-4E86-A89E-697E8EBB06F2}" type="slidenum">
              <a:rPr lang="en-US" smtClean="0"/>
              <a:t>‹#›</a:t>
            </a:fld>
            <a:endParaRPr lang="en-US"/>
          </a:p>
        </p:txBody>
      </p:sp>
      <p:cxnSp>
        <p:nvCxnSpPr>
          <p:cNvPr id="13" name="Straight Connector 12">
            <a:extLst>
              <a:ext uri="{FF2B5EF4-FFF2-40B4-BE49-F238E27FC236}">
                <a16:creationId xmlns:a16="http://schemas.microsoft.com/office/drawing/2014/main" id="{C9F2BD78-1D6B-4742-9726-75646D91F4AC}"/>
              </a:ext>
            </a:extLst>
          </p:cNvPr>
          <p:cNvCxnSpPr>
            <a:cxnSpLocks/>
          </p:cNvCxnSpPr>
          <p:nvPr/>
        </p:nvCxnSpPr>
        <p:spPr>
          <a:xfrm>
            <a:off x="4610100" y="898989"/>
            <a:ext cx="0" cy="5138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570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5731-248B-49C2-93DE-8A3260C9FB3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46D4D5C5-3D5A-4F3D-8A08-7053DACF1F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E5372-3FC6-4227-B2DD-6CB24E65178F}"/>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5" name="Footer Placeholder 4">
            <a:extLst>
              <a:ext uri="{FF2B5EF4-FFF2-40B4-BE49-F238E27FC236}">
                <a16:creationId xmlns:a16="http://schemas.microsoft.com/office/drawing/2014/main" id="{B7C1B1B1-B637-4E46-B64C-F082B54C20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5567AD-4B78-41F6-B814-726D4BD4CE50}"/>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652753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74D5E-67E6-4C23-B80A-0C66B53315EB}"/>
              </a:ext>
            </a:extLst>
          </p:cNvPr>
          <p:cNvSpPr>
            <a:spLocks noGrp="1"/>
          </p:cNvSpPr>
          <p:nvPr>
            <p:ph type="title" orient="vert"/>
          </p:nvPr>
        </p:nvSpPr>
        <p:spPr>
          <a:xfrm>
            <a:off x="8724900" y="876299"/>
            <a:ext cx="2628900" cy="5181601"/>
          </a:xfrm>
        </p:spPr>
        <p:txBody>
          <a:bodyPr vert="eaVert" anchor="b"/>
          <a:lstStyle/>
          <a:p>
            <a:r>
              <a:rPr lang="en-US" dirty="0"/>
              <a:t>Click to edit Master title style</a:t>
            </a:r>
          </a:p>
        </p:txBody>
      </p:sp>
      <p:sp>
        <p:nvSpPr>
          <p:cNvPr id="3" name="Vertical Text Placeholder 2">
            <a:extLst>
              <a:ext uri="{FF2B5EF4-FFF2-40B4-BE49-F238E27FC236}">
                <a16:creationId xmlns:a16="http://schemas.microsoft.com/office/drawing/2014/main" id="{42FEFF2A-08E8-447D-85C7-7D5A9C422C9D}"/>
              </a:ext>
            </a:extLst>
          </p:cNvPr>
          <p:cNvSpPr>
            <a:spLocks noGrp="1"/>
          </p:cNvSpPr>
          <p:nvPr>
            <p:ph type="body" orient="vert" idx="1"/>
          </p:nvPr>
        </p:nvSpPr>
        <p:spPr>
          <a:xfrm>
            <a:off x="838200" y="876299"/>
            <a:ext cx="773430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D40030D-E580-4B0C-B5A8-2C8A094D9D8A}"/>
              </a:ext>
            </a:extLst>
          </p:cNvPr>
          <p:cNvSpPr>
            <a:spLocks noGrp="1"/>
          </p:cNvSpPr>
          <p:nvPr>
            <p:ph type="dt" sz="half" idx="10"/>
          </p:nvPr>
        </p:nvSpPr>
        <p:spPr/>
        <p:txBody>
          <a:bodyPr/>
          <a:lstStyle/>
          <a:p>
            <a:fld id="{326951E3-958F-4611-B170-D081BA0250F9}" type="datetimeFigureOut">
              <a:rPr lang="en-US" smtClean="0"/>
              <a:t>11/8/2025</a:t>
            </a:fld>
            <a:endParaRPr lang="en-US"/>
          </a:p>
        </p:txBody>
      </p:sp>
      <p:sp>
        <p:nvSpPr>
          <p:cNvPr id="5" name="Footer Placeholder 4">
            <a:extLst>
              <a:ext uri="{FF2B5EF4-FFF2-40B4-BE49-F238E27FC236}">
                <a16:creationId xmlns:a16="http://schemas.microsoft.com/office/drawing/2014/main" id="{4F2DCAEB-1B6E-492E-918E-47179AF48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AE4A38-A745-436E-9E33-63B9F81C0917}"/>
              </a:ext>
            </a:extLst>
          </p:cNvPr>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281050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8CBCD-166B-4F97-A6DF-DAA3BF2B25A3}"/>
              </a:ext>
            </a:extLst>
          </p:cNvPr>
          <p:cNvSpPr>
            <a:spLocks noGrp="1"/>
          </p:cNvSpPr>
          <p:nvPr>
            <p:ph type="title"/>
          </p:nvPr>
        </p:nvSpPr>
        <p:spPr>
          <a:xfrm>
            <a:off x="849760" y="876302"/>
            <a:ext cx="10427840" cy="108605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0664D6D9-636D-450B-839A-22AE0CED2315}"/>
              </a:ext>
            </a:extLst>
          </p:cNvPr>
          <p:cNvSpPr>
            <a:spLocks noGrp="1"/>
          </p:cNvSpPr>
          <p:nvPr>
            <p:ph type="body" idx="1"/>
          </p:nvPr>
        </p:nvSpPr>
        <p:spPr>
          <a:xfrm>
            <a:off x="849758" y="2065984"/>
            <a:ext cx="10427841" cy="390329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E6CAEC-1EE5-4B71-9646-5C378EEBEFE8}"/>
              </a:ext>
            </a:extLst>
          </p:cNvPr>
          <p:cNvSpPr>
            <a:spLocks noGrp="1"/>
          </p:cNvSpPr>
          <p:nvPr>
            <p:ph type="dt" sz="half" idx="2"/>
          </p:nvPr>
        </p:nvSpPr>
        <p:spPr>
          <a:xfrm>
            <a:off x="7382838" y="6356350"/>
            <a:ext cx="3361362" cy="365125"/>
          </a:xfrm>
          <a:prstGeom prst="rect">
            <a:avLst/>
          </a:prstGeom>
        </p:spPr>
        <p:txBody>
          <a:bodyPr vert="horz" lIns="91440" tIns="45720" rIns="91440" bIns="45720" rtlCol="0" anchor="ctr"/>
          <a:lstStyle>
            <a:lvl1pPr algn="r">
              <a:defRPr sz="900">
                <a:solidFill>
                  <a:schemeClr val="tx2"/>
                </a:solidFill>
              </a:defRPr>
            </a:lvl1pPr>
          </a:lstStyle>
          <a:p>
            <a:fld id="{326951E3-958F-4611-B170-D081BA0250F9}" type="datetimeFigureOut">
              <a:rPr lang="en-US" smtClean="0"/>
              <a:pPr/>
              <a:t>11/8/2025</a:t>
            </a:fld>
            <a:endParaRPr lang="en-US" dirty="0"/>
          </a:p>
        </p:txBody>
      </p:sp>
      <p:sp>
        <p:nvSpPr>
          <p:cNvPr id="5" name="Footer Placeholder 4">
            <a:extLst>
              <a:ext uri="{FF2B5EF4-FFF2-40B4-BE49-F238E27FC236}">
                <a16:creationId xmlns:a16="http://schemas.microsoft.com/office/drawing/2014/main" id="{66570EF8-70B2-4AFC-8388-691A146AA75A}"/>
              </a:ext>
            </a:extLst>
          </p:cNvPr>
          <p:cNvSpPr>
            <a:spLocks noGrp="1"/>
          </p:cNvSpPr>
          <p:nvPr>
            <p:ph type="ftr" sz="quarter" idx="3"/>
          </p:nvPr>
        </p:nvSpPr>
        <p:spPr>
          <a:xfrm>
            <a:off x="858748" y="6356350"/>
            <a:ext cx="4114800" cy="365125"/>
          </a:xfrm>
          <a:prstGeom prst="rect">
            <a:avLst/>
          </a:prstGeom>
        </p:spPr>
        <p:txBody>
          <a:bodyPr vert="horz" lIns="91440" tIns="45720" rIns="91440" bIns="45720" rtlCol="0" anchor="ctr"/>
          <a:lstStyle>
            <a:lvl1pPr algn="l">
              <a:defRPr sz="900" cap="none" spc="0" baseline="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52F07DC7-D05C-4038-B51A-F00B7B9C996A}"/>
              </a:ext>
            </a:extLst>
          </p:cNvPr>
          <p:cNvSpPr>
            <a:spLocks noGrp="1"/>
          </p:cNvSpPr>
          <p:nvPr>
            <p:ph type="sldNum" sz="quarter" idx="4"/>
          </p:nvPr>
        </p:nvSpPr>
        <p:spPr>
          <a:xfrm>
            <a:off x="10820400" y="6356350"/>
            <a:ext cx="617669" cy="365125"/>
          </a:xfrm>
          <a:prstGeom prst="rect">
            <a:avLst/>
          </a:prstGeom>
        </p:spPr>
        <p:txBody>
          <a:bodyPr vert="horz" lIns="91440" tIns="45720" rIns="91440" bIns="45720" rtlCol="0" anchor="ctr"/>
          <a:lstStyle>
            <a:lvl1pPr algn="r">
              <a:defRPr sz="900" i="1">
                <a:solidFill>
                  <a:schemeClr val="tx2"/>
                </a:solidFill>
              </a:defRPr>
            </a:lvl1pPr>
          </a:lstStyle>
          <a:p>
            <a:fld id="{57871EFB-7B9E-4E86-A89E-697E8EBB06F2}" type="slidenum">
              <a:rPr lang="en-US" smtClean="0"/>
              <a:pPr/>
              <a:t>‹#›</a:t>
            </a:fld>
            <a:endParaRPr lang="en-US" dirty="0"/>
          </a:p>
        </p:txBody>
      </p:sp>
      <p:cxnSp>
        <p:nvCxnSpPr>
          <p:cNvPr id="34" name="Straight Connector 33">
            <a:extLst>
              <a:ext uri="{FF2B5EF4-FFF2-40B4-BE49-F238E27FC236}">
                <a16:creationId xmlns:a16="http://schemas.microsoft.com/office/drawing/2014/main" id="{EAD4CCDA-06BF-4D2A-B44F-195AEC0B5B22}"/>
              </a:ext>
            </a:extLst>
          </p:cNvPr>
          <p:cNvCxnSpPr>
            <a:cxnSpLocks/>
          </p:cNvCxnSpPr>
          <p:nvPr/>
        </p:nvCxnSpPr>
        <p:spPr>
          <a:xfrm>
            <a:off x="952498" y="6252722"/>
            <a:ext cx="10325101" cy="0"/>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0531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70000"/>
        <a:buFont typeface="Arial" panose="020B0604020202020204" pitchFamily="34" charset="0"/>
        <a:buChar char="•"/>
        <a:defRPr sz="2000" kern="1200">
          <a:solidFill>
            <a:schemeClr val="tx2"/>
          </a:solidFill>
          <a:latin typeface="+mn-lt"/>
          <a:ea typeface="+mn-ea"/>
          <a:cs typeface="+mn-cs"/>
        </a:defRPr>
      </a:lvl1pPr>
      <a:lvl2pPr marL="274320" indent="0" algn="l" defTabSz="914400" rtl="0" eaLnBrk="1" latinLnBrk="0" hangingPunct="1">
        <a:lnSpc>
          <a:spcPct val="120000"/>
        </a:lnSpc>
        <a:spcBef>
          <a:spcPts val="500"/>
        </a:spcBef>
        <a:buSzPct val="70000"/>
        <a:buFontTx/>
        <a:buNone/>
        <a:defRPr sz="1800" i="1" kern="1200">
          <a:solidFill>
            <a:schemeClr val="tx2"/>
          </a:solidFill>
          <a:latin typeface="+mn-lt"/>
          <a:ea typeface="+mn-ea"/>
          <a:cs typeface="+mn-cs"/>
        </a:defRPr>
      </a:lvl2pPr>
      <a:lvl3pPr marL="502920" indent="-228600" algn="l" defTabSz="914400" rtl="0" eaLnBrk="1" latinLnBrk="0" hangingPunct="1">
        <a:lnSpc>
          <a:spcPct val="120000"/>
        </a:lnSpc>
        <a:spcBef>
          <a:spcPts val="500"/>
        </a:spcBef>
        <a:buSzPct val="70000"/>
        <a:buFont typeface="Arial" panose="020B0604020202020204" pitchFamily="34" charset="0"/>
        <a:buChar char="•"/>
        <a:defRPr sz="1800" kern="1200">
          <a:solidFill>
            <a:schemeClr val="tx2"/>
          </a:solidFill>
          <a:latin typeface="+mn-lt"/>
          <a:ea typeface="+mn-ea"/>
          <a:cs typeface="+mn-cs"/>
        </a:defRPr>
      </a:lvl3pPr>
      <a:lvl4pPr marL="548640" indent="0" algn="l" defTabSz="914400" rtl="0" eaLnBrk="1" latinLnBrk="0" hangingPunct="1">
        <a:lnSpc>
          <a:spcPct val="120000"/>
        </a:lnSpc>
        <a:spcBef>
          <a:spcPts val="500"/>
        </a:spcBef>
        <a:buSzPct val="70000"/>
        <a:buFont typeface="Arial" panose="020B0604020202020204" pitchFamily="34" charset="0"/>
        <a:buNone/>
        <a:defRPr sz="1600" i="1" kern="120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7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00">
          <p15:clr>
            <a:srgbClr val="F26B43"/>
          </p15:clr>
        </p15:guide>
        <p15:guide id="4" pos="7104">
          <p15:clr>
            <a:srgbClr val="F26B43"/>
          </p15:clr>
        </p15:guide>
        <p15:guide id="5" orient="horz" pos="3816">
          <p15:clr>
            <a:srgbClr val="F26B43"/>
          </p15:clr>
        </p15:guide>
        <p15:guide id="6" orient="horz" pos="552">
          <p15:clr>
            <a:srgbClr val="F26B43"/>
          </p15:clr>
        </p15:guide>
        <p15:guide id="14" pos="662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C0BCA8-B9D5-4F84-B063-ABE683EE0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Electronic circuit board">
            <a:extLst>
              <a:ext uri="{FF2B5EF4-FFF2-40B4-BE49-F238E27FC236}">
                <a16:creationId xmlns:a16="http://schemas.microsoft.com/office/drawing/2014/main" id="{29BA3681-E129-7DD9-02D8-EA8BB2CD1200}"/>
              </a:ext>
            </a:extLst>
          </p:cNvPr>
          <p:cNvPicPr>
            <a:picLocks noChangeAspect="1"/>
          </p:cNvPicPr>
          <p:nvPr/>
        </p:nvPicPr>
        <p:blipFill rotWithShape="1">
          <a:blip r:embed="rId2"/>
          <a:srcRect t="15605" r="-2" b="-2"/>
          <a:stretch/>
        </p:blipFill>
        <p:spPr>
          <a:xfrm>
            <a:off x="20" y="10"/>
            <a:ext cx="12191979" cy="6857989"/>
          </a:xfrm>
          <a:prstGeom prst="rect">
            <a:avLst/>
          </a:prstGeom>
        </p:spPr>
      </p:pic>
      <p:sp>
        <p:nvSpPr>
          <p:cNvPr id="11" name="Freeform: Shape 10">
            <a:extLst>
              <a:ext uri="{FF2B5EF4-FFF2-40B4-BE49-F238E27FC236}">
                <a16:creationId xmlns:a16="http://schemas.microsoft.com/office/drawing/2014/main" id="{3148D7B7-CAFA-4089-A365-6371A76FE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3144236 w 12192000"/>
              <a:gd name="connsiteY0" fmla="*/ 859953 h 6858000"/>
              <a:gd name="connsiteX1" fmla="*/ 954990 w 12192000"/>
              <a:gd name="connsiteY1" fmla="*/ 3049201 h 6858000"/>
              <a:gd name="connsiteX2" fmla="*/ 954990 w 12192000"/>
              <a:gd name="connsiteY2" fmla="*/ 3317710 h 6858000"/>
              <a:gd name="connsiteX3" fmla="*/ 954990 w 12192000"/>
              <a:gd name="connsiteY3" fmla="*/ 6057900 h 6858000"/>
              <a:gd name="connsiteX4" fmla="*/ 5334000 w 12192000"/>
              <a:gd name="connsiteY4" fmla="*/ 6057900 h 6858000"/>
              <a:gd name="connsiteX5" fmla="*/ 5334000 w 12192000"/>
              <a:gd name="connsiteY5" fmla="*/ 3049201 h 6858000"/>
              <a:gd name="connsiteX6" fmla="*/ 3144755 w 12192000"/>
              <a:gd name="connsiteY6" fmla="*/ 859953 h 6858000"/>
              <a:gd name="connsiteX7" fmla="*/ 0 w 12192000"/>
              <a:gd name="connsiteY7" fmla="*/ 0 h 6858000"/>
              <a:gd name="connsiteX8" fmla="*/ 12192000 w 12192000"/>
              <a:gd name="connsiteY8" fmla="*/ 0 h 6858000"/>
              <a:gd name="connsiteX9" fmla="*/ 12192000 w 12192000"/>
              <a:gd name="connsiteY9" fmla="*/ 6858000 h 6858000"/>
              <a:gd name="connsiteX10" fmla="*/ 0 w 1219200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858000">
                <a:moveTo>
                  <a:pt x="3144236" y="859953"/>
                </a:moveTo>
                <a:cubicBezTo>
                  <a:pt x="1935127" y="859953"/>
                  <a:pt x="954990" y="1840119"/>
                  <a:pt x="954990" y="3049201"/>
                </a:cubicBezTo>
                <a:lnTo>
                  <a:pt x="954990" y="3317710"/>
                </a:lnTo>
                <a:lnTo>
                  <a:pt x="954990" y="6057900"/>
                </a:lnTo>
                <a:lnTo>
                  <a:pt x="5334000" y="6057900"/>
                </a:lnTo>
                <a:lnTo>
                  <a:pt x="5334000" y="3049201"/>
                </a:lnTo>
                <a:cubicBezTo>
                  <a:pt x="5334000" y="1840119"/>
                  <a:pt x="4353860" y="859953"/>
                  <a:pt x="3144755" y="859953"/>
                </a:cubicBezTo>
                <a:close/>
                <a:moveTo>
                  <a:pt x="0" y="0"/>
                </a:moveTo>
                <a:lnTo>
                  <a:pt x="12192000" y="0"/>
                </a:lnTo>
                <a:lnTo>
                  <a:pt x="12192000" y="6858000"/>
                </a:lnTo>
                <a:lnTo>
                  <a:pt x="0" y="6858000"/>
                </a:lnTo>
                <a:close/>
              </a:path>
            </a:pathLst>
          </a:custGeom>
          <a:solidFill>
            <a:srgbClr val="000000">
              <a:alpha val="6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cNvSpPr>
            <a:spLocks noGrp="1"/>
          </p:cNvSpPr>
          <p:nvPr>
            <p:ph type="ctrTitle"/>
          </p:nvPr>
        </p:nvSpPr>
        <p:spPr>
          <a:xfrm>
            <a:off x="5985663" y="1161232"/>
            <a:ext cx="5004176" cy="2485479"/>
          </a:xfrm>
        </p:spPr>
        <p:txBody>
          <a:bodyPr anchor="b">
            <a:normAutofit/>
          </a:bodyPr>
          <a:lstStyle/>
          <a:p>
            <a:r>
              <a:rPr lang="en-US">
                <a:solidFill>
                  <a:srgbClr val="FFFFFF"/>
                </a:solidFill>
              </a:rPr>
              <a:t>Virtual memory</a:t>
            </a:r>
          </a:p>
        </p:txBody>
      </p:sp>
      <p:cxnSp>
        <p:nvCxnSpPr>
          <p:cNvPr id="13" name="Straight Connector 12">
            <a:extLst>
              <a:ext uri="{FF2B5EF4-FFF2-40B4-BE49-F238E27FC236}">
                <a16:creationId xmlns:a16="http://schemas.microsoft.com/office/drawing/2014/main" id="{7476E355-DC49-4AFB-88DE-62B854B9B3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09851" y="4003443"/>
            <a:ext cx="0" cy="2054457"/>
          </a:xfrm>
          <a:prstGeom prst="line">
            <a:avLst/>
          </a:prstGeom>
          <a:ln w="1079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908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lumOff val="1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F02845A-8571-40C5-9F56-8F9B3F7C4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4477771" y="895440"/>
            <a:ext cx="6037830" cy="1540783"/>
          </a:xfrm>
        </p:spPr>
        <p:txBody>
          <a:bodyPr>
            <a:normAutofit/>
          </a:bodyPr>
          <a:lstStyle/>
          <a:p>
            <a:r>
              <a:rPr lang="en-US"/>
              <a:t>Virtual memory</a:t>
            </a:r>
          </a:p>
        </p:txBody>
      </p:sp>
      <p:pic>
        <p:nvPicPr>
          <p:cNvPr id="8" name="Graphic 7" descr="Database">
            <a:extLst>
              <a:ext uri="{FF2B5EF4-FFF2-40B4-BE49-F238E27FC236}">
                <a16:creationId xmlns:a16="http://schemas.microsoft.com/office/drawing/2014/main" id="{054809F1-BE3C-C7C5-1A91-FC9DCA4BB0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986274"/>
            <a:ext cx="2962082" cy="2962082"/>
          </a:xfrm>
          <a:prstGeom prst="rect">
            <a:avLst/>
          </a:prstGeom>
        </p:spPr>
      </p:pic>
      <p:cxnSp>
        <p:nvCxnSpPr>
          <p:cNvPr id="13" name="Straight Connector 12">
            <a:extLst>
              <a:ext uri="{FF2B5EF4-FFF2-40B4-BE49-F238E27FC236}">
                <a16:creationId xmlns:a16="http://schemas.microsoft.com/office/drawing/2014/main" id="{F30BB598-81B4-41BB-BC44-CD9C29AE2E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11830" y="2710543"/>
            <a:ext cx="0" cy="3347785"/>
          </a:xfrm>
          <a:prstGeom prst="line">
            <a:avLst/>
          </a:prstGeom>
          <a:ln w="10795">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p:cNvSpPr>
            <a:spLocks noGrp="1"/>
          </p:cNvSpPr>
          <p:nvPr>
            <p:ph idx="1"/>
          </p:nvPr>
        </p:nvSpPr>
        <p:spPr>
          <a:xfrm>
            <a:off x="5207521" y="2710544"/>
            <a:ext cx="5369231" cy="3428596"/>
          </a:xfrm>
        </p:spPr>
        <p:txBody>
          <a:bodyPr anchor="b">
            <a:normAutofit/>
          </a:bodyPr>
          <a:lstStyle/>
          <a:p>
            <a:r>
              <a:rPr lang="en-US" dirty="0"/>
              <a:t>Virtual memory is a technique that allows the execution of processes that may not be completely in memory. </a:t>
            </a:r>
            <a:endParaRPr lang="en-IN" dirty="0"/>
          </a:p>
          <a:p>
            <a:r>
              <a:rPr lang="en-US" dirty="0"/>
              <a:t>One major advantage of this scheme is that programs can be larger than physical memory.</a:t>
            </a:r>
            <a:endParaRPr lang="en-IN" dirty="0"/>
          </a:p>
          <a:p>
            <a:r>
              <a:rPr lang="en-IN" dirty="0"/>
              <a:t> This technique frees programmers from the concerns of memory-storage limitations</a:t>
            </a:r>
            <a:endParaRPr lang="en-US" dirty="0"/>
          </a:p>
        </p:txBody>
      </p:sp>
    </p:spTree>
    <p:extLst>
      <p:ext uri="{BB962C8B-B14F-4D97-AF65-F5344CB8AC3E}">
        <p14:creationId xmlns:p14="http://schemas.microsoft.com/office/powerpoint/2010/main" val="3566745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B47093-6A1E-F79E-0B47-90D0BFC59610}"/>
              </a:ext>
            </a:extLst>
          </p:cNvPr>
          <p:cNvSpPr>
            <a:spLocks noGrp="1"/>
          </p:cNvSpPr>
          <p:nvPr>
            <p:ph idx="1"/>
          </p:nvPr>
        </p:nvSpPr>
        <p:spPr>
          <a:xfrm>
            <a:off x="849758" y="2065984"/>
            <a:ext cx="10427841" cy="4792016"/>
          </a:xfrm>
        </p:spPr>
        <p:txBody>
          <a:bodyPr>
            <a:normAutofit/>
          </a:bodyPr>
          <a:lstStyle/>
          <a:p>
            <a:r>
              <a:rPr lang="en-IN" dirty="0"/>
              <a:t>The ability to execute a program that is only partially in memory would confer many benefits: 
A program would no longer be constrained by the amount of physical memory that is available. Users would be able to write programs for an extremely large virtual-address space, simplifying the programming task. 
Because each user program could take less physical memory, more programs could be run at the same time, with a corresponding increase in CPU utilization and throughput, but with no increase in response time or turnaround time. 
Less I/O would be needed to load or swap each user program into memory, so each user program would run faster. </a:t>
            </a:r>
          </a:p>
          <a:p>
            <a:r>
              <a:rPr lang="en-US" sz="2400" b="1" dirty="0"/>
              <a:t>Virtual memory is commonly implemented by demand paging.</a:t>
            </a:r>
          </a:p>
        </p:txBody>
      </p:sp>
      <p:sp>
        <p:nvSpPr>
          <p:cNvPr id="5" name="Title">
            <a:extLst>
              <a:ext uri="{FF2B5EF4-FFF2-40B4-BE49-F238E27FC236}">
                <a16:creationId xmlns:a16="http://schemas.microsoft.com/office/drawing/2014/main" id="{FAB442B4-3A87-9C37-A5AD-C8B82E9C47CB}"/>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dirty="0"/>
              <a:t>Virtual memory</a:t>
            </a:r>
          </a:p>
        </p:txBody>
      </p:sp>
    </p:spTree>
    <p:extLst>
      <p:ext uri="{BB962C8B-B14F-4D97-AF65-F5344CB8AC3E}">
        <p14:creationId xmlns:p14="http://schemas.microsoft.com/office/powerpoint/2010/main" val="2954522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1B9E-5798-AB53-1736-001EA57E8B5B}"/>
              </a:ext>
            </a:extLst>
          </p:cNvPr>
          <p:cNvSpPr>
            <a:spLocks noGrp="1"/>
          </p:cNvSpPr>
          <p:nvPr>
            <p:ph type="title"/>
          </p:nvPr>
        </p:nvSpPr>
        <p:spPr/>
        <p:txBody>
          <a:bodyPr/>
          <a:lstStyle/>
          <a:p>
            <a:r>
              <a:rPr lang="en-IN" dirty="0"/>
              <a:t>Demand paging</a:t>
            </a:r>
            <a:endParaRPr lang="en-US" dirty="0"/>
          </a:p>
        </p:txBody>
      </p:sp>
      <p:sp>
        <p:nvSpPr>
          <p:cNvPr id="3" name="Content Placeholder 2">
            <a:extLst>
              <a:ext uri="{FF2B5EF4-FFF2-40B4-BE49-F238E27FC236}">
                <a16:creationId xmlns:a16="http://schemas.microsoft.com/office/drawing/2014/main" id="{D32C0D8E-E1BE-0A1E-299A-D2864A89CAF2}"/>
              </a:ext>
            </a:extLst>
          </p:cNvPr>
          <p:cNvSpPr>
            <a:spLocks noGrp="1"/>
          </p:cNvSpPr>
          <p:nvPr>
            <p:ph idx="1"/>
          </p:nvPr>
        </p:nvSpPr>
        <p:spPr/>
        <p:txBody>
          <a:bodyPr/>
          <a:lstStyle/>
          <a:p>
            <a:r>
              <a:rPr lang="en-IN" dirty="0"/>
              <a:t> Demand-paging system is similar to a paging system with swapping</a:t>
            </a:r>
          </a:p>
          <a:p>
            <a:r>
              <a:rPr lang="en-IN" dirty="0"/>
              <a:t>Processes reside on secondary memory (which is usually a disk). When we want to execute a process, we swap it into memory. Rather than swapping the entire process into memory, however, we use a lazy swapper. </a:t>
            </a:r>
          </a:p>
          <a:p>
            <a:r>
              <a:rPr lang="en-IN" dirty="0"/>
              <a:t>A lazy swapper never swaps a page into memory unless that page will be needed.</a:t>
            </a:r>
            <a:endParaRPr lang="en-US" dirty="0"/>
          </a:p>
        </p:txBody>
      </p:sp>
    </p:spTree>
    <p:extLst>
      <p:ext uri="{BB962C8B-B14F-4D97-AF65-F5344CB8AC3E}">
        <p14:creationId xmlns:p14="http://schemas.microsoft.com/office/powerpoint/2010/main" val="2239538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A37FD557-B7D7-5C95-8B94-12B5BECF08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8369" y="2309830"/>
            <a:ext cx="5122667" cy="3903662"/>
          </a:xfrm>
        </p:spPr>
      </p:pic>
      <p:sp>
        <p:nvSpPr>
          <p:cNvPr id="5" name="Title 1">
            <a:extLst>
              <a:ext uri="{FF2B5EF4-FFF2-40B4-BE49-F238E27FC236}">
                <a16:creationId xmlns:a16="http://schemas.microsoft.com/office/drawing/2014/main" id="{F2F4E82A-AFC5-AFF1-6492-4D1216F67153}"/>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Demand paging-Basic concept</a:t>
            </a:r>
            <a:endParaRPr lang="en-US" dirty="0"/>
          </a:p>
        </p:txBody>
      </p:sp>
    </p:spTree>
    <p:extLst>
      <p:ext uri="{BB962C8B-B14F-4D97-AF65-F5344CB8AC3E}">
        <p14:creationId xmlns:p14="http://schemas.microsoft.com/office/powerpoint/2010/main" val="4182264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CD2F55-9F18-1FFA-D044-70943D31AD0E}"/>
              </a:ext>
            </a:extLst>
          </p:cNvPr>
          <p:cNvSpPr>
            <a:spLocks noGrp="1"/>
          </p:cNvSpPr>
          <p:nvPr>
            <p:ph idx="1"/>
          </p:nvPr>
        </p:nvSpPr>
        <p:spPr/>
        <p:txBody>
          <a:bodyPr>
            <a:normAutofit/>
          </a:bodyPr>
          <a:lstStyle/>
          <a:p>
            <a:r>
              <a:rPr lang="en-IN" dirty="0"/>
              <a:t>With this scheme, we need some form of hardware support to distinguish between those pages that are in memory and those pages that are on the disk. </a:t>
            </a:r>
          </a:p>
          <a:p>
            <a:r>
              <a:rPr lang="en-IN" dirty="0"/>
              <a:t>The valid-invalid bit scheme  can be used for this purpose. This time, however, when this bit is set to “valid,” this value indicates that the associated page is both legal and in memory. If the bit is set to “invalid,” this value indicates that the page either is not valid (that is, not in the logical address space of the process), or is valid but is currently on the disk</a:t>
            </a:r>
            <a:endParaRPr lang="en-US" dirty="0"/>
          </a:p>
        </p:txBody>
      </p:sp>
      <p:sp>
        <p:nvSpPr>
          <p:cNvPr id="5" name="Title 1">
            <a:extLst>
              <a:ext uri="{FF2B5EF4-FFF2-40B4-BE49-F238E27FC236}">
                <a16:creationId xmlns:a16="http://schemas.microsoft.com/office/drawing/2014/main" id="{EF0E573F-C43A-C8BC-F881-A10F0FC16ECE}"/>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Demand paging-Basic concept</a:t>
            </a:r>
            <a:endParaRPr lang="en-US" dirty="0"/>
          </a:p>
        </p:txBody>
      </p:sp>
    </p:spTree>
    <p:extLst>
      <p:ext uri="{BB962C8B-B14F-4D97-AF65-F5344CB8AC3E}">
        <p14:creationId xmlns:p14="http://schemas.microsoft.com/office/powerpoint/2010/main" val="4184801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3C8897AD-C96E-F2D7-2E81-DC54748B7E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2856" y="2078036"/>
            <a:ext cx="4040559" cy="3903662"/>
          </a:xfrm>
        </p:spPr>
      </p:pic>
      <p:sp>
        <p:nvSpPr>
          <p:cNvPr id="5" name="Title 1">
            <a:extLst>
              <a:ext uri="{FF2B5EF4-FFF2-40B4-BE49-F238E27FC236}">
                <a16:creationId xmlns:a16="http://schemas.microsoft.com/office/drawing/2014/main" id="{D0D14129-9485-9FBB-874D-379669AC582B}"/>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Demand paging-Basic concept</a:t>
            </a:r>
            <a:endParaRPr lang="en-US" dirty="0"/>
          </a:p>
        </p:txBody>
      </p:sp>
    </p:spTree>
    <p:extLst>
      <p:ext uri="{BB962C8B-B14F-4D97-AF65-F5344CB8AC3E}">
        <p14:creationId xmlns:p14="http://schemas.microsoft.com/office/powerpoint/2010/main" val="435390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D79907-DADB-1109-96E5-8145C55C0BC9}"/>
              </a:ext>
            </a:extLst>
          </p:cNvPr>
          <p:cNvSpPr>
            <a:spLocks noGrp="1"/>
          </p:cNvSpPr>
          <p:nvPr>
            <p:ph idx="1"/>
          </p:nvPr>
        </p:nvSpPr>
        <p:spPr/>
        <p:txBody>
          <a:bodyPr>
            <a:normAutofit/>
          </a:bodyPr>
          <a:lstStyle/>
          <a:p>
            <a:r>
              <a:rPr lang="en-US" dirty="0"/>
              <a:t>What happens if the process tries to access a page that was not brought into memory? </a:t>
            </a:r>
          </a:p>
          <a:p>
            <a:r>
              <a:rPr lang="en-US" dirty="0"/>
              <a:t>Access to a page marked invalid causes a page-fault trap. The paging hardware, in translating the address through the page table, will notice that the invalid bit is set, causing a trap to the operating system.</a:t>
            </a:r>
            <a:endParaRPr lang="en-IN" dirty="0"/>
          </a:p>
          <a:p>
            <a:r>
              <a:rPr lang="en-US" dirty="0"/>
              <a:t> This trap is the result of the operating system's failure to bring the desired page into memory (in an attempt to minimize disk-transfer overhead and memory requirements), rather than an invalid address error as a result of an attempt to use an illegal memory address (such as an incorrect array subscript)</a:t>
            </a:r>
          </a:p>
        </p:txBody>
      </p:sp>
      <p:sp>
        <p:nvSpPr>
          <p:cNvPr id="5" name="Title 1">
            <a:extLst>
              <a:ext uri="{FF2B5EF4-FFF2-40B4-BE49-F238E27FC236}">
                <a16:creationId xmlns:a16="http://schemas.microsoft.com/office/drawing/2014/main" id="{DE542C19-CDA6-838F-E34E-A8157B6E97EC}"/>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Demand paging-Basic concept</a:t>
            </a:r>
            <a:endParaRPr lang="en-US" dirty="0"/>
          </a:p>
        </p:txBody>
      </p:sp>
    </p:spTree>
    <p:extLst>
      <p:ext uri="{BB962C8B-B14F-4D97-AF65-F5344CB8AC3E}">
        <p14:creationId xmlns:p14="http://schemas.microsoft.com/office/powerpoint/2010/main" val="644699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BE046CF5-F0D1-D598-8DEA-7B0D3983561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4856" y="2065338"/>
            <a:ext cx="7432556" cy="3903662"/>
          </a:xfrm>
        </p:spPr>
      </p:pic>
      <p:sp>
        <p:nvSpPr>
          <p:cNvPr id="6" name="Title 1">
            <a:extLst>
              <a:ext uri="{FF2B5EF4-FFF2-40B4-BE49-F238E27FC236}">
                <a16:creationId xmlns:a16="http://schemas.microsoft.com/office/drawing/2014/main" id="{7063E831-2235-33DD-5E43-95CC96FE9E98}"/>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Demand paging-Basic concept</a:t>
            </a:r>
            <a:endParaRPr lang="en-US" dirty="0"/>
          </a:p>
        </p:txBody>
      </p:sp>
    </p:spTree>
    <p:extLst>
      <p:ext uri="{BB962C8B-B14F-4D97-AF65-F5344CB8AC3E}">
        <p14:creationId xmlns:p14="http://schemas.microsoft.com/office/powerpoint/2010/main" val="3740958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ED7818-B9BE-9C3E-8863-DDF708AEF788}"/>
              </a:ext>
            </a:extLst>
          </p:cNvPr>
          <p:cNvSpPr>
            <a:spLocks noGrp="1"/>
          </p:cNvSpPr>
          <p:nvPr>
            <p:ph idx="1"/>
          </p:nvPr>
        </p:nvSpPr>
        <p:spPr/>
        <p:txBody>
          <a:bodyPr>
            <a:normAutofit fontScale="92500" lnSpcReduction="10000"/>
          </a:bodyPr>
          <a:lstStyle/>
          <a:p>
            <a:pPr marL="0" indent="0">
              <a:buNone/>
            </a:pPr>
            <a:r>
              <a:rPr lang="en-IN" dirty="0"/>
              <a:t>1. We check an internal table (usually kept with the process control block) for this process, to determine whether the reference was a valid or invalid memory access</a:t>
            </a:r>
          </a:p>
          <a:p>
            <a:pPr marL="0" indent="0">
              <a:buNone/>
            </a:pPr>
            <a:r>
              <a:rPr lang="en-US" dirty="0"/>
              <a:t>2. If the reference was invalid, we terminate the process. If it was valid, but we have not yet brought in that page, we now page it in. </a:t>
            </a:r>
          </a:p>
          <a:p>
            <a:pPr marL="0" indent="0">
              <a:buNone/>
            </a:pPr>
            <a:r>
              <a:rPr lang="en-US" dirty="0"/>
              <a:t>3. We find a free frame (by taking one from the free-frame list, for example). </a:t>
            </a:r>
          </a:p>
          <a:p>
            <a:pPr marL="0" indent="0">
              <a:buNone/>
            </a:pPr>
            <a:r>
              <a:rPr lang="en-US" dirty="0"/>
              <a:t>4. We schedule a disk operation to read the desired page into the newly allocated frame. </a:t>
            </a:r>
          </a:p>
          <a:p>
            <a:pPr marL="0" indent="0">
              <a:buNone/>
            </a:pPr>
            <a:r>
              <a:rPr lang="en-US" dirty="0"/>
              <a:t>5. When the disk read is complete, we modify the internal table kept with the process and the page table to indicate that the page is now in memory. </a:t>
            </a:r>
          </a:p>
          <a:p>
            <a:pPr marL="0" indent="0">
              <a:buNone/>
            </a:pPr>
            <a:r>
              <a:rPr lang="en-US" dirty="0"/>
              <a:t>6. We restart the instruction that was interrupted by the illegal address trap. The process can now access the page as though it had always been in memory.</a:t>
            </a:r>
          </a:p>
        </p:txBody>
      </p:sp>
      <p:sp>
        <p:nvSpPr>
          <p:cNvPr id="5" name="Title 1">
            <a:extLst>
              <a:ext uri="{FF2B5EF4-FFF2-40B4-BE49-F238E27FC236}">
                <a16:creationId xmlns:a16="http://schemas.microsoft.com/office/drawing/2014/main" id="{8C0B6995-9924-CB4F-3E1A-8526A33F9852}"/>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Demand paging-Basic concept</a:t>
            </a:r>
            <a:endParaRPr lang="en-US" dirty="0"/>
          </a:p>
        </p:txBody>
      </p:sp>
    </p:spTree>
    <p:extLst>
      <p:ext uri="{BB962C8B-B14F-4D97-AF65-F5344CB8AC3E}">
        <p14:creationId xmlns:p14="http://schemas.microsoft.com/office/powerpoint/2010/main" val="464798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0DBE6-346C-C33F-50BF-AD9B4060DD05}"/>
              </a:ext>
            </a:extLst>
          </p:cNvPr>
          <p:cNvSpPr>
            <a:spLocks noGrp="1"/>
          </p:cNvSpPr>
          <p:nvPr>
            <p:ph idx="1"/>
          </p:nvPr>
        </p:nvSpPr>
        <p:spPr/>
        <p:txBody>
          <a:bodyPr>
            <a:normAutofit fontScale="85000" lnSpcReduction="20000"/>
          </a:bodyPr>
          <a:lstStyle/>
          <a:p>
            <a:pPr marL="0" indent="0">
              <a:buNone/>
            </a:pPr>
            <a:r>
              <a:rPr lang="en-IN" dirty="0"/>
              <a:t>1. Find the location of the desired page on the disk. 
2. Find a free frame: </a:t>
            </a:r>
          </a:p>
          <a:p>
            <a:pPr marL="0" indent="0">
              <a:buNone/>
            </a:pPr>
            <a:r>
              <a:rPr lang="en-IN" dirty="0"/>
              <a:t>a. If there is a free frame, use it. </a:t>
            </a:r>
          </a:p>
          <a:p>
            <a:pPr marL="0" indent="0">
              <a:buNone/>
            </a:pPr>
            <a:r>
              <a:rPr lang="en-IN" dirty="0"/>
              <a:t>b. If there is no free frame, use a page-replacement algorithm to select a </a:t>
            </a:r>
          </a:p>
          <a:p>
            <a:pPr marL="0" indent="0">
              <a:buNone/>
            </a:pPr>
            <a:r>
              <a:rPr lang="en-IN" dirty="0"/>
              <a:t>victim frame. </a:t>
            </a:r>
          </a:p>
          <a:p>
            <a:pPr marL="0" indent="0">
              <a:buNone/>
            </a:pPr>
            <a:r>
              <a:rPr lang="en-IN" dirty="0"/>
              <a:t>c. Write the victim page to the disk; change the page and frame tables </a:t>
            </a:r>
          </a:p>
          <a:p>
            <a:pPr marL="0" indent="0">
              <a:buNone/>
            </a:pPr>
            <a:r>
              <a:rPr lang="en-IN" dirty="0"/>
              <a:t>accordingly. </a:t>
            </a:r>
          </a:p>
          <a:p>
            <a:pPr marL="0" indent="0">
              <a:buNone/>
            </a:pPr>
            <a:r>
              <a:rPr lang="en-IN" dirty="0"/>
              <a:t>3. Read the desired page into the (newly) free frame; change the page and </a:t>
            </a:r>
          </a:p>
          <a:p>
            <a:pPr marL="0" indent="0">
              <a:buNone/>
            </a:pPr>
            <a:r>
              <a:rPr lang="en-IN" dirty="0"/>
              <a:t>frame tables. </a:t>
            </a:r>
          </a:p>
          <a:p>
            <a:pPr marL="0" indent="0">
              <a:buNone/>
            </a:pPr>
            <a:r>
              <a:rPr lang="en-IN" dirty="0"/>
              <a:t>4. Restart the user process</a:t>
            </a:r>
            <a:endParaRPr lang="en-US" dirty="0"/>
          </a:p>
        </p:txBody>
      </p:sp>
      <p:sp>
        <p:nvSpPr>
          <p:cNvPr id="5" name="Title 1">
            <a:extLst>
              <a:ext uri="{FF2B5EF4-FFF2-40B4-BE49-F238E27FC236}">
                <a16:creationId xmlns:a16="http://schemas.microsoft.com/office/drawing/2014/main" id="{6BDEEDBE-3D33-C175-924E-81DFF86B602C}"/>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Page replacement</a:t>
            </a:r>
            <a:endParaRPr lang="en-US" dirty="0"/>
          </a:p>
        </p:txBody>
      </p:sp>
    </p:spTree>
    <p:extLst>
      <p:ext uri="{BB962C8B-B14F-4D97-AF65-F5344CB8AC3E}">
        <p14:creationId xmlns:p14="http://schemas.microsoft.com/office/powerpoint/2010/main" val="2027300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B2C4EC27-AC24-554E-BE00-390C6E8109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7883" y="2065338"/>
            <a:ext cx="5791146" cy="3903662"/>
          </a:xfrm>
        </p:spPr>
      </p:pic>
      <p:sp>
        <p:nvSpPr>
          <p:cNvPr id="6" name="Title 1">
            <a:extLst>
              <a:ext uri="{FF2B5EF4-FFF2-40B4-BE49-F238E27FC236}">
                <a16:creationId xmlns:a16="http://schemas.microsoft.com/office/drawing/2014/main" id="{1897D01A-66ED-8387-30D0-6C6AA7E415B4}"/>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Page replacement</a:t>
            </a:r>
            <a:endParaRPr lang="en-US" dirty="0"/>
          </a:p>
        </p:txBody>
      </p:sp>
    </p:spTree>
    <p:extLst>
      <p:ext uri="{BB962C8B-B14F-4D97-AF65-F5344CB8AC3E}">
        <p14:creationId xmlns:p14="http://schemas.microsoft.com/office/powerpoint/2010/main" val="184986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8F217-C656-F96F-AB68-3E3DCD3C9FB4}"/>
              </a:ext>
            </a:extLst>
          </p:cNvPr>
          <p:cNvSpPr>
            <a:spLocks noGrp="1"/>
          </p:cNvSpPr>
          <p:nvPr>
            <p:ph idx="1"/>
          </p:nvPr>
        </p:nvSpPr>
        <p:spPr/>
        <p:txBody>
          <a:bodyPr/>
          <a:lstStyle/>
          <a:p>
            <a:pPr marL="0" indent="0">
              <a:buNone/>
            </a:pPr>
            <a:r>
              <a:rPr lang="en-IN" dirty="0"/>
              <a:t>
We evaluate an algorithm by running it on a particular string of memory references and computing the number of page faults. The string of memory references is called a reference string.</a:t>
            </a:r>
          </a:p>
          <a:p>
            <a:pPr marL="0" indent="0">
              <a:buNone/>
            </a:pPr>
            <a:r>
              <a:rPr lang="en-US" dirty="0"/>
              <a:t>A </a:t>
            </a:r>
            <a:r>
              <a:rPr lang="en-US" b="1" dirty="0"/>
              <a:t>memory reference string</a:t>
            </a:r>
            <a:r>
              <a:rPr lang="en-US" dirty="0"/>
              <a:t> (also called a </a:t>
            </a:r>
            <a:r>
              <a:rPr lang="en-US" b="1" dirty="0"/>
              <a:t>page reference string</a:t>
            </a:r>
            <a:r>
              <a:rPr lang="en-US" dirty="0"/>
              <a:t> or simply a </a:t>
            </a:r>
            <a:r>
              <a:rPr lang="en-US" b="1" dirty="0"/>
              <a:t>reference string</a:t>
            </a:r>
            <a:r>
              <a:rPr lang="en-US" dirty="0"/>
              <a:t>) is a </a:t>
            </a:r>
            <a:r>
              <a:rPr lang="en-US" b="1" dirty="0"/>
              <a:t>sequence of memory addresses or page numbers</a:t>
            </a:r>
            <a:r>
              <a:rPr lang="en-US" dirty="0"/>
              <a:t> that represents the </a:t>
            </a:r>
            <a:r>
              <a:rPr lang="en-US" b="1" dirty="0"/>
              <a:t>order in which a program accesses memory</a:t>
            </a:r>
            <a:r>
              <a:rPr lang="en-US" dirty="0"/>
              <a:t>.</a:t>
            </a:r>
          </a:p>
        </p:txBody>
      </p:sp>
      <p:sp>
        <p:nvSpPr>
          <p:cNvPr id="5" name="Title 1">
            <a:extLst>
              <a:ext uri="{FF2B5EF4-FFF2-40B4-BE49-F238E27FC236}">
                <a16:creationId xmlns:a16="http://schemas.microsoft.com/office/drawing/2014/main" id="{BB1673D5-85C2-D14A-6D6E-37BE35A9C862}"/>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Page replacement</a:t>
            </a:r>
            <a:endParaRPr lang="en-US" dirty="0"/>
          </a:p>
        </p:txBody>
      </p:sp>
    </p:spTree>
    <p:extLst>
      <p:ext uri="{BB962C8B-B14F-4D97-AF65-F5344CB8AC3E}">
        <p14:creationId xmlns:p14="http://schemas.microsoft.com/office/powerpoint/2010/main" val="1946798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0966A-95DD-3BC0-8331-7CF676E12335}"/>
              </a:ext>
            </a:extLst>
          </p:cNvPr>
          <p:cNvSpPr>
            <a:spLocks noGrp="1"/>
          </p:cNvSpPr>
          <p:nvPr>
            <p:ph type="title"/>
          </p:nvPr>
        </p:nvSpPr>
        <p:spPr/>
        <p:txBody>
          <a:bodyPr/>
          <a:lstStyle/>
          <a:p>
            <a:r>
              <a:rPr lang="en-IN" dirty="0"/>
              <a:t>FIFO Page Replacement</a:t>
            </a:r>
            <a:endParaRPr lang="en-US" dirty="0"/>
          </a:p>
        </p:txBody>
      </p:sp>
      <p:sp>
        <p:nvSpPr>
          <p:cNvPr id="3" name="Content Placeholder 2">
            <a:extLst>
              <a:ext uri="{FF2B5EF4-FFF2-40B4-BE49-F238E27FC236}">
                <a16:creationId xmlns:a16="http://schemas.microsoft.com/office/drawing/2014/main" id="{C77D9327-5367-49AA-CAC5-29238DCA6478}"/>
              </a:ext>
            </a:extLst>
          </p:cNvPr>
          <p:cNvSpPr>
            <a:spLocks noGrp="1"/>
          </p:cNvSpPr>
          <p:nvPr>
            <p:ph idx="1"/>
          </p:nvPr>
        </p:nvSpPr>
        <p:spPr/>
        <p:txBody>
          <a:bodyPr/>
          <a:lstStyle/>
          <a:p>
            <a:r>
              <a:rPr lang="en-IN" dirty="0"/>
              <a:t>Given page reference string: </a:t>
            </a:r>
          </a:p>
          <a:p>
            <a:r>
              <a:rPr lang="en-IN" dirty="0"/>
              <a:t>1,2,3,4,2,1,5,6,2,1,2,3,7,6,3,2,1,2,3,6</a:t>
            </a:r>
          </a:p>
          <a:p>
            <a:r>
              <a:rPr lang="en-IN" dirty="0"/>
              <a:t>Compare the number of page faults for LRU, FIFO and Optimal page replacement algorithm if 4 page frames are there</a:t>
            </a:r>
          </a:p>
          <a:p>
            <a:r>
              <a:rPr lang="en-US" dirty="0"/>
              <a:t>A FIFO replacement algorithm associates with each page the time when that page was brought into memory. When a page must be replaced, the oldest page is chosen</a:t>
            </a:r>
            <a:r>
              <a:rPr lang="en-IN" dirty="0"/>
              <a:t> </a:t>
            </a:r>
            <a:endParaRPr lang="en-US" dirty="0"/>
          </a:p>
        </p:txBody>
      </p:sp>
    </p:spTree>
    <p:extLst>
      <p:ext uri="{BB962C8B-B14F-4D97-AF65-F5344CB8AC3E}">
        <p14:creationId xmlns:p14="http://schemas.microsoft.com/office/powerpoint/2010/main" val="1208360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4286AB5E-63BC-11F9-97CC-6D68BD8F01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88792" y="2065338"/>
            <a:ext cx="6349329" cy="3903662"/>
          </a:xfrm>
        </p:spPr>
      </p:pic>
      <p:sp>
        <p:nvSpPr>
          <p:cNvPr id="5" name="Title 1">
            <a:extLst>
              <a:ext uri="{FF2B5EF4-FFF2-40B4-BE49-F238E27FC236}">
                <a16:creationId xmlns:a16="http://schemas.microsoft.com/office/drawing/2014/main" id="{82873938-B41B-2FA4-E82C-61021003AD10}"/>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FIFO Page Replacement</a:t>
            </a:r>
            <a:endParaRPr lang="en-US" dirty="0"/>
          </a:p>
        </p:txBody>
      </p:sp>
    </p:spTree>
    <p:extLst>
      <p:ext uri="{BB962C8B-B14F-4D97-AF65-F5344CB8AC3E}">
        <p14:creationId xmlns:p14="http://schemas.microsoft.com/office/powerpoint/2010/main" val="3679422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40D14-D07F-A153-D209-FAF1788E6DA9}"/>
              </a:ext>
            </a:extLst>
          </p:cNvPr>
          <p:cNvSpPr>
            <a:spLocks noGrp="1"/>
          </p:cNvSpPr>
          <p:nvPr>
            <p:ph type="title"/>
          </p:nvPr>
        </p:nvSpPr>
        <p:spPr/>
        <p:txBody>
          <a:bodyPr/>
          <a:lstStyle/>
          <a:p>
            <a:r>
              <a:rPr lang="en-IN" dirty="0" err="1"/>
              <a:t>Belady’s</a:t>
            </a:r>
            <a:r>
              <a:rPr lang="en-IN" dirty="0"/>
              <a:t>  Anomaly</a:t>
            </a:r>
            <a:endParaRPr lang="en-US" dirty="0"/>
          </a:p>
        </p:txBody>
      </p:sp>
      <p:sp>
        <p:nvSpPr>
          <p:cNvPr id="3" name="Content Placeholder 2">
            <a:extLst>
              <a:ext uri="{FF2B5EF4-FFF2-40B4-BE49-F238E27FC236}">
                <a16:creationId xmlns:a16="http://schemas.microsoft.com/office/drawing/2014/main" id="{CF2EA7F9-F904-97EA-0D7B-6EF400808DB4}"/>
              </a:ext>
            </a:extLst>
          </p:cNvPr>
          <p:cNvSpPr>
            <a:spLocks noGrp="1"/>
          </p:cNvSpPr>
          <p:nvPr>
            <p:ph idx="1"/>
          </p:nvPr>
        </p:nvSpPr>
        <p:spPr/>
        <p:txBody>
          <a:bodyPr/>
          <a:lstStyle/>
          <a:p>
            <a:r>
              <a:rPr lang="en-IN" dirty="0"/>
              <a:t> </a:t>
            </a:r>
            <a:r>
              <a:rPr lang="en-IN" b="1" dirty="0" err="1"/>
              <a:t>Bélády’s</a:t>
            </a:r>
            <a:r>
              <a:rPr lang="en-IN" b="1" dirty="0"/>
              <a:t> anomaly</a:t>
            </a:r>
            <a:r>
              <a:rPr lang="en-IN" dirty="0"/>
              <a:t> is the name given to the phenomenon where increasing the number of page frames results in an increase in the number of page faults for a given memory access pattern. </a:t>
            </a:r>
          </a:p>
          <a:p>
            <a:endParaRPr lang="en-US" dirty="0"/>
          </a:p>
        </p:txBody>
      </p:sp>
      <p:pic>
        <p:nvPicPr>
          <p:cNvPr id="6" name="Picture 6">
            <a:extLst>
              <a:ext uri="{FF2B5EF4-FFF2-40B4-BE49-F238E27FC236}">
                <a16:creationId xmlns:a16="http://schemas.microsoft.com/office/drawing/2014/main" id="{7F10E844-D5A4-96B5-203B-EE1E5CD9E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492" y="3227602"/>
            <a:ext cx="8128000" cy="2371264"/>
          </a:xfrm>
          <a:prstGeom prst="rect">
            <a:avLst/>
          </a:prstGeom>
        </p:spPr>
      </p:pic>
    </p:spTree>
    <p:extLst>
      <p:ext uri="{BB962C8B-B14F-4D97-AF65-F5344CB8AC3E}">
        <p14:creationId xmlns:p14="http://schemas.microsoft.com/office/powerpoint/2010/main" val="101017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E82A33D-59F6-B8E8-8E52-61EBBC14D8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9313" y="2995254"/>
            <a:ext cx="10428287" cy="2043830"/>
          </a:xfrm>
        </p:spPr>
      </p:pic>
      <p:sp>
        <p:nvSpPr>
          <p:cNvPr id="6" name="Title 1">
            <a:extLst>
              <a:ext uri="{FF2B5EF4-FFF2-40B4-BE49-F238E27FC236}">
                <a16:creationId xmlns:a16="http://schemas.microsoft.com/office/drawing/2014/main" id="{52CF0E43-F640-F483-C37A-CCA7F92BF441}"/>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err="1"/>
              <a:t>Belady’s</a:t>
            </a:r>
            <a:r>
              <a:rPr lang="en-IN" dirty="0"/>
              <a:t>  Anomaly</a:t>
            </a:r>
            <a:endParaRPr lang="en-US" dirty="0"/>
          </a:p>
        </p:txBody>
      </p:sp>
    </p:spTree>
    <p:extLst>
      <p:ext uri="{BB962C8B-B14F-4D97-AF65-F5344CB8AC3E}">
        <p14:creationId xmlns:p14="http://schemas.microsoft.com/office/powerpoint/2010/main" val="2100649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D5B22-0762-FB70-343D-43051ECF2650}"/>
              </a:ext>
            </a:extLst>
          </p:cNvPr>
          <p:cNvSpPr>
            <a:spLocks noGrp="1"/>
          </p:cNvSpPr>
          <p:nvPr>
            <p:ph type="title"/>
          </p:nvPr>
        </p:nvSpPr>
        <p:spPr/>
        <p:txBody>
          <a:bodyPr/>
          <a:lstStyle/>
          <a:p>
            <a:r>
              <a:rPr lang="en-IN" dirty="0"/>
              <a:t>Optimal Page Replacement</a:t>
            </a:r>
            <a:endParaRPr lang="en-US" dirty="0"/>
          </a:p>
        </p:txBody>
      </p:sp>
      <p:sp>
        <p:nvSpPr>
          <p:cNvPr id="3" name="Content Placeholder 2">
            <a:extLst>
              <a:ext uri="{FF2B5EF4-FFF2-40B4-BE49-F238E27FC236}">
                <a16:creationId xmlns:a16="http://schemas.microsoft.com/office/drawing/2014/main" id="{4F0B293B-D42F-658D-55E3-5C27030DF56E}"/>
              </a:ext>
            </a:extLst>
          </p:cNvPr>
          <p:cNvSpPr>
            <a:spLocks noGrp="1"/>
          </p:cNvSpPr>
          <p:nvPr>
            <p:ph idx="1"/>
          </p:nvPr>
        </p:nvSpPr>
        <p:spPr/>
        <p:txBody>
          <a:bodyPr/>
          <a:lstStyle/>
          <a:p>
            <a:r>
              <a:rPr lang="en-IN" dirty="0"/>
              <a:t> Optimal page-replacement algorithm has the lowest page-fault rate of all algorithms, and will never suffer from </a:t>
            </a:r>
            <a:r>
              <a:rPr lang="en-IN" dirty="0" err="1"/>
              <a:t>Belady’s</a:t>
            </a:r>
            <a:r>
              <a:rPr lang="en-IN" dirty="0"/>
              <a:t> anomaly.</a:t>
            </a:r>
          </a:p>
          <a:p>
            <a:r>
              <a:rPr lang="en-US" b="1" dirty="0"/>
              <a:t>Replace the page that will not be used for the longest period of time.</a:t>
            </a:r>
            <a:endParaRPr lang="en-IN" b="1" dirty="0"/>
          </a:p>
          <a:p>
            <a:endParaRPr lang="en-US" b="1" dirty="0"/>
          </a:p>
        </p:txBody>
      </p:sp>
      <p:pic>
        <p:nvPicPr>
          <p:cNvPr id="4" name="Picture 4">
            <a:extLst>
              <a:ext uri="{FF2B5EF4-FFF2-40B4-BE49-F238E27FC236}">
                <a16:creationId xmlns:a16="http://schemas.microsoft.com/office/drawing/2014/main" id="{66664466-54E4-02A3-5229-010CC6F76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1" y="3429000"/>
            <a:ext cx="8128000" cy="2762015"/>
          </a:xfrm>
          <a:prstGeom prst="rect">
            <a:avLst/>
          </a:prstGeom>
        </p:spPr>
      </p:pic>
    </p:spTree>
    <p:extLst>
      <p:ext uri="{BB962C8B-B14F-4D97-AF65-F5344CB8AC3E}">
        <p14:creationId xmlns:p14="http://schemas.microsoft.com/office/powerpoint/2010/main" val="414049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6C8147E8-EA6C-4B65-1F38-4972C333DC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9176" y="2065338"/>
            <a:ext cx="9156225" cy="3903662"/>
          </a:xfrm>
        </p:spPr>
      </p:pic>
      <p:sp>
        <p:nvSpPr>
          <p:cNvPr id="5" name="Title 1">
            <a:extLst>
              <a:ext uri="{FF2B5EF4-FFF2-40B4-BE49-F238E27FC236}">
                <a16:creationId xmlns:a16="http://schemas.microsoft.com/office/drawing/2014/main" id="{67E271FD-A413-FA16-44A7-91F30F39A796}"/>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Optimal Page Replacement</a:t>
            </a:r>
            <a:endParaRPr lang="en-US" dirty="0"/>
          </a:p>
        </p:txBody>
      </p:sp>
    </p:spTree>
    <p:extLst>
      <p:ext uri="{BB962C8B-B14F-4D97-AF65-F5344CB8AC3E}">
        <p14:creationId xmlns:p14="http://schemas.microsoft.com/office/powerpoint/2010/main" val="3571976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05E49-8C6C-0518-E40E-020ED87E0CED}"/>
              </a:ext>
            </a:extLst>
          </p:cNvPr>
          <p:cNvSpPr>
            <a:spLocks noGrp="1"/>
          </p:cNvSpPr>
          <p:nvPr>
            <p:ph type="title"/>
          </p:nvPr>
        </p:nvSpPr>
        <p:spPr/>
        <p:txBody>
          <a:bodyPr/>
          <a:lstStyle/>
          <a:p>
            <a:r>
              <a:rPr lang="en-IN" dirty="0"/>
              <a:t>Least Recently Used</a:t>
            </a:r>
            <a:endParaRPr lang="en-US" dirty="0"/>
          </a:p>
        </p:txBody>
      </p:sp>
      <p:sp>
        <p:nvSpPr>
          <p:cNvPr id="3" name="Content Placeholder 2">
            <a:extLst>
              <a:ext uri="{FF2B5EF4-FFF2-40B4-BE49-F238E27FC236}">
                <a16:creationId xmlns:a16="http://schemas.microsoft.com/office/drawing/2014/main" id="{1B4F8F88-7860-E9F3-B8CB-CDE6E28EC17B}"/>
              </a:ext>
            </a:extLst>
          </p:cNvPr>
          <p:cNvSpPr>
            <a:spLocks noGrp="1"/>
          </p:cNvSpPr>
          <p:nvPr>
            <p:ph idx="1"/>
          </p:nvPr>
        </p:nvSpPr>
        <p:spPr/>
        <p:txBody>
          <a:bodyPr/>
          <a:lstStyle/>
          <a:p>
            <a:r>
              <a:rPr lang="en-US" dirty="0"/>
              <a:t>We use the recent past as an approximation of the near future, then we will replace the page that has not been used for the longest period of time (Figure 10.12). This approach is the least-recently-used (LRU) algorithm.</a:t>
            </a:r>
            <a:endParaRPr lang="en-IN" dirty="0"/>
          </a:p>
          <a:p>
            <a:r>
              <a:rPr lang="en-IN" dirty="0"/>
              <a:t> </a:t>
            </a:r>
            <a:endParaRPr lang="en-US" dirty="0"/>
          </a:p>
        </p:txBody>
      </p:sp>
      <p:pic>
        <p:nvPicPr>
          <p:cNvPr id="4" name="Picture 4">
            <a:extLst>
              <a:ext uri="{FF2B5EF4-FFF2-40B4-BE49-F238E27FC236}">
                <a16:creationId xmlns:a16="http://schemas.microsoft.com/office/drawing/2014/main" id="{0EF1821B-99FF-B6B1-5F58-D98B0DAF5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758" y="3290462"/>
            <a:ext cx="8128000" cy="2942037"/>
          </a:xfrm>
          <a:prstGeom prst="rect">
            <a:avLst/>
          </a:prstGeom>
        </p:spPr>
      </p:pic>
    </p:spTree>
    <p:extLst>
      <p:ext uri="{BB962C8B-B14F-4D97-AF65-F5344CB8AC3E}">
        <p14:creationId xmlns:p14="http://schemas.microsoft.com/office/powerpoint/2010/main" val="2730715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10E335-CE19-DABC-AE36-73B8F13248C6}"/>
              </a:ext>
            </a:extLst>
          </p:cNvPr>
          <p:cNvSpPr>
            <a:spLocks noGrp="1"/>
          </p:cNvSpPr>
          <p:nvPr>
            <p:ph idx="1"/>
          </p:nvPr>
        </p:nvSpPr>
        <p:spPr/>
        <p:txBody>
          <a:bodyPr>
            <a:normAutofit/>
          </a:bodyPr>
          <a:lstStyle/>
          <a:p>
            <a:r>
              <a:rPr lang="en-IN" dirty="0"/>
              <a:t> When the reference to page 4 occurs, however, LRU replacement sees that, of the three frames in memory, page 2 was used least recently. The most recently used page is page 0, and just before that page 3 was used. Thus, the LRU algorithm replaces page 2, not knowing that page 2 is about to be used. When it then faults for page 2, the LRU algorithm replaces page 3 since, of the three pages in memory {0,3,4}, page 3 is the least recently used. Despite these problems, LRU replacement with 12 faults is still much better than FIFO replacement with 15. </a:t>
            </a:r>
            <a:endParaRPr lang="en-US" dirty="0"/>
          </a:p>
        </p:txBody>
      </p:sp>
      <p:sp>
        <p:nvSpPr>
          <p:cNvPr id="5" name="Title 1">
            <a:extLst>
              <a:ext uri="{FF2B5EF4-FFF2-40B4-BE49-F238E27FC236}">
                <a16:creationId xmlns:a16="http://schemas.microsoft.com/office/drawing/2014/main" id="{0D85357A-EE03-89FE-7EAC-C003B2CA1DC8}"/>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Least Recently Used</a:t>
            </a:r>
            <a:endParaRPr lang="en-US" dirty="0"/>
          </a:p>
        </p:txBody>
      </p:sp>
    </p:spTree>
    <p:extLst>
      <p:ext uri="{BB962C8B-B14F-4D97-AF65-F5344CB8AC3E}">
        <p14:creationId xmlns:p14="http://schemas.microsoft.com/office/powerpoint/2010/main" val="1694112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81436B83-5914-0F9F-2892-797FCBC038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7967" y="2248706"/>
            <a:ext cx="9950823" cy="3903662"/>
          </a:xfrm>
        </p:spPr>
      </p:pic>
      <p:sp>
        <p:nvSpPr>
          <p:cNvPr id="6" name="Title 1">
            <a:extLst>
              <a:ext uri="{FF2B5EF4-FFF2-40B4-BE49-F238E27FC236}">
                <a16:creationId xmlns:a16="http://schemas.microsoft.com/office/drawing/2014/main" id="{CFED0160-A083-06CB-EEDF-F25348D84280}"/>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Least Recently Used</a:t>
            </a:r>
            <a:endParaRPr lang="en-US" dirty="0"/>
          </a:p>
        </p:txBody>
      </p:sp>
    </p:spTree>
    <p:extLst>
      <p:ext uri="{BB962C8B-B14F-4D97-AF65-F5344CB8AC3E}">
        <p14:creationId xmlns:p14="http://schemas.microsoft.com/office/powerpoint/2010/main" val="3938345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46C2-8101-88C8-63EB-AD0B56D5DCEE}"/>
              </a:ext>
            </a:extLst>
          </p:cNvPr>
          <p:cNvSpPr>
            <a:spLocks noGrp="1"/>
          </p:cNvSpPr>
          <p:nvPr>
            <p:ph type="title"/>
          </p:nvPr>
        </p:nvSpPr>
        <p:spPr/>
        <p:txBody>
          <a:bodyPr/>
          <a:lstStyle/>
          <a:p>
            <a:r>
              <a:rPr lang="en-IN" b="1" dirty="0"/>
              <a:t>Thrashing</a:t>
            </a:r>
            <a:endParaRPr lang="en-US" b="1" dirty="0"/>
          </a:p>
        </p:txBody>
      </p:sp>
      <p:sp>
        <p:nvSpPr>
          <p:cNvPr id="3" name="Content Placeholder 2">
            <a:extLst>
              <a:ext uri="{FF2B5EF4-FFF2-40B4-BE49-F238E27FC236}">
                <a16:creationId xmlns:a16="http://schemas.microsoft.com/office/drawing/2014/main" id="{3289D9AE-31AA-CDD1-5026-630418A28244}"/>
              </a:ext>
            </a:extLst>
          </p:cNvPr>
          <p:cNvSpPr>
            <a:spLocks noGrp="1"/>
          </p:cNvSpPr>
          <p:nvPr>
            <p:ph idx="1"/>
          </p:nvPr>
        </p:nvSpPr>
        <p:spPr/>
        <p:txBody>
          <a:bodyPr/>
          <a:lstStyle/>
          <a:p>
            <a:r>
              <a:rPr lang="en-IN" dirty="0"/>
              <a:t>If a process does not have enough frames, the page-fault rate is very high</a:t>
            </a:r>
          </a:p>
          <a:p>
            <a:r>
              <a:rPr lang="en-IN" dirty="0"/>
              <a:t> </a:t>
            </a:r>
            <a:r>
              <a:rPr lang="en-IN" b="0" i="0" dirty="0">
                <a:solidFill>
                  <a:schemeClr val="tx1"/>
                </a:solidFill>
                <a:effectLst/>
                <a:latin typeface="Lora" pitchFamily="2" charset="0"/>
              </a:rPr>
              <a:t>Suppose a process is allocated 5 frames and all pages are active. If there is a page fault now for that process, one of the 5 active frames is moved out and the required page is brought in. Since the page that is moved out is an active page, the moved out page may be needed immediately. There is a page fault again and another active page is moved out to bring in the required page. This leads to page faults again and again.</a:t>
            </a:r>
          </a:p>
          <a:p>
            <a:endParaRPr lang="en-US" dirty="0">
              <a:solidFill>
                <a:schemeClr val="tx1"/>
              </a:solidFill>
            </a:endParaRPr>
          </a:p>
        </p:txBody>
      </p:sp>
    </p:spTree>
    <p:extLst>
      <p:ext uri="{BB962C8B-B14F-4D97-AF65-F5344CB8AC3E}">
        <p14:creationId xmlns:p14="http://schemas.microsoft.com/office/powerpoint/2010/main" val="4007467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415D26-2C69-395E-B360-58DACA7B6DEC}"/>
              </a:ext>
            </a:extLst>
          </p:cNvPr>
          <p:cNvSpPr>
            <a:spLocks noGrp="1"/>
          </p:cNvSpPr>
          <p:nvPr>
            <p:ph idx="1"/>
          </p:nvPr>
        </p:nvSpPr>
        <p:spPr/>
        <p:txBody>
          <a:bodyPr/>
          <a:lstStyle/>
          <a:p>
            <a:r>
              <a:rPr lang="en-IN" b="0" i="0" dirty="0">
                <a:solidFill>
                  <a:srgbClr val="373D3F"/>
                </a:solidFill>
                <a:effectLst/>
                <a:latin typeface="Lora" pitchFamily="2" charset="0"/>
              </a:rPr>
              <a:t> </a:t>
            </a:r>
          </a:p>
          <a:p>
            <a:r>
              <a:rPr lang="en-IN" b="0" i="0" dirty="0">
                <a:solidFill>
                  <a:schemeClr val="tx1"/>
                </a:solidFill>
                <a:effectLst/>
                <a:latin typeface="Lora" pitchFamily="2" charset="0"/>
              </a:rPr>
              <a:t>When the number of page faults becomes more, the system spends most of the time in paging activity (moving in and moving out pages). This results in low CPU utilization. Since the CPU utilization is low, the operating system thinks that there are not enough processes to use the CPU. Therefore, the operating system increases the degree of multiprogramming. That is, it adds another process to the system. This increases the paging activity even further. This results in thrashing, where a process spends more time on paging than executing.</a:t>
            </a:r>
          </a:p>
          <a:p>
            <a:pPr marL="0" indent="0">
              <a:buNone/>
            </a:pPr>
            <a:endParaRPr lang="en-IN" b="0" i="0" dirty="0">
              <a:solidFill>
                <a:schemeClr val="tx1"/>
              </a:solidFill>
              <a:effectLst/>
              <a:latin typeface="Lora" pitchFamily="2" charset="0"/>
            </a:endParaRPr>
          </a:p>
          <a:p>
            <a:endParaRPr lang="en-US" dirty="0"/>
          </a:p>
        </p:txBody>
      </p:sp>
      <p:sp>
        <p:nvSpPr>
          <p:cNvPr id="5" name="Title 1">
            <a:extLst>
              <a:ext uri="{FF2B5EF4-FFF2-40B4-BE49-F238E27FC236}">
                <a16:creationId xmlns:a16="http://schemas.microsoft.com/office/drawing/2014/main" id="{43E92C27-1005-401B-13E7-B2DA9B8B45AA}"/>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Thrashing</a:t>
            </a:r>
            <a:endParaRPr lang="en-US" dirty="0"/>
          </a:p>
        </p:txBody>
      </p:sp>
    </p:spTree>
    <p:extLst>
      <p:ext uri="{BB962C8B-B14F-4D97-AF65-F5344CB8AC3E}">
        <p14:creationId xmlns:p14="http://schemas.microsoft.com/office/powerpoint/2010/main" val="1255248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207321F7-CB41-6871-BE07-A70F27E04A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7123" y="2097474"/>
            <a:ext cx="6179080" cy="4125445"/>
          </a:xfrm>
        </p:spPr>
      </p:pic>
      <p:sp>
        <p:nvSpPr>
          <p:cNvPr id="5" name="Title 1">
            <a:extLst>
              <a:ext uri="{FF2B5EF4-FFF2-40B4-BE49-F238E27FC236}">
                <a16:creationId xmlns:a16="http://schemas.microsoft.com/office/drawing/2014/main" id="{AEC1F4BB-6F9D-EB46-5B31-B61B0BCB4A89}"/>
              </a:ext>
            </a:extLst>
          </p:cNvPr>
          <p:cNvSpPr txBox="1">
            <a:spLocks noGrp="1"/>
          </p:cNvSpPr>
          <p:nvPr>
            <p:ph type="title"/>
          </p:nvPr>
        </p:nvSpPr>
        <p:spPr>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IN" dirty="0"/>
              <a:t>Thrashing</a:t>
            </a:r>
            <a:endParaRPr lang="en-US" dirty="0"/>
          </a:p>
        </p:txBody>
      </p:sp>
    </p:spTree>
    <p:extLst>
      <p:ext uri="{BB962C8B-B14F-4D97-AF65-F5344CB8AC3E}">
        <p14:creationId xmlns:p14="http://schemas.microsoft.com/office/powerpoint/2010/main" val="821969859"/>
      </p:ext>
    </p:extLst>
  </p:cSld>
  <p:clrMapOvr>
    <a:masterClrMapping/>
  </p:clrMapOvr>
</p:sld>
</file>

<file path=ppt/theme/theme1.xml><?xml version="1.0" encoding="utf-8"?>
<a:theme xmlns:a="http://schemas.openxmlformats.org/drawingml/2006/main" name="VaultVTI">
  <a:themeElements>
    <a:clrScheme name="AnalogousFromLightSeedLeftStep">
      <a:dk1>
        <a:srgbClr val="000000"/>
      </a:dk1>
      <a:lt1>
        <a:srgbClr val="FFFFFF"/>
      </a:lt1>
      <a:dk2>
        <a:srgbClr val="243741"/>
      </a:dk2>
      <a:lt2>
        <a:srgbClr val="E8E7E2"/>
      </a:lt2>
      <a:accent1>
        <a:srgbClr val="96A2C6"/>
      </a:accent1>
      <a:accent2>
        <a:srgbClr val="7FA6BA"/>
      </a:accent2>
      <a:accent3>
        <a:srgbClr val="82ACA8"/>
      </a:accent3>
      <a:accent4>
        <a:srgbClr val="77AE92"/>
      </a:accent4>
      <a:accent5>
        <a:srgbClr val="83AF87"/>
      </a:accent5>
      <a:accent6>
        <a:srgbClr val="8AAF77"/>
      </a:accent6>
      <a:hlink>
        <a:srgbClr val="908257"/>
      </a:hlink>
      <a:folHlink>
        <a:srgbClr val="7F7F7F"/>
      </a:folHlink>
    </a:clrScheme>
    <a:fontScheme name="Custom 5">
      <a:majorFont>
        <a:latin typeface="Georgia Pro Light"/>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ultVTI" id="{144E1EB0-F9F9-4F8D-8264-A2820BA0C47A}" vid="{3A992A48-7697-4A22-A884-B4A11E6218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97DE89D8B2294088076E7E633FAFB3" ma:contentTypeVersion="3" ma:contentTypeDescription="Create a new document." ma:contentTypeScope="" ma:versionID="68e9da64cba84b518d63157d1ee02d09">
  <xsd:schema xmlns:xsd="http://www.w3.org/2001/XMLSchema" xmlns:xs="http://www.w3.org/2001/XMLSchema" xmlns:p="http://schemas.microsoft.com/office/2006/metadata/properties" xmlns:ns2="29787a04-f269-45e9-ac3d-7cd421e08c88" targetNamespace="http://schemas.microsoft.com/office/2006/metadata/properties" ma:root="true" ma:fieldsID="affe80de74db8b666572cf5169c49c8f" ns2:_="">
    <xsd:import namespace="29787a04-f269-45e9-ac3d-7cd421e08c8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787a04-f269-45e9-ac3d-7cd421e08c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AFE8E6-42D4-480E-AE03-D7991E41C628}"/>
</file>

<file path=customXml/itemProps2.xml><?xml version="1.0" encoding="utf-8"?>
<ds:datastoreItem xmlns:ds="http://schemas.openxmlformats.org/officeDocument/2006/customXml" ds:itemID="{7241387A-BED0-437A-B7F8-45C5836FAE54}"/>
</file>

<file path=customXml/itemProps3.xml><?xml version="1.0" encoding="utf-8"?>
<ds:datastoreItem xmlns:ds="http://schemas.openxmlformats.org/officeDocument/2006/customXml" ds:itemID="{C653D6FC-96C2-4579-869C-B35A0604515A}"/>
</file>

<file path=docProps/app.xml><?xml version="1.0" encoding="utf-8"?>
<Properties xmlns="http://schemas.openxmlformats.org/officeDocument/2006/extended-properties" xmlns:vt="http://schemas.openxmlformats.org/officeDocument/2006/docPropsVTypes">
  <TotalTime>277</TotalTime>
  <Words>1367</Words>
  <Application>Microsoft Office PowerPoint</Application>
  <PresentationFormat>Widescreen</PresentationFormat>
  <Paragraphs>69</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Georgia Pro Light</vt:lpstr>
      <vt:lpstr>Lora</vt:lpstr>
      <vt:lpstr>VaultVTI</vt:lpstr>
      <vt:lpstr>Virtual memory</vt:lpstr>
      <vt:lpstr>Virtual memory</vt:lpstr>
      <vt:lpstr>Virtual memory</vt:lpstr>
      <vt:lpstr>Demand paging</vt:lpstr>
      <vt:lpstr>Demand paging-Basic concept</vt:lpstr>
      <vt:lpstr>Demand paging-Basic concept</vt:lpstr>
      <vt:lpstr>Demand paging-Basic concept</vt:lpstr>
      <vt:lpstr>Demand paging-Basic concept</vt:lpstr>
      <vt:lpstr>Demand paging-Basic concept</vt:lpstr>
      <vt:lpstr>Demand paging-Basic concept</vt:lpstr>
      <vt:lpstr>Page replacement</vt:lpstr>
      <vt:lpstr>Page replacement</vt:lpstr>
      <vt:lpstr>Page replacement</vt:lpstr>
      <vt:lpstr>FIFO Page Replacement</vt:lpstr>
      <vt:lpstr>FIFO Page Replacement</vt:lpstr>
      <vt:lpstr>Belady’s  Anomaly</vt:lpstr>
      <vt:lpstr>Belady’s  Anomaly</vt:lpstr>
      <vt:lpstr>Optimal Page Replacement</vt:lpstr>
      <vt:lpstr>Optimal Page Replacement</vt:lpstr>
      <vt:lpstr>Least Recently Used</vt:lpstr>
      <vt:lpstr>Least Recently Used</vt:lpstr>
      <vt:lpstr>Least Recently Used</vt:lpstr>
      <vt:lpstr>Thrashing</vt:lpstr>
      <vt:lpstr>Thrashing</vt:lpstr>
      <vt:lpstr>Thrashing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memory</dc:title>
  <dc:creator>Savitha Gopal</dc:creator>
  <cp:lastModifiedBy>Anisha GS</cp:lastModifiedBy>
  <cp:revision>17</cp:revision>
  <dcterms:created xsi:type="dcterms:W3CDTF">2024-04-19T01:31:02Z</dcterms:created>
  <dcterms:modified xsi:type="dcterms:W3CDTF">2025-11-08T16:53:05Z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0x010100A397DE89D8B2294088076E7E633FAFB3</vt:lpwstr>
  </property>
</Properties>
</file>