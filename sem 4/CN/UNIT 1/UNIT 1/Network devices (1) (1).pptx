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77"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75" r:id="rId21"/>
    <p:sldId id="271"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0C23C0-2F82-D943-C90E-6EFD8CD8F6A3}" v="153" dt="2024-01-27T14:05:40.935"/>
    <p1510:client id="{B1B2F81E-B1E1-497E-B7D9-D4B9B501857A}" v="730" dt="2024-01-26T16:19:28.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2.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341E721C-03C0-400B-8E1D-0B4675F881EF}"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D6926404-1F4D-4CC7-B09C-E38BB66A8E79}">
      <dgm:prSet/>
      <dgm:spPr/>
      <dgm:t>
        <a:bodyPr/>
        <a:lstStyle/>
        <a:p>
          <a:endParaRPr lang="en-US" dirty="0"/>
        </a:p>
      </dgm:t>
    </dgm:pt>
    <dgm:pt modelId="{86D445A8-F0B2-4584-BACC-0F3CA7D3EE59}" type="parTrans" cxnId="{4A86636C-4971-4438-995B-39F24784F5DF}">
      <dgm:prSet/>
      <dgm:spPr/>
      <dgm:t>
        <a:bodyPr/>
        <a:lstStyle/>
        <a:p>
          <a:endParaRPr lang="en-US"/>
        </a:p>
      </dgm:t>
    </dgm:pt>
    <dgm:pt modelId="{122E4AED-F815-4F3C-B2C6-532C1E9BC2C5}" type="sibTrans" cxnId="{4A86636C-4971-4438-995B-39F24784F5DF}">
      <dgm:prSet/>
      <dgm:spPr/>
      <dgm:t>
        <a:bodyPr/>
        <a:lstStyle/>
        <a:p>
          <a:endParaRPr lang="en-US"/>
        </a:p>
      </dgm:t>
    </dgm:pt>
    <dgm:pt modelId="{8E60FDC7-FBA1-4607-B977-B542CDA85623}">
      <dgm:prSet/>
      <dgm:spPr/>
      <dgm:t>
        <a:bodyPr/>
        <a:lstStyle/>
        <a:p>
          <a:r>
            <a:rPr lang="en-US" b="1" dirty="0"/>
            <a:t>Active Hub:- </a:t>
          </a:r>
          <a:r>
            <a:rPr lang="en-US" dirty="0"/>
            <a:t>These are the hubs that have their power supply and can clean, boost, and relay the signal along with the network. It serves both as a repeater as well as a wiring center. These are used to extend the maximum distance between nodes.</a:t>
          </a:r>
        </a:p>
      </dgm:t>
    </dgm:pt>
    <dgm:pt modelId="{6F7EA4D0-E3B1-4B20-B812-D4D5251E15B2}" type="parTrans" cxnId="{83003943-A13E-422A-9259-B8ACF9327BAF}">
      <dgm:prSet/>
      <dgm:spPr/>
      <dgm:t>
        <a:bodyPr/>
        <a:lstStyle/>
        <a:p>
          <a:endParaRPr lang="en-US"/>
        </a:p>
      </dgm:t>
    </dgm:pt>
    <dgm:pt modelId="{FED1F390-3B28-4A44-AF91-F0B5B7AF5D7B}" type="sibTrans" cxnId="{83003943-A13E-422A-9259-B8ACF9327BAF}">
      <dgm:prSet/>
      <dgm:spPr/>
      <dgm:t>
        <a:bodyPr/>
        <a:lstStyle/>
        <a:p>
          <a:endParaRPr lang="en-US"/>
        </a:p>
      </dgm:t>
    </dgm:pt>
    <dgm:pt modelId="{8FC6CC4D-97B3-4793-88A5-4B66FE0EA799}">
      <dgm:prSet/>
      <dgm:spPr/>
      <dgm:t>
        <a:bodyPr/>
        <a:lstStyle/>
        <a:p>
          <a:r>
            <a:rPr lang="en-US" b="1" dirty="0"/>
            <a:t>Passive Hub:- </a:t>
          </a:r>
          <a:r>
            <a:rPr lang="en-US" dirty="0"/>
            <a:t>These are the hubs that collect wiring from nodes and power supply from the active hub. These hubs relay signals onto the network without cleaning and boosting them and can’t be used to extend the distance between nodes.</a:t>
          </a:r>
        </a:p>
      </dgm:t>
    </dgm:pt>
    <dgm:pt modelId="{3D4114FD-F23C-4FFA-9C57-A181C9D19995}" type="parTrans" cxnId="{BE6DC27A-AD72-4558-9DA1-83F4A7D37E57}">
      <dgm:prSet/>
      <dgm:spPr/>
      <dgm:t>
        <a:bodyPr/>
        <a:lstStyle/>
        <a:p>
          <a:endParaRPr lang="en-US"/>
        </a:p>
      </dgm:t>
    </dgm:pt>
    <dgm:pt modelId="{EC22CB8B-E84F-455C-AE20-2D27D1B5CBCA}" type="sibTrans" cxnId="{BE6DC27A-AD72-4558-9DA1-83F4A7D37E57}">
      <dgm:prSet/>
      <dgm:spPr/>
      <dgm:t>
        <a:bodyPr/>
        <a:lstStyle/>
        <a:p>
          <a:endParaRPr lang="en-US"/>
        </a:p>
      </dgm:t>
    </dgm:pt>
    <dgm:pt modelId="{F157FCD0-9237-4119-9F2B-D635818AB1D7}">
      <dgm:prSet/>
      <dgm:spPr/>
      <dgm:t>
        <a:bodyPr/>
        <a:lstStyle/>
        <a:p>
          <a:r>
            <a:rPr lang="en-US" b="1" dirty="0"/>
            <a:t>Intelligent Hub:- </a:t>
          </a:r>
          <a:r>
            <a:rPr lang="en-US" dirty="0"/>
            <a:t>It works like an active hub and includes remote management capabilities. They also provide flexible data rates to network devices. It also enables an administrator to monitor the traffic passing through the hub and to configure each port in the hub.</a:t>
          </a:r>
        </a:p>
      </dgm:t>
    </dgm:pt>
    <dgm:pt modelId="{B045E328-BBED-4DDA-89CF-BE70C2FA4EB0}" type="parTrans" cxnId="{D27FA5C8-6ADE-4DC1-95A1-54D0F325F9D0}">
      <dgm:prSet/>
      <dgm:spPr/>
      <dgm:t>
        <a:bodyPr/>
        <a:lstStyle/>
        <a:p>
          <a:endParaRPr lang="en-US"/>
        </a:p>
      </dgm:t>
    </dgm:pt>
    <dgm:pt modelId="{DB4F4156-8515-4AC0-8AE0-D586ECB16184}" type="sibTrans" cxnId="{D27FA5C8-6ADE-4DC1-95A1-54D0F325F9D0}">
      <dgm:prSet/>
      <dgm:spPr/>
      <dgm:t>
        <a:bodyPr/>
        <a:lstStyle/>
        <a:p>
          <a:endParaRPr lang="en-US"/>
        </a:p>
      </dgm:t>
    </dgm:pt>
    <dgm:pt modelId="{B7A8F392-1945-4461-A75E-77A607C7A611}" type="pres">
      <dgm:prSet presAssocID="{341E721C-03C0-400B-8E1D-0B4675F881EF}" presName="root" presStyleCnt="0">
        <dgm:presLayoutVars>
          <dgm:dir/>
          <dgm:resizeHandles val="exact"/>
        </dgm:presLayoutVars>
      </dgm:prSet>
      <dgm:spPr/>
    </dgm:pt>
    <dgm:pt modelId="{E7C2CDC4-A926-4A66-9549-66838F2CAF65}" type="pres">
      <dgm:prSet presAssocID="{341E721C-03C0-400B-8E1D-0B4675F881EF}" presName="container" presStyleCnt="0">
        <dgm:presLayoutVars>
          <dgm:dir/>
          <dgm:resizeHandles val="exact"/>
        </dgm:presLayoutVars>
      </dgm:prSet>
      <dgm:spPr/>
    </dgm:pt>
    <dgm:pt modelId="{0524F757-02FF-49A6-B8C6-30BE442D83A4}" type="pres">
      <dgm:prSet presAssocID="{D6926404-1F4D-4CC7-B09C-E38BB66A8E79}" presName="compNode" presStyleCnt="0"/>
      <dgm:spPr/>
    </dgm:pt>
    <dgm:pt modelId="{139138FB-8B60-4B57-B985-4AB5A374DE77}" type="pres">
      <dgm:prSet presAssocID="{D6926404-1F4D-4CC7-B09C-E38BB66A8E79}" presName="iconBgRect" presStyleLbl="bgShp" presStyleIdx="0" presStyleCnt="4"/>
      <dgm:spPr/>
    </dgm:pt>
    <dgm:pt modelId="{79AFF8B2-6E17-486D-9027-6B5CCC465385}" type="pres">
      <dgm:prSet presAssocID="{D6926404-1F4D-4CC7-B09C-E38BB66A8E7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a:ext>
      </dgm:extLst>
    </dgm:pt>
    <dgm:pt modelId="{FAEA1FA8-5679-444C-9105-BC63D02CABD6}" type="pres">
      <dgm:prSet presAssocID="{D6926404-1F4D-4CC7-B09C-E38BB66A8E79}" presName="spaceRect" presStyleCnt="0"/>
      <dgm:spPr/>
    </dgm:pt>
    <dgm:pt modelId="{53401958-3213-4302-8A22-AC537207C3F9}" type="pres">
      <dgm:prSet presAssocID="{D6926404-1F4D-4CC7-B09C-E38BB66A8E79}" presName="textRect" presStyleLbl="revTx" presStyleIdx="0" presStyleCnt="4">
        <dgm:presLayoutVars>
          <dgm:chMax val="1"/>
          <dgm:chPref val="1"/>
        </dgm:presLayoutVars>
      </dgm:prSet>
      <dgm:spPr/>
    </dgm:pt>
    <dgm:pt modelId="{C593A309-1A84-4C9D-8A38-3880C282086B}" type="pres">
      <dgm:prSet presAssocID="{122E4AED-F815-4F3C-B2C6-532C1E9BC2C5}" presName="sibTrans" presStyleLbl="sibTrans2D1" presStyleIdx="0" presStyleCnt="0"/>
      <dgm:spPr/>
    </dgm:pt>
    <dgm:pt modelId="{76C6FC32-D899-42A5-8F6B-B16C318FE79B}" type="pres">
      <dgm:prSet presAssocID="{8E60FDC7-FBA1-4607-B977-B542CDA85623}" presName="compNode" presStyleCnt="0"/>
      <dgm:spPr/>
    </dgm:pt>
    <dgm:pt modelId="{E8A19DE8-A585-4D51-ACA2-0C3A0B6A7AF1}" type="pres">
      <dgm:prSet presAssocID="{8E60FDC7-FBA1-4607-B977-B542CDA85623}" presName="iconBgRect" presStyleLbl="bgShp" presStyleIdx="1" presStyleCnt="4"/>
      <dgm:spPr/>
    </dgm:pt>
    <dgm:pt modelId="{BB527FEF-E0D7-4CB1-97BF-869C5C1F1F55}" type="pres">
      <dgm:prSet presAssocID="{8E60FDC7-FBA1-4607-B977-B542CDA8562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FA06935F-2E52-4E3D-A2C3-6CF8247E8D8A}" type="pres">
      <dgm:prSet presAssocID="{8E60FDC7-FBA1-4607-B977-B542CDA85623}" presName="spaceRect" presStyleCnt="0"/>
      <dgm:spPr/>
    </dgm:pt>
    <dgm:pt modelId="{83E00A85-1BF4-412D-B6B2-2373996E8809}" type="pres">
      <dgm:prSet presAssocID="{8E60FDC7-FBA1-4607-B977-B542CDA85623}" presName="textRect" presStyleLbl="revTx" presStyleIdx="1" presStyleCnt="4">
        <dgm:presLayoutVars>
          <dgm:chMax val="1"/>
          <dgm:chPref val="1"/>
        </dgm:presLayoutVars>
      </dgm:prSet>
      <dgm:spPr/>
    </dgm:pt>
    <dgm:pt modelId="{4E3C037F-0AEC-4D18-99CF-69C25CF10A00}" type="pres">
      <dgm:prSet presAssocID="{FED1F390-3B28-4A44-AF91-F0B5B7AF5D7B}" presName="sibTrans" presStyleLbl="sibTrans2D1" presStyleIdx="0" presStyleCnt="0"/>
      <dgm:spPr/>
    </dgm:pt>
    <dgm:pt modelId="{895C7803-AE82-45C1-A93B-4152159C8A63}" type="pres">
      <dgm:prSet presAssocID="{8FC6CC4D-97B3-4793-88A5-4B66FE0EA799}" presName="compNode" presStyleCnt="0"/>
      <dgm:spPr/>
    </dgm:pt>
    <dgm:pt modelId="{1805A7DB-E323-40CC-973C-4C98869E3A5B}" type="pres">
      <dgm:prSet presAssocID="{8FC6CC4D-97B3-4793-88A5-4B66FE0EA799}" presName="iconBgRect" presStyleLbl="bgShp" presStyleIdx="2" presStyleCnt="4"/>
      <dgm:spPr/>
    </dgm:pt>
    <dgm:pt modelId="{C0D758E1-7D01-4A20-9353-89C8D5FE3B73}" type="pres">
      <dgm:prSet presAssocID="{8FC6CC4D-97B3-4793-88A5-4B66FE0EA79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ream"/>
        </a:ext>
      </dgm:extLst>
    </dgm:pt>
    <dgm:pt modelId="{339F0AAA-EAC8-4B35-9110-93BA25CE35A5}" type="pres">
      <dgm:prSet presAssocID="{8FC6CC4D-97B3-4793-88A5-4B66FE0EA799}" presName="spaceRect" presStyleCnt="0"/>
      <dgm:spPr/>
    </dgm:pt>
    <dgm:pt modelId="{B85F40CA-A15B-4688-92F5-E5FF18B327DA}" type="pres">
      <dgm:prSet presAssocID="{8FC6CC4D-97B3-4793-88A5-4B66FE0EA799}" presName="textRect" presStyleLbl="revTx" presStyleIdx="2" presStyleCnt="4">
        <dgm:presLayoutVars>
          <dgm:chMax val="1"/>
          <dgm:chPref val="1"/>
        </dgm:presLayoutVars>
      </dgm:prSet>
      <dgm:spPr/>
    </dgm:pt>
    <dgm:pt modelId="{1A01AFA2-E8C2-4B4F-9C36-614817F0A8F7}" type="pres">
      <dgm:prSet presAssocID="{EC22CB8B-E84F-455C-AE20-2D27D1B5CBCA}" presName="sibTrans" presStyleLbl="sibTrans2D1" presStyleIdx="0" presStyleCnt="0"/>
      <dgm:spPr/>
    </dgm:pt>
    <dgm:pt modelId="{DE828B61-7812-44E7-8934-44D58CA9A470}" type="pres">
      <dgm:prSet presAssocID="{F157FCD0-9237-4119-9F2B-D635818AB1D7}" presName="compNode" presStyleCnt="0"/>
      <dgm:spPr/>
    </dgm:pt>
    <dgm:pt modelId="{E32183FE-FEE3-4C29-ABB4-A6E54E2365CD}" type="pres">
      <dgm:prSet presAssocID="{F157FCD0-9237-4119-9F2B-D635818AB1D7}" presName="iconBgRect" presStyleLbl="bgShp" presStyleIdx="3" presStyleCnt="4"/>
      <dgm:spPr/>
    </dgm:pt>
    <dgm:pt modelId="{C2E3ED97-CB78-4B16-84CE-FDC771C1FDC6}" type="pres">
      <dgm:prSet presAssocID="{F157FCD0-9237-4119-9F2B-D635818AB1D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Robot"/>
        </a:ext>
      </dgm:extLst>
    </dgm:pt>
    <dgm:pt modelId="{7F86D919-D3CE-4636-BBFD-61C7BE5B485A}" type="pres">
      <dgm:prSet presAssocID="{F157FCD0-9237-4119-9F2B-D635818AB1D7}" presName="spaceRect" presStyleCnt="0"/>
      <dgm:spPr/>
    </dgm:pt>
    <dgm:pt modelId="{89F8854A-55E0-44C2-894D-44384961C344}" type="pres">
      <dgm:prSet presAssocID="{F157FCD0-9237-4119-9F2B-D635818AB1D7}" presName="textRect" presStyleLbl="revTx" presStyleIdx="3" presStyleCnt="4">
        <dgm:presLayoutVars>
          <dgm:chMax val="1"/>
          <dgm:chPref val="1"/>
        </dgm:presLayoutVars>
      </dgm:prSet>
      <dgm:spPr/>
    </dgm:pt>
  </dgm:ptLst>
  <dgm:cxnLst>
    <dgm:cxn modelId="{1A90F713-B68D-444C-873B-226FA8E5225B}" type="presOf" srcId="{FED1F390-3B28-4A44-AF91-F0B5B7AF5D7B}" destId="{4E3C037F-0AEC-4D18-99CF-69C25CF10A00}" srcOrd="0" destOrd="0" presId="urn:microsoft.com/office/officeart/2018/2/layout/IconCircleList"/>
    <dgm:cxn modelId="{83003943-A13E-422A-9259-B8ACF9327BAF}" srcId="{341E721C-03C0-400B-8E1D-0B4675F881EF}" destId="{8E60FDC7-FBA1-4607-B977-B542CDA85623}" srcOrd="1" destOrd="0" parTransId="{6F7EA4D0-E3B1-4B20-B812-D4D5251E15B2}" sibTransId="{FED1F390-3B28-4A44-AF91-F0B5B7AF5D7B}"/>
    <dgm:cxn modelId="{8316FB49-32BB-478C-88B0-A3D9964F3E7F}" type="presOf" srcId="{122E4AED-F815-4F3C-B2C6-532C1E9BC2C5}" destId="{C593A309-1A84-4C9D-8A38-3880C282086B}" srcOrd="0" destOrd="0" presId="urn:microsoft.com/office/officeart/2018/2/layout/IconCircleList"/>
    <dgm:cxn modelId="{A4EBBB6B-C154-4E57-ABE1-85D93A224273}" type="presOf" srcId="{F157FCD0-9237-4119-9F2B-D635818AB1D7}" destId="{89F8854A-55E0-44C2-894D-44384961C344}" srcOrd="0" destOrd="0" presId="urn:microsoft.com/office/officeart/2018/2/layout/IconCircleList"/>
    <dgm:cxn modelId="{4A86636C-4971-4438-995B-39F24784F5DF}" srcId="{341E721C-03C0-400B-8E1D-0B4675F881EF}" destId="{D6926404-1F4D-4CC7-B09C-E38BB66A8E79}" srcOrd="0" destOrd="0" parTransId="{86D445A8-F0B2-4584-BACC-0F3CA7D3EE59}" sibTransId="{122E4AED-F815-4F3C-B2C6-532C1E9BC2C5}"/>
    <dgm:cxn modelId="{AEEDCC6C-E789-4A56-8E12-FC42389DFE00}" type="presOf" srcId="{8E60FDC7-FBA1-4607-B977-B542CDA85623}" destId="{83E00A85-1BF4-412D-B6B2-2373996E8809}" srcOrd="0" destOrd="0" presId="urn:microsoft.com/office/officeart/2018/2/layout/IconCircleList"/>
    <dgm:cxn modelId="{48377A73-626A-4877-827B-20E8123B2716}" type="presOf" srcId="{D6926404-1F4D-4CC7-B09C-E38BB66A8E79}" destId="{53401958-3213-4302-8A22-AC537207C3F9}" srcOrd="0" destOrd="0" presId="urn:microsoft.com/office/officeart/2018/2/layout/IconCircleList"/>
    <dgm:cxn modelId="{F0DF617A-B8DE-4617-97B7-5E80CE9A333E}" type="presOf" srcId="{8FC6CC4D-97B3-4793-88A5-4B66FE0EA799}" destId="{B85F40CA-A15B-4688-92F5-E5FF18B327DA}" srcOrd="0" destOrd="0" presId="urn:microsoft.com/office/officeart/2018/2/layout/IconCircleList"/>
    <dgm:cxn modelId="{BE6DC27A-AD72-4558-9DA1-83F4A7D37E57}" srcId="{341E721C-03C0-400B-8E1D-0B4675F881EF}" destId="{8FC6CC4D-97B3-4793-88A5-4B66FE0EA799}" srcOrd="2" destOrd="0" parTransId="{3D4114FD-F23C-4FFA-9C57-A181C9D19995}" sibTransId="{EC22CB8B-E84F-455C-AE20-2D27D1B5CBCA}"/>
    <dgm:cxn modelId="{88D9A19D-D400-4944-A9D6-6C842420DB0E}" type="presOf" srcId="{341E721C-03C0-400B-8E1D-0B4675F881EF}" destId="{B7A8F392-1945-4461-A75E-77A607C7A611}" srcOrd="0" destOrd="0" presId="urn:microsoft.com/office/officeart/2018/2/layout/IconCircleList"/>
    <dgm:cxn modelId="{FA8ADBA7-3D38-47EA-AD35-EEF73EDB53A6}" type="presOf" srcId="{EC22CB8B-E84F-455C-AE20-2D27D1B5CBCA}" destId="{1A01AFA2-E8C2-4B4F-9C36-614817F0A8F7}" srcOrd="0" destOrd="0" presId="urn:microsoft.com/office/officeart/2018/2/layout/IconCircleList"/>
    <dgm:cxn modelId="{D27FA5C8-6ADE-4DC1-95A1-54D0F325F9D0}" srcId="{341E721C-03C0-400B-8E1D-0B4675F881EF}" destId="{F157FCD0-9237-4119-9F2B-D635818AB1D7}" srcOrd="3" destOrd="0" parTransId="{B045E328-BBED-4DDA-89CF-BE70C2FA4EB0}" sibTransId="{DB4F4156-8515-4AC0-8AE0-D586ECB16184}"/>
    <dgm:cxn modelId="{16B1589C-7C1A-4722-A51A-F2AFF77B9478}" type="presParOf" srcId="{B7A8F392-1945-4461-A75E-77A607C7A611}" destId="{E7C2CDC4-A926-4A66-9549-66838F2CAF65}" srcOrd="0" destOrd="0" presId="urn:microsoft.com/office/officeart/2018/2/layout/IconCircleList"/>
    <dgm:cxn modelId="{EB69DEDE-3470-4DDD-BB7A-0A38C5F36471}" type="presParOf" srcId="{E7C2CDC4-A926-4A66-9549-66838F2CAF65}" destId="{0524F757-02FF-49A6-B8C6-30BE442D83A4}" srcOrd="0" destOrd="0" presId="urn:microsoft.com/office/officeart/2018/2/layout/IconCircleList"/>
    <dgm:cxn modelId="{DA29B115-44D6-4549-A7A3-A68185016490}" type="presParOf" srcId="{0524F757-02FF-49A6-B8C6-30BE442D83A4}" destId="{139138FB-8B60-4B57-B985-4AB5A374DE77}" srcOrd="0" destOrd="0" presId="urn:microsoft.com/office/officeart/2018/2/layout/IconCircleList"/>
    <dgm:cxn modelId="{3255092F-D025-43FE-BDD6-F19C77A0C811}" type="presParOf" srcId="{0524F757-02FF-49A6-B8C6-30BE442D83A4}" destId="{79AFF8B2-6E17-486D-9027-6B5CCC465385}" srcOrd="1" destOrd="0" presId="urn:microsoft.com/office/officeart/2018/2/layout/IconCircleList"/>
    <dgm:cxn modelId="{65071725-66F8-4F9C-A5F9-54A29FD43CAE}" type="presParOf" srcId="{0524F757-02FF-49A6-B8C6-30BE442D83A4}" destId="{FAEA1FA8-5679-444C-9105-BC63D02CABD6}" srcOrd="2" destOrd="0" presId="urn:microsoft.com/office/officeart/2018/2/layout/IconCircleList"/>
    <dgm:cxn modelId="{386E0D6F-405A-42BE-ABAD-9EF46EA435FC}" type="presParOf" srcId="{0524F757-02FF-49A6-B8C6-30BE442D83A4}" destId="{53401958-3213-4302-8A22-AC537207C3F9}" srcOrd="3" destOrd="0" presId="urn:microsoft.com/office/officeart/2018/2/layout/IconCircleList"/>
    <dgm:cxn modelId="{86CA5786-DC73-467D-9ACE-D42D0C4D9A33}" type="presParOf" srcId="{E7C2CDC4-A926-4A66-9549-66838F2CAF65}" destId="{C593A309-1A84-4C9D-8A38-3880C282086B}" srcOrd="1" destOrd="0" presId="urn:microsoft.com/office/officeart/2018/2/layout/IconCircleList"/>
    <dgm:cxn modelId="{D03DF839-3223-4071-80C7-95D66C611A68}" type="presParOf" srcId="{E7C2CDC4-A926-4A66-9549-66838F2CAF65}" destId="{76C6FC32-D899-42A5-8F6B-B16C318FE79B}" srcOrd="2" destOrd="0" presId="urn:microsoft.com/office/officeart/2018/2/layout/IconCircleList"/>
    <dgm:cxn modelId="{7F30735E-A2FA-4F74-8EB4-ACEB7132D473}" type="presParOf" srcId="{76C6FC32-D899-42A5-8F6B-B16C318FE79B}" destId="{E8A19DE8-A585-4D51-ACA2-0C3A0B6A7AF1}" srcOrd="0" destOrd="0" presId="urn:microsoft.com/office/officeart/2018/2/layout/IconCircleList"/>
    <dgm:cxn modelId="{ACA7BE92-7416-48E2-8B45-614FC82B62E1}" type="presParOf" srcId="{76C6FC32-D899-42A5-8F6B-B16C318FE79B}" destId="{BB527FEF-E0D7-4CB1-97BF-869C5C1F1F55}" srcOrd="1" destOrd="0" presId="urn:microsoft.com/office/officeart/2018/2/layout/IconCircleList"/>
    <dgm:cxn modelId="{19F95779-54AA-4A8F-9E4B-AE08FA51B4F4}" type="presParOf" srcId="{76C6FC32-D899-42A5-8F6B-B16C318FE79B}" destId="{FA06935F-2E52-4E3D-A2C3-6CF8247E8D8A}" srcOrd="2" destOrd="0" presId="urn:microsoft.com/office/officeart/2018/2/layout/IconCircleList"/>
    <dgm:cxn modelId="{7F0701B1-4D83-4872-94AE-F8956B3739E7}" type="presParOf" srcId="{76C6FC32-D899-42A5-8F6B-B16C318FE79B}" destId="{83E00A85-1BF4-412D-B6B2-2373996E8809}" srcOrd="3" destOrd="0" presId="urn:microsoft.com/office/officeart/2018/2/layout/IconCircleList"/>
    <dgm:cxn modelId="{6BEC03CE-8494-4928-8348-B6DD9368693F}" type="presParOf" srcId="{E7C2CDC4-A926-4A66-9549-66838F2CAF65}" destId="{4E3C037F-0AEC-4D18-99CF-69C25CF10A00}" srcOrd="3" destOrd="0" presId="urn:microsoft.com/office/officeart/2018/2/layout/IconCircleList"/>
    <dgm:cxn modelId="{3CB80812-EED2-4023-AAE5-6B0DEB5F3AC4}" type="presParOf" srcId="{E7C2CDC4-A926-4A66-9549-66838F2CAF65}" destId="{895C7803-AE82-45C1-A93B-4152159C8A63}" srcOrd="4" destOrd="0" presId="urn:microsoft.com/office/officeart/2018/2/layout/IconCircleList"/>
    <dgm:cxn modelId="{D7D8B318-00B9-4F87-B468-C73C264B529B}" type="presParOf" srcId="{895C7803-AE82-45C1-A93B-4152159C8A63}" destId="{1805A7DB-E323-40CC-973C-4C98869E3A5B}" srcOrd="0" destOrd="0" presId="urn:microsoft.com/office/officeart/2018/2/layout/IconCircleList"/>
    <dgm:cxn modelId="{38345CF8-8C0B-476F-96C4-C6F01F5379ED}" type="presParOf" srcId="{895C7803-AE82-45C1-A93B-4152159C8A63}" destId="{C0D758E1-7D01-4A20-9353-89C8D5FE3B73}" srcOrd="1" destOrd="0" presId="urn:microsoft.com/office/officeart/2018/2/layout/IconCircleList"/>
    <dgm:cxn modelId="{C2B3ED53-700C-46DE-846C-F8FC1B22B7E9}" type="presParOf" srcId="{895C7803-AE82-45C1-A93B-4152159C8A63}" destId="{339F0AAA-EAC8-4B35-9110-93BA25CE35A5}" srcOrd="2" destOrd="0" presId="urn:microsoft.com/office/officeart/2018/2/layout/IconCircleList"/>
    <dgm:cxn modelId="{CDA32FEF-8CD1-4F89-B5D0-FA0155DEF61A}" type="presParOf" srcId="{895C7803-AE82-45C1-A93B-4152159C8A63}" destId="{B85F40CA-A15B-4688-92F5-E5FF18B327DA}" srcOrd="3" destOrd="0" presId="urn:microsoft.com/office/officeart/2018/2/layout/IconCircleList"/>
    <dgm:cxn modelId="{AD448C78-E53C-454C-B108-925EF1D85E2B}" type="presParOf" srcId="{E7C2CDC4-A926-4A66-9549-66838F2CAF65}" destId="{1A01AFA2-E8C2-4B4F-9C36-614817F0A8F7}" srcOrd="5" destOrd="0" presId="urn:microsoft.com/office/officeart/2018/2/layout/IconCircleList"/>
    <dgm:cxn modelId="{AC0B3D9D-8E27-4C4F-93E9-1A4490E530B8}" type="presParOf" srcId="{E7C2CDC4-A926-4A66-9549-66838F2CAF65}" destId="{DE828B61-7812-44E7-8934-44D58CA9A470}" srcOrd="6" destOrd="0" presId="urn:microsoft.com/office/officeart/2018/2/layout/IconCircleList"/>
    <dgm:cxn modelId="{18919022-5FF3-4CB4-83E2-1BE9D22BE05A}" type="presParOf" srcId="{DE828B61-7812-44E7-8934-44D58CA9A470}" destId="{E32183FE-FEE3-4C29-ABB4-A6E54E2365CD}" srcOrd="0" destOrd="0" presId="urn:microsoft.com/office/officeart/2018/2/layout/IconCircleList"/>
    <dgm:cxn modelId="{1D1067E6-23EA-402E-9BE4-8C04CA95101A}" type="presParOf" srcId="{DE828B61-7812-44E7-8934-44D58CA9A470}" destId="{C2E3ED97-CB78-4B16-84CE-FDC771C1FDC6}" srcOrd="1" destOrd="0" presId="urn:microsoft.com/office/officeart/2018/2/layout/IconCircleList"/>
    <dgm:cxn modelId="{9A920005-204B-435C-B168-6621A8BD47F5}" type="presParOf" srcId="{DE828B61-7812-44E7-8934-44D58CA9A470}" destId="{7F86D919-D3CE-4636-BBFD-61C7BE5B485A}" srcOrd="2" destOrd="0" presId="urn:microsoft.com/office/officeart/2018/2/layout/IconCircleList"/>
    <dgm:cxn modelId="{F33D83DD-00AA-425B-8FE6-C6A871C259FA}" type="presParOf" srcId="{DE828B61-7812-44E7-8934-44D58CA9A470}" destId="{89F8854A-55E0-44C2-894D-44384961C34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9138FB-8B60-4B57-B985-4AB5A374DE77}">
      <dsp:nvSpPr>
        <dsp:cNvPr id="0" name=""/>
        <dsp:cNvSpPr/>
      </dsp:nvSpPr>
      <dsp:spPr>
        <a:xfrm>
          <a:off x="282221" y="368029"/>
          <a:ext cx="1371985" cy="137198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AFF8B2-6E17-486D-9027-6B5CCC465385}">
      <dsp:nvSpPr>
        <dsp:cNvPr id="0" name=""/>
        <dsp:cNvSpPr/>
      </dsp:nvSpPr>
      <dsp:spPr>
        <a:xfrm>
          <a:off x="570337" y="656145"/>
          <a:ext cx="795751" cy="7957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401958-3213-4302-8A22-AC537207C3F9}">
      <dsp:nvSpPr>
        <dsp:cNvPr id="0" name=""/>
        <dsp:cNvSpPr/>
      </dsp:nvSpPr>
      <dsp:spPr>
        <a:xfrm>
          <a:off x="1948202"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endParaRPr lang="en-US" sz="1400" kern="1200" dirty="0"/>
        </a:p>
      </dsp:txBody>
      <dsp:txXfrm>
        <a:off x="1948202" y="368029"/>
        <a:ext cx="3233964" cy="1371985"/>
      </dsp:txXfrm>
    </dsp:sp>
    <dsp:sp modelId="{E8A19DE8-A585-4D51-ACA2-0C3A0B6A7AF1}">
      <dsp:nvSpPr>
        <dsp:cNvPr id="0" name=""/>
        <dsp:cNvSpPr/>
      </dsp:nvSpPr>
      <dsp:spPr>
        <a:xfrm>
          <a:off x="5745661" y="368029"/>
          <a:ext cx="1371985" cy="137198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527FEF-E0D7-4CB1-97BF-869C5C1F1F55}">
      <dsp:nvSpPr>
        <dsp:cNvPr id="0" name=""/>
        <dsp:cNvSpPr/>
      </dsp:nvSpPr>
      <dsp:spPr>
        <a:xfrm>
          <a:off x="6033778" y="656145"/>
          <a:ext cx="795751" cy="7957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E00A85-1BF4-412D-B6B2-2373996E8809}">
      <dsp:nvSpPr>
        <dsp:cNvPr id="0" name=""/>
        <dsp:cNvSpPr/>
      </dsp:nvSpPr>
      <dsp:spPr>
        <a:xfrm>
          <a:off x="7411643" y="368029"/>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1" kern="1200" dirty="0"/>
            <a:t>Active Hub:- </a:t>
          </a:r>
          <a:r>
            <a:rPr lang="en-US" sz="1400" kern="1200" dirty="0"/>
            <a:t>These are the hubs that have their power supply and can clean, boost, and relay the signal along with the network. It serves both as a repeater as well as a wiring center. These are used to extend the maximum distance between nodes.</a:t>
          </a:r>
        </a:p>
      </dsp:txBody>
      <dsp:txXfrm>
        <a:off x="7411643" y="368029"/>
        <a:ext cx="3233964" cy="1371985"/>
      </dsp:txXfrm>
    </dsp:sp>
    <dsp:sp modelId="{1805A7DB-E323-40CC-973C-4C98869E3A5B}">
      <dsp:nvSpPr>
        <dsp:cNvPr id="0" name=""/>
        <dsp:cNvSpPr/>
      </dsp:nvSpPr>
      <dsp:spPr>
        <a:xfrm>
          <a:off x="282221" y="2452790"/>
          <a:ext cx="1371985" cy="137198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0D758E1-7D01-4A20-9353-89C8D5FE3B73}">
      <dsp:nvSpPr>
        <dsp:cNvPr id="0" name=""/>
        <dsp:cNvSpPr/>
      </dsp:nvSpPr>
      <dsp:spPr>
        <a:xfrm>
          <a:off x="570337" y="2740907"/>
          <a:ext cx="795751" cy="7957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85F40CA-A15B-4688-92F5-E5FF18B327DA}">
      <dsp:nvSpPr>
        <dsp:cNvPr id="0" name=""/>
        <dsp:cNvSpPr/>
      </dsp:nvSpPr>
      <dsp:spPr>
        <a:xfrm>
          <a:off x="1948202"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1" kern="1200" dirty="0"/>
            <a:t>Passive Hub:- </a:t>
          </a:r>
          <a:r>
            <a:rPr lang="en-US" sz="1400" kern="1200" dirty="0"/>
            <a:t>These are the hubs that collect wiring from nodes and power supply from the active hub. These hubs relay signals onto the network without cleaning and boosting them and can’t be used to extend the distance between nodes.</a:t>
          </a:r>
        </a:p>
      </dsp:txBody>
      <dsp:txXfrm>
        <a:off x="1948202" y="2452790"/>
        <a:ext cx="3233964" cy="1371985"/>
      </dsp:txXfrm>
    </dsp:sp>
    <dsp:sp modelId="{E32183FE-FEE3-4C29-ABB4-A6E54E2365CD}">
      <dsp:nvSpPr>
        <dsp:cNvPr id="0" name=""/>
        <dsp:cNvSpPr/>
      </dsp:nvSpPr>
      <dsp:spPr>
        <a:xfrm>
          <a:off x="5745661" y="2452790"/>
          <a:ext cx="1371985" cy="137198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E3ED97-CB78-4B16-84CE-FDC771C1FDC6}">
      <dsp:nvSpPr>
        <dsp:cNvPr id="0" name=""/>
        <dsp:cNvSpPr/>
      </dsp:nvSpPr>
      <dsp:spPr>
        <a:xfrm>
          <a:off x="6033778" y="2740907"/>
          <a:ext cx="795751" cy="7957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F8854A-55E0-44C2-894D-44384961C344}">
      <dsp:nvSpPr>
        <dsp:cNvPr id="0" name=""/>
        <dsp:cNvSpPr/>
      </dsp:nvSpPr>
      <dsp:spPr>
        <a:xfrm>
          <a:off x="7411643" y="2452790"/>
          <a:ext cx="3233964" cy="13719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1" kern="1200" dirty="0"/>
            <a:t>Intelligent Hub:- </a:t>
          </a:r>
          <a:r>
            <a:rPr lang="en-US" sz="1400" kern="1200" dirty="0"/>
            <a:t>It works like an active hub and includes remote management capabilities. They also provide flexible data rates to network devices. It also enables an administrator to monitor the traffic passing through the hub and to configure each port in the hub.</a:t>
          </a:r>
        </a:p>
      </dsp:txBody>
      <dsp:txXfrm>
        <a:off x="7411643" y="2452790"/>
        <a:ext cx="3233964" cy="1371985"/>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Computer Networks</a:t>
            </a:r>
            <a:br>
              <a:rPr lang="en-US" dirty="0"/>
            </a:br>
            <a:r>
              <a:rPr lang="en-US" sz="2800" dirty="0"/>
              <a:t>21CSA212</a:t>
            </a:r>
          </a:p>
        </p:txBody>
      </p:sp>
      <p:sp>
        <p:nvSpPr>
          <p:cNvPr id="3" name="Subtitle 2"/>
          <p:cNvSpPr>
            <a:spLocks noGrp="1"/>
          </p:cNvSpPr>
          <p:nvPr>
            <p:ph type="subTitle" idx="1"/>
          </p:nvPr>
        </p:nvSpPr>
        <p:spPr/>
        <p:txBody>
          <a:bodyPr vert="horz" lIns="91440" tIns="45720" rIns="91440" bIns="45720" rtlCol="0" anchor="t">
            <a:normAutofit/>
          </a:bodyPr>
          <a:lstStyle/>
          <a:p>
            <a:endParaRPr lang="en-US" dirty="0"/>
          </a:p>
          <a:p>
            <a:r>
              <a:rPr lang="en-US" dirty="0"/>
              <a:t>Lecture: Network Devices</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BB82-AEBF-F04B-D90A-C50959CB45B2}"/>
              </a:ext>
            </a:extLst>
          </p:cNvPr>
          <p:cNvSpPr>
            <a:spLocks noGrp="1"/>
          </p:cNvSpPr>
          <p:nvPr>
            <p:ph type="title"/>
          </p:nvPr>
        </p:nvSpPr>
        <p:spPr/>
        <p:txBody>
          <a:bodyPr/>
          <a:lstStyle/>
          <a:p>
            <a:r>
              <a:rPr lang="en-US" dirty="0"/>
              <a:t>Network Devices</a:t>
            </a:r>
          </a:p>
        </p:txBody>
      </p:sp>
      <p:sp>
        <p:nvSpPr>
          <p:cNvPr id="3" name="Content Placeholder 2">
            <a:extLst>
              <a:ext uri="{FF2B5EF4-FFF2-40B4-BE49-F238E27FC236}">
                <a16:creationId xmlns:a16="http://schemas.microsoft.com/office/drawing/2014/main" id="{7F2D51A8-F32A-C4ED-2518-74439BBFB1A2}"/>
              </a:ext>
            </a:extLst>
          </p:cNvPr>
          <p:cNvSpPr>
            <a:spLocks noGrp="1"/>
          </p:cNvSpPr>
          <p:nvPr>
            <p:ph idx="1"/>
          </p:nvPr>
        </p:nvSpPr>
        <p:spPr/>
        <p:txBody>
          <a:bodyPr vert="horz" lIns="91440" tIns="45720" rIns="91440" bIns="45720" rtlCol="0" anchor="t">
            <a:normAutofit fontScale="92500" lnSpcReduction="20000"/>
          </a:bodyPr>
          <a:lstStyle/>
          <a:p>
            <a:r>
              <a:rPr lang="en-US" dirty="0">
                <a:solidFill>
                  <a:srgbClr val="000000"/>
                </a:solidFill>
                <a:ea typeface="+mn-lt"/>
                <a:cs typeface="+mn-lt"/>
              </a:rPr>
              <a:t>Also known as networking hardware, </a:t>
            </a:r>
            <a:endParaRPr lang="en-US" dirty="0"/>
          </a:p>
          <a:p>
            <a:r>
              <a:rPr lang="en-US" dirty="0">
                <a:solidFill>
                  <a:srgbClr val="000000"/>
                </a:solidFill>
                <a:ea typeface="+mn-lt"/>
                <a:cs typeface="+mn-lt"/>
              </a:rPr>
              <a:t>They are physical devices that allow hardware on a computer network to communicate and interact with one another.</a:t>
            </a:r>
          </a:p>
          <a:p>
            <a:r>
              <a:rPr lang="en-US" dirty="0">
                <a:latin typeface="Aptos"/>
                <a:ea typeface="Verdana"/>
              </a:rPr>
              <a:t>Network devices may be inter-network or intra-network.</a:t>
            </a:r>
            <a:endParaRPr lang="en-US" dirty="0">
              <a:latin typeface="Aptos"/>
            </a:endParaRPr>
          </a:p>
          <a:p>
            <a:pPr marL="0" indent="0">
              <a:buNone/>
            </a:pPr>
            <a:r>
              <a:rPr lang="en-US" dirty="0"/>
              <a:t>Examples:</a:t>
            </a:r>
          </a:p>
          <a:p>
            <a:r>
              <a:rPr lang="en-US" dirty="0"/>
              <a:t>Repeater</a:t>
            </a:r>
          </a:p>
          <a:p>
            <a:r>
              <a:rPr lang="en-US" dirty="0"/>
              <a:t>Hub</a:t>
            </a:r>
          </a:p>
          <a:p>
            <a:r>
              <a:rPr lang="en-US" dirty="0"/>
              <a:t>Bridge</a:t>
            </a:r>
          </a:p>
          <a:p>
            <a:r>
              <a:rPr lang="en-US" dirty="0"/>
              <a:t>Switch</a:t>
            </a:r>
          </a:p>
          <a:p>
            <a:r>
              <a:rPr lang="en-US" dirty="0"/>
              <a:t>Routers</a:t>
            </a:r>
          </a:p>
          <a:p>
            <a:r>
              <a:rPr lang="en-US" dirty="0"/>
              <a:t>NIC</a:t>
            </a:r>
          </a:p>
        </p:txBody>
      </p:sp>
    </p:spTree>
    <p:extLst>
      <p:ext uri="{BB962C8B-B14F-4D97-AF65-F5344CB8AC3E}">
        <p14:creationId xmlns:p14="http://schemas.microsoft.com/office/powerpoint/2010/main" val="40347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19AB0-595C-F2DF-C27C-F3223B5DEFA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8E9B67-F002-9E21-B6A2-BB1491F16B7A}"/>
              </a:ext>
            </a:extLst>
          </p:cNvPr>
          <p:cNvSpPr>
            <a:spLocks noGrp="1"/>
          </p:cNvSpPr>
          <p:nvPr>
            <p:ph idx="1"/>
          </p:nvPr>
        </p:nvSpPr>
        <p:spPr/>
        <p:txBody>
          <a:bodyPr vert="horz" lIns="91440" tIns="45720" rIns="91440" bIns="45720" rtlCol="0" anchor="t">
            <a:normAutofit/>
          </a:bodyPr>
          <a:lstStyle/>
          <a:p>
            <a:pPr marL="0" indent="0">
              <a:buNone/>
            </a:pPr>
            <a:r>
              <a:rPr lang="en-US" b="1" i="1" dirty="0">
                <a:latin typeface="Times New Roman"/>
                <a:cs typeface="Times New Roman"/>
              </a:rPr>
              <a:t>Repeater:</a:t>
            </a:r>
            <a:endParaRPr lang="en-US"/>
          </a:p>
          <a:p>
            <a:r>
              <a:rPr lang="en-US" dirty="0">
                <a:solidFill>
                  <a:srgbClr val="000000"/>
                </a:solidFill>
                <a:ea typeface="+mn-lt"/>
                <a:cs typeface="+mn-lt"/>
              </a:rPr>
              <a:t>It helps to regenerate the signal over the same network before the signal becomes too weak or corrupted to extend the length to which the signal can be transmitted over the same network.</a:t>
            </a:r>
          </a:p>
          <a:p>
            <a:r>
              <a:rPr lang="en-US" dirty="0">
                <a:solidFill>
                  <a:srgbClr val="000000"/>
                </a:solidFill>
                <a:ea typeface="+mn-lt"/>
                <a:cs typeface="+mn-lt"/>
              </a:rPr>
              <a:t> They not only amplify the signal but also regenerate it. </a:t>
            </a:r>
            <a:endParaRPr lang="en-US">
              <a:solidFill>
                <a:srgbClr val="000000"/>
              </a:solidFill>
              <a:ea typeface="+mn-lt"/>
              <a:cs typeface="+mn-lt"/>
            </a:endParaRPr>
          </a:p>
          <a:p>
            <a:r>
              <a:rPr lang="en-US" dirty="0">
                <a:solidFill>
                  <a:srgbClr val="000000"/>
                </a:solidFill>
                <a:ea typeface="+mn-lt"/>
                <a:cs typeface="+mn-lt"/>
              </a:rPr>
              <a:t>When the signal becomes weak, they copy it bit by bit and regenerate it at its star topology connectors connecting following the original strength. </a:t>
            </a:r>
            <a:endParaRPr lang="en-US">
              <a:solidFill>
                <a:srgbClr val="000000"/>
              </a:solidFill>
              <a:ea typeface="+mn-lt"/>
              <a:cs typeface="+mn-lt"/>
            </a:endParaRPr>
          </a:p>
          <a:p>
            <a:r>
              <a:rPr lang="en-US" dirty="0">
                <a:solidFill>
                  <a:srgbClr val="000000"/>
                </a:solidFill>
                <a:ea typeface="+mn-lt"/>
                <a:cs typeface="+mn-lt"/>
              </a:rPr>
              <a:t>It is a 2-port device. </a:t>
            </a:r>
            <a:endParaRPr lang="en-US" dirty="0">
              <a:solidFill>
                <a:srgbClr val="000000"/>
              </a:solidFill>
            </a:endParaRPr>
          </a:p>
        </p:txBody>
      </p:sp>
    </p:spTree>
    <p:extLst>
      <p:ext uri="{BB962C8B-B14F-4D97-AF65-F5344CB8AC3E}">
        <p14:creationId xmlns:p14="http://schemas.microsoft.com/office/powerpoint/2010/main" val="3720728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128A9-BFB1-85B2-29D3-4FDC00D0661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28F54E-EAAD-6185-79D3-E1E169EEF87A}"/>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Repeaters are simple to set up and inexpensive</a:t>
            </a:r>
          </a:p>
          <a:p>
            <a:r>
              <a:rPr lang="en-US" dirty="0">
                <a:solidFill>
                  <a:srgbClr val="000000"/>
                </a:solidFill>
                <a:ea typeface="+mn-lt"/>
                <a:cs typeface="+mn-lt"/>
              </a:rPr>
              <a:t>They can connect signals with various types of cables.</a:t>
            </a:r>
            <a:endParaRPr lang="en-US" dirty="0">
              <a:solidFill>
                <a:srgbClr val="000000"/>
              </a:solidFill>
            </a:endParaRPr>
          </a:p>
          <a:p>
            <a:r>
              <a:rPr lang="en-US" dirty="0">
                <a:solidFill>
                  <a:srgbClr val="000000"/>
                </a:solidFill>
                <a:ea typeface="+mn-lt"/>
                <a:cs typeface="+mn-lt"/>
              </a:rPr>
              <a:t>Repeaters are unable to connect disparate networks.</a:t>
            </a:r>
            <a:endParaRPr lang="en-US" dirty="0">
              <a:solidFill>
                <a:srgbClr val="000000"/>
              </a:solidFill>
            </a:endParaRPr>
          </a:p>
          <a:p>
            <a:r>
              <a:rPr lang="en-US" dirty="0">
                <a:solidFill>
                  <a:srgbClr val="000000"/>
                </a:solidFill>
                <a:ea typeface="+mn-lt"/>
                <a:cs typeface="+mn-lt"/>
              </a:rPr>
              <a:t>They are unable to distinguish between actual signals and noise.</a:t>
            </a:r>
            <a:endParaRPr lang="en-US" dirty="0"/>
          </a:p>
          <a:p>
            <a:r>
              <a:rPr lang="en-US" dirty="0">
                <a:solidFill>
                  <a:srgbClr val="000000"/>
                </a:solidFill>
                <a:ea typeface="+mn-lt"/>
                <a:cs typeface="+mn-lt"/>
              </a:rPr>
              <a:t>They will not be able to reduce network traffic.</a:t>
            </a:r>
            <a:endParaRPr lang="en-US" dirty="0"/>
          </a:p>
          <a:p>
            <a:pPr marL="0" indent="0">
              <a:buNone/>
            </a:pPr>
            <a:endParaRPr lang="en-US" dirty="0">
              <a:solidFill>
                <a:srgbClr val="000000"/>
              </a:solidFill>
            </a:endParaRPr>
          </a:p>
          <a:p>
            <a:endParaRPr lang="en-US" dirty="0">
              <a:solidFill>
                <a:srgbClr val="000000"/>
              </a:solidFill>
            </a:endParaRPr>
          </a:p>
        </p:txBody>
      </p:sp>
    </p:spTree>
    <p:extLst>
      <p:ext uri="{BB962C8B-B14F-4D97-AF65-F5344CB8AC3E}">
        <p14:creationId xmlns:p14="http://schemas.microsoft.com/office/powerpoint/2010/main" val="783994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8A16F-44DE-5B26-C58C-C8D7DB6E09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EE6FBE2-8F46-9CA1-0C25-E8B2A400EAAD}"/>
              </a:ext>
            </a:extLst>
          </p:cNvPr>
          <p:cNvSpPr>
            <a:spLocks noGrp="1"/>
          </p:cNvSpPr>
          <p:nvPr>
            <p:ph idx="1"/>
          </p:nvPr>
        </p:nvSpPr>
        <p:spPr/>
        <p:txBody>
          <a:bodyPr vert="horz" lIns="91440" tIns="45720" rIns="91440" bIns="45720" rtlCol="0" anchor="t">
            <a:normAutofit/>
          </a:bodyPr>
          <a:lstStyle/>
          <a:p>
            <a:pPr marL="0" indent="0">
              <a:buNone/>
            </a:pPr>
            <a:r>
              <a:rPr lang="en-US">
                <a:latin typeface="Arial"/>
                <a:cs typeface="Arial"/>
              </a:rPr>
              <a:t>Types of repeaters:</a:t>
            </a:r>
            <a:endParaRPr lang="en-US"/>
          </a:p>
          <a:p>
            <a:r>
              <a:rPr lang="en-US">
                <a:latin typeface="Arial"/>
                <a:cs typeface="Arial"/>
              </a:rPr>
              <a:t>Based on type of signals: Analog and Digital Repeater</a:t>
            </a:r>
          </a:p>
          <a:p>
            <a:r>
              <a:rPr lang="en-US" dirty="0">
                <a:latin typeface="Arial"/>
                <a:cs typeface="Arial"/>
              </a:rPr>
              <a:t>Based on type of connected Network: Wired and Wireless Repeaters</a:t>
            </a:r>
          </a:p>
          <a:p>
            <a:r>
              <a:rPr lang="en-US">
                <a:latin typeface="Arial"/>
                <a:cs typeface="Arial"/>
              </a:rPr>
              <a:t>Based on domain of LANs: Local and Remote Repeaters</a:t>
            </a:r>
            <a:endParaRPr lang="en-US" dirty="0">
              <a:latin typeface="Arial"/>
              <a:cs typeface="Arial"/>
            </a:endParaRPr>
          </a:p>
          <a:p>
            <a:endParaRPr lang="en-US" dirty="0"/>
          </a:p>
        </p:txBody>
      </p:sp>
    </p:spTree>
    <p:extLst>
      <p:ext uri="{BB962C8B-B14F-4D97-AF65-F5344CB8AC3E}">
        <p14:creationId xmlns:p14="http://schemas.microsoft.com/office/powerpoint/2010/main" val="2319677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8FF287A-5263-908B-6316-CDD84F9DE659}"/>
              </a:ext>
            </a:extLst>
          </p:cNvPr>
          <p:cNvSpPr>
            <a:spLocks noGrp="1"/>
          </p:cNvSpPr>
          <p:nvPr>
            <p:ph type="title"/>
          </p:nvPr>
        </p:nvSpPr>
        <p:spPr>
          <a:xfrm>
            <a:off x="1137034" y="609597"/>
            <a:ext cx="9392421" cy="1330841"/>
          </a:xfrm>
        </p:spPr>
        <p:txBody>
          <a:bodyPr>
            <a:normAutofit/>
          </a:bodyPr>
          <a:lstStyle/>
          <a:p>
            <a:endParaRPr lang="en-US"/>
          </a:p>
        </p:txBody>
      </p:sp>
      <p:sp>
        <p:nvSpPr>
          <p:cNvPr id="3" name="Content Placeholder 2">
            <a:extLst>
              <a:ext uri="{FF2B5EF4-FFF2-40B4-BE49-F238E27FC236}">
                <a16:creationId xmlns:a16="http://schemas.microsoft.com/office/drawing/2014/main" id="{7D9B102F-8046-CE43-9F77-88519CE495BD}"/>
              </a:ext>
            </a:extLst>
          </p:cNvPr>
          <p:cNvSpPr>
            <a:spLocks noGrp="1"/>
          </p:cNvSpPr>
          <p:nvPr>
            <p:ph idx="1"/>
          </p:nvPr>
        </p:nvSpPr>
        <p:spPr>
          <a:xfrm>
            <a:off x="1137034" y="2198362"/>
            <a:ext cx="4958966" cy="3917773"/>
          </a:xfrm>
        </p:spPr>
        <p:txBody>
          <a:bodyPr vert="horz" lIns="91440" tIns="45720" rIns="91440" bIns="45720" rtlCol="0">
            <a:normAutofit/>
          </a:bodyPr>
          <a:lstStyle/>
          <a:p>
            <a:pPr marL="0" indent="0">
              <a:buNone/>
            </a:pPr>
            <a:r>
              <a:rPr lang="en-US" sz="2000" b="1" i="1">
                <a:latin typeface="Times New Roman"/>
                <a:ea typeface="+mn-lt"/>
                <a:cs typeface="+mn-lt"/>
              </a:rPr>
              <a:t>Hub:</a:t>
            </a:r>
            <a:r>
              <a:rPr lang="en-US" sz="2000">
                <a:ea typeface="+mn-lt"/>
                <a:cs typeface="+mn-lt"/>
              </a:rPr>
              <a:t> </a:t>
            </a:r>
            <a:endParaRPr lang="en-US" sz="2000"/>
          </a:p>
          <a:p>
            <a:r>
              <a:rPr lang="en-US" sz="2000">
                <a:ea typeface="+mn-lt"/>
                <a:cs typeface="+mn-lt"/>
              </a:rPr>
              <a:t>A hub is a basically multi-port repeater.</a:t>
            </a:r>
          </a:p>
          <a:p>
            <a:r>
              <a:rPr lang="en-US" sz="2000">
                <a:ea typeface="+mn-lt"/>
                <a:cs typeface="+mn-lt"/>
              </a:rPr>
              <a:t> A hub connects multiple wires coming from different branches, for example, the connector in star topology which connects different stations. </a:t>
            </a:r>
          </a:p>
          <a:p>
            <a:r>
              <a:rPr lang="en-US" sz="2000">
                <a:ea typeface="+mn-lt"/>
                <a:cs typeface="+mn-lt"/>
              </a:rPr>
              <a:t>Hubs cannot filter data, so data packets are sent to all connected devices.  </a:t>
            </a:r>
          </a:p>
          <a:p>
            <a:r>
              <a:rPr lang="en-US" sz="2000">
                <a:ea typeface="+mn-lt"/>
                <a:cs typeface="+mn-lt"/>
              </a:rPr>
              <a:t>  Also, they do not have the intelligence to find out the best path for data packets which leads to inefficiencies and wastage. </a:t>
            </a:r>
            <a:endParaRPr lang="en-US" sz="2000"/>
          </a:p>
        </p:txBody>
      </p:sp>
      <p:pic>
        <p:nvPicPr>
          <p:cNvPr id="5" name="Picture 4" descr="What is Hub in Networking? and How Hub Works?">
            <a:extLst>
              <a:ext uri="{FF2B5EF4-FFF2-40B4-BE49-F238E27FC236}">
                <a16:creationId xmlns:a16="http://schemas.microsoft.com/office/drawing/2014/main" id="{B8165644-C9BF-1D8E-FB34-E09C39D168FD}"/>
              </a:ext>
            </a:extLst>
          </p:cNvPr>
          <p:cNvPicPr>
            <a:picLocks noChangeAspect="1"/>
          </p:cNvPicPr>
          <p:nvPr/>
        </p:nvPicPr>
        <p:blipFill>
          <a:blip r:embed="rId2"/>
          <a:stretch>
            <a:fillRect/>
          </a:stretch>
        </p:blipFill>
        <p:spPr>
          <a:xfrm>
            <a:off x="6471274" y="1945889"/>
            <a:ext cx="5036598" cy="3950431"/>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47882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573F11-CCB7-0B7B-6020-C2A38E2544D9}"/>
              </a:ext>
            </a:extLst>
          </p:cNvPr>
          <p:cNvSpPr>
            <a:spLocks noGrp="1"/>
          </p:cNvSpPr>
          <p:nvPr>
            <p:ph type="title"/>
          </p:nvPr>
        </p:nvSpPr>
        <p:spPr>
          <a:xfrm>
            <a:off x="1371597" y="348865"/>
            <a:ext cx="10044023" cy="877729"/>
          </a:xfrm>
        </p:spPr>
        <p:txBody>
          <a:bodyPr anchor="ctr">
            <a:normAutofit/>
          </a:bodyPr>
          <a:lstStyle/>
          <a:p>
            <a:r>
              <a:rPr lang="en-US" sz="4000" dirty="0">
                <a:solidFill>
                  <a:srgbClr val="FFFFFF"/>
                </a:solidFill>
              </a:rPr>
              <a:t>Types of hub</a:t>
            </a:r>
          </a:p>
        </p:txBody>
      </p:sp>
      <p:graphicFrame>
        <p:nvGraphicFramePr>
          <p:cNvPr id="5" name="Content Placeholder 2">
            <a:extLst>
              <a:ext uri="{FF2B5EF4-FFF2-40B4-BE49-F238E27FC236}">
                <a16:creationId xmlns:a16="http://schemas.microsoft.com/office/drawing/2014/main" id="{F53BFC4C-9673-F925-7461-0BE5CE66E8F4}"/>
              </a:ext>
            </a:extLst>
          </p:cNvPr>
          <p:cNvGraphicFramePr>
            <a:graphicFrameLocks noGrp="1"/>
          </p:cNvGraphicFramePr>
          <p:nvPr>
            <p:ph idx="1"/>
            <p:extLst>
              <p:ext uri="{D42A27DB-BD31-4B8C-83A1-F6EECF244321}">
                <p14:modId xmlns:p14="http://schemas.microsoft.com/office/powerpoint/2010/main" val="2263958688"/>
              </p:ext>
            </p:extLst>
          </p:nvPr>
        </p:nvGraphicFramePr>
        <p:xfrm>
          <a:off x="927592" y="1961951"/>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690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CC6E34-18CC-E7F9-BF8E-5A1043640977}"/>
              </a:ext>
            </a:extLst>
          </p:cNvPr>
          <p:cNvSpPr>
            <a:spLocks noGrp="1"/>
          </p:cNvSpPr>
          <p:nvPr>
            <p:ph type="title"/>
          </p:nvPr>
        </p:nvSpPr>
        <p:spPr>
          <a:xfrm>
            <a:off x="793662" y="386930"/>
            <a:ext cx="10066122" cy="1298448"/>
          </a:xfrm>
        </p:spPr>
        <p:txBody>
          <a:bodyPr anchor="b">
            <a:normAutofit/>
          </a:bodyPr>
          <a:lstStyle/>
          <a:p>
            <a:endParaRPr lang="en-US" sz="4800"/>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9AC633A-B514-912E-99FD-C0793D2560C4}"/>
              </a:ext>
            </a:extLst>
          </p:cNvPr>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n-US" sz="2000" b="1" i="1">
                <a:latin typeface="Times New Roman"/>
                <a:ea typeface="+mn-lt"/>
                <a:cs typeface="+mn-lt"/>
              </a:rPr>
              <a:t>Bridge :</a:t>
            </a:r>
          </a:p>
          <a:p>
            <a:r>
              <a:rPr lang="en-US" sz="2000">
                <a:ea typeface="+mn-lt"/>
                <a:cs typeface="+mn-lt"/>
              </a:rPr>
              <a:t>A bridge operates at the data link layer. </a:t>
            </a:r>
          </a:p>
          <a:p>
            <a:r>
              <a:rPr lang="en-US" sz="2000">
                <a:ea typeface="+mn-lt"/>
                <a:cs typeface="+mn-lt"/>
              </a:rPr>
              <a:t>A bridge is a repeater, with add on the functionality of filtering content by reading the MAC addresses of the source and destination. </a:t>
            </a:r>
          </a:p>
          <a:p>
            <a:r>
              <a:rPr lang="en-US" sz="2000">
                <a:ea typeface="+mn-lt"/>
                <a:cs typeface="+mn-lt"/>
              </a:rPr>
              <a:t>It is also used for interconnecting two LANs working on the same protocol. </a:t>
            </a:r>
          </a:p>
          <a:p>
            <a:r>
              <a:rPr lang="en-US" sz="2000">
                <a:ea typeface="+mn-lt"/>
                <a:cs typeface="+mn-lt"/>
              </a:rPr>
              <a:t>It has a single input and single output port, thus making it a 2 port device.</a:t>
            </a:r>
            <a:endParaRPr lang="en-US" sz="2000"/>
          </a:p>
          <a:p>
            <a:endParaRPr lang="en-US" sz="2000"/>
          </a:p>
        </p:txBody>
      </p:sp>
      <p:pic>
        <p:nvPicPr>
          <p:cNvPr id="4" name="Picture 3" descr="A diagram of a network&#10;&#10;Description automatically generated">
            <a:extLst>
              <a:ext uri="{FF2B5EF4-FFF2-40B4-BE49-F238E27FC236}">
                <a16:creationId xmlns:a16="http://schemas.microsoft.com/office/drawing/2014/main" id="{EF1AF2E1-1AFC-DBB2-99A9-6EFC90DB74EE}"/>
              </a:ext>
            </a:extLst>
          </p:cNvPr>
          <p:cNvPicPr>
            <a:picLocks noChangeAspect="1"/>
          </p:cNvPicPr>
          <p:nvPr/>
        </p:nvPicPr>
        <p:blipFill>
          <a:blip r:embed="rId2"/>
          <a:stretch>
            <a:fillRect/>
          </a:stretch>
        </p:blipFill>
        <p:spPr>
          <a:xfrm>
            <a:off x="5911532" y="2873548"/>
            <a:ext cx="5150277" cy="2935657"/>
          </a:xfrm>
          <a:prstGeom prst="rect">
            <a:avLst/>
          </a:prstGeom>
        </p:spPr>
      </p:pic>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0607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AA8EB-1F9A-C74A-FE90-72FE5005A8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09AE035-228C-FF3B-3361-33E4D6CDBEB9}"/>
              </a:ext>
            </a:extLst>
          </p:cNvPr>
          <p:cNvSpPr>
            <a:spLocks noGrp="1"/>
          </p:cNvSpPr>
          <p:nvPr>
            <p:ph idx="1"/>
          </p:nvPr>
        </p:nvSpPr>
        <p:spPr/>
        <p:txBody>
          <a:bodyPr vert="horz" lIns="91440" tIns="45720" rIns="91440" bIns="45720" rtlCol="0" anchor="t">
            <a:normAutofit fontScale="92500"/>
          </a:bodyPr>
          <a:lstStyle/>
          <a:p>
            <a:pPr marL="0" indent="0">
              <a:buNone/>
            </a:pPr>
            <a:r>
              <a:rPr lang="en-US" b="1" i="1" dirty="0">
                <a:latin typeface="Times New Roman"/>
                <a:cs typeface="Arial"/>
              </a:rPr>
              <a:t>Types of Bridges :</a:t>
            </a:r>
            <a:endParaRPr lang="en-US" b="1" i="1" dirty="0">
              <a:latin typeface="Times New Roman"/>
            </a:endParaRPr>
          </a:p>
          <a:p>
            <a:r>
              <a:rPr lang="en-US" dirty="0">
                <a:latin typeface="Arial"/>
                <a:cs typeface="Arial"/>
              </a:rPr>
              <a:t>Transparent Bridges:- These are the bridge in which the stations are completely unaware of the bridge’s existence i.e. whether or not a bridge is added or deleted from the network, reconfiguration of the stations is unnecessary. These bridges make use of two processes i.e. bridge forwarding and bridge learning.</a:t>
            </a:r>
          </a:p>
          <a:p>
            <a:r>
              <a:rPr lang="en-US" dirty="0">
                <a:latin typeface="Arial"/>
                <a:cs typeface="Arial"/>
              </a:rPr>
              <a:t>Source Routing Bridges:- In these bridges, routing operation is performed by the source station and the frame specifies which route to follow. The host can discover the frame by sending a special frame called the discovery frame, which spreads through the entire network using all possible paths to the destination.</a:t>
            </a:r>
          </a:p>
          <a:p>
            <a:endParaRPr lang="en-US" dirty="0"/>
          </a:p>
        </p:txBody>
      </p:sp>
    </p:spTree>
    <p:extLst>
      <p:ext uri="{BB962C8B-B14F-4D97-AF65-F5344CB8AC3E}">
        <p14:creationId xmlns:p14="http://schemas.microsoft.com/office/powerpoint/2010/main" val="1637291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875982-6FD2-912B-3AFF-36C50638344D}"/>
              </a:ext>
            </a:extLst>
          </p:cNvPr>
          <p:cNvSpPr>
            <a:spLocks noGrp="1"/>
          </p:cNvSpPr>
          <p:nvPr>
            <p:ph type="title"/>
          </p:nvPr>
        </p:nvSpPr>
        <p:spPr>
          <a:xfrm>
            <a:off x="630936" y="640080"/>
            <a:ext cx="4818888" cy="1481328"/>
          </a:xfrm>
        </p:spPr>
        <p:txBody>
          <a:bodyPr anchor="b">
            <a:normAutofit/>
          </a:bodyPr>
          <a:lstStyle/>
          <a:p>
            <a:r>
              <a:rPr lang="en-US" b="1" i="1" dirty="0">
                <a:latin typeface="Times New Roman"/>
                <a:cs typeface="Times New Roman"/>
              </a:rPr>
              <a:t>Switch :</a:t>
            </a:r>
            <a:endParaRPr lang="en-US" dirty="0"/>
          </a:p>
        </p:txBody>
      </p:sp>
      <p:sp>
        <p:nvSpPr>
          <p:cNvPr id="11"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F58F482-B8CA-0B0D-05D8-637490E86AB4}"/>
              </a:ext>
            </a:extLst>
          </p:cNvPr>
          <p:cNvSpPr>
            <a:spLocks noGrp="1"/>
          </p:cNvSpPr>
          <p:nvPr>
            <p:ph idx="1"/>
          </p:nvPr>
        </p:nvSpPr>
        <p:spPr>
          <a:xfrm>
            <a:off x="630936" y="2660904"/>
            <a:ext cx="4818888" cy="3547872"/>
          </a:xfrm>
        </p:spPr>
        <p:txBody>
          <a:bodyPr vert="horz" lIns="91440" tIns="45720" rIns="91440" bIns="45720" rtlCol="0" anchor="t">
            <a:normAutofit fontScale="92500" lnSpcReduction="20000"/>
          </a:bodyPr>
          <a:lstStyle/>
          <a:p>
            <a:pPr marL="0" indent="0">
              <a:buNone/>
            </a:pPr>
            <a:endParaRPr lang="en-US" sz="1700" b="1" i="1" dirty="0">
              <a:latin typeface="Times New Roman"/>
            </a:endParaRPr>
          </a:p>
          <a:p>
            <a:pPr algn="just"/>
            <a:r>
              <a:rPr lang="en-US" sz="2000" dirty="0">
                <a:ea typeface="+mn-lt"/>
                <a:cs typeface="+mn-lt"/>
              </a:rPr>
              <a:t> A switch is a multiport bridge with a buffer and a design that can boost its efficiency(a large number of ports imply less traffic) and performance. </a:t>
            </a:r>
          </a:p>
          <a:p>
            <a:pPr algn="just"/>
            <a:r>
              <a:rPr lang="en-US" sz="2000" dirty="0">
                <a:ea typeface="+mn-lt"/>
                <a:cs typeface="+mn-lt"/>
              </a:rPr>
              <a:t>The switch can perform error checking before forwarding data, which makes it very efficient as it does not forward packets that have errors and forward good packets selectively to the correct port only.  </a:t>
            </a:r>
          </a:p>
          <a:p>
            <a:pPr algn="just"/>
            <a:r>
              <a:rPr lang="en-US" sz="2000" dirty="0">
                <a:ea typeface="+mn-lt"/>
                <a:cs typeface="+mn-lt"/>
              </a:rPr>
              <a:t>In other words, the switch divides the collision domain of hosts, but the broadcast domain remains the same. </a:t>
            </a:r>
            <a:endParaRPr lang="en-US" sz="2000" dirty="0"/>
          </a:p>
        </p:txBody>
      </p:sp>
      <p:pic>
        <p:nvPicPr>
          <p:cNvPr id="4" name="Picture 3" descr="What is Switch in Networking? || How Switch Device Works? - The Study Genius">
            <a:extLst>
              <a:ext uri="{FF2B5EF4-FFF2-40B4-BE49-F238E27FC236}">
                <a16:creationId xmlns:a16="http://schemas.microsoft.com/office/drawing/2014/main" id="{D194A402-D3F3-0F34-4C05-8B643B79FFD3}"/>
              </a:ext>
            </a:extLst>
          </p:cNvPr>
          <p:cNvPicPr>
            <a:picLocks noChangeAspect="1"/>
          </p:cNvPicPr>
          <p:nvPr/>
        </p:nvPicPr>
        <p:blipFill>
          <a:blip r:embed="rId2"/>
          <a:stretch>
            <a:fillRect/>
          </a:stretch>
        </p:blipFill>
        <p:spPr>
          <a:xfrm>
            <a:off x="6648396" y="1725780"/>
            <a:ext cx="4909620" cy="3814020"/>
          </a:xfrm>
          <a:prstGeom prst="rect">
            <a:avLst/>
          </a:prstGeom>
        </p:spPr>
      </p:pic>
    </p:spTree>
    <p:extLst>
      <p:ext uri="{BB962C8B-B14F-4D97-AF65-F5344CB8AC3E}">
        <p14:creationId xmlns:p14="http://schemas.microsoft.com/office/powerpoint/2010/main" val="30400605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0AC4B-C18C-65E2-BA71-2C7C8E1372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E7A91C8-B9F5-9D69-E56B-5AFB5ECA797C}"/>
              </a:ext>
            </a:extLst>
          </p:cNvPr>
          <p:cNvSpPr>
            <a:spLocks noGrp="1"/>
          </p:cNvSpPr>
          <p:nvPr>
            <p:ph idx="1"/>
          </p:nvPr>
        </p:nvSpPr>
        <p:spPr/>
        <p:txBody>
          <a:bodyPr vert="horz" lIns="91440" tIns="45720" rIns="91440" bIns="45720" rtlCol="0" anchor="t">
            <a:normAutofit/>
          </a:bodyPr>
          <a:lstStyle/>
          <a:p>
            <a:pPr marL="0" indent="0">
              <a:buNone/>
            </a:pPr>
            <a:r>
              <a:rPr lang="en-US" b="1" i="1">
                <a:latin typeface="Times New Roman"/>
                <a:cs typeface="Times New Roman"/>
              </a:rPr>
              <a:t>Routers :</a:t>
            </a:r>
            <a:endParaRPr lang="en-US" b="1" i="1" dirty="0">
              <a:latin typeface="Times New Roman"/>
              <a:cs typeface="Times New Roman"/>
            </a:endParaRPr>
          </a:p>
          <a:p>
            <a:r>
              <a:rPr lang="en-US" dirty="0"/>
              <a:t>A router is a device like a switch that routes data packets based on their IP </a:t>
            </a:r>
            <a:r>
              <a:rPr lang="en-US"/>
              <a:t>addresses.  </a:t>
            </a:r>
          </a:p>
          <a:p>
            <a:r>
              <a:rPr lang="en-US" dirty="0"/>
              <a:t>Routers normally connect LANs and WANs and have a dynamically updating routing table based on which they make decisions on routing the data packets. </a:t>
            </a:r>
          </a:p>
          <a:p>
            <a:r>
              <a:rPr lang="en-US"/>
              <a:t>The router divides the </a:t>
            </a:r>
            <a:r>
              <a:rPr lang="en-US" dirty="0"/>
              <a:t>broadcast domains of hosts connected through it.</a:t>
            </a:r>
            <a:endParaRPr lang="en-US"/>
          </a:p>
          <a:p>
            <a:endParaRPr lang="en-US"/>
          </a:p>
          <a:p>
            <a:endParaRPr lang="en-US" dirty="0"/>
          </a:p>
        </p:txBody>
      </p:sp>
    </p:spTree>
    <p:extLst>
      <p:ext uri="{BB962C8B-B14F-4D97-AF65-F5344CB8AC3E}">
        <p14:creationId xmlns:p14="http://schemas.microsoft.com/office/powerpoint/2010/main" val="2252601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315E5-D243-0147-5F05-6195CF0101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D439BCD-19BF-388C-ADEB-0C5F0A376A3D}"/>
              </a:ext>
            </a:extLst>
          </p:cNvPr>
          <p:cNvSpPr>
            <a:spLocks noGrp="1"/>
          </p:cNvSpPr>
          <p:nvPr>
            <p:ph idx="1"/>
          </p:nvPr>
        </p:nvSpPr>
        <p:spPr/>
        <p:txBody>
          <a:bodyPr vert="horz" lIns="91440" tIns="45720" rIns="91440" bIns="45720" rtlCol="0" anchor="t">
            <a:normAutofit/>
          </a:bodyPr>
          <a:lstStyle/>
          <a:p>
            <a:pPr marL="0" indent="0">
              <a:buNone/>
            </a:pPr>
            <a:r>
              <a:rPr lang="en-US" b="1" i="1" dirty="0">
                <a:solidFill>
                  <a:srgbClr val="000000"/>
                </a:solidFill>
                <a:latin typeface="Times New Roman"/>
                <a:ea typeface="+mn-lt"/>
                <a:cs typeface="+mn-lt"/>
              </a:rPr>
              <a:t>Gateway:</a:t>
            </a:r>
          </a:p>
          <a:p>
            <a:r>
              <a:rPr lang="en-US" dirty="0">
                <a:solidFill>
                  <a:srgbClr val="000000"/>
                </a:solidFill>
                <a:ea typeface="+mn-lt"/>
                <a:cs typeface="+mn-lt"/>
              </a:rPr>
              <a:t>A gateway, as the name suggests, is a passage to connect two networks that may work upon different networking models. </a:t>
            </a:r>
            <a:endParaRPr lang="en-US">
              <a:solidFill>
                <a:srgbClr val="000000"/>
              </a:solidFill>
              <a:ea typeface="+mn-lt"/>
              <a:cs typeface="+mn-lt"/>
            </a:endParaRPr>
          </a:p>
          <a:p>
            <a:r>
              <a:rPr lang="en-US" dirty="0">
                <a:solidFill>
                  <a:srgbClr val="000000"/>
                </a:solidFill>
                <a:ea typeface="+mn-lt"/>
                <a:cs typeface="+mn-lt"/>
              </a:rPr>
              <a:t>They work as messenger agents that take data from one system, interpret it, and transfer it to another system. </a:t>
            </a:r>
            <a:endParaRPr lang="en-US">
              <a:solidFill>
                <a:srgbClr val="000000"/>
              </a:solidFill>
              <a:ea typeface="+mn-lt"/>
              <a:cs typeface="+mn-lt"/>
            </a:endParaRPr>
          </a:p>
          <a:p>
            <a:r>
              <a:rPr lang="en-US" dirty="0">
                <a:solidFill>
                  <a:srgbClr val="000000"/>
                </a:solidFill>
                <a:ea typeface="+mn-lt"/>
                <a:cs typeface="+mn-lt"/>
              </a:rPr>
              <a:t>Gateways are also called protocol converters and can operate at any network layer. </a:t>
            </a:r>
            <a:endParaRPr lang="en-US">
              <a:solidFill>
                <a:srgbClr val="000000"/>
              </a:solidFill>
              <a:ea typeface="+mn-lt"/>
              <a:cs typeface="+mn-lt"/>
            </a:endParaRPr>
          </a:p>
          <a:p>
            <a:r>
              <a:rPr lang="en-US" dirty="0">
                <a:solidFill>
                  <a:srgbClr val="000000"/>
                </a:solidFill>
                <a:ea typeface="+mn-lt"/>
                <a:cs typeface="+mn-lt"/>
              </a:rPr>
              <a:t>Gateways are generally more complex than switches or routers. A gateway is also called a protocol converter. </a:t>
            </a:r>
            <a:endParaRPr lang="en-US">
              <a:solidFill>
                <a:srgbClr val="000000"/>
              </a:solidFill>
            </a:endParaRPr>
          </a:p>
        </p:txBody>
      </p:sp>
    </p:spTree>
    <p:extLst>
      <p:ext uri="{BB962C8B-B14F-4D97-AF65-F5344CB8AC3E}">
        <p14:creationId xmlns:p14="http://schemas.microsoft.com/office/powerpoint/2010/main" val="17717385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4671-404F-79D4-6B0B-32B42450AD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C5E5BB-B540-ADF4-852E-97A273B0647F}"/>
              </a:ext>
            </a:extLst>
          </p:cNvPr>
          <p:cNvSpPr>
            <a:spLocks noGrp="1"/>
          </p:cNvSpPr>
          <p:nvPr>
            <p:ph idx="1"/>
          </p:nvPr>
        </p:nvSpPr>
        <p:spPr/>
        <p:txBody>
          <a:bodyPr vert="horz" lIns="91440" tIns="45720" rIns="91440" bIns="45720" rtlCol="0" anchor="t">
            <a:normAutofit/>
          </a:bodyPr>
          <a:lstStyle/>
          <a:p>
            <a:pPr marL="0" indent="0">
              <a:buNone/>
            </a:pPr>
            <a:r>
              <a:rPr lang="en-US" b="1" i="1" dirty="0">
                <a:solidFill>
                  <a:srgbClr val="000000"/>
                </a:solidFill>
                <a:latin typeface="Times New Roman"/>
                <a:ea typeface="+mn-lt"/>
                <a:cs typeface="+mn-lt"/>
              </a:rPr>
              <a:t>NIC (network interface card):</a:t>
            </a:r>
            <a:endParaRPr lang="en-US"/>
          </a:p>
          <a:p>
            <a:r>
              <a:rPr lang="en-US" dirty="0">
                <a:solidFill>
                  <a:srgbClr val="000000"/>
                </a:solidFill>
                <a:ea typeface="+mn-lt"/>
                <a:cs typeface="+mn-lt"/>
              </a:rPr>
              <a:t>NIC is a network adapter that is used to connect the computer to the network.</a:t>
            </a:r>
          </a:p>
          <a:p>
            <a:r>
              <a:rPr lang="en-US" dirty="0">
                <a:solidFill>
                  <a:srgbClr val="000000"/>
                </a:solidFill>
                <a:ea typeface="+mn-lt"/>
                <a:cs typeface="+mn-lt"/>
              </a:rPr>
              <a:t> It is installed in the computer to establish a LAN.  </a:t>
            </a:r>
            <a:endParaRPr lang="en-US">
              <a:solidFill>
                <a:srgbClr val="000000"/>
              </a:solidFill>
              <a:ea typeface="+mn-lt"/>
              <a:cs typeface="+mn-lt"/>
            </a:endParaRPr>
          </a:p>
          <a:p>
            <a:r>
              <a:rPr lang="en-US" dirty="0">
                <a:solidFill>
                  <a:srgbClr val="000000"/>
                </a:solidFill>
                <a:ea typeface="+mn-lt"/>
                <a:cs typeface="+mn-lt"/>
              </a:rPr>
              <a:t>It has a unique id that is written on the chip, and it has a connector to connect the cable to it. </a:t>
            </a:r>
            <a:endParaRPr lang="en-US">
              <a:solidFill>
                <a:srgbClr val="000000"/>
              </a:solidFill>
              <a:ea typeface="+mn-lt"/>
              <a:cs typeface="+mn-lt"/>
            </a:endParaRPr>
          </a:p>
          <a:p>
            <a:r>
              <a:rPr lang="en-US" dirty="0">
                <a:solidFill>
                  <a:srgbClr val="000000"/>
                </a:solidFill>
                <a:ea typeface="+mn-lt"/>
                <a:cs typeface="+mn-lt"/>
              </a:rPr>
              <a:t>The cable acts as an interface between the computer and the router or modem. </a:t>
            </a:r>
            <a:endParaRPr lang="en-US">
              <a:solidFill>
                <a:srgbClr val="000000"/>
              </a:solidFill>
            </a:endParaRPr>
          </a:p>
        </p:txBody>
      </p:sp>
    </p:spTree>
    <p:extLst>
      <p:ext uri="{BB962C8B-B14F-4D97-AF65-F5344CB8AC3E}">
        <p14:creationId xmlns:p14="http://schemas.microsoft.com/office/powerpoint/2010/main" val="2915551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F27F2-826D-6531-B088-DBC54F9B54CC}"/>
              </a:ext>
            </a:extLst>
          </p:cNvPr>
          <p:cNvSpPr>
            <a:spLocks noGrp="1"/>
          </p:cNvSpPr>
          <p:nvPr>
            <p:ph type="title"/>
          </p:nvPr>
        </p:nvSpPr>
        <p:spPr/>
        <p:txBody>
          <a:bodyPr/>
          <a:lstStyle/>
          <a:p>
            <a:r>
              <a:rPr lang="en-US" dirty="0"/>
              <a:t>Protocols Standards</a:t>
            </a:r>
          </a:p>
        </p:txBody>
      </p:sp>
      <p:sp>
        <p:nvSpPr>
          <p:cNvPr id="3" name="Content Placeholder 2">
            <a:extLst>
              <a:ext uri="{FF2B5EF4-FFF2-40B4-BE49-F238E27FC236}">
                <a16:creationId xmlns:a16="http://schemas.microsoft.com/office/drawing/2014/main" id="{44BA0EAD-C17F-26E2-2696-33ADA67B3289}"/>
              </a:ext>
            </a:extLst>
          </p:cNvPr>
          <p:cNvSpPr>
            <a:spLocks noGrp="1"/>
          </p:cNvSpPr>
          <p:nvPr>
            <p:ph idx="1"/>
          </p:nvPr>
        </p:nvSpPr>
        <p:spPr/>
        <p:txBody>
          <a:bodyPr vert="horz" lIns="91440" tIns="45720" rIns="91440" bIns="45720" rtlCol="0" anchor="t">
            <a:normAutofit/>
          </a:bodyPr>
          <a:lstStyle/>
          <a:p>
            <a:pPr marL="0" indent="0">
              <a:buNone/>
            </a:pPr>
            <a:r>
              <a:rPr lang="en-US" b="1" i="1" dirty="0">
                <a:latin typeface="Times New Roman"/>
                <a:cs typeface="Times New Roman"/>
              </a:rPr>
              <a:t>Protocols:</a:t>
            </a:r>
            <a:endParaRPr lang="en-US" dirty="0"/>
          </a:p>
          <a:p>
            <a:r>
              <a:rPr lang="en-US" dirty="0">
                <a:solidFill>
                  <a:srgbClr val="000000"/>
                </a:solidFill>
                <a:ea typeface="+mn-lt"/>
                <a:cs typeface="+mn-lt"/>
              </a:rPr>
              <a:t>Some rules and procedures should be agreed upon at the sending and receiving ends of the system </a:t>
            </a:r>
            <a:r>
              <a:rPr lang="en-US" err="1">
                <a:solidFill>
                  <a:srgbClr val="000000"/>
                </a:solidFill>
                <a:ea typeface="+mn-lt"/>
                <a:cs typeface="+mn-lt"/>
              </a:rPr>
              <a:t>inorder</a:t>
            </a:r>
            <a:r>
              <a:rPr lang="en-US" dirty="0">
                <a:solidFill>
                  <a:srgbClr val="000000"/>
                </a:solidFill>
                <a:ea typeface="+mn-lt"/>
                <a:cs typeface="+mn-lt"/>
              </a:rPr>
              <a:t> to make a successful communication. Such rules and procedures are called as Protocols </a:t>
            </a:r>
          </a:p>
          <a:p>
            <a:r>
              <a:rPr lang="en-US" dirty="0">
                <a:solidFill>
                  <a:srgbClr val="000000"/>
                </a:solidFill>
                <a:ea typeface="+mn-lt"/>
                <a:cs typeface="+mn-lt"/>
              </a:rPr>
              <a:t>Network protocol ensures that different technologies and components of the network are </a:t>
            </a:r>
            <a:r>
              <a:rPr lang="en-US" b="1" dirty="0">
                <a:solidFill>
                  <a:srgbClr val="000000"/>
                </a:solidFill>
                <a:ea typeface="+mn-lt"/>
                <a:cs typeface="+mn-lt"/>
              </a:rPr>
              <a:t>compatible</a:t>
            </a:r>
            <a:r>
              <a:rPr lang="en-US" dirty="0">
                <a:solidFill>
                  <a:srgbClr val="000000"/>
                </a:solidFill>
                <a:ea typeface="+mn-lt"/>
                <a:cs typeface="+mn-lt"/>
              </a:rPr>
              <a:t> with one another, </a:t>
            </a:r>
            <a:r>
              <a:rPr lang="en-US" b="1" dirty="0">
                <a:solidFill>
                  <a:srgbClr val="000000"/>
                </a:solidFill>
                <a:ea typeface="+mn-lt"/>
                <a:cs typeface="+mn-lt"/>
              </a:rPr>
              <a:t>reliable</a:t>
            </a:r>
            <a:r>
              <a:rPr lang="en-US" dirty="0">
                <a:solidFill>
                  <a:srgbClr val="000000"/>
                </a:solidFill>
                <a:ea typeface="+mn-lt"/>
                <a:cs typeface="+mn-lt"/>
              </a:rPr>
              <a:t>, and able to </a:t>
            </a:r>
            <a:r>
              <a:rPr lang="en-US" b="1" dirty="0">
                <a:solidFill>
                  <a:srgbClr val="000000"/>
                </a:solidFill>
                <a:ea typeface="+mn-lt"/>
                <a:cs typeface="+mn-lt"/>
              </a:rPr>
              <a:t>function together</a:t>
            </a:r>
            <a:r>
              <a:rPr lang="en-US" dirty="0">
                <a:solidFill>
                  <a:srgbClr val="000000"/>
                </a:solidFill>
                <a:ea typeface="+mn-lt"/>
                <a:cs typeface="+mn-lt"/>
              </a:rPr>
              <a:t>. </a:t>
            </a:r>
            <a:endParaRPr lang="en-US" dirty="0">
              <a:solidFill>
                <a:srgbClr val="000000"/>
              </a:solidFill>
            </a:endParaRPr>
          </a:p>
        </p:txBody>
      </p:sp>
    </p:spTree>
    <p:extLst>
      <p:ext uri="{BB962C8B-B14F-4D97-AF65-F5344CB8AC3E}">
        <p14:creationId xmlns:p14="http://schemas.microsoft.com/office/powerpoint/2010/main" val="1146635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CC5D-49E5-4544-4FE8-21DBE84DFB59}"/>
              </a:ext>
            </a:extLst>
          </p:cNvPr>
          <p:cNvSpPr>
            <a:spLocks noGrp="1"/>
          </p:cNvSpPr>
          <p:nvPr>
            <p:ph type="title"/>
          </p:nvPr>
        </p:nvSpPr>
        <p:spPr/>
        <p:txBody>
          <a:bodyPr>
            <a:normAutofit/>
          </a:bodyPr>
          <a:lstStyle/>
          <a:p>
            <a:r>
              <a:rPr lang="en-US" sz="3200" b="1" i="1" dirty="0"/>
              <a:t>Key elements of Protocol:</a:t>
            </a:r>
          </a:p>
        </p:txBody>
      </p:sp>
      <p:sp>
        <p:nvSpPr>
          <p:cNvPr id="3" name="Content Placeholder 2">
            <a:extLst>
              <a:ext uri="{FF2B5EF4-FFF2-40B4-BE49-F238E27FC236}">
                <a16:creationId xmlns:a16="http://schemas.microsoft.com/office/drawing/2014/main" id="{8FD58CF0-5C0F-D97F-AB6F-76A94FE1F3C3}"/>
              </a:ext>
            </a:extLst>
          </p:cNvPr>
          <p:cNvSpPr>
            <a:spLocks noGrp="1"/>
          </p:cNvSpPr>
          <p:nvPr>
            <p:ph idx="1"/>
          </p:nvPr>
        </p:nvSpPr>
        <p:spPr/>
        <p:txBody>
          <a:bodyPr vert="horz" lIns="91440" tIns="45720" rIns="91440" bIns="45720" rtlCol="0" anchor="t">
            <a:normAutofit/>
          </a:bodyPr>
          <a:lstStyle/>
          <a:p>
            <a:pPr marL="0" indent="0">
              <a:buNone/>
            </a:pPr>
            <a:r>
              <a:rPr lang="en-US" b="1" i="1" dirty="0">
                <a:ea typeface="+mn-lt"/>
                <a:cs typeface="+mn-lt"/>
              </a:rPr>
              <a:t>Syntax :</a:t>
            </a:r>
            <a:endParaRPr lang="en-US" dirty="0">
              <a:ea typeface="+mn-lt"/>
              <a:cs typeface="+mn-lt"/>
            </a:endParaRPr>
          </a:p>
          <a:p>
            <a:r>
              <a:rPr lang="en-US" dirty="0">
                <a:ea typeface="+mn-lt"/>
                <a:cs typeface="+mn-lt"/>
              </a:rPr>
              <a:t> Syntax refers to the structure or the format of the data that gets exchanged between the devices. </a:t>
            </a:r>
          </a:p>
          <a:p>
            <a:r>
              <a:rPr lang="en-US" dirty="0">
                <a:ea typeface="+mn-lt"/>
                <a:cs typeface="+mn-lt"/>
              </a:rPr>
              <a:t>Syntax of message includes the type of data, composition of message and sequencing of message. </a:t>
            </a:r>
          </a:p>
          <a:p>
            <a:r>
              <a:rPr lang="en-US" dirty="0">
                <a:ea typeface="+mn-lt"/>
                <a:cs typeface="+mn-lt"/>
              </a:rPr>
              <a:t>The starting 8 bits of data is considered as the address of the sender. The next 8 bits is considered to be the address of the receiver. The remaining bits are considered as the message itself.</a:t>
            </a:r>
            <a:endParaRPr lang="en-US"/>
          </a:p>
          <a:p>
            <a:endParaRPr lang="en-US"/>
          </a:p>
        </p:txBody>
      </p:sp>
    </p:spTree>
    <p:extLst>
      <p:ext uri="{BB962C8B-B14F-4D97-AF65-F5344CB8AC3E}">
        <p14:creationId xmlns:p14="http://schemas.microsoft.com/office/powerpoint/2010/main" val="185430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91F74-80E5-2916-97E3-63D8AFB701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A4300F-1341-46F7-6296-32778754BD15}"/>
              </a:ext>
            </a:extLst>
          </p:cNvPr>
          <p:cNvSpPr>
            <a:spLocks noGrp="1"/>
          </p:cNvSpPr>
          <p:nvPr>
            <p:ph idx="1"/>
          </p:nvPr>
        </p:nvSpPr>
        <p:spPr/>
        <p:txBody>
          <a:bodyPr vert="horz" lIns="91440" tIns="45720" rIns="91440" bIns="45720" rtlCol="0" anchor="t">
            <a:normAutofit lnSpcReduction="10000"/>
          </a:bodyPr>
          <a:lstStyle/>
          <a:p>
            <a:pPr marL="0" indent="0">
              <a:buNone/>
            </a:pPr>
            <a:r>
              <a:rPr lang="en-US" b="1" i="1" dirty="0">
                <a:latin typeface="Aptos"/>
                <a:cs typeface="Arial"/>
              </a:rPr>
              <a:t>Semantics :</a:t>
            </a:r>
            <a:r>
              <a:rPr lang="en-US" dirty="0">
                <a:latin typeface="Aptos"/>
                <a:cs typeface="Arial"/>
              </a:rPr>
              <a:t> </a:t>
            </a:r>
            <a:endParaRPr lang="en-US">
              <a:latin typeface="Aptos"/>
            </a:endParaRPr>
          </a:p>
          <a:p>
            <a:r>
              <a:rPr lang="en-US" dirty="0">
                <a:latin typeface="Aptos"/>
                <a:cs typeface="Arial"/>
              </a:rPr>
              <a:t>Semantics defines data transmitted between devices.</a:t>
            </a:r>
            <a:endParaRPr lang="en-US">
              <a:latin typeface="Aptos"/>
              <a:cs typeface="Arial"/>
            </a:endParaRPr>
          </a:p>
          <a:p>
            <a:r>
              <a:rPr lang="en-US" dirty="0">
                <a:latin typeface="Aptos" panose="020B0004020202020204"/>
                <a:cs typeface="Arial"/>
              </a:rPr>
              <a:t>It provides rules and norms for understanding message or data element values and actions.</a:t>
            </a:r>
            <a:endParaRPr lang="en-US">
              <a:solidFill>
                <a:srgbClr val="000000"/>
              </a:solidFill>
              <a:latin typeface="Aptos"/>
              <a:ea typeface="+mn-lt"/>
              <a:cs typeface="Arial"/>
            </a:endParaRPr>
          </a:p>
          <a:p>
            <a:pPr marL="0" indent="0">
              <a:buNone/>
            </a:pPr>
            <a:r>
              <a:rPr lang="en-US" b="1" i="1" dirty="0">
                <a:solidFill>
                  <a:srgbClr val="000000"/>
                </a:solidFill>
                <a:latin typeface="Aptos"/>
                <a:ea typeface="+mn-lt"/>
                <a:cs typeface="Arial"/>
              </a:rPr>
              <a:t>Timing :</a:t>
            </a:r>
            <a:r>
              <a:rPr lang="en-US" dirty="0">
                <a:solidFill>
                  <a:srgbClr val="000000"/>
                </a:solidFill>
                <a:latin typeface="Aptos"/>
                <a:ea typeface="+mn-lt"/>
                <a:cs typeface="Arial"/>
              </a:rPr>
              <a:t> </a:t>
            </a:r>
          </a:p>
          <a:p>
            <a:r>
              <a:rPr lang="en-US" dirty="0">
                <a:solidFill>
                  <a:srgbClr val="000000"/>
                </a:solidFill>
                <a:latin typeface="Aptos"/>
                <a:ea typeface="+mn-lt"/>
                <a:cs typeface="Arial"/>
              </a:rPr>
              <a:t>Timing refers to the synchronization and coordination between devices while transferring the data. </a:t>
            </a:r>
          </a:p>
          <a:p>
            <a:r>
              <a:rPr lang="en-US" dirty="0">
                <a:solidFill>
                  <a:srgbClr val="000000"/>
                </a:solidFill>
                <a:latin typeface="Aptos"/>
                <a:ea typeface="+mn-lt"/>
                <a:cs typeface="Arial"/>
              </a:rPr>
              <a:t>Timing ensures at what time data should be sent and how fast data can be sent. </a:t>
            </a:r>
            <a:endParaRPr lang="en-US">
              <a:solidFill>
                <a:srgbClr val="000000"/>
              </a:solidFill>
              <a:latin typeface="Aptos"/>
              <a:cs typeface="Arial"/>
            </a:endParaRPr>
          </a:p>
          <a:p>
            <a:r>
              <a:rPr lang="en-US" dirty="0">
                <a:solidFill>
                  <a:srgbClr val="000000"/>
                </a:solidFill>
                <a:latin typeface="Aptos"/>
                <a:ea typeface="+mn-lt"/>
                <a:cs typeface="Arial"/>
              </a:rPr>
              <a:t>Timing ensures preventing data loss, collisions </a:t>
            </a:r>
            <a:endParaRPr lang="en-US">
              <a:solidFill>
                <a:srgbClr val="000000"/>
              </a:solidFill>
              <a:latin typeface="Aptos"/>
              <a:cs typeface="Arial"/>
            </a:endParaRPr>
          </a:p>
          <a:p>
            <a:endParaRPr lang="en-US" dirty="0">
              <a:latin typeface="Aptos"/>
              <a:cs typeface="Arial"/>
            </a:endParaRPr>
          </a:p>
          <a:p>
            <a:endParaRPr lang="en-US" dirty="0"/>
          </a:p>
        </p:txBody>
      </p:sp>
    </p:spTree>
    <p:extLst>
      <p:ext uri="{BB962C8B-B14F-4D97-AF65-F5344CB8AC3E}">
        <p14:creationId xmlns:p14="http://schemas.microsoft.com/office/powerpoint/2010/main" val="1987165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4BA33-090B-2672-80B4-5EC0212F06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CD9CF5B-427D-263B-ADDF-0C89734C6ACC}"/>
              </a:ext>
            </a:extLst>
          </p:cNvPr>
          <p:cNvSpPr>
            <a:spLocks noGrp="1"/>
          </p:cNvSpPr>
          <p:nvPr>
            <p:ph idx="1"/>
          </p:nvPr>
        </p:nvSpPr>
        <p:spPr/>
        <p:txBody>
          <a:bodyPr vert="horz" lIns="91440" tIns="45720" rIns="91440" bIns="45720" rtlCol="0" anchor="t">
            <a:normAutofit/>
          </a:bodyPr>
          <a:lstStyle/>
          <a:p>
            <a:pPr marL="0" indent="0" algn="just">
              <a:buNone/>
            </a:pPr>
            <a:r>
              <a:rPr lang="en-US" b="1" i="1" dirty="0">
                <a:ea typeface="+mn-lt"/>
                <a:cs typeface="+mn-lt"/>
              </a:rPr>
              <a:t>Sequence control : </a:t>
            </a:r>
            <a:endParaRPr lang="en-US" i="1" dirty="0">
              <a:ea typeface="+mn-lt"/>
              <a:cs typeface="+mn-lt"/>
            </a:endParaRPr>
          </a:p>
          <a:p>
            <a:pPr algn="just"/>
            <a:r>
              <a:rPr lang="en-US" dirty="0">
                <a:ea typeface="+mn-lt"/>
                <a:cs typeface="+mn-lt"/>
              </a:rPr>
              <a:t>Sequence control ensures the proper ordering of data packets. </a:t>
            </a:r>
            <a:endParaRPr lang="en-US">
              <a:ea typeface="+mn-lt"/>
              <a:cs typeface="+mn-lt"/>
            </a:endParaRPr>
          </a:p>
          <a:p>
            <a:pPr algn="just"/>
            <a:r>
              <a:rPr lang="en-US" dirty="0">
                <a:ea typeface="+mn-lt"/>
                <a:cs typeface="+mn-lt"/>
              </a:rPr>
              <a:t>The main responsibility of sequence control is to acknowledge the data while it get received, and the retransmission of lost data. </a:t>
            </a:r>
          </a:p>
          <a:p>
            <a:pPr algn="just"/>
            <a:r>
              <a:rPr lang="en-US" dirty="0">
                <a:ea typeface="+mn-lt"/>
                <a:cs typeface="+mn-lt"/>
              </a:rPr>
              <a:t>Through this mechanism the data is delivered in correct order.</a:t>
            </a:r>
            <a:endParaRPr lang="en-US"/>
          </a:p>
          <a:p>
            <a:pPr marL="0" indent="0" algn="just">
              <a:buNone/>
            </a:pPr>
            <a:r>
              <a:rPr lang="en-US" b="1" i="1" dirty="0">
                <a:ea typeface="+mn-lt"/>
                <a:cs typeface="+mn-lt"/>
              </a:rPr>
              <a:t>Flow Control :</a:t>
            </a:r>
            <a:r>
              <a:rPr lang="en-US" dirty="0">
                <a:ea typeface="+mn-lt"/>
                <a:cs typeface="+mn-lt"/>
              </a:rPr>
              <a:t> </a:t>
            </a:r>
          </a:p>
          <a:p>
            <a:pPr algn="just"/>
            <a:r>
              <a:rPr lang="en-US" dirty="0">
                <a:ea typeface="+mn-lt"/>
                <a:cs typeface="+mn-lt"/>
              </a:rPr>
              <a:t>Flow control regulates device data delivery. </a:t>
            </a:r>
            <a:endParaRPr lang="en-US">
              <a:ea typeface="+mn-lt"/>
              <a:cs typeface="+mn-lt"/>
            </a:endParaRPr>
          </a:p>
          <a:p>
            <a:pPr algn="just"/>
            <a:r>
              <a:rPr lang="en-US" dirty="0">
                <a:ea typeface="+mn-lt"/>
                <a:cs typeface="+mn-lt"/>
              </a:rPr>
              <a:t>It limits the sender’s data or asks the receiver if it’s ready for more. Flow control prevents data congestion and loss.</a:t>
            </a:r>
            <a:endParaRPr lang="en-US"/>
          </a:p>
          <a:p>
            <a:pPr algn="just"/>
            <a:endParaRPr lang="en-US" dirty="0"/>
          </a:p>
          <a:p>
            <a:pPr marL="0" indent="0" algn="just">
              <a:buNone/>
            </a:pPr>
            <a:endParaRPr lang="en-US" dirty="0"/>
          </a:p>
          <a:p>
            <a:pPr algn="just"/>
            <a:endParaRPr lang="en-US" dirty="0"/>
          </a:p>
          <a:p>
            <a:endParaRPr lang="en-US" dirty="0"/>
          </a:p>
        </p:txBody>
      </p:sp>
    </p:spTree>
    <p:extLst>
      <p:ext uri="{BB962C8B-B14F-4D97-AF65-F5344CB8AC3E}">
        <p14:creationId xmlns:p14="http://schemas.microsoft.com/office/powerpoint/2010/main" val="2052351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94318-7533-1FB8-5B1F-EA0DA63676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559D07-4E54-3F41-172F-10534AA6019A}"/>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US" b="1" i="1">
                <a:latin typeface="Aptos"/>
                <a:cs typeface="Arial"/>
              </a:rPr>
              <a:t>Error Control : </a:t>
            </a:r>
            <a:endParaRPr lang="en-US">
              <a:latin typeface="Aptos"/>
              <a:cs typeface="Arial"/>
            </a:endParaRPr>
          </a:p>
          <a:p>
            <a:r>
              <a:rPr lang="en-US" dirty="0">
                <a:latin typeface="Aptos"/>
                <a:cs typeface="Arial"/>
              </a:rPr>
              <a:t>Error control mechanisms detect and fix data </a:t>
            </a:r>
            <a:r>
              <a:rPr lang="en-US">
                <a:latin typeface="Aptos"/>
                <a:cs typeface="Arial"/>
              </a:rPr>
              <a:t>transmission faults. </a:t>
            </a:r>
          </a:p>
          <a:p>
            <a:r>
              <a:rPr lang="en-US" dirty="0">
                <a:latin typeface="Aptos"/>
                <a:cs typeface="Arial"/>
              </a:rPr>
              <a:t>They include error detection codes, data resend, and error recovery. </a:t>
            </a:r>
          </a:p>
          <a:p>
            <a:r>
              <a:rPr lang="en-US" dirty="0">
                <a:latin typeface="Aptos"/>
                <a:cs typeface="Arial"/>
              </a:rPr>
              <a:t>Error control detects and corrects noise, interference, and other problems to maintain data integrity.</a:t>
            </a:r>
            <a:endParaRPr lang="en-US"/>
          </a:p>
          <a:p>
            <a:pPr marL="0" indent="0">
              <a:buNone/>
            </a:pPr>
            <a:r>
              <a:rPr lang="en-US" b="1" i="1">
                <a:latin typeface="Aptos"/>
                <a:cs typeface="Arial"/>
              </a:rPr>
              <a:t>Security : </a:t>
            </a:r>
            <a:endParaRPr lang="en-US">
              <a:latin typeface="Aptos"/>
              <a:cs typeface="Arial"/>
            </a:endParaRPr>
          </a:p>
          <a:p>
            <a:r>
              <a:rPr lang="en-US" dirty="0">
                <a:latin typeface="Aptos"/>
                <a:cs typeface="Arial"/>
              </a:rPr>
              <a:t>Network security safeguards data confidentiality, integrity, and authenticity, which includes encryption, authentication, access control, and other security procedures. </a:t>
            </a:r>
            <a:endParaRPr lang="en-US">
              <a:latin typeface="Aptos"/>
              <a:cs typeface="Arial"/>
            </a:endParaRPr>
          </a:p>
          <a:p>
            <a:r>
              <a:rPr lang="en-US" dirty="0">
                <a:latin typeface="Aptos"/>
                <a:cs typeface="Arial"/>
              </a:rPr>
              <a:t>Network communication’s privacy and trustworthiness are protected by security standards.</a:t>
            </a:r>
            <a:endParaRPr lang="en-US"/>
          </a:p>
          <a:p>
            <a:endParaRPr lang="en-US" dirty="0">
              <a:cs typeface="Arial"/>
            </a:endParaRPr>
          </a:p>
          <a:p>
            <a:endParaRPr lang="en-US" dirty="0"/>
          </a:p>
        </p:txBody>
      </p:sp>
    </p:spTree>
    <p:extLst>
      <p:ext uri="{BB962C8B-B14F-4D97-AF65-F5344CB8AC3E}">
        <p14:creationId xmlns:p14="http://schemas.microsoft.com/office/powerpoint/2010/main" val="2500181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69E9B-9C3B-9BAE-C393-BA646E5D2656}"/>
              </a:ext>
            </a:extLst>
          </p:cNvPr>
          <p:cNvSpPr>
            <a:spLocks noGrp="1"/>
          </p:cNvSpPr>
          <p:nvPr>
            <p:ph type="title"/>
          </p:nvPr>
        </p:nvSpPr>
        <p:spPr/>
        <p:txBody>
          <a:bodyPr/>
          <a:lstStyle/>
          <a:p>
            <a:r>
              <a:rPr lang="en-US" dirty="0"/>
              <a:t>Standards</a:t>
            </a:r>
          </a:p>
        </p:txBody>
      </p:sp>
      <p:sp>
        <p:nvSpPr>
          <p:cNvPr id="3" name="Content Placeholder 2">
            <a:extLst>
              <a:ext uri="{FF2B5EF4-FFF2-40B4-BE49-F238E27FC236}">
                <a16:creationId xmlns:a16="http://schemas.microsoft.com/office/drawing/2014/main" id="{C9E7C62B-25CB-4AF4-7503-5778B32B25F0}"/>
              </a:ext>
            </a:extLst>
          </p:cNvPr>
          <p:cNvSpPr>
            <a:spLocks noGrp="1"/>
          </p:cNvSpPr>
          <p:nvPr>
            <p:ph idx="1"/>
          </p:nvPr>
        </p:nvSpPr>
        <p:spPr/>
        <p:txBody>
          <a:bodyPr vert="horz" lIns="91440" tIns="45720" rIns="91440" bIns="45720" rtlCol="0" anchor="t">
            <a:normAutofit/>
          </a:bodyPr>
          <a:lstStyle/>
          <a:p>
            <a:r>
              <a:rPr lang="en-US" dirty="0">
                <a:solidFill>
                  <a:srgbClr val="000000"/>
                </a:solidFill>
                <a:ea typeface="+mn-lt"/>
                <a:cs typeface="+mn-lt"/>
              </a:rPr>
              <a:t>Standards are the set of rules  for data communication that are needed for  exchange of information among devices. </a:t>
            </a:r>
          </a:p>
          <a:p>
            <a:r>
              <a:rPr lang="en-US" dirty="0">
                <a:solidFill>
                  <a:srgbClr val="000000"/>
                </a:solidFill>
                <a:ea typeface="+mn-lt"/>
                <a:cs typeface="+mn-lt"/>
              </a:rPr>
              <a:t>It is important to follow Standards which are created by various  Standard Organization like IEEE , ISO , ANSI </a:t>
            </a:r>
            <a:r>
              <a:rPr lang="en-US" err="1">
                <a:solidFill>
                  <a:srgbClr val="000000"/>
                </a:solidFill>
                <a:ea typeface="+mn-lt"/>
                <a:cs typeface="+mn-lt"/>
              </a:rPr>
              <a:t>etc</a:t>
            </a:r>
            <a:endParaRPr lang="en-US">
              <a:solidFill>
                <a:srgbClr val="000000"/>
              </a:solidFill>
              <a:ea typeface="+mn-lt"/>
              <a:cs typeface="+mn-lt"/>
            </a:endParaRPr>
          </a:p>
          <a:p>
            <a:pPr marL="0" indent="0">
              <a:buNone/>
            </a:pPr>
            <a:r>
              <a:rPr lang="en-US" i="1">
                <a:solidFill>
                  <a:srgbClr val="000000"/>
                </a:solidFill>
              </a:rPr>
              <a:t>Standards are of two types :</a:t>
            </a:r>
            <a:endParaRPr lang="en-US" i="1" dirty="0">
              <a:solidFill>
                <a:srgbClr val="000000"/>
              </a:solidFill>
            </a:endParaRPr>
          </a:p>
          <a:p>
            <a:r>
              <a:rPr lang="en-US">
                <a:solidFill>
                  <a:srgbClr val="000000"/>
                </a:solidFill>
              </a:rPr>
              <a:t>De Facto Standard.</a:t>
            </a:r>
            <a:endParaRPr lang="en-US"/>
          </a:p>
          <a:p>
            <a:r>
              <a:rPr lang="en-US">
                <a:solidFill>
                  <a:srgbClr val="000000"/>
                </a:solidFill>
              </a:rPr>
              <a:t>De Jure  Standard.</a:t>
            </a:r>
            <a:endParaRPr lang="en-US"/>
          </a:p>
          <a:p>
            <a:endParaRPr lang="en-US" dirty="0">
              <a:solidFill>
                <a:srgbClr val="000000"/>
              </a:solidFill>
            </a:endParaRPr>
          </a:p>
        </p:txBody>
      </p:sp>
    </p:spTree>
    <p:extLst>
      <p:ext uri="{BB962C8B-B14F-4D97-AF65-F5344CB8AC3E}">
        <p14:creationId xmlns:p14="http://schemas.microsoft.com/office/powerpoint/2010/main" val="1925414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0814C-B21F-B16B-6862-1A1437FC4A17}"/>
              </a:ext>
            </a:extLst>
          </p:cNvPr>
          <p:cNvSpPr>
            <a:spLocks noGrp="1"/>
          </p:cNvSpPr>
          <p:nvPr>
            <p:ph type="title"/>
          </p:nvPr>
        </p:nvSpPr>
        <p:spPr/>
        <p:txBody>
          <a:bodyPr/>
          <a:lstStyle/>
          <a:p>
            <a:r>
              <a:rPr lang="en-US" sz="2600" b="1" i="1" dirty="0">
                <a:ea typeface="+mj-lt"/>
                <a:cs typeface="+mj-lt"/>
              </a:rPr>
              <a:t>De Facto Standard : </a:t>
            </a:r>
            <a:endParaRPr lang="en-US" b="1" i="1" dirty="0"/>
          </a:p>
        </p:txBody>
      </p:sp>
      <p:sp>
        <p:nvSpPr>
          <p:cNvPr id="3" name="Content Placeholder 2">
            <a:extLst>
              <a:ext uri="{FF2B5EF4-FFF2-40B4-BE49-F238E27FC236}">
                <a16:creationId xmlns:a16="http://schemas.microsoft.com/office/drawing/2014/main" id="{4F587132-A4ED-9CE8-0E7C-F60970F19BAE}"/>
              </a:ext>
            </a:extLst>
          </p:cNvPr>
          <p:cNvSpPr>
            <a:spLocks noGrp="1"/>
          </p:cNvSpPr>
          <p:nvPr>
            <p:ph idx="1"/>
          </p:nvPr>
        </p:nvSpPr>
        <p:spPr/>
        <p:txBody>
          <a:bodyPr vert="horz" lIns="91440" tIns="45720" rIns="91440" bIns="45720" rtlCol="0" anchor="t">
            <a:normAutofit fontScale="92500" lnSpcReduction="10000"/>
          </a:bodyPr>
          <a:lstStyle/>
          <a:p>
            <a:pPr marL="0" indent="0">
              <a:buNone/>
            </a:pPr>
            <a:endParaRPr lang="en-US" dirty="0"/>
          </a:p>
          <a:p>
            <a:r>
              <a:rPr lang="en-US" dirty="0"/>
              <a:t>The meaning of the work ” De Facto ”  is ” By Fact ”  or “By </a:t>
            </a:r>
            <a:r>
              <a:rPr lang="en-US"/>
              <a:t>Convention”.</a:t>
            </a:r>
          </a:p>
          <a:p>
            <a:r>
              <a:rPr lang="en-US" dirty="0"/>
              <a:t>These are the standards that have not been approved by any Organization, but have been adopted as  Standards  because of it’s widespread use. </a:t>
            </a:r>
          </a:p>
          <a:p>
            <a:r>
              <a:rPr lang="en-US" dirty="0"/>
              <a:t>Also , sometimes these standards are often established by Manufacturers.</a:t>
            </a:r>
            <a:endParaRPr lang="en-US"/>
          </a:p>
          <a:p>
            <a:r>
              <a:rPr lang="en-US" dirty="0"/>
              <a:t>For example :   Apple  and Google are two companies which established their own rules on their products which are different. Also they use some same standard rules for manufacturing for their products.</a:t>
            </a:r>
          </a:p>
          <a:p>
            <a:endParaRPr lang="en-US" dirty="0"/>
          </a:p>
        </p:txBody>
      </p:sp>
    </p:spTree>
    <p:extLst>
      <p:ext uri="{BB962C8B-B14F-4D97-AF65-F5344CB8AC3E}">
        <p14:creationId xmlns:p14="http://schemas.microsoft.com/office/powerpoint/2010/main" val="2262696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F1FB0-6E18-5AF4-0210-CD766E57D935}"/>
              </a:ext>
            </a:extLst>
          </p:cNvPr>
          <p:cNvSpPr>
            <a:spLocks noGrp="1"/>
          </p:cNvSpPr>
          <p:nvPr>
            <p:ph type="title"/>
          </p:nvPr>
        </p:nvSpPr>
        <p:spPr/>
        <p:txBody>
          <a:bodyPr/>
          <a:lstStyle/>
          <a:p>
            <a:r>
              <a:rPr lang="en-US" sz="2800" b="1" i="1" dirty="0">
                <a:ea typeface="+mj-lt"/>
                <a:cs typeface="+mj-lt"/>
              </a:rPr>
              <a:t>De Jure Standard : </a:t>
            </a:r>
            <a:endParaRPr lang="en-US" b="1" i="1" dirty="0"/>
          </a:p>
        </p:txBody>
      </p:sp>
      <p:sp>
        <p:nvSpPr>
          <p:cNvPr id="3" name="Content Placeholder 2">
            <a:extLst>
              <a:ext uri="{FF2B5EF4-FFF2-40B4-BE49-F238E27FC236}">
                <a16:creationId xmlns:a16="http://schemas.microsoft.com/office/drawing/2014/main" id="{865B4D3B-EEC3-C3CF-E326-41BB302B57EE}"/>
              </a:ext>
            </a:extLst>
          </p:cNvPr>
          <p:cNvSpPr>
            <a:spLocks noGrp="1"/>
          </p:cNvSpPr>
          <p:nvPr>
            <p:ph idx="1"/>
          </p:nvPr>
        </p:nvSpPr>
        <p:spPr/>
        <p:txBody>
          <a:bodyPr vert="horz" lIns="91440" tIns="45720" rIns="91440" bIns="45720" rtlCol="0" anchor="t">
            <a:normAutofit/>
          </a:bodyPr>
          <a:lstStyle/>
          <a:p>
            <a:r>
              <a:rPr lang="en-US" dirty="0"/>
              <a:t> The meaning of the word “De Jure”  is  “By Law” or “By  Regulations”. </a:t>
            </a:r>
          </a:p>
          <a:p>
            <a:r>
              <a:rPr lang="en-US" dirty="0"/>
              <a:t>Thus , these are the  standards that have been approved by officially recognized body like ANSI , ISO , IEEE etc. </a:t>
            </a:r>
            <a:endParaRPr lang="en-US"/>
          </a:p>
          <a:p>
            <a:r>
              <a:rPr lang="en-US" dirty="0"/>
              <a:t>These are the standard which are important to follow if it is required or needed.</a:t>
            </a:r>
          </a:p>
          <a:p>
            <a:r>
              <a:rPr lang="en-US"/>
              <a:t>For example :  All the data communication standard  protocols like SMTP , TCP , IP , UDP etc. are important to follow the same when we needed them. </a:t>
            </a:r>
          </a:p>
          <a:p>
            <a:endParaRPr lang="en-US" dirty="0"/>
          </a:p>
        </p:txBody>
      </p:sp>
    </p:spTree>
    <p:extLst>
      <p:ext uri="{BB962C8B-B14F-4D97-AF65-F5344CB8AC3E}">
        <p14:creationId xmlns:p14="http://schemas.microsoft.com/office/powerpoint/2010/main" val="58791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3F8F43-613E-FF9F-134A-327F41AE8A27}"/>
              </a:ext>
            </a:extLst>
          </p:cNvPr>
          <p:cNvSpPr>
            <a:spLocks noGrp="1"/>
          </p:cNvSpPr>
          <p:nvPr>
            <p:ph type="title"/>
          </p:nvPr>
        </p:nvSpPr>
        <p:spPr>
          <a:xfrm>
            <a:off x="466722" y="586855"/>
            <a:ext cx="3201366" cy="3387497"/>
          </a:xfrm>
        </p:spPr>
        <p:txBody>
          <a:bodyPr anchor="b">
            <a:normAutofit/>
          </a:bodyPr>
          <a:lstStyle/>
          <a:p>
            <a:pPr algn="r"/>
            <a:r>
              <a:rPr lang="en-US" sz="2800" b="1" i="1" dirty="0">
                <a:solidFill>
                  <a:srgbClr val="FFFFFF"/>
                </a:solidFill>
                <a:ea typeface="+mj-lt"/>
                <a:cs typeface="+mj-lt"/>
              </a:rPr>
              <a:t>Protocol and standard compliance:</a:t>
            </a:r>
            <a:br>
              <a:rPr lang="en-US" sz="2800" b="1" i="1" dirty="0">
                <a:solidFill>
                  <a:srgbClr val="FFFFFF"/>
                </a:solidFill>
                <a:ea typeface="+mj-lt"/>
                <a:cs typeface="+mj-lt"/>
              </a:rPr>
            </a:br>
            <a:r>
              <a:rPr lang="en-US" sz="2400" i="1" dirty="0">
                <a:solidFill>
                  <a:srgbClr val="FFFFFF"/>
                </a:solidFill>
                <a:ea typeface="+mj-lt"/>
                <a:cs typeface="+mj-lt"/>
              </a:rPr>
              <a:t>Protocol and standard compliance protects data, resources, and networks.</a:t>
            </a:r>
            <a:endParaRPr lang="en-US" sz="2400" b="1" i="1">
              <a:solidFill>
                <a:srgbClr val="FFFFFF"/>
              </a:solidFill>
            </a:endParaRPr>
          </a:p>
        </p:txBody>
      </p:sp>
      <p:sp>
        <p:nvSpPr>
          <p:cNvPr id="3" name="Content Placeholder 2">
            <a:extLst>
              <a:ext uri="{FF2B5EF4-FFF2-40B4-BE49-F238E27FC236}">
                <a16:creationId xmlns:a16="http://schemas.microsoft.com/office/drawing/2014/main" id="{01157C16-C571-A717-98EA-B781AE58A95B}"/>
              </a:ext>
            </a:extLst>
          </p:cNvPr>
          <p:cNvSpPr>
            <a:spLocks noGrp="1"/>
          </p:cNvSpPr>
          <p:nvPr>
            <p:ph idx="1"/>
          </p:nvPr>
        </p:nvSpPr>
        <p:spPr>
          <a:xfrm>
            <a:off x="4810259" y="649480"/>
            <a:ext cx="6555347" cy="5546047"/>
          </a:xfrm>
        </p:spPr>
        <p:txBody>
          <a:bodyPr vert="horz" lIns="91440" tIns="45720" rIns="91440" bIns="45720" rtlCol="0" anchor="ctr">
            <a:normAutofit/>
          </a:bodyPr>
          <a:lstStyle/>
          <a:p>
            <a:pPr algn="just"/>
            <a:r>
              <a:rPr lang="en-US" sz="2000" b="1" dirty="0">
                <a:latin typeface="Arial"/>
                <a:ea typeface="+mn-lt"/>
                <a:cs typeface="Arial"/>
              </a:rPr>
              <a:t>Interoperability :</a:t>
            </a:r>
            <a:r>
              <a:rPr lang="en-US" sz="2000" dirty="0">
                <a:latin typeface="Arial"/>
                <a:ea typeface="+mn-lt"/>
                <a:cs typeface="Arial"/>
              </a:rPr>
              <a:t> Protocols and standards allow devices and systems to communicate. These protocols ensure network components can function together, avoiding risks and security gaps produced by incompatible or unsupported systems.</a:t>
            </a:r>
            <a:endParaRPr lang="en-US" dirty="0"/>
          </a:p>
          <a:p>
            <a:pPr algn="just"/>
            <a:r>
              <a:rPr lang="en-US" sz="2000" b="1" dirty="0">
                <a:latin typeface="Arial"/>
                <a:ea typeface="+mn-lt"/>
                <a:cs typeface="Arial"/>
              </a:rPr>
              <a:t>Security Baseline : </a:t>
            </a:r>
            <a:r>
              <a:rPr lang="en-US" sz="2000" dirty="0">
                <a:latin typeface="Arial"/>
                <a:ea typeface="+mn-lt"/>
                <a:cs typeface="Arial"/>
              </a:rPr>
              <a:t>Protocols and standards contain security principles and best practices that help secure network infrastructure. These protocols allow organizations to protect sensitive data via encryption, authentication, and access controls. </a:t>
            </a:r>
          </a:p>
          <a:p>
            <a:pPr algn="just"/>
            <a:r>
              <a:rPr lang="en-US" sz="2000" b="1" dirty="0">
                <a:latin typeface="Arial"/>
                <a:ea typeface="+mn-lt"/>
                <a:cs typeface="Arial"/>
              </a:rPr>
              <a:t>Vulnerability Management :</a:t>
            </a:r>
            <a:r>
              <a:rPr lang="en-US" sz="2000" dirty="0">
                <a:latin typeface="Arial"/>
                <a:ea typeface="+mn-lt"/>
                <a:cs typeface="Arial"/>
              </a:rPr>
              <a:t> Network security protocols and standards help organizations find and fix vulnerabilities. </a:t>
            </a:r>
            <a:r>
              <a:rPr lang="en-US" sz="2000" dirty="0">
                <a:solidFill>
                  <a:srgbClr val="000000"/>
                </a:solidFill>
                <a:latin typeface="Arial"/>
                <a:ea typeface="+mn-lt"/>
                <a:cs typeface="Arial"/>
              </a:rPr>
              <a:t>Organizations can prevent cyberattacks and address vulnerabilities by following these compliance criteria.</a:t>
            </a:r>
          </a:p>
          <a:p>
            <a:pPr marL="0" indent="0">
              <a:buNone/>
            </a:pPr>
            <a:endParaRPr lang="en-US" sz="2000">
              <a:latin typeface="Arial"/>
              <a:ea typeface="+mn-lt"/>
              <a:cs typeface="Arial"/>
            </a:endParaRPr>
          </a:p>
          <a:p>
            <a:endParaRPr lang="en-US" sz="2000">
              <a:ea typeface="+mn-lt"/>
              <a:cs typeface="+mn-lt"/>
            </a:endParaRPr>
          </a:p>
        </p:txBody>
      </p:sp>
    </p:spTree>
    <p:extLst>
      <p:ext uri="{BB962C8B-B14F-4D97-AF65-F5344CB8AC3E}">
        <p14:creationId xmlns:p14="http://schemas.microsoft.com/office/powerpoint/2010/main" val="2197421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968AE025085A4381B5FE55A4B7B3DB" ma:contentTypeVersion="3" ma:contentTypeDescription="Create a new document." ma:contentTypeScope="" ma:versionID="bd89c5ba67f969997ddc75c00e52ceb6">
  <xsd:schema xmlns:xsd="http://www.w3.org/2001/XMLSchema" xmlns:xs="http://www.w3.org/2001/XMLSchema" xmlns:p="http://schemas.microsoft.com/office/2006/metadata/properties" xmlns:ns2="9491888e-085e-4340-beca-492653a9b978" targetNamespace="http://schemas.microsoft.com/office/2006/metadata/properties" ma:root="true" ma:fieldsID="9456090e7249331ed3f7fa7a4e50cd65" ns2:_="">
    <xsd:import namespace="9491888e-085e-4340-beca-492653a9b97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91888e-085e-4340-beca-492653a9b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01BE21B-B2CE-46B0-BE95-7D7ADEB3142D}"/>
</file>

<file path=customXml/itemProps2.xml><?xml version="1.0" encoding="utf-8"?>
<ds:datastoreItem xmlns:ds="http://schemas.openxmlformats.org/officeDocument/2006/customXml" ds:itemID="{BF422D58-1BB7-4EB1-A669-006F47564679}"/>
</file>

<file path=customXml/itemProps3.xml><?xml version="1.0" encoding="utf-8"?>
<ds:datastoreItem xmlns:ds="http://schemas.openxmlformats.org/officeDocument/2006/customXml" ds:itemID="{6875A2F1-DED5-44A5-97DB-0368B2EEE6BB}"/>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Computer Networks 21CSA212</vt:lpstr>
      <vt:lpstr>Network Devices</vt:lpstr>
      <vt:lpstr>PowerPoint Presentation</vt:lpstr>
      <vt:lpstr>PowerPoint Presentation</vt:lpstr>
      <vt:lpstr>PowerPoint Presentation</vt:lpstr>
      <vt:lpstr>PowerPoint Presentation</vt:lpstr>
      <vt:lpstr>Types of hub</vt:lpstr>
      <vt:lpstr>PowerPoint Presentation</vt:lpstr>
      <vt:lpstr>PowerPoint Presentation</vt:lpstr>
      <vt:lpstr>Switch :</vt:lpstr>
      <vt:lpstr>PowerPoint Presentation</vt:lpstr>
      <vt:lpstr>PowerPoint Presentation</vt:lpstr>
      <vt:lpstr>PowerPoint Presentation</vt:lpstr>
      <vt:lpstr>Protocols Standards</vt:lpstr>
      <vt:lpstr>Key elements of Protocol:</vt:lpstr>
      <vt:lpstr>PowerPoint Presentation</vt:lpstr>
      <vt:lpstr>PowerPoint Presentation</vt:lpstr>
      <vt:lpstr>PowerPoint Presentation</vt:lpstr>
      <vt:lpstr>Standards</vt:lpstr>
      <vt:lpstr>De Facto Standard : </vt:lpstr>
      <vt:lpstr>De Jure Standard : </vt:lpstr>
      <vt:lpstr>Protocol and standard compliance: Protocol and standard compliance protects data, resources, and networks.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332</cp:revision>
  <dcterms:created xsi:type="dcterms:W3CDTF">2024-01-26T13:55:52Z</dcterms:created>
  <dcterms:modified xsi:type="dcterms:W3CDTF">2025-02-08T09:07:19Z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0x01010082968AE025085A4381B5FE55A4B7B3DB</vt:lpwstr>
  </property>
</Properties>
</file>