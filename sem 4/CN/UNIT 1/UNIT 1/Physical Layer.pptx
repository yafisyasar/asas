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94"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5" r:id="rId35"/>
    <p:sldId id="288" r:id="rId36"/>
    <p:sldId id="296" r:id="rId37"/>
    <p:sldId id="297" r:id="rId38"/>
    <p:sldId id="289" r:id="rId39"/>
    <p:sldId id="290" r:id="rId40"/>
    <p:sldId id="291" r:id="rId41"/>
    <p:sldId id="293" r:id="rId42"/>
    <p:sldId id="292"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7A829E-DA09-ACFC-3F6E-111FB9208B24}" v="90" dt="2025-02-04T16:47:38.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1271E-3BCA-54DA-7699-A4206D05984B}"/>
              </a:ext>
            </a:extLst>
          </p:cNvPr>
          <p:cNvSpPr>
            <a:spLocks noGrp="1"/>
          </p:cNvSpPr>
          <p:nvPr>
            <p:ph type="ctrTitle"/>
          </p:nvPr>
        </p:nvSpPr>
        <p:spPr/>
        <p:txBody>
          <a:bodyPr/>
          <a:lstStyle/>
          <a:p>
            <a:r>
              <a:rPr lang="en-US" dirty="0">
                <a:ea typeface="Calibri Light"/>
                <a:cs typeface="Calibri Light"/>
              </a:rPr>
              <a:t>Computer Networks</a:t>
            </a:r>
            <a:br>
              <a:rPr lang="en-US" dirty="0">
                <a:ea typeface="Calibri Light"/>
                <a:cs typeface="Calibri Light"/>
              </a:rPr>
            </a:br>
            <a:r>
              <a:rPr lang="en-US" sz="3200" dirty="0">
                <a:ea typeface="Calibri Light"/>
                <a:cs typeface="Calibri Light"/>
              </a:rPr>
              <a:t>21CSA212</a:t>
            </a:r>
            <a:endParaRPr lang="en-US" sz="3200" dirty="0"/>
          </a:p>
        </p:txBody>
      </p:sp>
      <p:sp>
        <p:nvSpPr>
          <p:cNvPr id="3" name="Subtitle 2">
            <a:extLst>
              <a:ext uri="{FF2B5EF4-FFF2-40B4-BE49-F238E27FC236}">
                <a16:creationId xmlns:a16="http://schemas.microsoft.com/office/drawing/2014/main" id="{4CA7C63B-000D-E9B5-0687-D265A8191B0D}"/>
              </a:ext>
            </a:extLst>
          </p:cNvPr>
          <p:cNvSpPr>
            <a:spLocks noGrp="1"/>
          </p:cNvSpPr>
          <p:nvPr>
            <p:ph type="subTitle" idx="1"/>
          </p:nvPr>
        </p:nvSpPr>
        <p:spPr/>
        <p:txBody>
          <a:bodyPr vert="horz" lIns="91440" tIns="45720" rIns="91440" bIns="45720" rtlCol="0" anchor="t">
            <a:normAutofit/>
          </a:bodyPr>
          <a:lstStyle/>
          <a:p>
            <a:r>
              <a:rPr lang="en-US" dirty="0">
                <a:ea typeface="Calibri"/>
                <a:cs typeface="Calibri"/>
              </a:rPr>
              <a:t>Lecture: Physical Layer</a:t>
            </a:r>
            <a:endParaRPr lang="en-US" dirty="0"/>
          </a:p>
        </p:txBody>
      </p:sp>
    </p:spTree>
    <p:extLst>
      <p:ext uri="{BB962C8B-B14F-4D97-AF65-F5344CB8AC3E}">
        <p14:creationId xmlns:p14="http://schemas.microsoft.com/office/powerpoint/2010/main" val="4221148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47B94-E149-5AC7-DF79-C3F0875BA11C}"/>
              </a:ext>
            </a:extLst>
          </p:cNvPr>
          <p:cNvSpPr>
            <a:spLocks noGrp="1"/>
          </p:cNvSpPr>
          <p:nvPr>
            <p:ph type="title"/>
          </p:nvPr>
        </p:nvSpPr>
        <p:spPr/>
        <p:txBody>
          <a:bodyPr/>
          <a:lstStyle/>
          <a:p>
            <a:r>
              <a:rPr lang="en-US" dirty="0">
                <a:ea typeface="Calibri Light"/>
                <a:cs typeface="Calibri Light"/>
              </a:rPr>
              <a:t>Contents</a:t>
            </a:r>
            <a:endParaRPr lang="en-US" dirty="0"/>
          </a:p>
        </p:txBody>
      </p:sp>
      <p:sp>
        <p:nvSpPr>
          <p:cNvPr id="3" name="Content Placeholder 2">
            <a:extLst>
              <a:ext uri="{FF2B5EF4-FFF2-40B4-BE49-F238E27FC236}">
                <a16:creationId xmlns:a16="http://schemas.microsoft.com/office/drawing/2014/main" id="{E1C5AAAD-45EB-A313-A347-88AD2E8BBCA3}"/>
              </a:ext>
            </a:extLst>
          </p:cNvPr>
          <p:cNvSpPr>
            <a:spLocks noGrp="1"/>
          </p:cNvSpPr>
          <p:nvPr>
            <p:ph idx="1"/>
          </p:nvPr>
        </p:nvSpPr>
        <p:spPr/>
        <p:txBody>
          <a:bodyPr vert="horz" lIns="91440" tIns="45720" rIns="91440" bIns="45720" rtlCol="0" anchor="t">
            <a:normAutofit/>
          </a:bodyPr>
          <a:lstStyle/>
          <a:p>
            <a:r>
              <a:rPr lang="en-US">
                <a:ea typeface="Calibri"/>
                <a:cs typeface="Calibri"/>
              </a:rPr>
              <a:t>Transmission Media</a:t>
            </a:r>
          </a:p>
          <a:p>
            <a:r>
              <a:rPr lang="en-US" dirty="0">
                <a:ea typeface="Calibri"/>
                <a:cs typeface="Calibri"/>
              </a:rPr>
              <a:t>Analog Transmission</a:t>
            </a:r>
          </a:p>
          <a:p>
            <a:r>
              <a:rPr lang="en-US" dirty="0">
                <a:ea typeface="Calibri"/>
                <a:cs typeface="Calibri"/>
              </a:rPr>
              <a:t>Digital Transmission</a:t>
            </a:r>
          </a:p>
        </p:txBody>
      </p:sp>
    </p:spTree>
    <p:extLst>
      <p:ext uri="{BB962C8B-B14F-4D97-AF65-F5344CB8AC3E}">
        <p14:creationId xmlns:p14="http://schemas.microsoft.com/office/powerpoint/2010/main" val="2396177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C3B7-B3B6-72E0-0477-5F2F33097C85}"/>
              </a:ext>
            </a:extLst>
          </p:cNvPr>
          <p:cNvSpPr>
            <a:spLocks noGrp="1"/>
          </p:cNvSpPr>
          <p:nvPr>
            <p:ph type="title"/>
          </p:nvPr>
        </p:nvSpPr>
        <p:spPr/>
        <p:txBody>
          <a:bodyPr/>
          <a:lstStyle/>
          <a:p>
            <a:r>
              <a:rPr lang="en-US"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AAE9FC07-B03A-DC69-D6DD-80E1F49815E4}"/>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The physical layer is the first and lowest layer from the bottom of the 7-layered OSI model and delivers security to hardware.</a:t>
            </a:r>
          </a:p>
          <a:p>
            <a:r>
              <a:rPr lang="en-US" dirty="0">
                <a:solidFill>
                  <a:srgbClr val="000000"/>
                </a:solidFill>
                <a:ea typeface="Calibri"/>
                <a:cs typeface="Calibri"/>
              </a:rPr>
              <a:t>It is the foundation on which the network is built.</a:t>
            </a:r>
          </a:p>
          <a:p>
            <a:r>
              <a:rPr lang="en-US" dirty="0">
                <a:solidFill>
                  <a:srgbClr val="000000"/>
                </a:solidFill>
                <a:ea typeface="Calibri"/>
                <a:cs typeface="Calibri"/>
              </a:rPr>
              <a:t>Physical layer comes under the category of hardware layers</a:t>
            </a:r>
          </a:p>
          <a:p>
            <a:r>
              <a:rPr lang="en-US" dirty="0">
                <a:solidFill>
                  <a:srgbClr val="000000"/>
                </a:solidFill>
                <a:ea typeface="Calibri"/>
                <a:cs typeface="Calibri"/>
              </a:rPr>
              <a:t>It consist of network components such as power plugs, connectors, receivers, cable types </a:t>
            </a:r>
            <a:r>
              <a:rPr lang="en-US" dirty="0" err="1">
                <a:solidFill>
                  <a:srgbClr val="000000"/>
                </a:solidFill>
                <a:ea typeface="Calibri"/>
                <a:cs typeface="Calibri"/>
              </a:rPr>
              <a:t>etc</a:t>
            </a:r>
          </a:p>
        </p:txBody>
      </p:sp>
    </p:spTree>
    <p:extLst>
      <p:ext uri="{BB962C8B-B14F-4D97-AF65-F5344CB8AC3E}">
        <p14:creationId xmlns:p14="http://schemas.microsoft.com/office/powerpoint/2010/main" val="2908351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2B9EF-F2EA-6907-7B67-DDF8942B66B4}"/>
              </a:ext>
            </a:extLst>
          </p:cNvPr>
          <p:cNvSpPr>
            <a:spLocks noGrp="1"/>
          </p:cNvSpPr>
          <p:nvPr>
            <p:ph type="title"/>
          </p:nvPr>
        </p:nvSpPr>
        <p:spPr/>
        <p:txBody>
          <a:bodyPr/>
          <a:lstStyle/>
          <a:p>
            <a:r>
              <a:rPr lang="en-US">
                <a:ea typeface="Calibri Light"/>
                <a:cs typeface="Calibri Light"/>
              </a:rPr>
              <a:t>Functions of physical layer</a:t>
            </a:r>
            <a:endParaRPr lang="en-US"/>
          </a:p>
        </p:txBody>
      </p:sp>
      <p:sp>
        <p:nvSpPr>
          <p:cNvPr id="3" name="Content Placeholder 2">
            <a:extLst>
              <a:ext uri="{FF2B5EF4-FFF2-40B4-BE49-F238E27FC236}">
                <a16:creationId xmlns:a16="http://schemas.microsoft.com/office/drawing/2014/main" id="{546A4820-D99A-001F-5D1E-2BCFA069E20D}"/>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It transfers data bit by bit or symbol by symbol.</a:t>
            </a:r>
            <a:endParaRPr lang="en-US" dirty="0">
              <a:ea typeface="Calibri"/>
              <a:cs typeface="Calibri"/>
            </a:endParaRPr>
          </a:p>
          <a:p>
            <a:r>
              <a:rPr lang="en-US" dirty="0">
                <a:ea typeface="+mn-lt"/>
                <a:cs typeface="+mn-lt"/>
              </a:rPr>
              <a:t>It performs </a:t>
            </a:r>
            <a:r>
              <a:rPr lang="en-US" b="1" dirty="0">
                <a:ea typeface="+mn-lt"/>
                <a:cs typeface="+mn-lt"/>
              </a:rPr>
              <a:t>bit synchronization</a:t>
            </a:r>
            <a:r>
              <a:rPr lang="en-US" dirty="0">
                <a:ea typeface="+mn-lt"/>
                <a:cs typeface="+mn-lt"/>
              </a:rPr>
              <a:t>, which means that only one bit needs to be transferred from one system to another at a time. There should be no overlapping of bits during transmission. Bit synchronization can be achieved by providing a clock.</a:t>
            </a:r>
            <a:endParaRPr lang="en-US" dirty="0">
              <a:ea typeface="Calibri"/>
              <a:cs typeface="Calibri"/>
            </a:endParaRPr>
          </a:p>
          <a:p>
            <a:r>
              <a:rPr lang="en-US" b="1" dirty="0">
                <a:ea typeface="+mn-lt"/>
                <a:cs typeface="+mn-lt"/>
              </a:rPr>
              <a:t>Bit rate control </a:t>
            </a:r>
            <a:r>
              <a:rPr lang="en-US" dirty="0">
                <a:ea typeface="+mn-lt"/>
                <a:cs typeface="+mn-lt"/>
              </a:rPr>
              <a:t>defines how many bits per second can be transmitted, i.e., the number of bits sent per second.</a:t>
            </a:r>
            <a:endParaRPr lang="en-US" dirty="0">
              <a:ea typeface="Calibri"/>
              <a:cs typeface="Calibri"/>
            </a:endParaRPr>
          </a:p>
          <a:p>
            <a:r>
              <a:rPr lang="en-US" dirty="0">
                <a:ea typeface="+mn-lt"/>
                <a:cs typeface="+mn-lt"/>
              </a:rPr>
              <a:t>It is responsible for the translation of data received from the data link layer for further transmission.</a:t>
            </a:r>
            <a:endParaRPr lang="en-US" dirty="0">
              <a:ea typeface="Calibri"/>
              <a:cs typeface="Calibri"/>
            </a:endParaRPr>
          </a:p>
          <a:p>
            <a:r>
              <a:rPr lang="en-US" dirty="0">
                <a:solidFill>
                  <a:srgbClr val="000000"/>
                </a:solidFill>
                <a:ea typeface="+mn-lt"/>
                <a:cs typeface="+mn-lt"/>
              </a:rPr>
              <a:t>It is also responsible for maintaining the data quality by applying the necessary protocols and maintaining the data bit rate.</a:t>
            </a:r>
          </a:p>
          <a:p>
            <a:r>
              <a:rPr lang="en-US" dirty="0">
                <a:ea typeface="Calibri"/>
                <a:cs typeface="Calibri"/>
              </a:rPr>
              <a:t>It also specifies the </a:t>
            </a:r>
            <a:r>
              <a:rPr lang="en-US" b="1" dirty="0">
                <a:ea typeface="Calibri"/>
                <a:cs typeface="Calibri"/>
              </a:rPr>
              <a:t>network topology and transmission mode</a:t>
            </a:r>
          </a:p>
          <a:p>
            <a:pPr marL="0" indent="0">
              <a:buNone/>
            </a:pPr>
            <a:endParaRPr lang="en-US" dirty="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123700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15C0-F63E-1959-94CB-17D974C08B41}"/>
              </a:ext>
            </a:extLst>
          </p:cNvPr>
          <p:cNvSpPr>
            <a:spLocks noGrp="1"/>
          </p:cNvSpPr>
          <p:nvPr>
            <p:ph type="title"/>
          </p:nvPr>
        </p:nvSpPr>
        <p:spPr/>
        <p:txBody>
          <a:bodyPr/>
          <a:lstStyle/>
          <a:p>
            <a:r>
              <a:rPr lang="en-US" dirty="0">
                <a:cs typeface="Calibri Light"/>
              </a:rPr>
              <a:t>Attributes of Physical Layer</a:t>
            </a:r>
            <a:endParaRPr lang="en-US" dirty="0"/>
          </a:p>
        </p:txBody>
      </p:sp>
      <p:sp>
        <p:nvSpPr>
          <p:cNvPr id="3" name="Content Placeholder 2">
            <a:extLst>
              <a:ext uri="{FF2B5EF4-FFF2-40B4-BE49-F238E27FC236}">
                <a16:creationId xmlns:a16="http://schemas.microsoft.com/office/drawing/2014/main" id="{6630572A-C49F-1E11-E3D1-755F4F06A731}"/>
              </a:ext>
            </a:extLst>
          </p:cNvPr>
          <p:cNvSpPr>
            <a:spLocks noGrp="1"/>
          </p:cNvSpPr>
          <p:nvPr>
            <p:ph idx="1"/>
          </p:nvPr>
        </p:nvSpPr>
        <p:spPr/>
        <p:txBody>
          <a:bodyPr vert="horz" lIns="91440" tIns="45720" rIns="91440" bIns="45720" rtlCol="0" anchor="t">
            <a:normAutofit/>
          </a:bodyPr>
          <a:lstStyle/>
          <a:p>
            <a:r>
              <a:rPr lang="en-US" b="1" i="1" dirty="0">
                <a:cs typeface="Calibri"/>
              </a:rPr>
              <a:t>Signals</a:t>
            </a:r>
            <a:r>
              <a:rPr lang="en-US" dirty="0">
                <a:cs typeface="Calibri"/>
              </a:rPr>
              <a:t>: </a:t>
            </a:r>
            <a:r>
              <a:rPr lang="en-US" dirty="0">
                <a:solidFill>
                  <a:srgbClr val="000000"/>
                </a:solidFill>
                <a:ea typeface="+mn-lt"/>
                <a:cs typeface="+mn-lt"/>
              </a:rPr>
              <a:t>The data is first converted to a signal for efficient data transmission. There are two kinds of signals: Analog and Digital </a:t>
            </a:r>
            <a:r>
              <a:rPr lang="en-US">
                <a:solidFill>
                  <a:srgbClr val="000000"/>
                </a:solidFill>
                <a:ea typeface="+mn-lt"/>
                <a:cs typeface="+mn-lt"/>
              </a:rPr>
              <a:t>signals</a:t>
            </a:r>
          </a:p>
          <a:p>
            <a:r>
              <a:rPr lang="en-US" b="1" i="1" dirty="0">
                <a:solidFill>
                  <a:srgbClr val="000000"/>
                </a:solidFill>
                <a:ea typeface="+mn-lt"/>
                <a:cs typeface="+mn-lt"/>
              </a:rPr>
              <a:t>Transmission media</a:t>
            </a:r>
            <a:r>
              <a:rPr lang="en-US" dirty="0">
                <a:solidFill>
                  <a:srgbClr val="000000"/>
                </a:solidFill>
                <a:ea typeface="+mn-lt"/>
                <a:cs typeface="+mn-lt"/>
              </a:rPr>
              <a:t>: Data is carried from source to destination with the help of transmission media. There are two sorts of transmission media: wireless and wired</a:t>
            </a:r>
          </a:p>
          <a:p>
            <a:r>
              <a:rPr lang="en-US" b="1" i="1" dirty="0">
                <a:solidFill>
                  <a:srgbClr val="000000"/>
                </a:solidFill>
                <a:ea typeface="+mn-lt"/>
                <a:cs typeface="+mn-lt"/>
              </a:rPr>
              <a:t>Data Flow: </a:t>
            </a:r>
            <a:r>
              <a:rPr lang="en-US" dirty="0">
                <a:solidFill>
                  <a:srgbClr val="000000"/>
                </a:solidFill>
                <a:ea typeface="+mn-lt"/>
                <a:cs typeface="+mn-lt"/>
              </a:rPr>
              <a:t>It describes the rate of data flow and the transmission time frame. The factors affecting the data flow are as follows: bandwidth and error rate</a:t>
            </a:r>
            <a:endParaRPr lang="en-US" dirty="0">
              <a:solidFill>
                <a:srgbClr val="000000"/>
              </a:solidFill>
              <a:cs typeface="Calibri"/>
            </a:endParaRPr>
          </a:p>
        </p:txBody>
      </p:sp>
    </p:spTree>
    <p:extLst>
      <p:ext uri="{BB962C8B-B14F-4D97-AF65-F5344CB8AC3E}">
        <p14:creationId xmlns:p14="http://schemas.microsoft.com/office/powerpoint/2010/main" val="3713555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7F3B-81F7-0B18-3D63-36CCF9A6D8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D6156B-AD36-7C8B-2539-91B50D23EA1F}"/>
              </a:ext>
            </a:extLst>
          </p:cNvPr>
          <p:cNvSpPr>
            <a:spLocks noGrp="1"/>
          </p:cNvSpPr>
          <p:nvPr>
            <p:ph idx="1"/>
          </p:nvPr>
        </p:nvSpPr>
        <p:spPr/>
        <p:txBody>
          <a:bodyPr vert="horz" lIns="91440" tIns="45720" rIns="91440" bIns="45720" rtlCol="0" anchor="t">
            <a:normAutofit fontScale="92500" lnSpcReduction="10000"/>
          </a:bodyPr>
          <a:lstStyle/>
          <a:p>
            <a:r>
              <a:rPr lang="en-US" b="1" i="1" dirty="0">
                <a:cs typeface="Calibri"/>
              </a:rPr>
              <a:t>Transmission mode:</a:t>
            </a:r>
            <a:r>
              <a:rPr lang="en-US" dirty="0">
                <a:cs typeface="Calibri"/>
              </a:rPr>
              <a:t> I</a:t>
            </a:r>
            <a:r>
              <a:rPr lang="en-US" dirty="0">
                <a:solidFill>
                  <a:srgbClr val="000000"/>
                </a:solidFill>
                <a:ea typeface="+mn-lt"/>
                <a:cs typeface="+mn-lt"/>
              </a:rPr>
              <a:t>t describes the direction of the data flow. Data can be transmitted in three sorts of transmission modes as follows: simplex, half-duplex and full-duplex mode.</a:t>
            </a:r>
            <a:endParaRPr lang="en-US" dirty="0">
              <a:solidFill>
                <a:srgbClr val="000000"/>
              </a:solidFill>
              <a:cs typeface="Calibri" panose="020F0502020204030204"/>
            </a:endParaRPr>
          </a:p>
          <a:p>
            <a:r>
              <a:rPr lang="en-US" b="1" dirty="0">
                <a:solidFill>
                  <a:srgbClr val="000000"/>
                </a:solidFill>
                <a:cs typeface="Calibri" panose="020F0502020204030204"/>
              </a:rPr>
              <a:t>Simplex mode: </a:t>
            </a:r>
            <a:r>
              <a:rPr lang="en-US" dirty="0">
                <a:solidFill>
                  <a:srgbClr val="000000"/>
                </a:solidFill>
                <a:ea typeface="+mn-lt"/>
                <a:cs typeface="+mn-lt"/>
              </a:rPr>
              <a:t>This mode of communication is a one-way communication </a:t>
            </a:r>
            <a:r>
              <a:rPr lang="en-US">
                <a:solidFill>
                  <a:srgbClr val="000000"/>
                </a:solidFill>
                <a:ea typeface="+mn-lt"/>
                <a:cs typeface="+mn-lt"/>
              </a:rPr>
              <a:t>where a device can only send data. Examples are a mouse, keyboard, etc.</a:t>
            </a:r>
          </a:p>
          <a:p>
            <a:r>
              <a:rPr lang="en-US" b="1">
                <a:solidFill>
                  <a:srgbClr val="000000"/>
                </a:solidFill>
                <a:ea typeface="+mn-lt"/>
                <a:cs typeface="+mn-lt"/>
              </a:rPr>
              <a:t>Half-duplex mode: </a:t>
            </a:r>
            <a:r>
              <a:rPr lang="en-US" dirty="0">
                <a:solidFill>
                  <a:srgbClr val="000000"/>
                </a:solidFill>
                <a:ea typeface="+mn-lt"/>
                <a:cs typeface="+mn-lt"/>
              </a:rPr>
              <a:t>This mode of communication supports one-way communication, i.e., either data can be transmitted or received. An example </a:t>
            </a:r>
            <a:r>
              <a:rPr lang="en-US">
                <a:solidFill>
                  <a:srgbClr val="000000"/>
                </a:solidFill>
                <a:ea typeface="+mn-lt"/>
                <a:cs typeface="+mn-lt"/>
              </a:rPr>
              <a:t>is a walkie-talkie.</a:t>
            </a:r>
            <a:endParaRPr lang="en-US">
              <a:cs typeface="Calibri"/>
            </a:endParaRPr>
          </a:p>
          <a:p>
            <a:r>
              <a:rPr lang="en-US" b="1">
                <a:solidFill>
                  <a:srgbClr val="000000"/>
                </a:solidFill>
                <a:ea typeface="+mn-lt"/>
                <a:cs typeface="+mn-lt"/>
              </a:rPr>
              <a:t>Full-duplex mode: </a:t>
            </a:r>
            <a:r>
              <a:rPr lang="en-US" dirty="0">
                <a:solidFill>
                  <a:srgbClr val="000000"/>
                </a:solidFill>
                <a:ea typeface="+mn-lt"/>
                <a:cs typeface="+mn-lt"/>
              </a:rPr>
              <a:t>This mode of communication supports two-way communication, i.e., the device can send and receive data at the same time. An example is cellular communication.</a:t>
            </a:r>
            <a:endParaRPr lang="en-US">
              <a:cs typeface="Calibri"/>
            </a:endParaRPr>
          </a:p>
          <a:p>
            <a:pPr marL="0" indent="0">
              <a:buNone/>
            </a:pPr>
            <a:endParaRPr lang="en-US" dirty="0">
              <a:solidFill>
                <a:srgbClr val="000000"/>
              </a:solidFill>
              <a:cs typeface="Calibri" panose="020F0502020204030204"/>
            </a:endParaRPr>
          </a:p>
        </p:txBody>
      </p:sp>
    </p:spTree>
    <p:extLst>
      <p:ext uri="{BB962C8B-B14F-4D97-AF65-F5344CB8AC3E}">
        <p14:creationId xmlns:p14="http://schemas.microsoft.com/office/powerpoint/2010/main" val="1322772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F23B-46D4-C313-2907-D17C0AE9DD5E}"/>
              </a:ext>
            </a:extLst>
          </p:cNvPr>
          <p:cNvSpPr>
            <a:spLocks noGrp="1"/>
          </p:cNvSpPr>
          <p:nvPr>
            <p:ph type="title"/>
          </p:nvPr>
        </p:nvSpPr>
        <p:spPr/>
        <p:txBody>
          <a:bodyPr/>
          <a:lstStyle/>
          <a:p>
            <a:r>
              <a:rPr lang="en-US" dirty="0">
                <a:cs typeface="Calibri Light"/>
              </a:rPr>
              <a:t>Guided Transmission media</a:t>
            </a:r>
            <a:endParaRPr lang="en-US" dirty="0"/>
          </a:p>
        </p:txBody>
      </p:sp>
      <p:sp>
        <p:nvSpPr>
          <p:cNvPr id="3" name="Content Placeholder 2">
            <a:extLst>
              <a:ext uri="{FF2B5EF4-FFF2-40B4-BE49-F238E27FC236}">
                <a16:creationId xmlns:a16="http://schemas.microsoft.com/office/drawing/2014/main" id="{ED024622-84D1-BC4E-5D40-00E3A7D531F6}"/>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It is defined as the physical medium through which the signals are transmitted. It is also known as Bounded media.</a:t>
            </a:r>
          </a:p>
          <a:p>
            <a:pPr marL="0" indent="0">
              <a:buNone/>
            </a:pPr>
            <a:r>
              <a:rPr lang="en-US" dirty="0">
                <a:solidFill>
                  <a:srgbClr val="000000"/>
                </a:solidFill>
                <a:cs typeface="Calibri"/>
              </a:rPr>
              <a:t>Types of guided transmission media: </a:t>
            </a:r>
          </a:p>
          <a:p>
            <a:r>
              <a:rPr lang="en-US" dirty="0">
                <a:solidFill>
                  <a:srgbClr val="000000"/>
                </a:solidFill>
                <a:cs typeface="Calibri"/>
              </a:rPr>
              <a:t>Twisted Pairs</a:t>
            </a:r>
          </a:p>
          <a:p>
            <a:r>
              <a:rPr lang="en-US" dirty="0">
                <a:solidFill>
                  <a:srgbClr val="000000"/>
                </a:solidFill>
                <a:cs typeface="Calibri"/>
              </a:rPr>
              <a:t>Coaxial Cable</a:t>
            </a:r>
          </a:p>
          <a:p>
            <a:r>
              <a:rPr lang="en-US" dirty="0">
                <a:solidFill>
                  <a:srgbClr val="000000"/>
                </a:solidFill>
                <a:cs typeface="Calibri"/>
              </a:rPr>
              <a:t>Fiber Optic</a:t>
            </a:r>
            <a:endParaRPr lang="en-US" dirty="0">
              <a:cs typeface="Calibri"/>
            </a:endParaRPr>
          </a:p>
          <a:p>
            <a:endParaRPr lang="en-US" dirty="0">
              <a:solidFill>
                <a:srgbClr val="000000"/>
              </a:solidFill>
              <a:cs typeface="Calibri"/>
            </a:endParaRPr>
          </a:p>
        </p:txBody>
      </p:sp>
    </p:spTree>
    <p:extLst>
      <p:ext uri="{BB962C8B-B14F-4D97-AF65-F5344CB8AC3E}">
        <p14:creationId xmlns:p14="http://schemas.microsoft.com/office/powerpoint/2010/main" val="379882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122485F-DF04-CE45-2EF3-8B95EBBBD34C}"/>
              </a:ext>
            </a:extLst>
          </p:cNvPr>
          <p:cNvSpPr>
            <a:spLocks noGrp="1"/>
          </p:cNvSpPr>
          <p:nvPr>
            <p:ph type="title"/>
          </p:nvPr>
        </p:nvSpPr>
        <p:spPr>
          <a:xfrm>
            <a:off x="1137034" y="609597"/>
            <a:ext cx="9392421" cy="1330841"/>
          </a:xfrm>
        </p:spPr>
        <p:txBody>
          <a:bodyPr>
            <a:normAutofit/>
          </a:bodyPr>
          <a:lstStyle/>
          <a:p>
            <a:r>
              <a:rPr lang="en-US" dirty="0">
                <a:cs typeface="Calibri Light"/>
              </a:rPr>
              <a:t>Twisted Pairs</a:t>
            </a:r>
            <a:endParaRPr lang="en-US" dirty="0"/>
          </a:p>
        </p:txBody>
      </p:sp>
      <p:sp>
        <p:nvSpPr>
          <p:cNvPr id="3" name="Content Placeholder 2">
            <a:extLst>
              <a:ext uri="{FF2B5EF4-FFF2-40B4-BE49-F238E27FC236}">
                <a16:creationId xmlns:a16="http://schemas.microsoft.com/office/drawing/2014/main" id="{6B7354A5-8182-6E6A-AE6B-0C2F08C0FCB9}"/>
              </a:ext>
            </a:extLst>
          </p:cNvPr>
          <p:cNvSpPr>
            <a:spLocks noGrp="1"/>
          </p:cNvSpPr>
          <p:nvPr>
            <p:ph idx="1"/>
          </p:nvPr>
        </p:nvSpPr>
        <p:spPr>
          <a:xfrm>
            <a:off x="1137034" y="2198362"/>
            <a:ext cx="4958966" cy="3917773"/>
          </a:xfrm>
        </p:spPr>
        <p:txBody>
          <a:bodyPr vert="horz" lIns="91440" tIns="45720" rIns="91440" bIns="45720" rtlCol="0" anchor="t">
            <a:normAutofit/>
          </a:bodyPr>
          <a:lstStyle/>
          <a:p>
            <a:r>
              <a:rPr lang="en-US" sz="1700" dirty="0">
                <a:cs typeface="Calibri"/>
              </a:rPr>
              <a:t>A twisted pair consists of two insulated copper wires, typically about 1mm thickness.</a:t>
            </a:r>
          </a:p>
          <a:p>
            <a:r>
              <a:rPr lang="en-US" sz="1700" dirty="0">
                <a:cs typeface="Calibri"/>
              </a:rPr>
              <a:t>The wires are twisted together in a helical form.</a:t>
            </a:r>
          </a:p>
          <a:p>
            <a:r>
              <a:rPr lang="en-US" sz="1700" dirty="0">
                <a:ea typeface="+mn-lt"/>
                <a:cs typeface="+mn-lt"/>
              </a:rPr>
              <a:t>One of the conductors is used to carry the signal and the other is used as a ground reference only.</a:t>
            </a:r>
          </a:p>
          <a:p>
            <a:r>
              <a:rPr lang="en-US" sz="1700" dirty="0">
                <a:ea typeface="+mn-lt"/>
                <a:cs typeface="+mn-lt"/>
              </a:rPr>
              <a:t>When the wires are twisted, the waves from different twists cancel out, so the wire radiates less effectively.</a:t>
            </a:r>
          </a:p>
          <a:p>
            <a:r>
              <a:rPr lang="en-US" sz="1700">
                <a:ea typeface="+mn-lt"/>
                <a:cs typeface="+mn-lt"/>
              </a:rPr>
              <a:t>The receiver uses the difference of signals between these two conductors. </a:t>
            </a:r>
            <a:endParaRPr lang="en-US" sz="1700">
              <a:cs typeface="Calibri"/>
            </a:endParaRPr>
          </a:p>
        </p:txBody>
      </p:sp>
      <p:pic>
        <p:nvPicPr>
          <p:cNvPr id="4" name="Picture 3" descr="A black and white drawing of a circular object&#10;&#10;Description automatically generated">
            <a:extLst>
              <a:ext uri="{FF2B5EF4-FFF2-40B4-BE49-F238E27FC236}">
                <a16:creationId xmlns:a16="http://schemas.microsoft.com/office/drawing/2014/main" id="{C3B3E36F-5CBF-4316-B125-B07D8FFA32E3}"/>
              </a:ext>
            </a:extLst>
          </p:cNvPr>
          <p:cNvPicPr>
            <a:picLocks noChangeAspect="1"/>
          </p:cNvPicPr>
          <p:nvPr/>
        </p:nvPicPr>
        <p:blipFill>
          <a:blip r:embed="rId2"/>
          <a:stretch>
            <a:fillRect/>
          </a:stretch>
        </p:blipFill>
        <p:spPr>
          <a:xfrm>
            <a:off x="6719367" y="2752318"/>
            <a:ext cx="5160644" cy="1699619"/>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26090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FB62-6C5B-FFF5-3EFD-F1FD0AB5F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6E120A-2306-9214-6F4A-606BD9022749}"/>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The noise or crosstalk in the two parallel conductors is high but this is greatly reduced in twisted pair cables due to the twisting characteristic. </a:t>
            </a:r>
          </a:p>
          <a:p>
            <a:r>
              <a:rPr lang="en-US" dirty="0">
                <a:solidFill>
                  <a:srgbClr val="000000"/>
                </a:solidFill>
                <a:ea typeface="+mn-lt"/>
                <a:cs typeface="+mn-lt"/>
              </a:rPr>
              <a:t>In the first twist, one conductor is near to noise source and the other is far from the source but in the next twist the reverse happens and the resultant noise is very less and hence the balance in signal quality is maintained and the receiver receives very less or no noise. </a:t>
            </a:r>
            <a:endParaRPr lang="en-US">
              <a:solidFill>
                <a:srgbClr val="000000"/>
              </a:solidFill>
              <a:ea typeface="+mn-lt"/>
              <a:cs typeface="+mn-lt"/>
            </a:endParaRPr>
          </a:p>
          <a:p>
            <a:r>
              <a:rPr lang="en-US" dirty="0">
                <a:solidFill>
                  <a:srgbClr val="000000"/>
                </a:solidFill>
                <a:ea typeface="+mn-lt"/>
                <a:cs typeface="+mn-lt"/>
              </a:rPr>
              <a:t>The quality of signal in twisted pair cables greatly depends upon the number of twists per unit length of the cable.</a:t>
            </a:r>
            <a:endParaRPr lang="en-US">
              <a:solidFill>
                <a:srgbClr val="000000"/>
              </a:solidFill>
              <a:cs typeface="Calibri" panose="020F0502020204030204"/>
            </a:endParaRPr>
          </a:p>
        </p:txBody>
      </p:sp>
    </p:spTree>
    <p:extLst>
      <p:ext uri="{BB962C8B-B14F-4D97-AF65-F5344CB8AC3E}">
        <p14:creationId xmlns:p14="http://schemas.microsoft.com/office/powerpoint/2010/main" val="1627934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6806E-2938-7432-EB06-40D7DA304C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8EA5B40-DB10-C607-2812-9E94210EA7F6}"/>
              </a:ext>
            </a:extLst>
          </p:cNvPr>
          <p:cNvSpPr>
            <a:spLocks noGrp="1"/>
          </p:cNvSpPr>
          <p:nvPr>
            <p:ph idx="1"/>
          </p:nvPr>
        </p:nvSpPr>
        <p:spPr/>
        <p:txBody>
          <a:bodyPr vert="horz" lIns="91440" tIns="45720" rIns="91440" bIns="45720" rtlCol="0" anchor="t">
            <a:normAutofit/>
          </a:bodyPr>
          <a:lstStyle/>
          <a:p>
            <a:r>
              <a:rPr lang="en-US" dirty="0">
                <a:cs typeface="Calibri"/>
              </a:rPr>
              <a:t>Twisted pairs can be used for transmitting either analog or digital information.</a:t>
            </a:r>
          </a:p>
          <a:p>
            <a:r>
              <a:rPr lang="en-US" dirty="0">
                <a:cs typeface="Calibri"/>
              </a:rPr>
              <a:t>The bandwidth depends upon the thickness of the wire and the distance travelled.</a:t>
            </a:r>
          </a:p>
          <a:p>
            <a:r>
              <a:rPr lang="en-US" dirty="0">
                <a:solidFill>
                  <a:srgbClr val="000000"/>
                </a:solidFill>
                <a:ea typeface="+mn-lt"/>
                <a:cs typeface="+mn-lt"/>
              </a:rPr>
              <a:t>Types of twisted pairs: </a:t>
            </a:r>
            <a:r>
              <a:rPr lang="en-US" b="1" dirty="0">
                <a:solidFill>
                  <a:srgbClr val="000000"/>
                </a:solidFill>
                <a:ea typeface="+mn-lt"/>
                <a:cs typeface="+mn-lt"/>
              </a:rPr>
              <a:t>Unshielded Twisted Pair Cables (UTP)</a:t>
            </a:r>
            <a:r>
              <a:rPr lang="en-US" dirty="0">
                <a:solidFill>
                  <a:srgbClr val="000000"/>
                </a:solidFill>
                <a:ea typeface="+mn-lt"/>
                <a:cs typeface="+mn-lt"/>
              </a:rPr>
              <a:t> and </a:t>
            </a:r>
            <a:r>
              <a:rPr lang="en-US" b="1" dirty="0">
                <a:solidFill>
                  <a:srgbClr val="000000"/>
                </a:solidFill>
                <a:ea typeface="+mn-lt"/>
                <a:cs typeface="+mn-lt"/>
              </a:rPr>
              <a:t>Shielded Twisted Pair Cables (STP) </a:t>
            </a:r>
          </a:p>
        </p:txBody>
      </p:sp>
    </p:spTree>
    <p:extLst>
      <p:ext uri="{BB962C8B-B14F-4D97-AF65-F5344CB8AC3E}">
        <p14:creationId xmlns:p14="http://schemas.microsoft.com/office/powerpoint/2010/main" val="1745060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9DC6E-706D-7AE6-7586-EDC562FE714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9D73E3-6CC9-7602-1F1B-50F8CF22B1B4}"/>
              </a:ext>
            </a:extLst>
          </p:cNvPr>
          <p:cNvSpPr>
            <a:spLocks noGrp="1"/>
          </p:cNvSpPr>
          <p:nvPr>
            <p:ph idx="1"/>
          </p:nvPr>
        </p:nvSpPr>
        <p:spPr/>
        <p:txBody>
          <a:bodyPr vert="horz" lIns="91440" tIns="45720" rIns="91440" bIns="45720" rtlCol="0" anchor="t">
            <a:normAutofit/>
          </a:bodyPr>
          <a:lstStyle/>
          <a:p>
            <a:pPr marL="0" indent="0">
              <a:buNone/>
            </a:pPr>
            <a:r>
              <a:rPr lang="en-US" dirty="0">
                <a:solidFill>
                  <a:srgbClr val="000000"/>
                </a:solidFill>
                <a:ea typeface="+mn-lt"/>
                <a:cs typeface="+mn-lt"/>
              </a:rPr>
              <a:t>Unshielded Twisted Pair Cables (UTP) :</a:t>
            </a:r>
            <a:endParaRPr lang="en-US"/>
          </a:p>
          <a:p>
            <a:r>
              <a:rPr lang="en-US" dirty="0">
                <a:solidFill>
                  <a:srgbClr val="000000"/>
                </a:solidFill>
                <a:ea typeface="+mn-lt"/>
                <a:cs typeface="+mn-lt"/>
              </a:rPr>
              <a:t>These are a pair of two insulated copper wires twisted together without any other insulation or shielding and hence are called unshielded twisted pair cables. </a:t>
            </a:r>
          </a:p>
          <a:p>
            <a:r>
              <a:rPr lang="en-US" dirty="0">
                <a:solidFill>
                  <a:srgbClr val="000000"/>
                </a:solidFill>
                <a:ea typeface="+mn-lt"/>
                <a:cs typeface="+mn-lt"/>
              </a:rPr>
              <a:t>They reduce the external interference due to the presence of insulation. Unshielded twisted pair cables are arranged in pairs so that we can add a new connection whenever required. </a:t>
            </a:r>
            <a:endParaRPr lang="en-US" dirty="0">
              <a:solidFill>
                <a:srgbClr val="000000"/>
              </a:solidFill>
              <a:cs typeface="Calibri"/>
            </a:endParaRPr>
          </a:p>
        </p:txBody>
      </p:sp>
    </p:spTree>
    <p:extLst>
      <p:ext uri="{BB962C8B-B14F-4D97-AF65-F5344CB8AC3E}">
        <p14:creationId xmlns:p14="http://schemas.microsoft.com/office/powerpoint/2010/main" val="1599029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6387-123B-BE31-3056-EAB997910F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0E80CA-DC28-0FF8-244A-AC4FCFE8A417}"/>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a:cs typeface="Calibri"/>
              </a:rPr>
              <a:t>Advantages –</a:t>
            </a:r>
            <a:endParaRPr lang="en-US" dirty="0">
              <a:cs typeface="Calibri"/>
            </a:endParaRPr>
          </a:p>
          <a:p>
            <a:r>
              <a:rPr lang="en-US" dirty="0">
                <a:cs typeface="Calibri"/>
              </a:rPr>
              <a:t>These cables are cost-effective and easy to install owing to their compact size.</a:t>
            </a:r>
            <a:endParaRPr lang="en-US" dirty="0"/>
          </a:p>
          <a:p>
            <a:r>
              <a:rPr lang="en-US" dirty="0">
                <a:cs typeface="Calibri"/>
              </a:rPr>
              <a:t>They are generally used for short-distance transmission of both voice and data.</a:t>
            </a:r>
            <a:endParaRPr lang="en-US" dirty="0"/>
          </a:p>
          <a:p>
            <a:r>
              <a:rPr lang="en-US" dirty="0">
                <a:cs typeface="Calibri"/>
              </a:rPr>
              <a:t>It is less costly as compared to other types of cables.</a:t>
            </a:r>
            <a:endParaRPr lang="en-US" dirty="0"/>
          </a:p>
          <a:p>
            <a:pPr marL="0" indent="0">
              <a:buNone/>
            </a:pPr>
            <a:r>
              <a:rPr lang="en-US">
                <a:cs typeface="Calibri"/>
              </a:rPr>
              <a:t>Disadvantages –</a:t>
            </a:r>
          </a:p>
          <a:p>
            <a:r>
              <a:rPr lang="en-US" dirty="0">
                <a:cs typeface="Calibri"/>
              </a:rPr>
              <a:t>The connection established using UTP is not secure.</a:t>
            </a:r>
            <a:endParaRPr lang="en-US" dirty="0"/>
          </a:p>
          <a:p>
            <a:r>
              <a:rPr lang="en-US" dirty="0">
                <a:cs typeface="Calibri"/>
              </a:rPr>
              <a:t>They are efficient only for a distance up to 100 meters and have to be installed in pieces of up to 100 meters.</a:t>
            </a:r>
            <a:endParaRPr lang="en-US" dirty="0"/>
          </a:p>
          <a:p>
            <a:r>
              <a:rPr lang="en-US" dirty="0">
                <a:cs typeface="Calibri"/>
              </a:rPr>
              <a:t>These cables have limited bandwidth.</a:t>
            </a:r>
            <a:endParaRPr lang="en-US" dirty="0"/>
          </a:p>
          <a:p>
            <a:endParaRPr lang="en-US" dirty="0">
              <a:cs typeface="Calibri"/>
            </a:endParaRPr>
          </a:p>
        </p:txBody>
      </p:sp>
    </p:spTree>
    <p:extLst>
      <p:ext uri="{BB962C8B-B14F-4D97-AF65-F5344CB8AC3E}">
        <p14:creationId xmlns:p14="http://schemas.microsoft.com/office/powerpoint/2010/main" val="2847895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578480D-1088-86D4-F544-5A47D96F6D8A}"/>
              </a:ext>
            </a:extLst>
          </p:cNvPr>
          <p:cNvSpPr>
            <a:spLocks noGrp="1"/>
          </p:cNvSpPr>
          <p:nvPr>
            <p:ph type="title"/>
          </p:nvPr>
        </p:nvSpPr>
        <p:spPr>
          <a:xfrm>
            <a:off x="1137034" y="609597"/>
            <a:ext cx="9392421" cy="1330841"/>
          </a:xfrm>
        </p:spPr>
        <p:txBody>
          <a:bodyPr>
            <a:normAutofit/>
          </a:bodyPr>
          <a:lstStyle/>
          <a:p>
            <a:r>
              <a:rPr lang="en-US" dirty="0">
                <a:cs typeface="Calibri Light"/>
              </a:rPr>
              <a:t>Coaxial Cable</a:t>
            </a:r>
            <a:endParaRPr lang="en-US" dirty="0"/>
          </a:p>
        </p:txBody>
      </p:sp>
      <p:sp>
        <p:nvSpPr>
          <p:cNvPr id="3" name="Content Placeholder 2">
            <a:extLst>
              <a:ext uri="{FF2B5EF4-FFF2-40B4-BE49-F238E27FC236}">
                <a16:creationId xmlns:a16="http://schemas.microsoft.com/office/drawing/2014/main" id="{25FB5C04-B2F1-EF9B-ED06-A5064B58E0B0}"/>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1600">
                <a:ea typeface="+mn-lt"/>
                <a:cs typeface="+mn-lt"/>
              </a:rPr>
              <a:t>Coaxial cable (or coax) carries signals of higher frequency ranges than those in twisted pair cable, in part because the two media are constructed quite differently. </a:t>
            </a:r>
          </a:p>
          <a:p>
            <a:r>
              <a:rPr lang="en-US" sz="1600">
                <a:ea typeface="+mn-lt"/>
                <a:cs typeface="+mn-lt"/>
              </a:rPr>
              <a:t>Instead of having two wires, coax has a central core conductor of solid or stranded wire (usually copper) enclosed in an insulating sheath, which is, in turn, encased in an outer conductor of metal foil, braid, or a combination of the two. </a:t>
            </a:r>
          </a:p>
          <a:p>
            <a:r>
              <a:rPr lang="en-US" sz="1600">
                <a:ea typeface="+mn-lt"/>
                <a:cs typeface="+mn-lt"/>
              </a:rPr>
              <a:t>The outer metallic wrapping serves both as a shield against noise and as the second conductor, which completes the circuit.</a:t>
            </a:r>
          </a:p>
          <a:p>
            <a:r>
              <a:rPr lang="en-US" sz="1600">
                <a:ea typeface="+mn-lt"/>
                <a:cs typeface="+mn-lt"/>
              </a:rPr>
              <a:t> This outer conductor is also enclosed in an insulating sheath, and the whole cable is protected by a plastic cover . </a:t>
            </a:r>
            <a:endParaRPr lang="en-US" sz="1600">
              <a:cs typeface="Calibri" panose="020F0502020204030204"/>
            </a:endParaRPr>
          </a:p>
          <a:p>
            <a:endParaRPr lang="en-US" sz="1600">
              <a:cs typeface="Calibri" panose="020F0502020204030204"/>
            </a:endParaRPr>
          </a:p>
        </p:txBody>
      </p:sp>
      <p:pic>
        <p:nvPicPr>
          <p:cNvPr id="4" name="Picture 3" descr="A diagram of a cable&#10;&#10;Description automatically generated">
            <a:extLst>
              <a:ext uri="{FF2B5EF4-FFF2-40B4-BE49-F238E27FC236}">
                <a16:creationId xmlns:a16="http://schemas.microsoft.com/office/drawing/2014/main" id="{BB3DFBF6-FE2C-D92B-F1C9-C4064D98667B}"/>
              </a:ext>
            </a:extLst>
          </p:cNvPr>
          <p:cNvPicPr>
            <a:picLocks noChangeAspect="1"/>
          </p:cNvPicPr>
          <p:nvPr/>
        </p:nvPicPr>
        <p:blipFill>
          <a:blip r:embed="rId2"/>
          <a:stretch>
            <a:fillRect/>
          </a:stretch>
        </p:blipFill>
        <p:spPr>
          <a:xfrm>
            <a:off x="6607514" y="2507981"/>
            <a:ext cx="5026192" cy="2704312"/>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130584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7A864-18D4-9EFA-0EEE-92E3E54DEC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2C4AE7-7B40-0508-1BA4-D56B3E6433A3}"/>
              </a:ext>
            </a:extLst>
          </p:cNvPr>
          <p:cNvSpPr>
            <a:spLocks noGrp="1"/>
          </p:cNvSpPr>
          <p:nvPr>
            <p:ph idx="1"/>
          </p:nvPr>
        </p:nvSpPr>
        <p:spPr/>
        <p:txBody>
          <a:bodyPr vert="horz" lIns="91440" tIns="45720" rIns="91440" bIns="45720" rtlCol="0" anchor="t">
            <a:normAutofit/>
          </a:bodyPr>
          <a:lstStyle/>
          <a:p>
            <a:pPr marL="0" indent="0">
              <a:buNone/>
            </a:pPr>
            <a:r>
              <a:rPr lang="en-US">
                <a:cs typeface="Calibri"/>
              </a:rPr>
              <a:t>Coaxial cable are of two types:</a:t>
            </a:r>
            <a:endParaRPr lang="en-US"/>
          </a:p>
          <a:p>
            <a:r>
              <a:rPr lang="en-US" b="1" i="1" dirty="0">
                <a:ea typeface="+mn-lt"/>
                <a:cs typeface="+mn-lt"/>
              </a:rPr>
              <a:t>Baseband transmission:</a:t>
            </a:r>
            <a:r>
              <a:rPr lang="en-US" dirty="0">
                <a:ea typeface="+mn-lt"/>
                <a:cs typeface="+mn-lt"/>
              </a:rPr>
              <a:t> It is defined as the process of transmitting a single signal at high speed.</a:t>
            </a:r>
            <a:endParaRPr lang="en-US" dirty="0">
              <a:cs typeface="Calibri"/>
            </a:endParaRPr>
          </a:p>
          <a:p>
            <a:r>
              <a:rPr lang="en-US" b="1" i="1" dirty="0">
                <a:ea typeface="+mn-lt"/>
                <a:cs typeface="+mn-lt"/>
              </a:rPr>
              <a:t>Broadband transmission:</a:t>
            </a:r>
            <a:r>
              <a:rPr lang="en-US" dirty="0">
                <a:ea typeface="+mn-lt"/>
                <a:cs typeface="+mn-lt"/>
              </a:rPr>
              <a:t> It is defined as the process of transmitting multiple signals simultaneously.</a:t>
            </a:r>
            <a:endParaRPr lang="en-US" dirty="0"/>
          </a:p>
          <a:p>
            <a:endParaRPr lang="en-US" dirty="0">
              <a:cs typeface="Calibri"/>
            </a:endParaRPr>
          </a:p>
          <a:p>
            <a:endParaRPr lang="en-US" dirty="0">
              <a:cs typeface="Calibri"/>
            </a:endParaRPr>
          </a:p>
        </p:txBody>
      </p:sp>
    </p:spTree>
    <p:extLst>
      <p:ext uri="{BB962C8B-B14F-4D97-AF65-F5344CB8AC3E}">
        <p14:creationId xmlns:p14="http://schemas.microsoft.com/office/powerpoint/2010/main" val="451770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5A8DA-E763-B5FA-B633-4E526FEEB5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58A743-70BD-4C3B-7C6B-C47EB86A1E25}"/>
              </a:ext>
            </a:extLst>
          </p:cNvPr>
          <p:cNvSpPr>
            <a:spLocks noGrp="1"/>
          </p:cNvSpPr>
          <p:nvPr>
            <p:ph idx="1"/>
          </p:nvPr>
        </p:nvSpPr>
        <p:spPr/>
        <p:txBody>
          <a:bodyPr vert="horz" lIns="91440" tIns="45720" rIns="91440" bIns="45720" rtlCol="0" anchor="t">
            <a:noAutofit/>
          </a:bodyPr>
          <a:lstStyle/>
          <a:p>
            <a:pPr marL="0" indent="0">
              <a:buNone/>
            </a:pPr>
            <a:r>
              <a:rPr lang="en-US" dirty="0">
                <a:solidFill>
                  <a:srgbClr val="000000"/>
                </a:solidFill>
                <a:ea typeface="+mn-lt"/>
                <a:cs typeface="+mn-lt"/>
              </a:rPr>
              <a:t>Advantages Of Coaxial cable:</a:t>
            </a:r>
            <a:endParaRPr lang="en-US" dirty="0">
              <a:solidFill>
                <a:srgbClr val="000000"/>
              </a:solidFill>
              <a:cs typeface="Calibri" panose="020F0502020204030204"/>
            </a:endParaRPr>
          </a:p>
          <a:p>
            <a:r>
              <a:rPr lang="en-US" dirty="0">
                <a:ea typeface="+mn-lt"/>
                <a:cs typeface="+mn-lt"/>
              </a:rPr>
              <a:t>The data can be transmitted at high speed.</a:t>
            </a:r>
            <a:endParaRPr lang="en-US" dirty="0"/>
          </a:p>
          <a:p>
            <a:r>
              <a:rPr lang="en-US" dirty="0">
                <a:ea typeface="+mn-lt"/>
                <a:cs typeface="+mn-lt"/>
              </a:rPr>
              <a:t>It has better shielding as compared to twisted pair cable.</a:t>
            </a:r>
            <a:endParaRPr lang="en-US" dirty="0"/>
          </a:p>
          <a:p>
            <a:r>
              <a:rPr lang="en-US" dirty="0">
                <a:ea typeface="+mn-lt"/>
                <a:cs typeface="+mn-lt"/>
              </a:rPr>
              <a:t>It provides higher bandwidth.</a:t>
            </a:r>
            <a:endParaRPr lang="en-US" dirty="0"/>
          </a:p>
          <a:p>
            <a:pPr marL="0" indent="0">
              <a:buNone/>
            </a:pPr>
            <a:r>
              <a:rPr lang="en-US" dirty="0">
                <a:solidFill>
                  <a:srgbClr val="000000"/>
                </a:solidFill>
                <a:ea typeface="+mn-lt"/>
                <a:cs typeface="+mn-lt"/>
              </a:rPr>
              <a:t>Disadvantages Of Coaxial cable:</a:t>
            </a:r>
            <a:endParaRPr lang="en-US" dirty="0">
              <a:cs typeface="Calibri" panose="020F0502020204030204"/>
            </a:endParaRPr>
          </a:p>
          <a:p>
            <a:r>
              <a:rPr lang="en-US" dirty="0">
                <a:ea typeface="+mn-lt"/>
                <a:cs typeface="+mn-lt"/>
              </a:rPr>
              <a:t>It is more expensive as compared to twisted pair cable.</a:t>
            </a:r>
            <a:endParaRPr lang="en-US" dirty="0"/>
          </a:p>
          <a:p>
            <a:r>
              <a:rPr lang="en-US" dirty="0">
                <a:ea typeface="+mn-lt"/>
                <a:cs typeface="+mn-lt"/>
              </a:rPr>
              <a:t>If any fault occurs in the cable causes the failure in the entire network.</a:t>
            </a:r>
            <a:endParaRPr lang="en-US" dirty="0"/>
          </a:p>
          <a:p>
            <a:pPr marL="0" indent="0">
              <a:buNone/>
            </a:pPr>
            <a:br>
              <a:rPr lang="en-US" dirty="0"/>
            </a:br>
            <a:endParaRPr lang="en-US" dirty="0">
              <a:cs typeface="Calibri" panose="020F0502020204030204"/>
            </a:endParaRPr>
          </a:p>
        </p:txBody>
      </p:sp>
    </p:spTree>
    <p:extLst>
      <p:ext uri="{BB962C8B-B14F-4D97-AF65-F5344CB8AC3E}">
        <p14:creationId xmlns:p14="http://schemas.microsoft.com/office/powerpoint/2010/main" val="375785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057657E-D7A2-E8A5-3F96-4EC0F4F0ECFD}"/>
              </a:ext>
            </a:extLst>
          </p:cNvPr>
          <p:cNvSpPr>
            <a:spLocks noGrp="1"/>
          </p:cNvSpPr>
          <p:nvPr>
            <p:ph type="title"/>
          </p:nvPr>
        </p:nvSpPr>
        <p:spPr>
          <a:xfrm>
            <a:off x="1137034" y="609597"/>
            <a:ext cx="9392421" cy="1330841"/>
          </a:xfrm>
        </p:spPr>
        <p:txBody>
          <a:bodyPr>
            <a:normAutofit/>
          </a:bodyPr>
          <a:lstStyle/>
          <a:p>
            <a:r>
              <a:rPr lang="en-US" dirty="0">
                <a:cs typeface="Calibri Light"/>
              </a:rPr>
              <a:t>Fiber Optic Cable</a:t>
            </a:r>
            <a:endParaRPr lang="en-US" dirty="0"/>
          </a:p>
        </p:txBody>
      </p:sp>
      <p:sp>
        <p:nvSpPr>
          <p:cNvPr id="3" name="Content Placeholder 2">
            <a:extLst>
              <a:ext uri="{FF2B5EF4-FFF2-40B4-BE49-F238E27FC236}">
                <a16:creationId xmlns:a16="http://schemas.microsoft.com/office/drawing/2014/main" id="{066F8B2B-1CF1-4657-91FC-95D6925FCA3B}"/>
              </a:ext>
            </a:extLst>
          </p:cNvPr>
          <p:cNvSpPr>
            <a:spLocks noGrp="1"/>
          </p:cNvSpPr>
          <p:nvPr>
            <p:ph idx="1"/>
          </p:nvPr>
        </p:nvSpPr>
        <p:spPr>
          <a:xfrm>
            <a:off x="418269" y="1911936"/>
            <a:ext cx="6401901" cy="4204199"/>
          </a:xfrm>
        </p:spPr>
        <p:txBody>
          <a:bodyPr vert="horz" lIns="91440" tIns="45720" rIns="91440" bIns="45720" rtlCol="0" anchor="t">
            <a:normAutofit/>
          </a:bodyPr>
          <a:lstStyle/>
          <a:p>
            <a:r>
              <a:rPr lang="en-US" sz="2000" dirty="0">
                <a:ea typeface="+mn-lt"/>
                <a:cs typeface="+mn-lt"/>
              </a:rPr>
              <a:t>A fiber-optic cable is made of glass or plastic and transmits signals in the form of light. </a:t>
            </a:r>
          </a:p>
          <a:p>
            <a:r>
              <a:rPr lang="en-US" sz="2000" dirty="0">
                <a:ea typeface="+mn-lt"/>
                <a:cs typeface="+mn-lt"/>
              </a:rPr>
              <a:t>A fiber optic cable is a special type of cable that uses thin strands of glass or plastic to transmit data as light signals. It allows for fast and reliable communication over long distances.</a:t>
            </a:r>
          </a:p>
          <a:p>
            <a:endParaRPr lang="en-US" sz="2000" dirty="0">
              <a:ea typeface="+mn-lt"/>
              <a:cs typeface="+mn-lt"/>
            </a:endParaRPr>
          </a:p>
          <a:p>
            <a:r>
              <a:rPr lang="en-US" sz="2000" dirty="0">
                <a:ea typeface="+mn-lt"/>
                <a:cs typeface="+mn-lt"/>
              </a:rPr>
              <a:t> Optical fibers use reflection to guide light through a channel. </a:t>
            </a:r>
          </a:p>
          <a:p>
            <a:endParaRPr lang="en-US" sz="2000" dirty="0">
              <a:cs typeface="Calibri"/>
            </a:endParaRPr>
          </a:p>
          <a:p>
            <a:endParaRPr lang="en-US" sz="2000">
              <a:cs typeface="Calibri"/>
            </a:endParaRPr>
          </a:p>
        </p:txBody>
      </p:sp>
      <p:pic>
        <p:nvPicPr>
          <p:cNvPr id="4" name="Picture 3" descr="A diagram of a structure&#10;&#10;Description automatically generated">
            <a:extLst>
              <a:ext uri="{FF2B5EF4-FFF2-40B4-BE49-F238E27FC236}">
                <a16:creationId xmlns:a16="http://schemas.microsoft.com/office/drawing/2014/main" id="{ED0B23E4-3735-B973-1296-90037F007942}"/>
              </a:ext>
            </a:extLst>
          </p:cNvPr>
          <p:cNvPicPr>
            <a:picLocks noChangeAspect="1"/>
          </p:cNvPicPr>
          <p:nvPr/>
        </p:nvPicPr>
        <p:blipFill>
          <a:blip r:embed="rId2"/>
          <a:stretch>
            <a:fillRect/>
          </a:stretch>
        </p:blipFill>
        <p:spPr>
          <a:xfrm>
            <a:off x="6822048" y="2709474"/>
            <a:ext cx="5089760" cy="2068841"/>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64244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FABA79B-76E7-9AB3-46CB-EC903733FF96}"/>
              </a:ext>
            </a:extLst>
          </p:cNvPr>
          <p:cNvPicPr>
            <a:picLocks noGrp="1" noChangeAspect="1"/>
          </p:cNvPicPr>
          <p:nvPr>
            <p:ph idx="1"/>
          </p:nvPr>
        </p:nvPicPr>
        <p:blipFill>
          <a:blip r:embed="rId2"/>
          <a:stretch>
            <a:fillRect/>
          </a:stretch>
        </p:blipFill>
        <p:spPr>
          <a:xfrm>
            <a:off x="313895" y="346012"/>
            <a:ext cx="4876366" cy="3774290"/>
          </a:xfrm>
        </p:spPr>
      </p:pic>
      <p:pic>
        <p:nvPicPr>
          <p:cNvPr id="6" name="Content Placeholder 7">
            <a:extLst>
              <a:ext uri="{FF2B5EF4-FFF2-40B4-BE49-F238E27FC236}">
                <a16:creationId xmlns:a16="http://schemas.microsoft.com/office/drawing/2014/main" id="{96692A30-9BFF-1B76-3B19-901436A49C0B}"/>
              </a:ext>
            </a:extLst>
          </p:cNvPr>
          <p:cNvPicPr>
            <a:picLocks noChangeAspect="1"/>
          </p:cNvPicPr>
          <p:nvPr/>
        </p:nvPicPr>
        <p:blipFill>
          <a:blip r:embed="rId3"/>
          <a:stretch>
            <a:fillRect/>
          </a:stretch>
        </p:blipFill>
        <p:spPr>
          <a:xfrm>
            <a:off x="5944987" y="352664"/>
            <a:ext cx="5236532" cy="3590833"/>
          </a:xfrm>
          <a:prstGeom prst="rect">
            <a:avLst/>
          </a:prstGeom>
        </p:spPr>
      </p:pic>
    </p:spTree>
    <p:extLst>
      <p:ext uri="{BB962C8B-B14F-4D97-AF65-F5344CB8AC3E}">
        <p14:creationId xmlns:p14="http://schemas.microsoft.com/office/powerpoint/2010/main" val="1428797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561D68-310A-82BA-A96F-1B9E80BE0521}"/>
              </a:ext>
            </a:extLst>
          </p:cNvPr>
          <p:cNvSpPr>
            <a:spLocks noGrp="1"/>
          </p:cNvSpPr>
          <p:nvPr>
            <p:ph idx="1"/>
          </p:nvPr>
        </p:nvSpPr>
        <p:spPr/>
        <p:txBody>
          <a:bodyPr vert="horz" lIns="91440" tIns="45720" rIns="91440" bIns="45720" rtlCol="0" anchor="t">
            <a:noAutofit/>
          </a:bodyPr>
          <a:lstStyle/>
          <a:p>
            <a:pPr marL="0" indent="0">
              <a:buNone/>
            </a:pPr>
            <a:r>
              <a:rPr lang="en-US" dirty="0">
                <a:ea typeface="+mn-lt"/>
                <a:cs typeface="+mn-lt"/>
              </a:rPr>
              <a:t>Advantages </a:t>
            </a:r>
            <a:br>
              <a:rPr lang="en-US" dirty="0">
                <a:ea typeface="+mn-lt"/>
                <a:cs typeface="+mn-lt"/>
              </a:rPr>
            </a:br>
            <a:r>
              <a:rPr lang="en-US" dirty="0">
                <a:ea typeface="+mn-lt"/>
                <a:cs typeface="+mn-lt"/>
              </a:rPr>
              <a:t> a. Higher bandwidth. Fiber-optic cable can support dramatically higher bandwidths (and hence data rates) than either twisted-pair or coaxial </a:t>
            </a:r>
            <a:r>
              <a:rPr lang="en-US">
                <a:ea typeface="+mn-lt"/>
                <a:cs typeface="+mn-lt"/>
              </a:rPr>
              <a:t>cable. </a:t>
            </a:r>
            <a:endParaRPr lang="en-US" dirty="0">
              <a:ea typeface="+mn-lt"/>
              <a:cs typeface="+mn-lt"/>
            </a:endParaRPr>
          </a:p>
          <a:p>
            <a:pPr marL="0" indent="0">
              <a:buNone/>
            </a:pPr>
            <a:r>
              <a:rPr lang="en-US" dirty="0">
                <a:ea typeface="+mn-lt"/>
                <a:cs typeface="+mn-lt"/>
              </a:rPr>
              <a:t> b. Less signal attenuation. Fiber-optic transmission distance is significantly greater than that of other guided media. A signal can run for 50 km without requiring regeneration. We need repeaters every 5 km for coaxial or twisted-pair cable. </a:t>
            </a:r>
            <a:endParaRPr lang="en-US">
              <a:cs typeface="Calibri" panose="020F0502020204030204"/>
            </a:endParaRPr>
          </a:p>
          <a:p>
            <a:endParaRPr lang="en-US" dirty="0">
              <a:cs typeface="Calibri" panose="020F0502020204030204"/>
            </a:endParaRPr>
          </a:p>
        </p:txBody>
      </p:sp>
    </p:spTree>
    <p:extLst>
      <p:ext uri="{BB962C8B-B14F-4D97-AF65-F5344CB8AC3E}">
        <p14:creationId xmlns:p14="http://schemas.microsoft.com/office/powerpoint/2010/main" val="76984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79CD75-4461-64AD-3A14-6D449B14209A}"/>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c. Immunity to electromagnetic interference: Electromagnetic noise cannot affect fiber- optic cables.</a:t>
            </a:r>
            <a:br>
              <a:rPr lang="en-US" dirty="0">
                <a:latin typeface="Arial"/>
                <a:cs typeface="Arial"/>
              </a:rPr>
            </a:br>
            <a:endParaRPr lang="en-US" dirty="0">
              <a:solidFill>
                <a:srgbClr val="000000"/>
              </a:solidFill>
              <a:latin typeface="Arial"/>
              <a:cs typeface="Arial"/>
            </a:endParaRPr>
          </a:p>
          <a:p>
            <a:pPr marL="0" indent="0">
              <a:buNone/>
            </a:pPr>
            <a:r>
              <a:rPr lang="en-US" dirty="0">
                <a:latin typeface="Arial"/>
                <a:cs typeface="Arial"/>
              </a:rPr>
              <a:t>d. Light weight. Fiber-optic cables are much lighter than copper cables.</a:t>
            </a:r>
            <a:br>
              <a:rPr lang="en-US" dirty="0">
                <a:latin typeface="Arial"/>
                <a:cs typeface="Arial"/>
              </a:rPr>
            </a:br>
            <a:endParaRPr lang="en-US" dirty="0">
              <a:latin typeface="Arial"/>
              <a:cs typeface="Arial"/>
            </a:endParaRPr>
          </a:p>
        </p:txBody>
      </p:sp>
    </p:spTree>
    <p:extLst>
      <p:ext uri="{BB962C8B-B14F-4D97-AF65-F5344CB8AC3E}">
        <p14:creationId xmlns:p14="http://schemas.microsoft.com/office/powerpoint/2010/main" val="2216801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EFD52-6AD8-45A4-E043-18FBB17735C8}"/>
              </a:ext>
            </a:extLst>
          </p:cNvPr>
          <p:cNvSpPr>
            <a:spLocks noGrp="1"/>
          </p:cNvSpPr>
          <p:nvPr>
            <p:ph idx="1"/>
          </p:nvPr>
        </p:nvSpPr>
        <p:spPr/>
        <p:txBody>
          <a:bodyPr vert="horz" lIns="91440" tIns="45720" rIns="91440" bIns="45720" rtlCol="0" anchor="t">
            <a:noAutofit/>
          </a:bodyPr>
          <a:lstStyle/>
          <a:p>
            <a:pPr marL="0" indent="0">
              <a:buNone/>
            </a:pPr>
            <a:r>
              <a:rPr lang="en-US" dirty="0">
                <a:ea typeface="+mn-lt"/>
                <a:cs typeface="+mn-lt"/>
              </a:rPr>
              <a:t>Disadvantages </a:t>
            </a:r>
          </a:p>
          <a:p>
            <a:pPr marL="0" indent="0">
              <a:buNone/>
            </a:pPr>
            <a:r>
              <a:rPr lang="en-US" dirty="0">
                <a:ea typeface="+mn-lt"/>
                <a:cs typeface="+mn-lt"/>
              </a:rPr>
              <a:t>There are some disadvantages in the use of optical fiber.</a:t>
            </a:r>
            <a:br>
              <a:rPr lang="en-US" dirty="0">
                <a:ea typeface="+mn-lt"/>
                <a:cs typeface="+mn-lt"/>
              </a:rPr>
            </a:br>
            <a:r>
              <a:rPr lang="en-US" dirty="0">
                <a:ea typeface="+mn-lt"/>
                <a:cs typeface="+mn-lt"/>
              </a:rPr>
              <a:t> a. Installation and maintenance. Fiber-optic cable is a relatively new technology. Its installation and maintenance require expertise that is not yet available everywhere. </a:t>
            </a:r>
          </a:p>
          <a:p>
            <a:pPr marL="0" indent="0">
              <a:buNone/>
            </a:pPr>
            <a:r>
              <a:rPr lang="en-US" dirty="0">
                <a:ea typeface="+mn-lt"/>
                <a:cs typeface="+mn-lt"/>
              </a:rPr>
              <a:t>b. Unidirectional light propagation. Propagation of light is unidirectional. If we need bidirectional communication, two fibers are needed.</a:t>
            </a:r>
            <a:br>
              <a:rPr lang="en-US" dirty="0">
                <a:ea typeface="+mn-lt"/>
                <a:cs typeface="+mn-lt"/>
              </a:rPr>
            </a:br>
            <a:r>
              <a:rPr lang="en-US" dirty="0">
                <a:ea typeface="+mn-lt"/>
                <a:cs typeface="+mn-lt"/>
              </a:rPr>
              <a:t> c. Cost. The cable and the interfaces are relatively more expensive than those of other guided media. If the demand for bandwidth is not high, often the use of optical fiber cannot be justified. </a:t>
            </a:r>
            <a:endParaRPr lang="en-US" dirty="0">
              <a:cs typeface="Calibri"/>
            </a:endParaRPr>
          </a:p>
          <a:p>
            <a:endParaRPr lang="en-US" dirty="0">
              <a:cs typeface="Calibri"/>
            </a:endParaRPr>
          </a:p>
        </p:txBody>
      </p:sp>
    </p:spTree>
    <p:extLst>
      <p:ext uri="{BB962C8B-B14F-4D97-AF65-F5344CB8AC3E}">
        <p14:creationId xmlns:p14="http://schemas.microsoft.com/office/powerpoint/2010/main" val="1046476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709F-5344-DEFE-7C0E-64EBDF3AD536}"/>
              </a:ext>
            </a:extLst>
          </p:cNvPr>
          <p:cNvSpPr>
            <a:spLocks noGrp="1"/>
          </p:cNvSpPr>
          <p:nvPr>
            <p:ph type="title"/>
          </p:nvPr>
        </p:nvSpPr>
        <p:spPr/>
        <p:txBody>
          <a:bodyPr/>
          <a:lstStyle/>
          <a:p>
            <a:r>
              <a:rPr lang="en-US" dirty="0">
                <a:cs typeface="Calibri Light"/>
              </a:rPr>
              <a:t>Unguided Media</a:t>
            </a:r>
          </a:p>
        </p:txBody>
      </p:sp>
      <p:sp>
        <p:nvSpPr>
          <p:cNvPr id="3" name="Content Placeholder 2">
            <a:extLst>
              <a:ext uri="{FF2B5EF4-FFF2-40B4-BE49-F238E27FC236}">
                <a16:creationId xmlns:a16="http://schemas.microsoft.com/office/drawing/2014/main" id="{8C14825E-A51A-41B4-542C-70012EDC2B70}"/>
              </a:ext>
            </a:extLst>
          </p:cNvPr>
          <p:cNvSpPr>
            <a:spLocks noGrp="1"/>
          </p:cNvSpPr>
          <p:nvPr>
            <p:ph idx="1"/>
          </p:nvPr>
        </p:nvSpPr>
        <p:spPr/>
        <p:txBody>
          <a:bodyPr vert="horz" lIns="91440" tIns="45720" rIns="91440" bIns="45720" rtlCol="0" anchor="t">
            <a:normAutofit/>
          </a:bodyPr>
          <a:lstStyle/>
          <a:p>
            <a:r>
              <a:rPr lang="en-US" dirty="0">
                <a:ea typeface="+mn-lt"/>
                <a:cs typeface="+mn-lt"/>
              </a:rPr>
              <a:t>Unguided media transport electromagnetic waves without using a physical conductor. </a:t>
            </a:r>
          </a:p>
          <a:p>
            <a:r>
              <a:rPr lang="en-US" dirty="0">
                <a:ea typeface="+mn-lt"/>
                <a:cs typeface="+mn-lt"/>
              </a:rPr>
              <a:t>This type of communication is often referred to as wireless communication. </a:t>
            </a:r>
            <a:endParaRPr lang="en-US" dirty="0">
              <a:cs typeface="Calibri"/>
            </a:endParaRPr>
          </a:p>
          <a:p>
            <a:r>
              <a:rPr lang="en-US">
                <a:ea typeface="+mn-lt"/>
                <a:cs typeface="+mn-lt"/>
              </a:rPr>
              <a:t>Signals are normally broadcast through free space and thus are available to anyone who has a device capable of receiving them. Unguided signals can travel from the source to destination in several ways: ground propagation, sky propagation, and line-of- sight propagation. </a:t>
            </a:r>
            <a:endParaRPr lang="en-US"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3421724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0DE24D-F00C-00AF-E10C-8FB1874630E1}"/>
              </a:ext>
            </a:extLst>
          </p:cNvPr>
          <p:cNvSpPr>
            <a:spLocks noGrp="1"/>
          </p:cNvSpPr>
          <p:nvPr>
            <p:ph type="title"/>
          </p:nvPr>
        </p:nvSpPr>
        <p:spPr>
          <a:xfrm>
            <a:off x="572493" y="238539"/>
            <a:ext cx="11018520" cy="1434415"/>
          </a:xfrm>
        </p:spPr>
        <p:txBody>
          <a:bodyPr anchor="b">
            <a:normAutofit/>
          </a:bodyPr>
          <a:lstStyle/>
          <a:p>
            <a:r>
              <a:rPr lang="en-US" sz="5400" dirty="0">
                <a:cs typeface="Calibri Light"/>
              </a:rPr>
              <a:t>Ground Propagation</a:t>
            </a:r>
            <a:endParaRPr lang="en-US" sz="54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5A379AE-964A-9A5C-A831-F5FC3FDFCAB0}"/>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ea typeface="+mn-lt"/>
                <a:cs typeface="+mn-lt"/>
              </a:rPr>
              <a:t>In ground propagation, radio waves travel through the lowest portion of the atmosphere, </a:t>
            </a:r>
            <a:endParaRPr lang="en-US" sz="2200">
              <a:cs typeface="Calibri"/>
            </a:endParaRPr>
          </a:p>
          <a:p>
            <a:r>
              <a:rPr lang="en-US" sz="2200">
                <a:ea typeface="+mn-lt"/>
                <a:cs typeface="+mn-lt"/>
              </a:rPr>
              <a:t>These low frequency signals emanate in all directions from the transmitting antenna and follow the curvature of the planet. </a:t>
            </a:r>
          </a:p>
          <a:p>
            <a:r>
              <a:rPr lang="en-US" sz="2200">
                <a:ea typeface="+mn-lt"/>
                <a:cs typeface="+mn-lt"/>
              </a:rPr>
              <a:t>Distance depends on the amount of power in the signal: The greater the power, the greater the distance.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637C4376-C025-792F-EB45-3AFFF0362D68}"/>
              </a:ext>
            </a:extLst>
          </p:cNvPr>
          <p:cNvPicPr>
            <a:picLocks noChangeAspect="1"/>
          </p:cNvPicPr>
          <p:nvPr/>
        </p:nvPicPr>
        <p:blipFill rotWithShape="1">
          <a:blip r:embed="rId2"/>
          <a:srcRect r="-4" b="14763"/>
          <a:stretch/>
        </p:blipFill>
        <p:spPr>
          <a:xfrm>
            <a:off x="7675658" y="2085116"/>
            <a:ext cx="3923344" cy="3892721"/>
          </a:xfrm>
          <a:prstGeom prst="rect">
            <a:avLst/>
          </a:prstGeom>
        </p:spPr>
      </p:pic>
    </p:spTree>
    <p:extLst>
      <p:ext uri="{BB962C8B-B14F-4D97-AF65-F5344CB8AC3E}">
        <p14:creationId xmlns:p14="http://schemas.microsoft.com/office/powerpoint/2010/main" val="1649211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650E1C-A9C4-5517-F2E5-85963CB0244D}"/>
              </a:ext>
            </a:extLst>
          </p:cNvPr>
          <p:cNvSpPr>
            <a:spLocks noGrp="1"/>
          </p:cNvSpPr>
          <p:nvPr>
            <p:ph type="title"/>
          </p:nvPr>
        </p:nvSpPr>
        <p:spPr>
          <a:xfrm>
            <a:off x="640080" y="325369"/>
            <a:ext cx="9064648" cy="1956841"/>
          </a:xfrm>
        </p:spPr>
        <p:txBody>
          <a:bodyPr anchor="b">
            <a:normAutofit/>
          </a:bodyPr>
          <a:lstStyle/>
          <a:p>
            <a:r>
              <a:rPr lang="en-US" sz="5400" dirty="0">
                <a:cs typeface="Calibri Light"/>
              </a:rPr>
              <a:t>Sky Propagation</a:t>
            </a:r>
            <a:endParaRPr lang="en-US" sz="5400" dirty="0"/>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B6D38D-9F4C-0DEF-C96A-9452C02C3DBC}"/>
              </a:ext>
            </a:extLst>
          </p:cNvPr>
          <p:cNvSpPr>
            <a:spLocks noGrp="1"/>
          </p:cNvSpPr>
          <p:nvPr>
            <p:ph idx="1"/>
          </p:nvPr>
        </p:nvSpPr>
        <p:spPr>
          <a:xfrm>
            <a:off x="640080" y="2872899"/>
            <a:ext cx="6742239" cy="3320668"/>
          </a:xfrm>
        </p:spPr>
        <p:txBody>
          <a:bodyPr vert="horz" lIns="91440" tIns="45720" rIns="91440" bIns="45720" rtlCol="0" anchor="t">
            <a:normAutofit/>
          </a:bodyPr>
          <a:lstStyle/>
          <a:p>
            <a:r>
              <a:rPr lang="en-US" dirty="0">
                <a:ea typeface="+mn-lt"/>
                <a:cs typeface="+mn-lt"/>
              </a:rPr>
              <a:t>In sky propagation, higher-frequency radio waves radiate upward into the ionosphere where they are reflected back to earth. </a:t>
            </a:r>
          </a:p>
          <a:p>
            <a:r>
              <a:rPr lang="en-US" dirty="0">
                <a:ea typeface="+mn-lt"/>
                <a:cs typeface="+mn-lt"/>
              </a:rPr>
              <a:t>This type of transmission allows for greater distances with lower output power.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550825EF-41CC-A7CD-BBD1-E11DFC22E6C3}"/>
              </a:ext>
            </a:extLst>
          </p:cNvPr>
          <p:cNvPicPr>
            <a:picLocks noChangeAspect="1"/>
          </p:cNvPicPr>
          <p:nvPr/>
        </p:nvPicPr>
        <p:blipFill rotWithShape="1">
          <a:blip r:embed="rId2"/>
          <a:srcRect t="4670" b="31025"/>
          <a:stretch/>
        </p:blipFill>
        <p:spPr>
          <a:xfrm>
            <a:off x="7739469" y="2073358"/>
            <a:ext cx="4451008" cy="3774549"/>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80303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8A130D-5115-7D37-4114-E17F2A143FD3}"/>
              </a:ext>
            </a:extLst>
          </p:cNvPr>
          <p:cNvSpPr>
            <a:spLocks noGrp="1"/>
          </p:cNvSpPr>
          <p:nvPr>
            <p:ph type="title"/>
          </p:nvPr>
        </p:nvSpPr>
        <p:spPr>
          <a:xfrm>
            <a:off x="572493" y="238539"/>
            <a:ext cx="11018520" cy="1434415"/>
          </a:xfrm>
        </p:spPr>
        <p:txBody>
          <a:bodyPr anchor="b">
            <a:normAutofit/>
          </a:bodyPr>
          <a:lstStyle/>
          <a:p>
            <a:r>
              <a:rPr lang="en-US" sz="5400" dirty="0">
                <a:cs typeface="Calibri Light"/>
              </a:rPr>
              <a:t>Line-or-sight</a:t>
            </a:r>
            <a:endParaRPr lang="en-US" sz="5400" dirty="0"/>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955BF6-F2B4-E7AB-07B1-5986749D08AF}"/>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latin typeface="Arial"/>
                <a:cs typeface="Arial"/>
              </a:rPr>
              <a:t>In line-or-sight propagation, very high-frequency signals are transmitted in straight lines directly from antenna to antenna. Antennas must be directional, facing each other, and either tall enough or close enough together not to be affected by the curvature of the earth. Line-of-sight propagation is tricky because radio transmissions cannot be completely focused.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215463EB-A2B9-676B-6161-C2B7CEF10E52}"/>
              </a:ext>
            </a:extLst>
          </p:cNvPr>
          <p:cNvPicPr>
            <a:picLocks noChangeAspect="1"/>
          </p:cNvPicPr>
          <p:nvPr/>
        </p:nvPicPr>
        <p:blipFill rotWithShape="1">
          <a:blip r:embed="rId2"/>
          <a:srcRect l="672" r="399" b="-3"/>
          <a:stretch/>
        </p:blipFill>
        <p:spPr>
          <a:xfrm>
            <a:off x="7675658" y="2093976"/>
            <a:ext cx="3941064" cy="4096512"/>
          </a:xfrm>
          <a:prstGeom prst="rect">
            <a:avLst/>
          </a:prstGeom>
        </p:spPr>
      </p:pic>
    </p:spTree>
    <p:extLst>
      <p:ext uri="{BB962C8B-B14F-4D97-AF65-F5344CB8AC3E}">
        <p14:creationId xmlns:p14="http://schemas.microsoft.com/office/powerpoint/2010/main" val="2758083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F4CA2-F2D9-318E-0FE3-F2C3703A9C4D}"/>
              </a:ext>
            </a:extLst>
          </p:cNvPr>
          <p:cNvSpPr>
            <a:spLocks noGrp="1"/>
          </p:cNvSpPr>
          <p:nvPr>
            <p:ph type="title"/>
          </p:nvPr>
        </p:nvSpPr>
        <p:spPr/>
        <p:txBody>
          <a:bodyPr/>
          <a:lstStyle/>
          <a:p>
            <a:r>
              <a:rPr lang="en-US" dirty="0">
                <a:cs typeface="Calibri Light"/>
              </a:rPr>
              <a:t>Radio Waves</a:t>
            </a:r>
            <a:endParaRPr lang="en-US" dirty="0"/>
          </a:p>
        </p:txBody>
      </p:sp>
      <p:sp>
        <p:nvSpPr>
          <p:cNvPr id="3" name="Content Placeholder 2">
            <a:extLst>
              <a:ext uri="{FF2B5EF4-FFF2-40B4-BE49-F238E27FC236}">
                <a16:creationId xmlns:a16="http://schemas.microsoft.com/office/drawing/2014/main" id="{86DDE4A7-DF8C-0CEF-AC34-4B8B43D3F730}"/>
              </a:ext>
            </a:extLst>
          </p:cNvPr>
          <p:cNvSpPr>
            <a:spLocks noGrp="1"/>
          </p:cNvSpPr>
          <p:nvPr>
            <p:ph idx="1"/>
          </p:nvPr>
        </p:nvSpPr>
        <p:spPr>
          <a:xfrm>
            <a:off x="615351" y="1516511"/>
            <a:ext cx="10515600" cy="4351338"/>
          </a:xfrm>
        </p:spPr>
        <p:txBody>
          <a:bodyPr vert="horz" lIns="91440" tIns="45720" rIns="91440" bIns="45720" rtlCol="0" anchor="t">
            <a:noAutofit/>
          </a:bodyPr>
          <a:lstStyle/>
          <a:p>
            <a:r>
              <a:rPr lang="en-US" dirty="0">
                <a:ea typeface="+mn-lt"/>
                <a:cs typeface="+mn-lt"/>
              </a:rPr>
              <a:t>Waves ranging in frequencies between 3 kHz and 1 GHz are called radio waves. </a:t>
            </a:r>
          </a:p>
          <a:p>
            <a:r>
              <a:rPr lang="en-US" dirty="0">
                <a:ea typeface="+mn-lt"/>
                <a:cs typeface="+mn-lt"/>
              </a:rPr>
              <a:t>Radio waves are omnidirectional. When an antenna transmits radio waves, they are propagated in all directions. This means that the sending and receiving antennas do not have to be aligned. </a:t>
            </a:r>
          </a:p>
          <a:p>
            <a:r>
              <a:rPr lang="en-US" dirty="0">
                <a:ea typeface="+mn-lt"/>
                <a:cs typeface="+mn-lt"/>
              </a:rPr>
              <a:t>A sending antenna sends waves that can be received by any receiving antenna. </a:t>
            </a:r>
            <a:endParaRPr lang="en-US">
              <a:ea typeface="+mn-lt"/>
              <a:cs typeface="+mn-lt"/>
            </a:endParaRPr>
          </a:p>
          <a:p>
            <a:r>
              <a:rPr lang="en-US" dirty="0">
                <a:ea typeface="+mn-lt"/>
                <a:cs typeface="+mn-lt"/>
              </a:rPr>
              <a:t>The omnidirectional property has a disadvantage, too. The radio waves transmitted by one antenna are susceptible to interference by another antenna that may send signals using the same frequency or band. </a:t>
            </a:r>
            <a:endParaRPr lang="en-US" dirty="0">
              <a:cs typeface="Calibri"/>
            </a:endParaRPr>
          </a:p>
        </p:txBody>
      </p:sp>
    </p:spTree>
    <p:extLst>
      <p:ext uri="{BB962C8B-B14F-4D97-AF65-F5344CB8AC3E}">
        <p14:creationId xmlns:p14="http://schemas.microsoft.com/office/powerpoint/2010/main" val="3212914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30E82-03A0-F434-0CD1-75ED3095E3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7474C5-3D0C-E3C4-B107-A83BEE5F155F}"/>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Radio waves, particularly those waves that propagate in the sky mode, can travel long distances. This makes radio waves a good candidate for long-distance broadcasting such as AM radio. </a:t>
            </a:r>
            <a:endParaRPr lang="en-US" dirty="0">
              <a:solidFill>
                <a:srgbClr val="808080"/>
              </a:solidFill>
              <a:ea typeface="+mn-lt"/>
              <a:cs typeface="+mn-lt"/>
            </a:endParaRPr>
          </a:p>
          <a:p>
            <a:r>
              <a:rPr lang="en-US" dirty="0">
                <a:ea typeface="+mn-lt"/>
                <a:cs typeface="+mn-lt"/>
              </a:rPr>
              <a:t>Radio waves, particularly those of low and medium frequencies, can penetrate walls. This characteristic can be both an advantage and a disadvantage. It is an advantage because, for example, an AM radio can receive signals inside a building. It is a disadvantage because we cannot isolate a communication to just inside or outside a building. </a:t>
            </a:r>
            <a:endParaRPr lang="en-US" dirty="0">
              <a:solidFill>
                <a:srgbClr val="808080"/>
              </a:solidFill>
              <a:ea typeface="+mn-lt"/>
              <a:cs typeface="+mn-lt"/>
            </a:endParaRPr>
          </a:p>
          <a:p>
            <a:r>
              <a:rPr lang="en-US" dirty="0">
                <a:ea typeface="+mn-lt"/>
                <a:cs typeface="+mn-lt"/>
              </a:rPr>
              <a:t>The radio wave band is relatively narrow, just under 1 GHz, compared to the microwave band. When this band is divided into sub bands, the sub bands are also narrow, leading to a low data rate for digital communications. </a:t>
            </a:r>
            <a:endParaRPr lang="en-US">
              <a:solidFill>
                <a:srgbClr val="808080"/>
              </a:solidFill>
              <a:ea typeface="+mn-lt"/>
              <a:cs typeface="+mn-lt"/>
            </a:endParaRPr>
          </a:p>
          <a:p>
            <a:endParaRPr lang="en-US" dirty="0">
              <a:cs typeface="Calibri"/>
            </a:endParaRPr>
          </a:p>
        </p:txBody>
      </p:sp>
    </p:spTree>
    <p:extLst>
      <p:ext uri="{BB962C8B-B14F-4D97-AF65-F5344CB8AC3E}">
        <p14:creationId xmlns:p14="http://schemas.microsoft.com/office/powerpoint/2010/main" val="39259302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B29B-8723-EEDC-D63E-A2BB1A22A93F}"/>
              </a:ext>
            </a:extLst>
          </p:cNvPr>
          <p:cNvSpPr>
            <a:spLocks noGrp="1"/>
          </p:cNvSpPr>
          <p:nvPr>
            <p:ph type="title"/>
          </p:nvPr>
        </p:nvSpPr>
        <p:spPr/>
        <p:txBody>
          <a:bodyPr/>
          <a:lstStyle/>
          <a:p>
            <a:r>
              <a:rPr lang="en-US" dirty="0">
                <a:cs typeface="Calibri Light"/>
              </a:rPr>
              <a:t>Microwaves</a:t>
            </a:r>
            <a:endParaRPr lang="en-US" dirty="0"/>
          </a:p>
        </p:txBody>
      </p:sp>
      <p:sp>
        <p:nvSpPr>
          <p:cNvPr id="3" name="Content Placeholder 2">
            <a:extLst>
              <a:ext uri="{FF2B5EF4-FFF2-40B4-BE49-F238E27FC236}">
                <a16:creationId xmlns:a16="http://schemas.microsoft.com/office/drawing/2014/main" id="{DD0E0E99-7128-29C5-F68B-368288E8F2CE}"/>
              </a:ext>
            </a:extLst>
          </p:cNvPr>
          <p:cNvSpPr>
            <a:spLocks noGrp="1"/>
          </p:cNvSpPr>
          <p:nvPr>
            <p:ph idx="1"/>
          </p:nvPr>
        </p:nvSpPr>
        <p:spPr/>
        <p:txBody>
          <a:bodyPr vert="horz" lIns="91440" tIns="45720" rIns="91440" bIns="45720" rtlCol="0" anchor="t">
            <a:noAutofit/>
          </a:bodyPr>
          <a:lstStyle/>
          <a:p>
            <a:r>
              <a:rPr lang="en-US" dirty="0">
                <a:ea typeface="+mn-lt"/>
                <a:cs typeface="+mn-lt"/>
              </a:rPr>
              <a:t>Electromagnetic waves having frequencies between 1 and 300 GHz are called microwaves. </a:t>
            </a:r>
          </a:p>
          <a:p>
            <a:r>
              <a:rPr lang="en-US" dirty="0">
                <a:ea typeface="+mn-lt"/>
                <a:cs typeface="+mn-lt"/>
              </a:rPr>
              <a:t>Microwaves are unidirectional. When an antenna transmits microwave waves, they can be narrowly focused. This means that the sending and receiving antennas need to be aligned. The unidirectional property has an obvious advantage. </a:t>
            </a:r>
            <a:endParaRPr lang="en-US" dirty="0">
              <a:cs typeface="Calibri" panose="020F0502020204030204"/>
            </a:endParaRPr>
          </a:p>
          <a:p>
            <a:r>
              <a:rPr lang="en-US" dirty="0">
                <a:ea typeface="+mn-lt"/>
                <a:cs typeface="+mn-lt"/>
              </a:rPr>
              <a:t>A pair of antennas can be aligned without interfering with another pair of aligned antennas. </a:t>
            </a:r>
            <a:endParaRPr lang="en-US" dirty="0"/>
          </a:p>
          <a:p>
            <a:endParaRPr lang="en-US"/>
          </a:p>
        </p:txBody>
      </p:sp>
    </p:spTree>
    <p:extLst>
      <p:ext uri="{BB962C8B-B14F-4D97-AF65-F5344CB8AC3E}">
        <p14:creationId xmlns:p14="http://schemas.microsoft.com/office/powerpoint/2010/main" val="3552776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2A52-11AF-88DB-CABC-7299923056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F1B673-79FF-42FE-2BF8-BBCE89B86CA5}"/>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The following describes some characteristics of microwave propagation: </a:t>
            </a:r>
            <a:endParaRPr lang="en-US" dirty="0">
              <a:solidFill>
                <a:srgbClr val="808080"/>
              </a:solidFill>
              <a:latin typeface="Arial"/>
              <a:cs typeface="Arial"/>
            </a:endParaRPr>
          </a:p>
          <a:p>
            <a:r>
              <a:rPr lang="en-US">
                <a:latin typeface="Arial"/>
                <a:cs typeface="Arial"/>
              </a:rPr>
              <a:t>a. Microwave propagation is line-of-sight. Since the towers with the mounted antennas need to be in direct sight of each other, towers that are far apart need to be very tall. The curvature of the earth as well as other blocking obstacles does not allow two short towers to communicate by using microwaves. Repeaters are often needed for long distance communication. </a:t>
            </a:r>
            <a:endParaRPr lang="en-US">
              <a:solidFill>
                <a:srgbClr val="808080"/>
              </a:solidFill>
              <a:latin typeface="Arial"/>
              <a:cs typeface="Arial"/>
            </a:endParaRPr>
          </a:p>
          <a:p>
            <a:pPr marL="0" indent="0">
              <a:buNone/>
            </a:pPr>
            <a:endParaRPr lang="en-US" dirty="0">
              <a:latin typeface="Arial"/>
              <a:cs typeface="Arial"/>
            </a:endParaRPr>
          </a:p>
          <a:p>
            <a:endParaRPr lang="en-US" dirty="0">
              <a:cs typeface="Calibri"/>
            </a:endParaRPr>
          </a:p>
        </p:txBody>
      </p:sp>
    </p:spTree>
    <p:extLst>
      <p:ext uri="{BB962C8B-B14F-4D97-AF65-F5344CB8AC3E}">
        <p14:creationId xmlns:p14="http://schemas.microsoft.com/office/powerpoint/2010/main" val="3007875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C9D7B-5921-B03D-8FCF-788871654F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2C18C2-3DCD-ABC5-07F8-EFA0E3F15146}"/>
              </a:ext>
            </a:extLst>
          </p:cNvPr>
          <p:cNvSpPr>
            <a:spLocks noGrp="1"/>
          </p:cNvSpPr>
          <p:nvPr>
            <p:ph idx="1"/>
          </p:nvPr>
        </p:nvSpPr>
        <p:spPr/>
        <p:txBody>
          <a:bodyPr vert="horz" lIns="91440" tIns="45720" rIns="91440" bIns="45720" rtlCol="0" anchor="t">
            <a:normAutofit/>
          </a:bodyPr>
          <a:lstStyle/>
          <a:p>
            <a:pPr marL="0" indent="0">
              <a:buNone/>
            </a:pPr>
            <a:r>
              <a:rPr lang="en-US" sz="2600" dirty="0">
                <a:latin typeface="Arial"/>
                <a:cs typeface="Arial"/>
              </a:rPr>
              <a:t>b. Very high-frequency microwaves cannot penetrate walls. This characteristic can be a disadvantage if receivers are inside buildings.</a:t>
            </a:r>
            <a:br>
              <a:rPr lang="en-US" sz="2600" dirty="0">
                <a:latin typeface="Arial"/>
                <a:cs typeface="Arial"/>
              </a:rPr>
            </a:br>
            <a:endParaRPr lang="en-US" sz="2600">
              <a:solidFill>
                <a:srgbClr val="808080"/>
              </a:solidFill>
              <a:latin typeface="Arial"/>
              <a:cs typeface="Arial"/>
            </a:endParaRPr>
          </a:p>
          <a:p>
            <a:pPr marL="0" indent="0">
              <a:buNone/>
            </a:pPr>
            <a:r>
              <a:rPr lang="en-US" sz="2400" baseline="0" dirty="0">
                <a:latin typeface="Arial"/>
              </a:rPr>
              <a:t>c.</a:t>
            </a:r>
            <a:r>
              <a:rPr lang="en-US" sz="2400" dirty="0">
                <a:latin typeface="Arial"/>
              </a:rPr>
              <a:t> </a:t>
            </a:r>
            <a:r>
              <a:rPr lang="en-US" sz="2400" baseline="0" dirty="0">
                <a:latin typeface="Arial"/>
              </a:rPr>
              <a:t>The microwave band is relatively wide, almost 299 GHz. Therefore wider sub bands can be assigned, and a high data rate is possible</a:t>
            </a:r>
            <a:r>
              <a:rPr lang="en-US" sz="2400" dirty="0">
                <a:latin typeface="Arial"/>
              </a:rPr>
              <a:t> </a:t>
            </a:r>
            <a:endParaRPr lang="en-US">
              <a:latin typeface="Calibri" panose="020F0502020204030204"/>
              <a:cs typeface="Calibri" panose="020F0502020204030204"/>
            </a:endParaRPr>
          </a:p>
          <a:p>
            <a:pPr marL="0" indent="0">
              <a:buNone/>
            </a:pPr>
            <a:endParaRPr lang="en-US" sz="2400" dirty="0">
              <a:latin typeface="Arial"/>
            </a:endParaRPr>
          </a:p>
          <a:p>
            <a:pPr marL="0" indent="0">
              <a:buNone/>
            </a:pPr>
            <a:r>
              <a:rPr lang="en-US" sz="2400" baseline="0" dirty="0">
                <a:latin typeface="Arial"/>
              </a:rPr>
              <a:t>d. Use of certain portions of the band requires permission from authorities. </a:t>
            </a:r>
            <a:r>
              <a:rPr lang="en-US" sz="2400" dirty="0">
                <a:solidFill>
                  <a:srgbClr val="808080"/>
                </a:solidFill>
                <a:latin typeface="Arial"/>
                <a:ea typeface="Arial"/>
                <a:cs typeface="Arial"/>
              </a:rPr>
              <a:t>​</a:t>
            </a:r>
            <a:endParaRPr lang="en-US">
              <a:cs typeface="Calibri" panose="020F0502020204030204"/>
            </a:endParaRPr>
          </a:p>
        </p:txBody>
      </p:sp>
    </p:spTree>
    <p:extLst>
      <p:ext uri="{BB962C8B-B14F-4D97-AF65-F5344CB8AC3E}">
        <p14:creationId xmlns:p14="http://schemas.microsoft.com/office/powerpoint/2010/main" val="614543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7B47-AD71-7F9B-4D80-6AB9A31AECCC}"/>
              </a:ext>
            </a:extLst>
          </p:cNvPr>
          <p:cNvSpPr>
            <a:spLocks noGrp="1"/>
          </p:cNvSpPr>
          <p:nvPr>
            <p:ph type="title"/>
          </p:nvPr>
        </p:nvSpPr>
        <p:spPr/>
        <p:txBody>
          <a:bodyPr/>
          <a:lstStyle/>
          <a:p>
            <a:r>
              <a:rPr lang="en-US" dirty="0">
                <a:cs typeface="Calibri Light"/>
              </a:rPr>
              <a:t>Infrared</a:t>
            </a:r>
            <a:endParaRPr lang="en-US" dirty="0"/>
          </a:p>
        </p:txBody>
      </p:sp>
      <p:sp>
        <p:nvSpPr>
          <p:cNvPr id="3" name="Content Placeholder 2">
            <a:extLst>
              <a:ext uri="{FF2B5EF4-FFF2-40B4-BE49-F238E27FC236}">
                <a16:creationId xmlns:a16="http://schemas.microsoft.com/office/drawing/2014/main" id="{C05AC15C-FF4B-2C26-3BE6-3672969B659F}"/>
              </a:ext>
            </a:extLst>
          </p:cNvPr>
          <p:cNvSpPr>
            <a:spLocks noGrp="1"/>
          </p:cNvSpPr>
          <p:nvPr>
            <p:ph idx="1"/>
          </p:nvPr>
        </p:nvSpPr>
        <p:spPr/>
        <p:txBody>
          <a:bodyPr vert="horz" lIns="91440" tIns="45720" rIns="91440" bIns="45720" rtlCol="0" anchor="t">
            <a:noAutofit/>
          </a:bodyPr>
          <a:lstStyle/>
          <a:p>
            <a:r>
              <a:rPr lang="en-US" dirty="0">
                <a:ea typeface="+mn-lt"/>
                <a:cs typeface="+mn-lt"/>
              </a:rPr>
              <a:t>Infrared waves, with frequencies from 300 GHz to 400 THz (wavelengths from 1 mm to 770 nm), can be used for short-range communication. </a:t>
            </a:r>
          </a:p>
          <a:p>
            <a:r>
              <a:rPr lang="en-US" dirty="0">
                <a:ea typeface="+mn-lt"/>
                <a:cs typeface="+mn-lt"/>
              </a:rPr>
              <a:t>Infrared waves, having high frequencies, cannot penetrate walls. </a:t>
            </a:r>
          </a:p>
          <a:p>
            <a:r>
              <a:rPr lang="en-US" dirty="0">
                <a:ea typeface="+mn-lt"/>
                <a:cs typeface="+mn-lt"/>
              </a:rPr>
              <a:t>This advantageous characteristic prevents interference between one system and another; a short-range communication system in one room cannot be affected by another system in the next room. </a:t>
            </a:r>
          </a:p>
          <a:p>
            <a:pPr marL="0" indent="0">
              <a:buNone/>
            </a:pPr>
            <a:endParaRPr lang="en-US" dirty="0">
              <a:cs typeface="Calibri"/>
            </a:endParaRPr>
          </a:p>
          <a:p>
            <a:endParaRPr lang="en-US" dirty="0">
              <a:cs typeface="Calibri"/>
            </a:endParaRPr>
          </a:p>
        </p:txBody>
      </p:sp>
    </p:spTree>
    <p:extLst>
      <p:ext uri="{BB962C8B-B14F-4D97-AF65-F5344CB8AC3E}">
        <p14:creationId xmlns:p14="http://schemas.microsoft.com/office/powerpoint/2010/main" val="2661605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8BDC5-B27D-F4D7-FCBA-D699235B27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866970-29F6-A2F6-3592-63BACA2FA162}"/>
              </a:ext>
            </a:extLst>
          </p:cNvPr>
          <p:cNvSpPr>
            <a:spLocks noGrp="1"/>
          </p:cNvSpPr>
          <p:nvPr>
            <p:ph idx="1"/>
          </p:nvPr>
        </p:nvSpPr>
        <p:spPr/>
        <p:txBody>
          <a:bodyPr vert="horz" lIns="91440" tIns="45720" rIns="91440" bIns="45720" rtlCol="0" anchor="t">
            <a:normAutofit/>
          </a:bodyPr>
          <a:lstStyle/>
          <a:p>
            <a:r>
              <a:rPr lang="en-US" dirty="0">
                <a:ea typeface="+mn-lt"/>
                <a:cs typeface="+mn-lt"/>
              </a:rPr>
              <a:t>When we use our infrared remote control, we do not interfere with the use of the remote by our neighbors. </a:t>
            </a:r>
          </a:p>
          <a:p>
            <a:r>
              <a:rPr lang="en-US" dirty="0">
                <a:ea typeface="+mn-lt"/>
                <a:cs typeface="+mn-lt"/>
              </a:rPr>
              <a:t>However, this same characteristic makes infrared signals useless for long-range communication. </a:t>
            </a:r>
          </a:p>
          <a:p>
            <a:r>
              <a:rPr lang="en-US">
                <a:ea typeface="+mn-lt"/>
                <a:cs typeface="+mn-lt"/>
              </a:rPr>
              <a:t>In addition, we cannot use infrared waves </a:t>
            </a:r>
            <a:r>
              <a:rPr lang="en-US" dirty="0">
                <a:ea typeface="+mn-lt"/>
                <a:cs typeface="+mn-lt"/>
              </a:rPr>
              <a:t>outside a building because the sun's rays contain infrared waves that can interfere with the communication. </a:t>
            </a:r>
            <a:endParaRPr lang="en-US">
              <a:cs typeface="Calibri"/>
            </a:endParaRPr>
          </a:p>
        </p:txBody>
      </p:sp>
    </p:spTree>
    <p:extLst>
      <p:ext uri="{BB962C8B-B14F-4D97-AF65-F5344CB8AC3E}">
        <p14:creationId xmlns:p14="http://schemas.microsoft.com/office/powerpoint/2010/main" val="798015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54C48-1158-9506-D1F6-931501A96374}"/>
              </a:ext>
            </a:extLst>
          </p:cNvPr>
          <p:cNvSpPr>
            <a:spLocks noGrp="1"/>
          </p:cNvSpPr>
          <p:nvPr>
            <p:ph type="title"/>
          </p:nvPr>
        </p:nvSpPr>
        <p:spPr/>
        <p:txBody>
          <a:bodyPr/>
          <a:lstStyle/>
          <a:p>
            <a:r>
              <a:rPr lang="en-US" dirty="0">
                <a:cs typeface="Calibri Light"/>
              </a:rPr>
              <a:t>Modulation and Demodulation</a:t>
            </a:r>
            <a:endParaRPr lang="en-US" dirty="0"/>
          </a:p>
        </p:txBody>
      </p:sp>
      <p:sp>
        <p:nvSpPr>
          <p:cNvPr id="3" name="Content Placeholder 2">
            <a:extLst>
              <a:ext uri="{FF2B5EF4-FFF2-40B4-BE49-F238E27FC236}">
                <a16:creationId xmlns:a16="http://schemas.microsoft.com/office/drawing/2014/main" id="{9CD18A1F-15F8-7151-7472-290C1972AD6F}"/>
              </a:ext>
            </a:extLst>
          </p:cNvPr>
          <p:cNvSpPr>
            <a:spLocks noGrp="1"/>
          </p:cNvSpPr>
          <p:nvPr>
            <p:ph idx="1"/>
          </p:nvPr>
        </p:nvSpPr>
        <p:spPr/>
        <p:txBody>
          <a:bodyPr vert="horz" lIns="91440" tIns="45720" rIns="91440" bIns="45720" rtlCol="0" anchor="t">
            <a:normAutofit/>
          </a:bodyPr>
          <a:lstStyle/>
          <a:p>
            <a:r>
              <a:rPr lang="en-US" dirty="0">
                <a:latin typeface="Calibri"/>
                <a:ea typeface="Verdana"/>
                <a:cs typeface="Calibri"/>
              </a:rPr>
              <a:t>There are two important processes used in data communication namely, modulation and demodulation.</a:t>
            </a:r>
          </a:p>
          <a:p>
            <a:r>
              <a:rPr lang="en-US" dirty="0">
                <a:latin typeface="Calibri"/>
                <a:ea typeface="Verdana"/>
                <a:cs typeface="Calibri"/>
              </a:rPr>
              <a:t> Both these processes make a communication successful by the transfer of data and information with the minimum distortion, </a:t>
            </a:r>
            <a:r>
              <a:rPr lang="en-US">
                <a:latin typeface="Calibri"/>
                <a:ea typeface="Verdana"/>
                <a:cs typeface="Calibri"/>
              </a:rPr>
              <a:t>minimum losses .</a:t>
            </a:r>
            <a:endParaRPr lang="en-US" dirty="0">
              <a:latin typeface="Calibri"/>
              <a:ea typeface="Verdana"/>
              <a:cs typeface="Calibri"/>
            </a:endParaRPr>
          </a:p>
          <a:p>
            <a:r>
              <a:rPr lang="en-US" dirty="0">
                <a:latin typeface="Calibri"/>
                <a:ea typeface="Verdana"/>
                <a:cs typeface="Calibri"/>
              </a:rPr>
              <a:t> The electronic device that is employed to perform modulation and demodulation is called modem. It performs modulation and demodulation of information during its transmission.</a:t>
            </a:r>
            <a:endParaRPr lang="en-US">
              <a:latin typeface="Calibri"/>
              <a:cs typeface="Calibri"/>
            </a:endParaRPr>
          </a:p>
        </p:txBody>
      </p:sp>
    </p:spTree>
    <p:extLst>
      <p:ext uri="{BB962C8B-B14F-4D97-AF65-F5344CB8AC3E}">
        <p14:creationId xmlns:p14="http://schemas.microsoft.com/office/powerpoint/2010/main" val="2230066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5513E35-A73B-DFA6-DC87-DE81367885E9}"/>
              </a:ext>
            </a:extLst>
          </p:cNvPr>
          <p:cNvSpPr>
            <a:spLocks noGrp="1"/>
          </p:cNvSpPr>
          <p:nvPr>
            <p:ph type="title"/>
          </p:nvPr>
        </p:nvSpPr>
        <p:spPr>
          <a:xfrm>
            <a:off x="1137034" y="609597"/>
            <a:ext cx="9392421" cy="1330841"/>
          </a:xfrm>
        </p:spPr>
        <p:txBody>
          <a:bodyPr>
            <a:normAutofit/>
          </a:bodyPr>
          <a:lstStyle/>
          <a:p>
            <a:r>
              <a:rPr lang="en-US">
                <a:cs typeface="Calibri Light"/>
              </a:rPr>
              <a:t>Modulation</a:t>
            </a:r>
            <a:endParaRPr lang="en-US"/>
          </a:p>
        </p:txBody>
      </p:sp>
      <p:sp>
        <p:nvSpPr>
          <p:cNvPr id="3" name="Content Placeholder 2">
            <a:extLst>
              <a:ext uri="{FF2B5EF4-FFF2-40B4-BE49-F238E27FC236}">
                <a16:creationId xmlns:a16="http://schemas.microsoft.com/office/drawing/2014/main" id="{BA5620B3-9F1F-4B63-057D-988EE3854FDE}"/>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1700">
                <a:latin typeface="Calibri"/>
                <a:ea typeface="Verdana"/>
                <a:cs typeface="Calibri"/>
              </a:rPr>
              <a:t>The process of superimposing a message signal on a carrier signal so that the message can be transmitted over long distances is called modulation. Here, the carrier signal is the signal of high frequency which is used to carry the message signal.</a:t>
            </a:r>
          </a:p>
          <a:p>
            <a:r>
              <a:rPr lang="en-US" sz="1700">
                <a:latin typeface="Calibri"/>
                <a:ea typeface="Verdana"/>
                <a:cs typeface="Calibri"/>
              </a:rPr>
              <a:t>The modulation of a signal is performed at the transmitting end in the communication system with the help of a modulator circuit (a part of modem)</a:t>
            </a:r>
          </a:p>
          <a:p>
            <a:r>
              <a:rPr lang="en-US" sz="1700">
                <a:latin typeface="Calibri"/>
                <a:ea typeface="Verdana"/>
                <a:cs typeface="Calibri"/>
              </a:rPr>
              <a:t>In the modulation, a specific parameter, i.e. amplitude, frequency or phase, of the carrier signal is altered in accordance with the modulating signal or message signal. After modulation, the modulated signal is transmitted over the communication channel by a transmitter.</a:t>
            </a:r>
          </a:p>
        </p:txBody>
      </p:sp>
      <p:pic>
        <p:nvPicPr>
          <p:cNvPr id="4" name="Picture 3" descr="A diagram of a system&#10;&#10;Description automatically generated">
            <a:extLst>
              <a:ext uri="{FF2B5EF4-FFF2-40B4-BE49-F238E27FC236}">
                <a16:creationId xmlns:a16="http://schemas.microsoft.com/office/drawing/2014/main" id="{5CFEC116-39FA-C6ED-D56E-00011D1F12DE}"/>
              </a:ext>
            </a:extLst>
          </p:cNvPr>
          <p:cNvPicPr>
            <a:picLocks noChangeAspect="1"/>
          </p:cNvPicPr>
          <p:nvPr/>
        </p:nvPicPr>
        <p:blipFill>
          <a:blip r:embed="rId2"/>
          <a:stretch>
            <a:fillRect/>
          </a:stretch>
        </p:blipFill>
        <p:spPr>
          <a:xfrm>
            <a:off x="6719367" y="2619218"/>
            <a:ext cx="5089760" cy="2515168"/>
          </a:xfrm>
          <a:prstGeom prst="rect">
            <a:avLst/>
          </a:prstGeom>
        </p:spPr>
      </p:pic>
      <p:sp>
        <p:nvSpPr>
          <p:cNvPr id="24" name="Freeform: Shape 2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3744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890A97-0B97-9784-9E66-4341D1C05B3D}"/>
              </a:ext>
            </a:extLst>
          </p:cNvPr>
          <p:cNvSpPr txBox="1"/>
          <p:nvPr/>
        </p:nvSpPr>
        <p:spPr>
          <a:xfrm>
            <a:off x="1629508" y="902677"/>
            <a:ext cx="764344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Modulation – It is the process of converting digital data (0s and 1s) into analog signals so that it can be transmitted over communication channels like telephone lines, radio waves, or fiber optics.</a:t>
            </a:r>
          </a:p>
          <a:p>
            <a:r>
              <a:rPr lang="en-US" dirty="0"/>
              <a:t>• Example: In an internet connection, a modem modulates digital signals from a computer into analog signals for transmission.</a:t>
            </a:r>
            <a:endParaRPr lang="en-US" dirty="0">
              <a:ea typeface="Calibri"/>
              <a:cs typeface="Calibri"/>
            </a:endParaRPr>
          </a:p>
          <a:p>
            <a:endParaRPr lang="en-US" dirty="0">
              <a:ea typeface="Calibri"/>
              <a:cs typeface="Calibri"/>
            </a:endParaRPr>
          </a:p>
          <a:p>
            <a:endParaRPr lang="en-US" dirty="0">
              <a:ea typeface="Calibri"/>
              <a:cs typeface="Calibri"/>
            </a:endParaRPr>
          </a:p>
          <a:p>
            <a:r>
              <a:rPr lang="en-US">
                <a:ea typeface="+mn-lt"/>
                <a:cs typeface="+mn-lt"/>
              </a:rPr>
              <a:t>Demodulation – It is the reverse process, where the analog signal is converted back into digital data so that a computer can understand it.</a:t>
            </a:r>
            <a:endParaRPr lang="en-US"/>
          </a:p>
          <a:p>
            <a:r>
              <a:rPr lang="en-US">
                <a:ea typeface="+mn-lt"/>
                <a:cs typeface="+mn-lt"/>
              </a:rPr>
              <a:t>• Example: The modem demodulates incoming analog signals from the internet and converts them into digital data for your computer.</a:t>
            </a:r>
            <a:endParaRPr lang="en-US"/>
          </a:p>
          <a:p>
            <a:endParaRPr lang="en-US" dirty="0">
              <a:ea typeface="Calibri"/>
              <a:cs typeface="Calibri"/>
            </a:endParaRPr>
          </a:p>
        </p:txBody>
      </p:sp>
    </p:spTree>
    <p:extLst>
      <p:ext uri="{BB962C8B-B14F-4D97-AF65-F5344CB8AC3E}">
        <p14:creationId xmlns:p14="http://schemas.microsoft.com/office/powerpoint/2010/main" val="3267293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E75AE5A-B9D2-7672-99BE-3E14BA3D1296}"/>
              </a:ext>
            </a:extLst>
          </p:cNvPr>
          <p:cNvSpPr>
            <a:spLocks noGrp="1"/>
          </p:cNvSpPr>
          <p:nvPr>
            <p:ph type="title"/>
          </p:nvPr>
        </p:nvSpPr>
        <p:spPr>
          <a:xfrm>
            <a:off x="1137034" y="609597"/>
            <a:ext cx="9392421" cy="1330841"/>
          </a:xfrm>
        </p:spPr>
        <p:txBody>
          <a:bodyPr>
            <a:normAutofit/>
          </a:bodyPr>
          <a:lstStyle/>
          <a:p>
            <a:r>
              <a:rPr lang="en-US" dirty="0">
                <a:cs typeface="Calibri Light"/>
              </a:rPr>
              <a:t>Demodulation</a:t>
            </a:r>
            <a:endParaRPr lang="en-US" dirty="0"/>
          </a:p>
        </p:txBody>
      </p:sp>
      <p:sp>
        <p:nvSpPr>
          <p:cNvPr id="3" name="Content Placeholder 2">
            <a:extLst>
              <a:ext uri="{FF2B5EF4-FFF2-40B4-BE49-F238E27FC236}">
                <a16:creationId xmlns:a16="http://schemas.microsoft.com/office/drawing/2014/main" id="{38454BDE-F973-B7F2-E3F1-4FAD937CF286}"/>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a:latin typeface="Calibri"/>
                <a:ea typeface="Verdana"/>
                <a:cs typeface="Calibri"/>
              </a:rPr>
              <a:t>The process of obtaining the original message from the modulated signal is called demodulation. </a:t>
            </a:r>
          </a:p>
          <a:p>
            <a:r>
              <a:rPr lang="en-US" sz="2000">
                <a:latin typeface="Calibri"/>
                <a:ea typeface="Verdana"/>
                <a:cs typeface="Calibri"/>
              </a:rPr>
              <a:t>In simple words, demodulation is the process of separating a message signal from a carrier signal.</a:t>
            </a:r>
          </a:p>
          <a:p>
            <a:r>
              <a:rPr lang="en-US" sz="2000">
                <a:ea typeface="Verdana"/>
              </a:rPr>
              <a:t>The electronic circuit that is used to perform the demodulation process is called demodulator, it is the part of the modem. The process of demodulation is performed at the receiver end of a communication system.</a:t>
            </a:r>
            <a:endParaRPr lang="en-US" sz="2000">
              <a:latin typeface="Calibri"/>
              <a:ea typeface="Verdana"/>
              <a:cs typeface="Calibri"/>
            </a:endParaRPr>
          </a:p>
          <a:p>
            <a:pPr marL="0" indent="0">
              <a:buNone/>
            </a:pPr>
            <a:endParaRPr lang="en-US" sz="2000">
              <a:cs typeface="Calibri" panose="020F0502020204030204"/>
            </a:endParaRPr>
          </a:p>
        </p:txBody>
      </p:sp>
      <p:pic>
        <p:nvPicPr>
          <p:cNvPr id="4" name="Picture 3" descr="A diagram of a demodulator&#10;&#10;Description automatically generated">
            <a:extLst>
              <a:ext uri="{FF2B5EF4-FFF2-40B4-BE49-F238E27FC236}">
                <a16:creationId xmlns:a16="http://schemas.microsoft.com/office/drawing/2014/main" id="{61CE7462-2067-B004-096A-72EC39E11D83}"/>
              </a:ext>
            </a:extLst>
          </p:cNvPr>
          <p:cNvPicPr>
            <a:picLocks noChangeAspect="1"/>
          </p:cNvPicPr>
          <p:nvPr/>
        </p:nvPicPr>
        <p:blipFill>
          <a:blip r:embed="rId2"/>
          <a:stretch>
            <a:fillRect/>
          </a:stretch>
        </p:blipFill>
        <p:spPr>
          <a:xfrm>
            <a:off x="6331179" y="2491461"/>
            <a:ext cx="5176693" cy="2193915"/>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54743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4F4B8-1D9A-76BF-AA10-865BE06DC4C0}"/>
              </a:ext>
            </a:extLst>
          </p:cNvPr>
          <p:cNvSpPr>
            <a:spLocks noGrp="1"/>
          </p:cNvSpPr>
          <p:nvPr>
            <p:ph type="title"/>
          </p:nvPr>
        </p:nvSpPr>
        <p:spPr/>
        <p:txBody>
          <a:bodyPr/>
          <a:lstStyle/>
          <a:p>
            <a:r>
              <a:rPr lang="en-US" dirty="0">
                <a:ea typeface="Calibri Light"/>
                <a:cs typeface="Calibri Light"/>
              </a:rPr>
              <a:t>Why are they Important</a:t>
            </a:r>
          </a:p>
        </p:txBody>
      </p:sp>
      <p:sp>
        <p:nvSpPr>
          <p:cNvPr id="3" name="Content Placeholder 2">
            <a:extLst>
              <a:ext uri="{FF2B5EF4-FFF2-40B4-BE49-F238E27FC236}">
                <a16:creationId xmlns:a16="http://schemas.microsoft.com/office/drawing/2014/main" id="{7BEEBAA2-7DFE-DFE5-1158-7B689C1DA4C9}"/>
              </a:ext>
            </a:extLst>
          </p:cNvPr>
          <p:cNvSpPr>
            <a:spLocks noGrp="1"/>
          </p:cNvSpPr>
          <p:nvPr>
            <p:ph idx="1"/>
          </p:nvPr>
        </p:nvSpPr>
        <p:spPr/>
        <p:txBody>
          <a:bodyPr vert="horz" lIns="91440" tIns="45720" rIns="91440" bIns="45720" rtlCol="0" anchor="t">
            <a:normAutofit/>
          </a:bodyPr>
          <a:lstStyle/>
          <a:p>
            <a:r>
              <a:rPr lang="en-US" dirty="0">
                <a:ea typeface="+mn-lt"/>
                <a:cs typeface="+mn-lt"/>
              </a:rPr>
              <a:t>Used in modems (</a:t>
            </a:r>
            <a:r>
              <a:rPr lang="en-US" dirty="0" err="1">
                <a:ea typeface="+mn-lt"/>
                <a:cs typeface="+mn-lt"/>
              </a:rPr>
              <a:t>MOdulator-DEModulator</a:t>
            </a:r>
            <a:r>
              <a:rPr lang="en-US" dirty="0">
                <a:ea typeface="+mn-lt"/>
                <a:cs typeface="+mn-lt"/>
              </a:rPr>
              <a:t>) for internet connections.</a:t>
            </a:r>
            <a:endParaRPr lang="en-US" dirty="0">
              <a:ea typeface="Calibri" panose="020F0502020204030204"/>
              <a:cs typeface="Calibri" panose="020F0502020204030204"/>
            </a:endParaRPr>
          </a:p>
          <a:p>
            <a:r>
              <a:rPr lang="en-US" dirty="0">
                <a:ea typeface="+mn-lt"/>
                <a:cs typeface="+mn-lt"/>
              </a:rPr>
              <a:t> Enable long-distance communication over networks.</a:t>
            </a:r>
            <a:endParaRPr lang="en-US" dirty="0"/>
          </a:p>
          <a:p>
            <a:r>
              <a:rPr lang="en-US" dirty="0">
                <a:ea typeface="+mn-lt"/>
                <a:cs typeface="+mn-lt"/>
              </a:rPr>
              <a:t> Improve signal strength and quality for data transmission.</a:t>
            </a:r>
            <a:endParaRPr lang="en-US" dirty="0"/>
          </a:p>
          <a:p>
            <a:endParaRPr lang="en-US" dirty="0">
              <a:ea typeface="Calibri"/>
              <a:cs typeface="Calibri"/>
            </a:endParaRPr>
          </a:p>
        </p:txBody>
      </p:sp>
    </p:spTree>
    <p:extLst>
      <p:ext uri="{BB962C8B-B14F-4D97-AF65-F5344CB8AC3E}">
        <p14:creationId xmlns:p14="http://schemas.microsoft.com/office/powerpoint/2010/main" val="862889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0B9AD9-A2ED-81D4-7526-81E5F1C03878}"/>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 Simple Example: Radio Broadcasting</a:t>
            </a:r>
            <a:endParaRPr lang="en-US">
              <a:ea typeface="Calibri" panose="020F0502020204030204"/>
              <a:cs typeface="Calibri" panose="020F0502020204030204"/>
            </a:endParaRPr>
          </a:p>
          <a:p>
            <a:pPr marL="0" indent="0">
              <a:buNone/>
            </a:pPr>
            <a:r>
              <a:rPr lang="en-US">
                <a:ea typeface="+mn-lt"/>
                <a:cs typeface="+mn-lt"/>
              </a:rPr>
              <a:t>• A radio station uses modulation to convert sound (music/news) into signals that can be transmitted over radio waves.</a:t>
            </a:r>
            <a:endParaRPr lang="en-US">
              <a:ea typeface="Calibri" panose="020F0502020204030204"/>
              <a:cs typeface="Calibri" panose="020F0502020204030204"/>
            </a:endParaRPr>
          </a:p>
          <a:p>
            <a:pPr marL="0" indent="0">
              <a:buNone/>
            </a:pPr>
            <a:r>
              <a:rPr lang="en-US">
                <a:ea typeface="+mn-lt"/>
                <a:cs typeface="+mn-lt"/>
              </a:rPr>
              <a:t>• Your radio receiver uses demodulation to convert the signals back into sound so you can hear it.</a:t>
            </a:r>
            <a:endParaRPr lang="en-US">
              <a:ea typeface="Calibri" panose="020F0502020204030204"/>
              <a:cs typeface="Calibri" panose="020F0502020204030204"/>
            </a:endParaRPr>
          </a:p>
          <a:p>
            <a:endParaRPr lang="en-US" dirty="0">
              <a:ea typeface="Calibri"/>
              <a:cs typeface="Calibri"/>
            </a:endParaRPr>
          </a:p>
        </p:txBody>
      </p:sp>
    </p:spTree>
    <p:extLst>
      <p:ext uri="{BB962C8B-B14F-4D97-AF65-F5344CB8AC3E}">
        <p14:creationId xmlns:p14="http://schemas.microsoft.com/office/powerpoint/2010/main" val="2666394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2F1E2-DA4F-B907-465F-85C90305CF11}"/>
              </a:ext>
            </a:extLst>
          </p:cNvPr>
          <p:cNvSpPr>
            <a:spLocks noGrp="1"/>
          </p:cNvSpPr>
          <p:nvPr>
            <p:ph type="title"/>
          </p:nvPr>
        </p:nvSpPr>
        <p:spPr/>
        <p:txBody>
          <a:bodyPr/>
          <a:lstStyle/>
          <a:p>
            <a:r>
              <a:rPr lang="en-US" dirty="0">
                <a:cs typeface="Calibri Light"/>
              </a:rPr>
              <a:t>Multiplexing</a:t>
            </a:r>
            <a:endParaRPr lang="en-US" dirty="0"/>
          </a:p>
        </p:txBody>
      </p:sp>
      <p:sp>
        <p:nvSpPr>
          <p:cNvPr id="3" name="Content Placeholder 2">
            <a:extLst>
              <a:ext uri="{FF2B5EF4-FFF2-40B4-BE49-F238E27FC236}">
                <a16:creationId xmlns:a16="http://schemas.microsoft.com/office/drawing/2014/main" id="{7A167FF8-60DF-2C18-D668-EDC88BF46DED}"/>
              </a:ext>
            </a:extLst>
          </p:cNvPr>
          <p:cNvSpPr>
            <a:spLocks noGrp="1"/>
          </p:cNvSpPr>
          <p:nvPr>
            <p:ph idx="1"/>
          </p:nvPr>
        </p:nvSpPr>
        <p:spPr/>
        <p:txBody>
          <a:bodyPr vert="horz" lIns="91440" tIns="45720" rIns="91440" bIns="45720" rtlCol="0" anchor="t">
            <a:normAutofit/>
          </a:bodyPr>
          <a:lstStyle/>
          <a:p>
            <a:r>
              <a:rPr lang="en-US" dirty="0">
                <a:ea typeface="+mn-lt"/>
                <a:cs typeface="+mn-lt"/>
              </a:rPr>
              <a:t>Multiplexing is a technique which combines multiple signals into one signal, suitable for transmission over a communication channel such as coaxial cable or optical fiber. </a:t>
            </a:r>
          </a:p>
          <a:p>
            <a:r>
              <a:rPr lang="en-US" dirty="0">
                <a:ea typeface="+mn-lt"/>
                <a:cs typeface="+mn-lt"/>
              </a:rPr>
              <a:t>Multiplexing is the process of simultaneously transmitting two or more individual signals over a single communication channel. </a:t>
            </a:r>
            <a:endParaRPr lang="en-US">
              <a:ea typeface="+mn-lt"/>
              <a:cs typeface="+mn-lt"/>
            </a:endParaRPr>
          </a:p>
          <a:p>
            <a:r>
              <a:rPr lang="en-US" dirty="0">
                <a:ea typeface="+mn-lt"/>
                <a:cs typeface="+mn-lt"/>
              </a:rPr>
              <a:t>Multiplexing is done by using a device called Multiplexer or MUX. The multiplexer combines n input lines to generate one output line.</a:t>
            </a:r>
          </a:p>
          <a:p>
            <a:r>
              <a:rPr lang="en-US" dirty="0">
                <a:solidFill>
                  <a:srgbClr val="000000"/>
                </a:solidFill>
                <a:ea typeface="+mn-lt"/>
                <a:cs typeface="+mn-lt"/>
              </a:rPr>
              <a:t>The recovery of multiple signals back to their original form is known as demultiplexing.</a:t>
            </a:r>
            <a:endParaRPr lang="en-US" dirty="0">
              <a:solidFill>
                <a:srgbClr val="000000"/>
              </a:solidFill>
              <a:cs typeface="Calibri"/>
            </a:endParaRPr>
          </a:p>
        </p:txBody>
      </p:sp>
    </p:spTree>
    <p:extLst>
      <p:ext uri="{BB962C8B-B14F-4D97-AF65-F5344CB8AC3E}">
        <p14:creationId xmlns:p14="http://schemas.microsoft.com/office/powerpoint/2010/main" val="21941742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2504D-137D-32B7-B364-7E7767AA0D76}"/>
              </a:ext>
            </a:extLst>
          </p:cNvPr>
          <p:cNvSpPr>
            <a:spLocks noGrp="1"/>
          </p:cNvSpPr>
          <p:nvPr>
            <p:ph type="title"/>
          </p:nvPr>
        </p:nvSpPr>
        <p:spPr/>
        <p:txBody>
          <a:bodyPr/>
          <a:lstStyle/>
          <a:p>
            <a:r>
              <a:rPr lang="en-US" dirty="0">
                <a:cs typeface="Calibri Light"/>
              </a:rPr>
              <a:t>Multiplexing</a:t>
            </a:r>
            <a:endParaRPr lang="en-US" dirty="0"/>
          </a:p>
        </p:txBody>
      </p:sp>
      <p:sp>
        <p:nvSpPr>
          <p:cNvPr id="3" name="Content Placeholder 2">
            <a:extLst>
              <a:ext uri="{FF2B5EF4-FFF2-40B4-BE49-F238E27FC236}">
                <a16:creationId xmlns:a16="http://schemas.microsoft.com/office/drawing/2014/main" id="{DFBC132E-7C93-A556-7DFA-F449726DD1E6}"/>
              </a:ext>
            </a:extLst>
          </p:cNvPr>
          <p:cNvSpPr>
            <a:spLocks noGrp="1"/>
          </p:cNvSpPr>
          <p:nvPr>
            <p:ph idx="1"/>
          </p:nvPr>
        </p:nvSpPr>
        <p:spPr/>
        <p:txBody>
          <a:bodyPr vert="horz" lIns="91440" tIns="45720" rIns="91440" bIns="45720" rtlCol="0" anchor="t">
            <a:normAutofit/>
          </a:bodyPr>
          <a:lstStyle/>
          <a:p>
            <a:pPr algn="just"/>
            <a:endParaRPr lang="en-US" sz="1900" dirty="0">
              <a:cs typeface="Calibri" panose="020F0502020204030204"/>
            </a:endParaRPr>
          </a:p>
          <a:p>
            <a:pPr algn="just"/>
            <a:endParaRPr lang="en-US" sz="1200" dirty="0">
              <a:cs typeface="Calibri"/>
            </a:endParaRPr>
          </a:p>
          <a:p>
            <a:endParaRPr lang="en-US" dirty="0">
              <a:cs typeface="Calibri"/>
            </a:endParaRPr>
          </a:p>
        </p:txBody>
      </p:sp>
      <p:pic>
        <p:nvPicPr>
          <p:cNvPr id="4" name="Picture 3" descr="A yellow rectangular object with black text&#10;&#10;Description automatically generated">
            <a:extLst>
              <a:ext uri="{FF2B5EF4-FFF2-40B4-BE49-F238E27FC236}">
                <a16:creationId xmlns:a16="http://schemas.microsoft.com/office/drawing/2014/main" id="{A6CE3EF9-D444-9834-2CFB-DD1BBECAC52F}"/>
              </a:ext>
            </a:extLst>
          </p:cNvPr>
          <p:cNvPicPr>
            <a:picLocks noChangeAspect="1"/>
          </p:cNvPicPr>
          <p:nvPr/>
        </p:nvPicPr>
        <p:blipFill>
          <a:blip r:embed="rId2"/>
          <a:stretch>
            <a:fillRect/>
          </a:stretch>
        </p:blipFill>
        <p:spPr>
          <a:xfrm>
            <a:off x="699976" y="2088271"/>
            <a:ext cx="9888280" cy="3257387"/>
          </a:xfrm>
          <a:prstGeom prst="rect">
            <a:avLst/>
          </a:prstGeom>
        </p:spPr>
      </p:pic>
    </p:spTree>
    <p:extLst>
      <p:ext uri="{BB962C8B-B14F-4D97-AF65-F5344CB8AC3E}">
        <p14:creationId xmlns:p14="http://schemas.microsoft.com/office/powerpoint/2010/main" val="2101508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4A85-0731-8E4D-6E1D-47ABE6B7167E}"/>
              </a:ext>
            </a:extLst>
          </p:cNvPr>
          <p:cNvSpPr>
            <a:spLocks noGrp="1"/>
          </p:cNvSpPr>
          <p:nvPr>
            <p:ph type="title"/>
          </p:nvPr>
        </p:nvSpPr>
        <p:spPr/>
        <p:txBody>
          <a:bodyPr/>
          <a:lstStyle/>
          <a:p>
            <a:r>
              <a:rPr lang="en-US" sz="2600" dirty="0">
                <a:ea typeface="+mj-lt"/>
                <a:cs typeface="+mj-lt"/>
              </a:rPr>
              <a:t>Frequency-division Multiplexing (FDM)</a:t>
            </a:r>
            <a:endParaRPr lang="en-US" dirty="0"/>
          </a:p>
        </p:txBody>
      </p:sp>
      <p:sp>
        <p:nvSpPr>
          <p:cNvPr id="3" name="Content Placeholder 2">
            <a:extLst>
              <a:ext uri="{FF2B5EF4-FFF2-40B4-BE49-F238E27FC236}">
                <a16:creationId xmlns:a16="http://schemas.microsoft.com/office/drawing/2014/main" id="{BE3B9987-EE66-8DB7-D96F-04498165E002}"/>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dirty="0">
                <a:ea typeface="+mn-lt"/>
                <a:cs typeface="+mn-lt"/>
              </a:rPr>
              <a:t>The main aim of the FDM is to subdivide the available bandwidth into different frequency channels and allocate them to different devices.</a:t>
            </a:r>
            <a:endParaRPr lang="en-US">
              <a:cs typeface="Calibri"/>
            </a:endParaRPr>
          </a:p>
          <a:p>
            <a:r>
              <a:rPr lang="en-US" dirty="0">
                <a:ea typeface="+mn-lt"/>
                <a:cs typeface="+mn-lt"/>
              </a:rPr>
              <a:t>FDM is mainly used in radio broadcasts and TV networks.</a:t>
            </a:r>
            <a:endParaRPr lang="en-US" dirty="0">
              <a:cs typeface="Calibri"/>
            </a:endParaRPr>
          </a:p>
          <a:p>
            <a:r>
              <a:rPr lang="en-US" dirty="0">
                <a:ea typeface="+mn-lt"/>
                <a:cs typeface="+mn-lt"/>
              </a:rPr>
              <a:t>FDM is used for analog signals.</a:t>
            </a:r>
            <a:endParaRPr lang="en-US" dirty="0">
              <a:cs typeface="Calibri"/>
            </a:endParaRPr>
          </a:p>
          <a:p>
            <a:r>
              <a:rPr lang="en-US" dirty="0">
                <a:ea typeface="+mn-lt"/>
                <a:cs typeface="+mn-lt"/>
              </a:rPr>
              <a:t>FDM process is very simple and easy modulation.</a:t>
            </a:r>
            <a:endParaRPr lang="en-US" dirty="0"/>
          </a:p>
          <a:p>
            <a:r>
              <a:rPr lang="en-US" dirty="0">
                <a:ea typeface="+mn-lt"/>
                <a:cs typeface="+mn-lt"/>
              </a:rPr>
              <a:t>A large number of signals can be sent through an FDM simultaneously.</a:t>
            </a:r>
            <a:endParaRPr lang="en-US" dirty="0"/>
          </a:p>
          <a:p>
            <a:r>
              <a:rPr lang="en-US" dirty="0">
                <a:ea typeface="+mn-lt"/>
                <a:cs typeface="+mn-lt"/>
              </a:rPr>
              <a:t>It does not require any synchronization between sender and receiver.</a:t>
            </a:r>
            <a:endParaRPr lang="en-US" dirty="0"/>
          </a:p>
          <a:p>
            <a:pPr>
              <a:lnSpc>
                <a:spcPct val="70000"/>
              </a:lnSpc>
            </a:pPr>
            <a:r>
              <a:rPr lang="en-US" dirty="0">
                <a:ea typeface="+mn-lt"/>
                <a:cs typeface="+mn-lt"/>
              </a:rPr>
              <a:t>It requires a high bandwidth channel, suffers the problem of crosstalk</a:t>
            </a:r>
            <a:endParaRPr lang="en-US" dirty="0">
              <a:cs typeface="Calibri" panose="020F0502020204030204"/>
            </a:endParaRPr>
          </a:p>
          <a:p>
            <a:br>
              <a:rPr lang="en-US" dirty="0"/>
            </a:br>
            <a:endParaRPr lang="en-US" dirty="0"/>
          </a:p>
          <a:p>
            <a:pPr marL="0" indent="0">
              <a:buNone/>
            </a:pPr>
            <a:endParaRPr lang="en-US" dirty="0">
              <a:cs typeface="Calibri"/>
            </a:endParaRPr>
          </a:p>
          <a:p>
            <a:pPr marL="0" indent="0">
              <a:buNone/>
            </a:pPr>
            <a:endParaRPr lang="en-US" dirty="0">
              <a:cs typeface="Calibri"/>
            </a:endParaRPr>
          </a:p>
        </p:txBody>
      </p:sp>
    </p:spTree>
    <p:extLst>
      <p:ext uri="{BB962C8B-B14F-4D97-AF65-F5344CB8AC3E}">
        <p14:creationId xmlns:p14="http://schemas.microsoft.com/office/powerpoint/2010/main" val="547808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0259-7343-F229-E1DD-E657236277D3}"/>
              </a:ext>
            </a:extLst>
          </p:cNvPr>
          <p:cNvSpPr>
            <a:spLocks noGrp="1"/>
          </p:cNvSpPr>
          <p:nvPr>
            <p:ph type="title"/>
          </p:nvPr>
        </p:nvSpPr>
        <p:spPr/>
        <p:txBody>
          <a:bodyPr vert="horz" lIns="91440" tIns="45720" rIns="91440" bIns="45720" rtlCol="0" anchor="ctr">
            <a:noAutofit/>
          </a:bodyPr>
          <a:lstStyle/>
          <a:p>
            <a:r>
              <a:rPr lang="en-US" dirty="0">
                <a:solidFill>
                  <a:srgbClr val="000000"/>
                </a:solidFill>
              </a:rPr>
              <a:t>Wavelength Division Multiplexing (WDM)</a:t>
            </a:r>
            <a:endParaRPr lang="en-US" dirty="0"/>
          </a:p>
          <a:p>
            <a:br>
              <a:rPr lang="en-US" dirty="0"/>
            </a:br>
            <a:endParaRPr lang="en-US" dirty="0"/>
          </a:p>
        </p:txBody>
      </p:sp>
      <p:sp>
        <p:nvSpPr>
          <p:cNvPr id="3" name="Content Placeholder 2">
            <a:extLst>
              <a:ext uri="{FF2B5EF4-FFF2-40B4-BE49-F238E27FC236}">
                <a16:creationId xmlns:a16="http://schemas.microsoft.com/office/drawing/2014/main" id="{B27976D7-10D5-6169-02DC-249D0EDD3C7E}"/>
              </a:ext>
            </a:extLst>
          </p:cNvPr>
          <p:cNvSpPr>
            <a:spLocks noGrp="1"/>
          </p:cNvSpPr>
          <p:nvPr>
            <p:ph idx="1"/>
          </p:nvPr>
        </p:nvSpPr>
        <p:spPr/>
        <p:txBody>
          <a:bodyPr vert="horz" lIns="91440" tIns="45720" rIns="91440" bIns="45720" rtlCol="0" anchor="t">
            <a:normAutofit/>
          </a:bodyPr>
          <a:lstStyle/>
          <a:p>
            <a:r>
              <a:rPr lang="en-US" dirty="0">
                <a:ea typeface="+mn-lt"/>
                <a:cs typeface="+mn-lt"/>
              </a:rPr>
              <a:t>Wavelength Division Multiplexing is same as FDM except that the optical signals are transmitted through the fiberoptic cable.</a:t>
            </a:r>
            <a:endParaRPr lang="en-US" dirty="0">
              <a:cs typeface="Calibri"/>
            </a:endParaRPr>
          </a:p>
          <a:p>
            <a:r>
              <a:rPr lang="en-US" dirty="0">
                <a:ea typeface="+mn-lt"/>
                <a:cs typeface="+mn-lt"/>
              </a:rPr>
              <a:t>It is also known as bidirectional multiplexing</a:t>
            </a:r>
          </a:p>
          <a:p>
            <a:r>
              <a:rPr lang="en-US" dirty="0">
                <a:ea typeface="+mn-lt"/>
                <a:cs typeface="+mn-lt"/>
              </a:rPr>
              <a:t>WDM is used on fiber optics to increase the capacity of a single fiber.</a:t>
            </a:r>
            <a:endParaRPr lang="en-US" dirty="0"/>
          </a:p>
          <a:p>
            <a:r>
              <a:rPr lang="en-US" dirty="0">
                <a:ea typeface="+mn-lt"/>
                <a:cs typeface="+mn-lt"/>
              </a:rPr>
              <a:t>Optical signals from different source are combined to form a wider band of light with the help of multiplexer.</a:t>
            </a:r>
            <a:endParaRPr lang="en-US" dirty="0">
              <a:cs typeface="Calibri"/>
            </a:endParaRPr>
          </a:p>
          <a:p>
            <a:r>
              <a:rPr lang="en-US" dirty="0">
                <a:ea typeface="+mn-lt"/>
                <a:cs typeface="+mn-lt"/>
              </a:rPr>
              <a:t>At the receiving end, demultiplexer separates the signals to transmit them to their respective destinations.</a:t>
            </a:r>
            <a:endParaRPr lang="en-US" dirty="0"/>
          </a:p>
          <a:p>
            <a:r>
              <a:rPr lang="en-US" dirty="0">
                <a:ea typeface="+mn-lt"/>
                <a:cs typeface="+mn-lt"/>
              </a:rPr>
              <a:t>Multiplexing and Demultiplexing can be achieved by using a prism.</a:t>
            </a:r>
            <a:endParaRPr lang="en-US" dirty="0"/>
          </a:p>
          <a:p>
            <a:endParaRPr lang="en-US" dirty="0">
              <a:cs typeface="Calibri"/>
            </a:endParaRPr>
          </a:p>
        </p:txBody>
      </p:sp>
    </p:spTree>
    <p:extLst>
      <p:ext uri="{BB962C8B-B14F-4D97-AF65-F5344CB8AC3E}">
        <p14:creationId xmlns:p14="http://schemas.microsoft.com/office/powerpoint/2010/main" val="3118678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60E0-5D4A-C6C6-6A62-9863CC8A9C8D}"/>
              </a:ext>
            </a:extLst>
          </p:cNvPr>
          <p:cNvSpPr>
            <a:spLocks noGrp="1"/>
          </p:cNvSpPr>
          <p:nvPr>
            <p:ph type="title"/>
          </p:nvPr>
        </p:nvSpPr>
        <p:spPr/>
        <p:txBody>
          <a:bodyPr/>
          <a:lstStyle/>
          <a:p>
            <a:r>
              <a:rPr lang="en-US">
                <a:solidFill>
                  <a:srgbClr val="000000"/>
                </a:solidFill>
              </a:rPr>
              <a:t>Time Division Multiplexing</a:t>
            </a:r>
            <a:endParaRPr lang="en-US"/>
          </a:p>
          <a:p>
            <a:endParaRPr lang="en-US" dirty="0">
              <a:cs typeface="Calibri Light"/>
            </a:endParaRPr>
          </a:p>
        </p:txBody>
      </p:sp>
      <p:sp>
        <p:nvSpPr>
          <p:cNvPr id="3" name="Content Placeholder 2">
            <a:extLst>
              <a:ext uri="{FF2B5EF4-FFF2-40B4-BE49-F238E27FC236}">
                <a16:creationId xmlns:a16="http://schemas.microsoft.com/office/drawing/2014/main" id="{4ADCB50F-7449-6B4E-3D06-3EA7C20C30AD}"/>
              </a:ext>
            </a:extLst>
          </p:cNvPr>
          <p:cNvSpPr>
            <a:spLocks noGrp="1"/>
          </p:cNvSpPr>
          <p:nvPr>
            <p:ph idx="1"/>
          </p:nvPr>
        </p:nvSpPr>
        <p:spPr/>
        <p:txBody>
          <a:bodyPr vert="horz" lIns="91440" tIns="45720" rIns="91440" bIns="45720" rtlCol="0" anchor="t">
            <a:normAutofit/>
          </a:bodyPr>
          <a:lstStyle/>
          <a:p>
            <a:r>
              <a:rPr lang="en-US" dirty="0">
                <a:ea typeface="+mn-lt"/>
                <a:cs typeface="+mn-lt"/>
              </a:rPr>
              <a:t>In case of Time Division Multiplexing technique, all signals operate at the same frequency with different time.</a:t>
            </a:r>
          </a:p>
          <a:p>
            <a:r>
              <a:rPr lang="en-US" dirty="0">
                <a:ea typeface="+mn-lt"/>
                <a:cs typeface="+mn-lt"/>
              </a:rPr>
              <a:t>In TDM the total time available in the channel is distributed among different users. Therefore, each user is allocated with different time interval known as a Time slot at which data is to be transmitted by the sender.</a:t>
            </a:r>
          </a:p>
          <a:p>
            <a:r>
              <a:rPr lang="en-US" dirty="0">
                <a:ea typeface="+mn-lt"/>
                <a:cs typeface="+mn-lt"/>
              </a:rPr>
              <a:t>The data is not transmitted simultaneously rather the data is transmitted one-by-one.</a:t>
            </a:r>
          </a:p>
          <a:p>
            <a:r>
              <a:rPr lang="en-US" dirty="0">
                <a:cs typeface="Calibri"/>
              </a:rPr>
              <a:t>Two types of TDM- Synchronous and Asynchronous</a:t>
            </a:r>
          </a:p>
        </p:txBody>
      </p:sp>
    </p:spTree>
    <p:extLst>
      <p:ext uri="{BB962C8B-B14F-4D97-AF65-F5344CB8AC3E}">
        <p14:creationId xmlns:p14="http://schemas.microsoft.com/office/powerpoint/2010/main" val="22238349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968AE025085A4381B5FE55A4B7B3DB" ma:contentTypeVersion="3" ma:contentTypeDescription="Create a new document." ma:contentTypeScope="" ma:versionID="bd89c5ba67f969997ddc75c00e52ceb6">
  <xsd:schema xmlns:xsd="http://www.w3.org/2001/XMLSchema" xmlns:xs="http://www.w3.org/2001/XMLSchema" xmlns:p="http://schemas.microsoft.com/office/2006/metadata/properties" xmlns:ns2="9491888e-085e-4340-beca-492653a9b978" targetNamespace="http://schemas.microsoft.com/office/2006/metadata/properties" ma:root="true" ma:fieldsID="9456090e7249331ed3f7fa7a4e50cd65" ns2:_="">
    <xsd:import namespace="9491888e-085e-4340-beca-492653a9b97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91888e-085e-4340-beca-492653a9b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D096D4-71C0-4DD6-BD4D-DCF667AAD327}"/>
</file>

<file path=customXml/itemProps2.xml><?xml version="1.0" encoding="utf-8"?>
<ds:datastoreItem xmlns:ds="http://schemas.openxmlformats.org/officeDocument/2006/customXml" ds:itemID="{73D6AE39-FA96-42DF-A479-E49301405A04}"/>
</file>

<file path=customXml/itemProps3.xml><?xml version="1.0" encoding="utf-8"?>
<ds:datastoreItem xmlns:ds="http://schemas.openxmlformats.org/officeDocument/2006/customXml" ds:itemID="{FD072EB4-E8B7-4469-BF48-2E54BA54AE19}"/>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Computer Networks 21CSA212</vt:lpstr>
      <vt:lpstr>Contents</vt:lpstr>
      <vt:lpstr>Introduction</vt:lpstr>
      <vt:lpstr>Functions of physical layer</vt:lpstr>
      <vt:lpstr>Attributes of Physical Layer</vt:lpstr>
      <vt:lpstr>PowerPoint Presentation</vt:lpstr>
      <vt:lpstr>Guided Transmission media</vt:lpstr>
      <vt:lpstr>Twisted Pairs</vt:lpstr>
      <vt:lpstr>PowerPoint Presentation</vt:lpstr>
      <vt:lpstr>PowerPoint Presentation</vt:lpstr>
      <vt:lpstr>PowerPoint Presentation</vt:lpstr>
      <vt:lpstr>PowerPoint Presentation</vt:lpstr>
      <vt:lpstr>Coaxial Cable</vt:lpstr>
      <vt:lpstr>PowerPoint Presentation</vt:lpstr>
      <vt:lpstr>PowerPoint Presentation</vt:lpstr>
      <vt:lpstr>Fiber Optic Cable</vt:lpstr>
      <vt:lpstr>PowerPoint Presentation</vt:lpstr>
      <vt:lpstr>PowerPoint Presentation</vt:lpstr>
      <vt:lpstr>PowerPoint Presentation</vt:lpstr>
      <vt:lpstr>PowerPoint Presentation</vt:lpstr>
      <vt:lpstr>Unguided Media</vt:lpstr>
      <vt:lpstr>Ground Propagation</vt:lpstr>
      <vt:lpstr>Sky Propagation</vt:lpstr>
      <vt:lpstr>Line-or-sight</vt:lpstr>
      <vt:lpstr>Radio Waves</vt:lpstr>
      <vt:lpstr>PowerPoint Presentation</vt:lpstr>
      <vt:lpstr>Microwaves</vt:lpstr>
      <vt:lpstr>PowerPoint Presentation</vt:lpstr>
      <vt:lpstr>PowerPoint Presentation</vt:lpstr>
      <vt:lpstr>Infrared</vt:lpstr>
      <vt:lpstr>PowerPoint Presentation</vt:lpstr>
      <vt:lpstr>Modulation and Demodulation</vt:lpstr>
      <vt:lpstr>Modulation</vt:lpstr>
      <vt:lpstr>PowerPoint Presentation</vt:lpstr>
      <vt:lpstr>Demodulation</vt:lpstr>
      <vt:lpstr>Why are they Important</vt:lpstr>
      <vt:lpstr>PowerPoint Presentation</vt:lpstr>
      <vt:lpstr>Multiplexing</vt:lpstr>
      <vt:lpstr>Multiplexing</vt:lpstr>
      <vt:lpstr>Frequency-division Multiplexing (FDM)</vt:lpstr>
      <vt:lpstr>Wavelength Division Multiplexing (WDM)  </vt:lpstr>
      <vt:lpstr>Time Division Multiplexing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536</cp:revision>
  <dcterms:created xsi:type="dcterms:W3CDTF">2013-07-15T20:26:40Z</dcterms:created>
  <dcterms:modified xsi:type="dcterms:W3CDTF">2025-02-04T16:48:26Z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0x01010082968AE025085A4381B5FE55A4B7B3DB</vt:lpwstr>
  </property>
</Properties>
</file>