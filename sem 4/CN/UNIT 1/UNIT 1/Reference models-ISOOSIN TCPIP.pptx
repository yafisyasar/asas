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diagrams/colors1.xml" ContentType="application/vnd.openxmlformats-officedocument.drawingml.diagramColors+xml"/>
  <Override PartName="/ppt/diagrams/layout1.xml" ContentType="application/vnd.openxmlformats-officedocument.drawingml.diagramLayout+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theme/theme1.xml" ContentType="application/vnd.openxmlformats-officedocument.theme+xml"/>
  <Override PartName="/ppt/diagrams/drawing2.xml" ContentType="application/vnd.ms-office.drawingml.diagramDrawing+xml"/>
  <Override PartName="/ppt/diagrams/quickStyle1.xml" ContentType="application/vnd.openxmlformats-officedocument.drawingml.diagramStyl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ppt/revisionInfo.xml" ContentType="application/vnd.ms-powerpoint.revisioninfo+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91" r:id="rId19"/>
    <p:sldId id="292" r:id="rId20"/>
    <p:sldId id="289" r:id="rId21"/>
    <p:sldId id="290" r:id="rId22"/>
    <p:sldId id="273" r:id="rId23"/>
    <p:sldId id="274" r:id="rId24"/>
    <p:sldId id="278" r:id="rId25"/>
    <p:sldId id="279" r:id="rId26"/>
    <p:sldId id="293" r:id="rId27"/>
    <p:sldId id="294" r:id="rId28"/>
    <p:sldId id="295" r:id="rId29"/>
    <p:sldId id="296" r:id="rId30"/>
    <p:sldId id="297" r:id="rId31"/>
    <p:sldId id="298" r:id="rId32"/>
    <p:sldId id="299" r:id="rId33"/>
    <p:sldId id="280" r:id="rId34"/>
    <p:sldId id="281" r:id="rId35"/>
    <p:sldId id="282" r:id="rId36"/>
    <p:sldId id="283" r:id="rId37"/>
    <p:sldId id="28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DA50B6-60A6-76C8-D641-579051D8925D}" v="266" dt="2024-01-31T16:55:56.624"/>
    <p1510:client id="{4CA280C7-31FA-CA7C-0068-68F945663762}" v="7" dt="2024-02-01T14:04:19.925"/>
    <p1510:client id="{5C8ABB30-CCF5-CAEC-6E40-C2C3BBD76006}" v="8" dt="2024-02-01T03:29:36.495"/>
    <p1510:client id="{B68CEB1E-0884-5D7C-6DC9-A7958249E839}" v="187" dt="2024-02-02T06:19:46.2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6" autoAdjust="0"/>
    <p:restoredTop sz="94660"/>
  </p:normalViewPr>
  <p:slideViewPr>
    <p:cSldViewPr snapToGrid="0">
      <p:cViewPr varScale="1">
        <p:scale>
          <a:sx n="117" d="100"/>
          <a:sy n="117" d="100"/>
        </p:scale>
        <p:origin x="20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B3B1A104-D807-4021-B5EF-9C77E2E02B6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BCE4573-2A9E-48FB-A2BA-E606F60B7D93}">
      <dgm:prSet/>
      <dgm:spPr/>
      <dgm:t>
        <a:bodyPr/>
        <a:lstStyle/>
        <a:p>
          <a:r>
            <a:rPr lang="en-US"/>
            <a:t>Divide and Conquer Approach:  The unmanageable and complex task is further divided into smaller sub tasks. Each sub task is then carried out by the different layer. Therefore using this approach reduces the complexity of the problem or design process.</a:t>
          </a:r>
        </a:p>
      </dgm:t>
    </dgm:pt>
    <dgm:pt modelId="{AF52A276-0BA0-4591-8D9F-5231764986F5}" type="parTrans" cxnId="{9795ADD0-30CE-4194-8581-658599ECA1F4}">
      <dgm:prSet/>
      <dgm:spPr/>
      <dgm:t>
        <a:bodyPr/>
        <a:lstStyle/>
        <a:p>
          <a:endParaRPr lang="en-US"/>
        </a:p>
      </dgm:t>
    </dgm:pt>
    <dgm:pt modelId="{1DF365DC-F64B-430A-80C3-5FFC904F60BF}" type="sibTrans" cxnId="{9795ADD0-30CE-4194-8581-658599ECA1F4}">
      <dgm:prSet/>
      <dgm:spPr/>
      <dgm:t>
        <a:bodyPr/>
        <a:lstStyle/>
        <a:p>
          <a:endParaRPr lang="en-US"/>
        </a:p>
      </dgm:t>
    </dgm:pt>
    <dgm:pt modelId="{C26AB811-AF4F-4CFD-9256-3E560B0E3063}">
      <dgm:prSet/>
      <dgm:spPr/>
      <dgm:t>
        <a:bodyPr/>
        <a:lstStyle/>
        <a:p>
          <a:r>
            <a:rPr lang="en-US"/>
            <a:t>Easy to Modify: The layers are independent of each other in layered architecture. If any sudden change occurs in the implementation of one layer, it can be changed. This change does not affect the working of other layers involved in the task. </a:t>
          </a:r>
        </a:p>
      </dgm:t>
    </dgm:pt>
    <dgm:pt modelId="{883E5BE9-29DF-4A78-BC53-C38DFE3A1F3B}" type="parTrans" cxnId="{7A058858-DBA0-4247-9843-3A2BEBE041DB}">
      <dgm:prSet/>
      <dgm:spPr/>
      <dgm:t>
        <a:bodyPr/>
        <a:lstStyle/>
        <a:p>
          <a:endParaRPr lang="en-US"/>
        </a:p>
      </dgm:t>
    </dgm:pt>
    <dgm:pt modelId="{2CA95DF6-0D6C-422A-905D-7BB1410FE256}" type="sibTrans" cxnId="{7A058858-DBA0-4247-9843-3A2BEBE041DB}">
      <dgm:prSet/>
      <dgm:spPr/>
      <dgm:t>
        <a:bodyPr/>
        <a:lstStyle/>
        <a:p>
          <a:endParaRPr lang="en-US"/>
        </a:p>
      </dgm:t>
    </dgm:pt>
    <dgm:pt modelId="{F319C2B1-B646-4B77-AB3A-A152D35BF1B1}" type="pres">
      <dgm:prSet presAssocID="{B3B1A104-D807-4021-B5EF-9C77E2E02B6A}" presName="root" presStyleCnt="0">
        <dgm:presLayoutVars>
          <dgm:dir/>
          <dgm:resizeHandles val="exact"/>
        </dgm:presLayoutVars>
      </dgm:prSet>
      <dgm:spPr/>
    </dgm:pt>
    <dgm:pt modelId="{56742A7F-F449-438B-B6DE-E775AE22BCC5}" type="pres">
      <dgm:prSet presAssocID="{DBCE4573-2A9E-48FB-A2BA-E606F60B7D93}" presName="compNode" presStyleCnt="0"/>
      <dgm:spPr/>
    </dgm:pt>
    <dgm:pt modelId="{DAEB12BB-4E63-44D5-A837-AC14207C5DC1}" type="pres">
      <dgm:prSet presAssocID="{DBCE4573-2A9E-48FB-A2BA-E606F60B7D93}" presName="bgRect" presStyleLbl="bgShp" presStyleIdx="0" presStyleCnt="2"/>
      <dgm:spPr/>
    </dgm:pt>
    <dgm:pt modelId="{405839A4-06CF-44BD-8AD7-7277DDE255C4}" type="pres">
      <dgm:prSet presAssocID="{DBCE4573-2A9E-48FB-A2BA-E606F60B7D9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97E15A86-1866-4735-B767-2AC75A52B146}" type="pres">
      <dgm:prSet presAssocID="{DBCE4573-2A9E-48FB-A2BA-E606F60B7D93}" presName="spaceRect" presStyleCnt="0"/>
      <dgm:spPr/>
    </dgm:pt>
    <dgm:pt modelId="{2FD1240A-489D-4018-9056-815EDDF42256}" type="pres">
      <dgm:prSet presAssocID="{DBCE4573-2A9E-48FB-A2BA-E606F60B7D93}" presName="parTx" presStyleLbl="revTx" presStyleIdx="0" presStyleCnt="2">
        <dgm:presLayoutVars>
          <dgm:chMax val="0"/>
          <dgm:chPref val="0"/>
        </dgm:presLayoutVars>
      </dgm:prSet>
      <dgm:spPr/>
    </dgm:pt>
    <dgm:pt modelId="{962FAC71-3C76-4AA1-A8C0-4AD4008D3676}" type="pres">
      <dgm:prSet presAssocID="{1DF365DC-F64B-430A-80C3-5FFC904F60BF}" presName="sibTrans" presStyleCnt="0"/>
      <dgm:spPr/>
    </dgm:pt>
    <dgm:pt modelId="{18C39BBC-FDC6-4EE8-9C86-AC1BB1A71EB7}" type="pres">
      <dgm:prSet presAssocID="{C26AB811-AF4F-4CFD-9256-3E560B0E3063}" presName="compNode" presStyleCnt="0"/>
      <dgm:spPr/>
    </dgm:pt>
    <dgm:pt modelId="{924BC294-190F-4A85-8C4F-290F0F385A50}" type="pres">
      <dgm:prSet presAssocID="{C26AB811-AF4F-4CFD-9256-3E560B0E3063}" presName="bgRect" presStyleLbl="bgShp" presStyleIdx="1" presStyleCnt="2"/>
      <dgm:spPr/>
    </dgm:pt>
    <dgm:pt modelId="{C0D0E926-6E70-4F7D-9D59-4B55D4FC9F65}" type="pres">
      <dgm:prSet presAssocID="{C26AB811-AF4F-4CFD-9256-3E560B0E306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0EA69F43-6025-4D52-90C2-6A8FB398F103}" type="pres">
      <dgm:prSet presAssocID="{C26AB811-AF4F-4CFD-9256-3E560B0E3063}" presName="spaceRect" presStyleCnt="0"/>
      <dgm:spPr/>
    </dgm:pt>
    <dgm:pt modelId="{99502496-90E5-431C-BDD7-DD90DC24AF42}" type="pres">
      <dgm:prSet presAssocID="{C26AB811-AF4F-4CFD-9256-3E560B0E3063}" presName="parTx" presStyleLbl="revTx" presStyleIdx="1" presStyleCnt="2">
        <dgm:presLayoutVars>
          <dgm:chMax val="0"/>
          <dgm:chPref val="0"/>
        </dgm:presLayoutVars>
      </dgm:prSet>
      <dgm:spPr/>
    </dgm:pt>
  </dgm:ptLst>
  <dgm:cxnLst>
    <dgm:cxn modelId="{C4DB8041-D01E-4811-8FB7-BBACD8521689}" type="presOf" srcId="{DBCE4573-2A9E-48FB-A2BA-E606F60B7D93}" destId="{2FD1240A-489D-4018-9056-815EDDF42256}" srcOrd="0" destOrd="0" presId="urn:microsoft.com/office/officeart/2018/2/layout/IconVerticalSolidList"/>
    <dgm:cxn modelId="{7A058858-DBA0-4247-9843-3A2BEBE041DB}" srcId="{B3B1A104-D807-4021-B5EF-9C77E2E02B6A}" destId="{C26AB811-AF4F-4CFD-9256-3E560B0E3063}" srcOrd="1" destOrd="0" parTransId="{883E5BE9-29DF-4A78-BC53-C38DFE3A1F3B}" sibTransId="{2CA95DF6-0D6C-422A-905D-7BB1410FE256}"/>
    <dgm:cxn modelId="{D5359D7A-93DE-4795-B3AA-6BF922B01B88}" type="presOf" srcId="{C26AB811-AF4F-4CFD-9256-3E560B0E3063}" destId="{99502496-90E5-431C-BDD7-DD90DC24AF42}" srcOrd="0" destOrd="0" presId="urn:microsoft.com/office/officeart/2018/2/layout/IconVerticalSolidList"/>
    <dgm:cxn modelId="{9795ADD0-30CE-4194-8581-658599ECA1F4}" srcId="{B3B1A104-D807-4021-B5EF-9C77E2E02B6A}" destId="{DBCE4573-2A9E-48FB-A2BA-E606F60B7D93}" srcOrd="0" destOrd="0" parTransId="{AF52A276-0BA0-4591-8D9F-5231764986F5}" sibTransId="{1DF365DC-F64B-430A-80C3-5FFC904F60BF}"/>
    <dgm:cxn modelId="{F59B03F4-5CD0-4607-B5DA-DEA2577138FA}" type="presOf" srcId="{B3B1A104-D807-4021-B5EF-9C77E2E02B6A}" destId="{F319C2B1-B646-4B77-AB3A-A152D35BF1B1}" srcOrd="0" destOrd="0" presId="urn:microsoft.com/office/officeart/2018/2/layout/IconVerticalSolidList"/>
    <dgm:cxn modelId="{9B2A52C4-24A1-4CA6-ADF6-0DC29F41EB7D}" type="presParOf" srcId="{F319C2B1-B646-4B77-AB3A-A152D35BF1B1}" destId="{56742A7F-F449-438B-B6DE-E775AE22BCC5}" srcOrd="0" destOrd="0" presId="urn:microsoft.com/office/officeart/2018/2/layout/IconVerticalSolidList"/>
    <dgm:cxn modelId="{5FB4E250-2B94-441D-97B9-0A2A7F847E3B}" type="presParOf" srcId="{56742A7F-F449-438B-B6DE-E775AE22BCC5}" destId="{DAEB12BB-4E63-44D5-A837-AC14207C5DC1}" srcOrd="0" destOrd="0" presId="urn:microsoft.com/office/officeart/2018/2/layout/IconVerticalSolidList"/>
    <dgm:cxn modelId="{721B7A2F-A1A5-4C23-88C3-E0EE8FF8123D}" type="presParOf" srcId="{56742A7F-F449-438B-B6DE-E775AE22BCC5}" destId="{405839A4-06CF-44BD-8AD7-7277DDE255C4}" srcOrd="1" destOrd="0" presId="urn:microsoft.com/office/officeart/2018/2/layout/IconVerticalSolidList"/>
    <dgm:cxn modelId="{D0ACF706-4564-4246-ACE8-2EC840D41F1F}" type="presParOf" srcId="{56742A7F-F449-438B-B6DE-E775AE22BCC5}" destId="{97E15A86-1866-4735-B767-2AC75A52B146}" srcOrd="2" destOrd="0" presId="urn:microsoft.com/office/officeart/2018/2/layout/IconVerticalSolidList"/>
    <dgm:cxn modelId="{70967B4F-053F-41F2-A24D-31C005533198}" type="presParOf" srcId="{56742A7F-F449-438B-B6DE-E775AE22BCC5}" destId="{2FD1240A-489D-4018-9056-815EDDF42256}" srcOrd="3" destOrd="0" presId="urn:microsoft.com/office/officeart/2018/2/layout/IconVerticalSolidList"/>
    <dgm:cxn modelId="{F289A434-C064-4399-BAFC-67A078BE9585}" type="presParOf" srcId="{F319C2B1-B646-4B77-AB3A-A152D35BF1B1}" destId="{962FAC71-3C76-4AA1-A8C0-4AD4008D3676}" srcOrd="1" destOrd="0" presId="urn:microsoft.com/office/officeart/2018/2/layout/IconVerticalSolidList"/>
    <dgm:cxn modelId="{D78D425C-48AC-4CA5-B5CC-15D9174A0E20}" type="presParOf" srcId="{F319C2B1-B646-4B77-AB3A-A152D35BF1B1}" destId="{18C39BBC-FDC6-4EE8-9C86-AC1BB1A71EB7}" srcOrd="2" destOrd="0" presId="urn:microsoft.com/office/officeart/2018/2/layout/IconVerticalSolidList"/>
    <dgm:cxn modelId="{B0245BAB-A057-4FA5-89D8-7B2181D9219E}" type="presParOf" srcId="{18C39BBC-FDC6-4EE8-9C86-AC1BB1A71EB7}" destId="{924BC294-190F-4A85-8C4F-290F0F385A50}" srcOrd="0" destOrd="0" presId="urn:microsoft.com/office/officeart/2018/2/layout/IconVerticalSolidList"/>
    <dgm:cxn modelId="{C62A26C6-347B-4FF1-A286-B1D783E83A46}" type="presParOf" srcId="{18C39BBC-FDC6-4EE8-9C86-AC1BB1A71EB7}" destId="{C0D0E926-6E70-4F7D-9D59-4B55D4FC9F65}" srcOrd="1" destOrd="0" presId="urn:microsoft.com/office/officeart/2018/2/layout/IconVerticalSolidList"/>
    <dgm:cxn modelId="{4107596B-E077-438F-94B7-F13293543379}" type="presParOf" srcId="{18C39BBC-FDC6-4EE8-9C86-AC1BB1A71EB7}" destId="{0EA69F43-6025-4D52-90C2-6A8FB398F103}" srcOrd="2" destOrd="0" presId="urn:microsoft.com/office/officeart/2018/2/layout/IconVerticalSolidList"/>
    <dgm:cxn modelId="{0E6AB5F4-3918-4E4D-8D78-5F3029D81470}" type="presParOf" srcId="{18C39BBC-FDC6-4EE8-9C86-AC1BB1A71EB7}" destId="{99502496-90E5-431C-BDD7-DD90DC24AF4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B409DD-50E3-452C-9476-3A57FE07E80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37AC117-B613-44A5-9A17-304534F5F8A5}">
      <dgm:prSet/>
      <dgm:spPr/>
      <dgm:t>
        <a:bodyPr/>
        <a:lstStyle/>
        <a:p>
          <a:r>
            <a:rPr lang="en-US"/>
            <a:t>Modularity: Layered architecture is more modular as compared to other architecture models in computer network. Modularity provides with more independence between the layers and are more easier to understand.</a:t>
          </a:r>
        </a:p>
      </dgm:t>
    </dgm:pt>
    <dgm:pt modelId="{BFBD81FB-C1AE-4E30-AC3F-B38E43182559}" type="parTrans" cxnId="{4481DCDD-1CC4-452F-B805-FA48943B28B3}">
      <dgm:prSet/>
      <dgm:spPr/>
      <dgm:t>
        <a:bodyPr/>
        <a:lstStyle/>
        <a:p>
          <a:endParaRPr lang="en-US"/>
        </a:p>
      </dgm:t>
    </dgm:pt>
    <dgm:pt modelId="{181475D3-3B53-4C3E-A305-C122E5FEE63B}" type="sibTrans" cxnId="{4481DCDD-1CC4-452F-B805-FA48943B28B3}">
      <dgm:prSet/>
      <dgm:spPr/>
      <dgm:t>
        <a:bodyPr/>
        <a:lstStyle/>
        <a:p>
          <a:endParaRPr lang="en-US"/>
        </a:p>
      </dgm:t>
    </dgm:pt>
    <dgm:pt modelId="{E4161E15-65A3-4FF7-B18F-328F633A58E7}">
      <dgm:prSet/>
      <dgm:spPr/>
      <dgm:t>
        <a:bodyPr/>
        <a:lstStyle/>
        <a:p>
          <a:r>
            <a:rPr lang="en-US"/>
            <a:t>Easy to Test: Each layer in layered architecture performs a different and dedicated task. Therefore each layer can be analyzed and tested individually. It helps to analyze the problem and solve them more efficiently as compared to solving all the problems at a time.</a:t>
          </a:r>
        </a:p>
      </dgm:t>
    </dgm:pt>
    <dgm:pt modelId="{C3B462FE-B123-4F03-A80B-DCCA35DA897D}" type="parTrans" cxnId="{875F61F4-2728-4A5A-8563-CDE0336F7F11}">
      <dgm:prSet/>
      <dgm:spPr/>
      <dgm:t>
        <a:bodyPr/>
        <a:lstStyle/>
        <a:p>
          <a:endParaRPr lang="en-US"/>
        </a:p>
      </dgm:t>
    </dgm:pt>
    <dgm:pt modelId="{B02D04A0-B521-4576-B785-801DF0CBDF88}" type="sibTrans" cxnId="{875F61F4-2728-4A5A-8563-CDE0336F7F11}">
      <dgm:prSet/>
      <dgm:spPr/>
      <dgm:t>
        <a:bodyPr/>
        <a:lstStyle/>
        <a:p>
          <a:endParaRPr lang="en-US"/>
        </a:p>
      </dgm:t>
    </dgm:pt>
    <dgm:pt modelId="{0EC4A6A6-60E8-49AA-8F42-6808A22522E9}" type="pres">
      <dgm:prSet presAssocID="{B0B409DD-50E3-452C-9476-3A57FE07E80B}" presName="root" presStyleCnt="0">
        <dgm:presLayoutVars>
          <dgm:dir/>
          <dgm:resizeHandles val="exact"/>
        </dgm:presLayoutVars>
      </dgm:prSet>
      <dgm:spPr/>
    </dgm:pt>
    <dgm:pt modelId="{5F06730B-99BD-4830-BC4B-ED9A40AC44BD}" type="pres">
      <dgm:prSet presAssocID="{437AC117-B613-44A5-9A17-304534F5F8A5}" presName="compNode" presStyleCnt="0"/>
      <dgm:spPr/>
    </dgm:pt>
    <dgm:pt modelId="{7970178B-7F4B-49D9-8025-F9E16D33716C}" type="pres">
      <dgm:prSet presAssocID="{437AC117-B613-44A5-9A17-304534F5F8A5}" presName="bgRect" presStyleLbl="bgShp" presStyleIdx="0" presStyleCnt="2"/>
      <dgm:spPr/>
    </dgm:pt>
    <dgm:pt modelId="{6CCE73D4-57EC-4FBB-9F88-86404165FDB1}" type="pres">
      <dgm:prSet presAssocID="{437AC117-B613-44A5-9A17-304534F5F8A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0B2F61AE-A93B-4F0F-8095-8E4E18853061}" type="pres">
      <dgm:prSet presAssocID="{437AC117-B613-44A5-9A17-304534F5F8A5}" presName="spaceRect" presStyleCnt="0"/>
      <dgm:spPr/>
    </dgm:pt>
    <dgm:pt modelId="{C246FC72-EDCD-4ED5-8854-B0FBC888F91F}" type="pres">
      <dgm:prSet presAssocID="{437AC117-B613-44A5-9A17-304534F5F8A5}" presName="parTx" presStyleLbl="revTx" presStyleIdx="0" presStyleCnt="2">
        <dgm:presLayoutVars>
          <dgm:chMax val="0"/>
          <dgm:chPref val="0"/>
        </dgm:presLayoutVars>
      </dgm:prSet>
      <dgm:spPr/>
    </dgm:pt>
    <dgm:pt modelId="{86FB13BB-89EC-4A3F-9AD6-9BAA57AD7169}" type="pres">
      <dgm:prSet presAssocID="{181475D3-3B53-4C3E-A305-C122E5FEE63B}" presName="sibTrans" presStyleCnt="0"/>
      <dgm:spPr/>
    </dgm:pt>
    <dgm:pt modelId="{927D7BF8-1F2B-4509-BED2-8B029981A5A8}" type="pres">
      <dgm:prSet presAssocID="{E4161E15-65A3-4FF7-B18F-328F633A58E7}" presName="compNode" presStyleCnt="0"/>
      <dgm:spPr/>
    </dgm:pt>
    <dgm:pt modelId="{D1F158D3-665F-45F2-94AC-869600126E08}" type="pres">
      <dgm:prSet presAssocID="{E4161E15-65A3-4FF7-B18F-328F633A58E7}" presName="bgRect" presStyleLbl="bgShp" presStyleIdx="1" presStyleCnt="2"/>
      <dgm:spPr/>
    </dgm:pt>
    <dgm:pt modelId="{9800AB09-46D2-4E47-AAB9-90CAD5E63109}" type="pres">
      <dgm:prSet presAssocID="{E4161E15-65A3-4FF7-B18F-328F633A58E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lter"/>
        </a:ext>
      </dgm:extLst>
    </dgm:pt>
    <dgm:pt modelId="{86D15C98-C2AB-41BA-AA67-2FE742BCF1B7}" type="pres">
      <dgm:prSet presAssocID="{E4161E15-65A3-4FF7-B18F-328F633A58E7}" presName="spaceRect" presStyleCnt="0"/>
      <dgm:spPr/>
    </dgm:pt>
    <dgm:pt modelId="{F2093A83-1D37-4F6D-A8F2-C6244E0EC5B5}" type="pres">
      <dgm:prSet presAssocID="{E4161E15-65A3-4FF7-B18F-328F633A58E7}" presName="parTx" presStyleLbl="revTx" presStyleIdx="1" presStyleCnt="2">
        <dgm:presLayoutVars>
          <dgm:chMax val="0"/>
          <dgm:chPref val="0"/>
        </dgm:presLayoutVars>
      </dgm:prSet>
      <dgm:spPr/>
    </dgm:pt>
  </dgm:ptLst>
  <dgm:cxnLst>
    <dgm:cxn modelId="{45F51491-E977-40FB-8329-578E57EA11EB}" type="presOf" srcId="{E4161E15-65A3-4FF7-B18F-328F633A58E7}" destId="{F2093A83-1D37-4F6D-A8F2-C6244E0EC5B5}" srcOrd="0" destOrd="0" presId="urn:microsoft.com/office/officeart/2018/2/layout/IconVerticalSolidList"/>
    <dgm:cxn modelId="{8B26839E-C814-4A5F-B8D2-6F6AED55FFF5}" type="presOf" srcId="{437AC117-B613-44A5-9A17-304534F5F8A5}" destId="{C246FC72-EDCD-4ED5-8854-B0FBC888F91F}" srcOrd="0" destOrd="0" presId="urn:microsoft.com/office/officeart/2018/2/layout/IconVerticalSolidList"/>
    <dgm:cxn modelId="{52830BAE-A192-4A3E-9DA0-2E45AC1469EE}" type="presOf" srcId="{B0B409DD-50E3-452C-9476-3A57FE07E80B}" destId="{0EC4A6A6-60E8-49AA-8F42-6808A22522E9}" srcOrd="0" destOrd="0" presId="urn:microsoft.com/office/officeart/2018/2/layout/IconVerticalSolidList"/>
    <dgm:cxn modelId="{4481DCDD-1CC4-452F-B805-FA48943B28B3}" srcId="{B0B409DD-50E3-452C-9476-3A57FE07E80B}" destId="{437AC117-B613-44A5-9A17-304534F5F8A5}" srcOrd="0" destOrd="0" parTransId="{BFBD81FB-C1AE-4E30-AC3F-B38E43182559}" sibTransId="{181475D3-3B53-4C3E-A305-C122E5FEE63B}"/>
    <dgm:cxn modelId="{875F61F4-2728-4A5A-8563-CDE0336F7F11}" srcId="{B0B409DD-50E3-452C-9476-3A57FE07E80B}" destId="{E4161E15-65A3-4FF7-B18F-328F633A58E7}" srcOrd="1" destOrd="0" parTransId="{C3B462FE-B123-4F03-A80B-DCCA35DA897D}" sibTransId="{B02D04A0-B521-4576-B785-801DF0CBDF88}"/>
    <dgm:cxn modelId="{B1F3E981-5B91-4D3A-8AD2-18FADBE2625C}" type="presParOf" srcId="{0EC4A6A6-60E8-49AA-8F42-6808A22522E9}" destId="{5F06730B-99BD-4830-BC4B-ED9A40AC44BD}" srcOrd="0" destOrd="0" presId="urn:microsoft.com/office/officeart/2018/2/layout/IconVerticalSolidList"/>
    <dgm:cxn modelId="{645DEF97-E954-4C1D-8A74-FFF286F3C95C}" type="presParOf" srcId="{5F06730B-99BD-4830-BC4B-ED9A40AC44BD}" destId="{7970178B-7F4B-49D9-8025-F9E16D33716C}" srcOrd="0" destOrd="0" presId="urn:microsoft.com/office/officeart/2018/2/layout/IconVerticalSolidList"/>
    <dgm:cxn modelId="{5BC06BA7-6903-47BB-AF68-F4A4D645783D}" type="presParOf" srcId="{5F06730B-99BD-4830-BC4B-ED9A40AC44BD}" destId="{6CCE73D4-57EC-4FBB-9F88-86404165FDB1}" srcOrd="1" destOrd="0" presId="urn:microsoft.com/office/officeart/2018/2/layout/IconVerticalSolidList"/>
    <dgm:cxn modelId="{B7179333-C77C-4BAD-9DEF-3293B5E076E8}" type="presParOf" srcId="{5F06730B-99BD-4830-BC4B-ED9A40AC44BD}" destId="{0B2F61AE-A93B-4F0F-8095-8E4E18853061}" srcOrd="2" destOrd="0" presId="urn:microsoft.com/office/officeart/2018/2/layout/IconVerticalSolidList"/>
    <dgm:cxn modelId="{7E4FD5E8-9130-4FC6-BEFF-52D73E4553EF}" type="presParOf" srcId="{5F06730B-99BD-4830-BC4B-ED9A40AC44BD}" destId="{C246FC72-EDCD-4ED5-8854-B0FBC888F91F}" srcOrd="3" destOrd="0" presId="urn:microsoft.com/office/officeart/2018/2/layout/IconVerticalSolidList"/>
    <dgm:cxn modelId="{07AB8A52-7E15-4F0B-AF29-367A555BC6B9}" type="presParOf" srcId="{0EC4A6A6-60E8-49AA-8F42-6808A22522E9}" destId="{86FB13BB-89EC-4A3F-9AD6-9BAA57AD7169}" srcOrd="1" destOrd="0" presId="urn:microsoft.com/office/officeart/2018/2/layout/IconVerticalSolidList"/>
    <dgm:cxn modelId="{151169E4-C198-4569-A390-6FDFB5395C65}" type="presParOf" srcId="{0EC4A6A6-60E8-49AA-8F42-6808A22522E9}" destId="{927D7BF8-1F2B-4509-BED2-8B029981A5A8}" srcOrd="2" destOrd="0" presId="urn:microsoft.com/office/officeart/2018/2/layout/IconVerticalSolidList"/>
    <dgm:cxn modelId="{44A7301C-E127-4D60-9221-635F462BBCE4}" type="presParOf" srcId="{927D7BF8-1F2B-4509-BED2-8B029981A5A8}" destId="{D1F158D3-665F-45F2-94AC-869600126E08}" srcOrd="0" destOrd="0" presId="urn:microsoft.com/office/officeart/2018/2/layout/IconVerticalSolidList"/>
    <dgm:cxn modelId="{F5E874E8-D1B4-424A-A191-871D0921C2AD}" type="presParOf" srcId="{927D7BF8-1F2B-4509-BED2-8B029981A5A8}" destId="{9800AB09-46D2-4E47-AAB9-90CAD5E63109}" srcOrd="1" destOrd="0" presId="urn:microsoft.com/office/officeart/2018/2/layout/IconVerticalSolidList"/>
    <dgm:cxn modelId="{05437BA8-85E4-4ADC-B6B0-DF07F3B74AE6}" type="presParOf" srcId="{927D7BF8-1F2B-4509-BED2-8B029981A5A8}" destId="{86D15C98-C2AB-41BA-AA67-2FE742BCF1B7}" srcOrd="2" destOrd="0" presId="urn:microsoft.com/office/officeart/2018/2/layout/IconVerticalSolidList"/>
    <dgm:cxn modelId="{B81C028B-4754-4340-A248-1BE74470798D}" type="presParOf" srcId="{927D7BF8-1F2B-4509-BED2-8B029981A5A8}" destId="{F2093A83-1D37-4F6D-A8F2-C6244E0EC5B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EB12BB-4E63-44D5-A837-AC14207C5DC1}">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5839A4-06CF-44BD-8AD7-7277DDE255C4}">
      <dsp:nvSpPr>
        <dsp:cNvPr id="0" name=""/>
        <dsp:cNvSpPr/>
      </dsp:nvSpPr>
      <dsp:spPr>
        <a:xfrm>
          <a:off x="395445" y="1002230"/>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D1240A-489D-4018-9056-815EDDF42256}">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00100">
            <a:lnSpc>
              <a:spcPct val="90000"/>
            </a:lnSpc>
            <a:spcBef>
              <a:spcPct val="0"/>
            </a:spcBef>
            <a:spcAft>
              <a:spcPct val="35000"/>
            </a:spcAft>
            <a:buNone/>
          </a:pPr>
          <a:r>
            <a:rPr lang="en-US" sz="1800" kern="1200"/>
            <a:t>Divide and Conquer Approach:  The unmanageable and complex task is further divided into smaller sub tasks. Each sub task is then carried out by the different layer. Therefore using this approach reduces the complexity of the problem or design process.</a:t>
          </a:r>
        </a:p>
      </dsp:txBody>
      <dsp:txXfrm>
        <a:off x="1509882" y="708097"/>
        <a:ext cx="9005717" cy="1307257"/>
      </dsp:txXfrm>
    </dsp:sp>
    <dsp:sp modelId="{924BC294-190F-4A85-8C4F-290F0F385A50}">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D0E926-6E70-4F7D-9D59-4B55D4FC9F65}">
      <dsp:nvSpPr>
        <dsp:cNvPr id="0" name=""/>
        <dsp:cNvSpPr/>
      </dsp:nvSpPr>
      <dsp:spPr>
        <a:xfrm>
          <a:off x="395445" y="2636302"/>
          <a:ext cx="718991" cy="7189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502496-90E5-431C-BDD7-DD90DC24AF42}">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00100">
            <a:lnSpc>
              <a:spcPct val="90000"/>
            </a:lnSpc>
            <a:spcBef>
              <a:spcPct val="0"/>
            </a:spcBef>
            <a:spcAft>
              <a:spcPct val="35000"/>
            </a:spcAft>
            <a:buNone/>
          </a:pPr>
          <a:r>
            <a:rPr lang="en-US" sz="1800" kern="1200"/>
            <a:t>Easy to Modify: The layers are independent of each other in layered architecture. If any sudden change occurs in the implementation of one layer, it can be changed. This change does not affect the working of other layers involved in the task. </a:t>
          </a:r>
        </a:p>
      </dsp:txBody>
      <dsp:txXfrm>
        <a:off x="1509882" y="2342169"/>
        <a:ext cx="9005717" cy="1307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70178B-7F4B-49D9-8025-F9E16D33716C}">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CE73D4-57EC-4FBB-9F88-86404165FDB1}">
      <dsp:nvSpPr>
        <dsp:cNvPr id="0" name=""/>
        <dsp:cNvSpPr/>
      </dsp:nvSpPr>
      <dsp:spPr>
        <a:xfrm>
          <a:off x="395445" y="1002230"/>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246FC72-EDCD-4ED5-8854-B0FBC888F91F}">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00100">
            <a:lnSpc>
              <a:spcPct val="90000"/>
            </a:lnSpc>
            <a:spcBef>
              <a:spcPct val="0"/>
            </a:spcBef>
            <a:spcAft>
              <a:spcPct val="35000"/>
            </a:spcAft>
            <a:buNone/>
          </a:pPr>
          <a:r>
            <a:rPr lang="en-US" sz="1800" kern="1200"/>
            <a:t>Modularity: Layered architecture is more modular as compared to other architecture models in computer network. Modularity provides with more independence between the layers and are more easier to understand.</a:t>
          </a:r>
        </a:p>
      </dsp:txBody>
      <dsp:txXfrm>
        <a:off x="1509882" y="708097"/>
        <a:ext cx="9005717" cy="1307257"/>
      </dsp:txXfrm>
    </dsp:sp>
    <dsp:sp modelId="{D1F158D3-665F-45F2-94AC-869600126E08}">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00AB09-46D2-4E47-AAB9-90CAD5E63109}">
      <dsp:nvSpPr>
        <dsp:cNvPr id="0" name=""/>
        <dsp:cNvSpPr/>
      </dsp:nvSpPr>
      <dsp:spPr>
        <a:xfrm>
          <a:off x="395445" y="2636302"/>
          <a:ext cx="718991" cy="7189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093A83-1D37-4F6D-A8F2-C6244E0EC5B5}">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00100">
            <a:lnSpc>
              <a:spcPct val="90000"/>
            </a:lnSpc>
            <a:spcBef>
              <a:spcPct val="0"/>
            </a:spcBef>
            <a:spcAft>
              <a:spcPct val="35000"/>
            </a:spcAft>
            <a:buNone/>
          </a:pPr>
          <a:r>
            <a:rPr lang="en-US" sz="1800" kern="1200"/>
            <a:t>Easy to Test: Each layer in layered architecture performs a different and dedicated task. Therefore each layer can be analyzed and tested individually. It helps to analyze the problem and solve them more efficiently as compared to solving all the problems at a time.</a:t>
          </a:r>
        </a:p>
      </dsp:txBody>
      <dsp:txXfrm>
        <a:off x="1509882" y="2342169"/>
        <a:ext cx="9005717" cy="130725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1/27/25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Computer Networks</a:t>
            </a:r>
            <a:br>
              <a:rPr lang="en-US" dirty="0"/>
            </a:br>
            <a:r>
              <a:rPr lang="en-US" sz="3600" dirty="0"/>
              <a:t>21CSA212</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Lecture: The reference model</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438B0-2CAC-9610-0CA5-455AE348A612}"/>
              </a:ext>
            </a:extLst>
          </p:cNvPr>
          <p:cNvSpPr>
            <a:spLocks noGrp="1"/>
          </p:cNvSpPr>
          <p:nvPr>
            <p:ph type="title"/>
          </p:nvPr>
        </p:nvSpPr>
        <p:spPr/>
        <p:txBody>
          <a:bodyPr/>
          <a:lstStyle/>
          <a:p>
            <a:r>
              <a:rPr lang="en-US" dirty="0"/>
              <a:t>Computer Network Models</a:t>
            </a:r>
          </a:p>
        </p:txBody>
      </p:sp>
      <p:sp>
        <p:nvSpPr>
          <p:cNvPr id="3" name="Content Placeholder 2">
            <a:extLst>
              <a:ext uri="{FF2B5EF4-FFF2-40B4-BE49-F238E27FC236}">
                <a16:creationId xmlns:a16="http://schemas.microsoft.com/office/drawing/2014/main" id="{5D9CEFCD-DF64-7348-DAE0-51DA282DB87E}"/>
              </a:ext>
            </a:extLst>
          </p:cNvPr>
          <p:cNvSpPr>
            <a:spLocks noGrp="1"/>
          </p:cNvSpPr>
          <p:nvPr>
            <p:ph idx="1"/>
          </p:nvPr>
        </p:nvSpPr>
        <p:spPr/>
        <p:txBody>
          <a:bodyPr vert="horz" lIns="91440" tIns="45720" rIns="91440" bIns="45720" rtlCol="0" anchor="t">
            <a:normAutofit/>
          </a:bodyPr>
          <a:lstStyle/>
          <a:p>
            <a:pPr marL="0" indent="0">
              <a:buNone/>
            </a:pPr>
            <a:r>
              <a:rPr lang="en-US" b="1"/>
              <a:t>Layered Architecture:</a:t>
            </a:r>
          </a:p>
          <a:p>
            <a:r>
              <a:rPr lang="en-US" dirty="0"/>
              <a:t>To reduce the design complexity, networks are organized as a stack of </a:t>
            </a:r>
            <a:r>
              <a:rPr lang="en-US" b="1" i="1" dirty="0"/>
              <a:t>layers</a:t>
            </a:r>
            <a:endParaRPr lang="en-US" b="1" i="1"/>
          </a:p>
          <a:p>
            <a:r>
              <a:rPr lang="en-US" dirty="0">
                <a:ea typeface="+mn-lt"/>
                <a:cs typeface="+mn-lt"/>
              </a:rPr>
              <a:t>Each lower layer adds its services to the higher layer to provide a full set of services to manage communications and run the applications.</a:t>
            </a:r>
            <a:endParaRPr lang="en-US" dirty="0"/>
          </a:p>
          <a:p>
            <a:r>
              <a:rPr lang="en-US">
                <a:ea typeface="+mn-lt"/>
                <a:cs typeface="+mn-lt"/>
              </a:rPr>
              <a:t>It ensures the independence between layers by providing the services from lower to higher layer without defining how the services are implemented. Therefore, any modification in a layer will not affect the other layers.</a:t>
            </a:r>
            <a:endParaRPr lang="en-US" dirty="0"/>
          </a:p>
          <a:p>
            <a:endParaRPr lang="en-US" dirty="0"/>
          </a:p>
          <a:p>
            <a:endParaRPr lang="en-US" b="1" i="1" dirty="0"/>
          </a:p>
        </p:txBody>
      </p:sp>
    </p:spTree>
    <p:extLst>
      <p:ext uri="{BB962C8B-B14F-4D97-AF65-F5344CB8AC3E}">
        <p14:creationId xmlns:p14="http://schemas.microsoft.com/office/powerpoint/2010/main" val="377185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6E952-F025-9E4C-0A69-3BC2052EFC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9D2493-7819-E429-F624-F1A0F58D3588}"/>
              </a:ext>
            </a:extLst>
          </p:cNvPr>
          <p:cNvSpPr>
            <a:spLocks noGrp="1"/>
          </p:cNvSpPr>
          <p:nvPr>
            <p:ph idx="1"/>
          </p:nvPr>
        </p:nvSpPr>
        <p:spPr/>
        <p:txBody>
          <a:bodyPr vert="horz" lIns="91440" tIns="45720" rIns="91440" bIns="45720" rtlCol="0" anchor="t">
            <a:normAutofit/>
          </a:bodyPr>
          <a:lstStyle/>
          <a:p>
            <a:r>
              <a:rPr lang="en-US" dirty="0">
                <a:ea typeface="+mn-lt"/>
                <a:cs typeface="+mn-lt"/>
              </a:rPr>
              <a:t>The number of layers, functions, contents of each layer will vary from network to network.</a:t>
            </a:r>
          </a:p>
          <a:p>
            <a:pPr algn="just">
              <a:lnSpc>
                <a:spcPct val="80000"/>
              </a:lnSpc>
            </a:pPr>
            <a:r>
              <a:rPr lang="en-US" sz="2400" dirty="0">
                <a:ea typeface="+mn-lt"/>
                <a:cs typeface="+mn-lt"/>
              </a:rPr>
              <a:t>The basic elements of layered architecture are services, protocols, and interfaces.</a:t>
            </a:r>
            <a:endParaRPr lang="en-US" sz="2400" dirty="0"/>
          </a:p>
          <a:p>
            <a:pPr marL="0" indent="0" algn="just">
              <a:lnSpc>
                <a:spcPct val="80000"/>
              </a:lnSpc>
              <a:buNone/>
            </a:pPr>
            <a:r>
              <a:rPr lang="en-US" sz="2400" b="1" i="1" dirty="0">
                <a:ea typeface="+mn-lt"/>
                <a:cs typeface="+mn-lt"/>
              </a:rPr>
              <a:t>Service:</a:t>
            </a:r>
            <a:r>
              <a:rPr lang="en-US" sz="2400" dirty="0">
                <a:ea typeface="+mn-lt"/>
                <a:cs typeface="+mn-lt"/>
              </a:rPr>
              <a:t> It is a set of actions that a layer provides to the higher layer.</a:t>
            </a:r>
            <a:endParaRPr lang="en-US" sz="2400" dirty="0"/>
          </a:p>
          <a:p>
            <a:pPr marL="0" indent="0" algn="just">
              <a:lnSpc>
                <a:spcPct val="80000"/>
              </a:lnSpc>
              <a:buNone/>
            </a:pPr>
            <a:r>
              <a:rPr lang="en-US" sz="2400" b="1" i="1" dirty="0">
                <a:ea typeface="+mn-lt"/>
                <a:cs typeface="+mn-lt"/>
              </a:rPr>
              <a:t>Protocol:</a:t>
            </a:r>
            <a:r>
              <a:rPr lang="en-US" sz="2400" dirty="0">
                <a:ea typeface="+mn-lt"/>
                <a:cs typeface="+mn-lt"/>
              </a:rPr>
              <a:t> It defines a set of rules that a layer uses to exchange the information with peer entity. These rules mainly concern about both the contents and order of the messages used.</a:t>
            </a:r>
            <a:endParaRPr lang="en-US" sz="2400" dirty="0"/>
          </a:p>
          <a:p>
            <a:pPr marL="0" indent="0" algn="just">
              <a:lnSpc>
                <a:spcPct val="80000"/>
              </a:lnSpc>
              <a:buNone/>
            </a:pPr>
            <a:r>
              <a:rPr lang="en-US" sz="2400" b="1" i="1" dirty="0">
                <a:ea typeface="+mn-lt"/>
                <a:cs typeface="+mn-lt"/>
              </a:rPr>
              <a:t>Interface:</a:t>
            </a:r>
            <a:r>
              <a:rPr lang="en-US" sz="2400" dirty="0">
                <a:ea typeface="+mn-lt"/>
                <a:cs typeface="+mn-lt"/>
              </a:rPr>
              <a:t> It is a way through which the message is transferred from one layer to another layer.</a:t>
            </a:r>
            <a:endParaRPr lang="en-US" sz="2400" dirty="0"/>
          </a:p>
          <a:p>
            <a:pPr algn="just"/>
            <a:endParaRPr lang="en-US" sz="2400" dirty="0"/>
          </a:p>
        </p:txBody>
      </p:sp>
    </p:spTree>
    <p:extLst>
      <p:ext uri="{BB962C8B-B14F-4D97-AF65-F5344CB8AC3E}">
        <p14:creationId xmlns:p14="http://schemas.microsoft.com/office/powerpoint/2010/main" val="1051123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7F453-2196-6DBF-75E5-3F036A5F19AC}"/>
              </a:ext>
            </a:extLst>
          </p:cNvPr>
          <p:cNvSpPr>
            <a:spLocks noGrp="1"/>
          </p:cNvSpPr>
          <p:nvPr>
            <p:ph type="title"/>
          </p:nvPr>
        </p:nvSpPr>
        <p:spPr/>
        <p:txBody>
          <a:bodyPr/>
          <a:lstStyle/>
          <a:p>
            <a:r>
              <a:rPr lang="en-US" dirty="0"/>
              <a:t>Layered Architecture</a:t>
            </a:r>
          </a:p>
        </p:txBody>
      </p:sp>
      <p:pic>
        <p:nvPicPr>
          <p:cNvPr id="4" name="Content Placeholder 3" descr="A diagram of a system&#10;&#10;Description automatically generated">
            <a:extLst>
              <a:ext uri="{FF2B5EF4-FFF2-40B4-BE49-F238E27FC236}">
                <a16:creationId xmlns:a16="http://schemas.microsoft.com/office/drawing/2014/main" id="{7A437030-0CA2-922A-7392-00A74932AE1D}"/>
              </a:ext>
            </a:extLst>
          </p:cNvPr>
          <p:cNvPicPr>
            <a:picLocks noGrp="1" noChangeAspect="1"/>
          </p:cNvPicPr>
          <p:nvPr>
            <p:ph idx="1"/>
          </p:nvPr>
        </p:nvPicPr>
        <p:blipFill>
          <a:blip r:embed="rId2"/>
          <a:stretch>
            <a:fillRect/>
          </a:stretch>
        </p:blipFill>
        <p:spPr>
          <a:xfrm>
            <a:off x="1743909" y="1453485"/>
            <a:ext cx="8562415" cy="5131058"/>
          </a:xfrm>
        </p:spPr>
      </p:pic>
    </p:spTree>
    <p:extLst>
      <p:ext uri="{BB962C8B-B14F-4D97-AF65-F5344CB8AC3E}">
        <p14:creationId xmlns:p14="http://schemas.microsoft.com/office/powerpoint/2010/main" val="3739199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84E586-614C-345A-4754-A220378E2FED}"/>
              </a:ext>
            </a:extLst>
          </p:cNvPr>
          <p:cNvSpPr>
            <a:spLocks noGrp="1"/>
          </p:cNvSpPr>
          <p:nvPr>
            <p:ph type="title"/>
          </p:nvPr>
        </p:nvSpPr>
        <p:spPr>
          <a:xfrm>
            <a:off x="841248" y="256032"/>
            <a:ext cx="10506456" cy="1014984"/>
          </a:xfrm>
        </p:spPr>
        <p:txBody>
          <a:bodyPr anchor="b">
            <a:normAutofit/>
          </a:bodyPr>
          <a:lstStyle/>
          <a:p>
            <a:r>
              <a:rPr lang="en-US" dirty="0"/>
              <a:t>Need for layered architecture</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Content Placeholder 2">
            <a:extLst>
              <a:ext uri="{FF2B5EF4-FFF2-40B4-BE49-F238E27FC236}">
                <a16:creationId xmlns:a16="http://schemas.microsoft.com/office/drawing/2014/main" id="{1062462F-8B02-1F64-A9E4-5713E3673BEC}"/>
              </a:ext>
            </a:extLst>
          </p:cNvPr>
          <p:cNvGraphicFramePr>
            <a:graphicFrameLocks noGrp="1"/>
          </p:cNvGraphicFramePr>
          <p:nvPr>
            <p:ph idx="1"/>
            <p:extLst>
              <p:ext uri="{D42A27DB-BD31-4B8C-83A1-F6EECF244321}">
                <p14:modId xmlns:p14="http://schemas.microsoft.com/office/powerpoint/2010/main" val="86379415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5275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C61FB0-30CD-D3A0-4C7F-E7B067947FFE}"/>
              </a:ext>
            </a:extLst>
          </p:cNvPr>
          <p:cNvSpPr>
            <a:spLocks noGrp="1"/>
          </p:cNvSpPr>
          <p:nvPr>
            <p:ph type="title"/>
          </p:nvPr>
        </p:nvSpPr>
        <p:spPr>
          <a:xfrm>
            <a:off x="841248" y="256032"/>
            <a:ext cx="10506456" cy="1014984"/>
          </a:xfrm>
        </p:spPr>
        <p:txBody>
          <a:bodyPr anchor="b">
            <a:normAutofit/>
          </a:bodyPr>
          <a:lstStyle/>
          <a:p>
            <a:r>
              <a:rPr lang="en-US" dirty="0"/>
              <a:t>Need for layered architecture</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Content Placeholder 2">
            <a:extLst>
              <a:ext uri="{FF2B5EF4-FFF2-40B4-BE49-F238E27FC236}">
                <a16:creationId xmlns:a16="http://schemas.microsoft.com/office/drawing/2014/main" id="{DA132E93-443E-3054-8D69-49D1E5A775CB}"/>
              </a:ext>
            </a:extLst>
          </p:cNvPr>
          <p:cNvGraphicFramePr>
            <a:graphicFrameLocks noGrp="1"/>
          </p:cNvGraphicFramePr>
          <p:nvPr>
            <p:ph idx="1"/>
            <p:extLst>
              <p:ext uri="{D42A27DB-BD31-4B8C-83A1-F6EECF244321}">
                <p14:modId xmlns:p14="http://schemas.microsoft.com/office/powerpoint/2010/main" val="80928386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3461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0DC42-89B9-966E-3ED6-CD10AFEDEB49}"/>
              </a:ext>
            </a:extLst>
          </p:cNvPr>
          <p:cNvSpPr>
            <a:spLocks noGrp="1"/>
          </p:cNvSpPr>
          <p:nvPr>
            <p:ph type="title"/>
          </p:nvPr>
        </p:nvSpPr>
        <p:spPr/>
        <p:txBody>
          <a:bodyPr/>
          <a:lstStyle/>
          <a:p>
            <a:r>
              <a:rPr lang="en-US"/>
              <a:t>The OSI model</a:t>
            </a:r>
          </a:p>
        </p:txBody>
      </p:sp>
      <p:sp>
        <p:nvSpPr>
          <p:cNvPr id="3" name="Content Placeholder 2">
            <a:extLst>
              <a:ext uri="{FF2B5EF4-FFF2-40B4-BE49-F238E27FC236}">
                <a16:creationId xmlns:a16="http://schemas.microsoft.com/office/drawing/2014/main" id="{429A851C-6020-2A80-86AD-B89EB1982F48}"/>
              </a:ext>
            </a:extLst>
          </p:cNvPr>
          <p:cNvSpPr>
            <a:spLocks noGrp="1"/>
          </p:cNvSpPr>
          <p:nvPr>
            <p:ph idx="1"/>
          </p:nvPr>
        </p:nvSpPr>
        <p:spPr/>
        <p:txBody>
          <a:bodyPr vert="horz" lIns="91440" tIns="45720" rIns="91440" bIns="45720" rtlCol="0" anchor="t">
            <a:normAutofit/>
          </a:bodyPr>
          <a:lstStyle/>
          <a:p>
            <a:r>
              <a:rPr lang="en-US">
                <a:solidFill>
                  <a:srgbClr val="000000"/>
                </a:solidFill>
                <a:ea typeface="+mn-lt"/>
                <a:cs typeface="+mn-lt"/>
              </a:rPr>
              <a:t>OSI stands for Open Systems Interconnection</a:t>
            </a:r>
          </a:p>
          <a:p>
            <a:r>
              <a:rPr lang="en-US" dirty="0">
                <a:solidFill>
                  <a:srgbClr val="000000"/>
                </a:solidFill>
              </a:rPr>
              <a:t>This model is based on a proposal developed by International Standards Organization(ISO)</a:t>
            </a:r>
          </a:p>
          <a:p>
            <a:r>
              <a:rPr lang="en-US" dirty="0">
                <a:solidFill>
                  <a:srgbClr val="000000"/>
                </a:solidFill>
              </a:rPr>
              <a:t>This model is also known as ISO OSI Reference Model</a:t>
            </a:r>
          </a:p>
          <a:p>
            <a:r>
              <a:rPr lang="en-US" dirty="0">
                <a:solidFill>
                  <a:srgbClr val="000000"/>
                </a:solidFill>
              </a:rPr>
              <a:t>It deals with connecting open systems( systems that are open for </a:t>
            </a:r>
            <a:r>
              <a:rPr lang="en-US">
                <a:solidFill>
                  <a:srgbClr val="000000"/>
                </a:solidFill>
              </a:rPr>
              <a:t>communication with other systems)</a:t>
            </a:r>
            <a:endParaRPr lang="en-US" dirty="0">
              <a:solidFill>
                <a:srgbClr val="000000"/>
              </a:solidFill>
            </a:endParaRPr>
          </a:p>
          <a:p>
            <a:r>
              <a:rPr lang="en-US">
                <a:solidFill>
                  <a:srgbClr val="000000"/>
                </a:solidFill>
              </a:rPr>
              <a:t>OSI is a seven layered architecture</a:t>
            </a:r>
          </a:p>
          <a:p>
            <a:endParaRPr lang="en-US" dirty="0">
              <a:solidFill>
                <a:srgbClr val="000000"/>
              </a:solidFill>
            </a:endParaRPr>
          </a:p>
        </p:txBody>
      </p:sp>
    </p:spTree>
    <p:extLst>
      <p:ext uri="{BB962C8B-B14F-4D97-AF65-F5344CB8AC3E}">
        <p14:creationId xmlns:p14="http://schemas.microsoft.com/office/powerpoint/2010/main" val="4101013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2F41D-DBCD-A257-994D-B4DAB0450DDA}"/>
              </a:ext>
            </a:extLst>
          </p:cNvPr>
          <p:cNvSpPr>
            <a:spLocks noGrp="1"/>
          </p:cNvSpPr>
          <p:nvPr>
            <p:ph type="title"/>
          </p:nvPr>
        </p:nvSpPr>
        <p:spPr/>
        <p:txBody>
          <a:bodyPr/>
          <a:lstStyle/>
          <a:p>
            <a:r>
              <a:rPr lang="en-US" dirty="0"/>
              <a:t>The OSI Model</a:t>
            </a:r>
          </a:p>
        </p:txBody>
      </p:sp>
      <p:pic>
        <p:nvPicPr>
          <p:cNvPr id="4" name="Content Placeholder 3" descr="A diagram of a computer&#10;&#10;Description automatically generated">
            <a:extLst>
              <a:ext uri="{FF2B5EF4-FFF2-40B4-BE49-F238E27FC236}">
                <a16:creationId xmlns:a16="http://schemas.microsoft.com/office/drawing/2014/main" id="{D18001B2-20D2-CB21-2725-B601FAE1E091}"/>
              </a:ext>
            </a:extLst>
          </p:cNvPr>
          <p:cNvPicPr>
            <a:picLocks noGrp="1" noChangeAspect="1"/>
          </p:cNvPicPr>
          <p:nvPr>
            <p:ph idx="1"/>
          </p:nvPr>
        </p:nvPicPr>
        <p:blipFill>
          <a:blip r:embed="rId2"/>
          <a:stretch>
            <a:fillRect/>
          </a:stretch>
        </p:blipFill>
        <p:spPr>
          <a:xfrm>
            <a:off x="1850972" y="1769699"/>
            <a:ext cx="7567266" cy="4966530"/>
          </a:xfrm>
        </p:spPr>
      </p:pic>
    </p:spTree>
    <p:extLst>
      <p:ext uri="{BB962C8B-B14F-4D97-AF65-F5344CB8AC3E}">
        <p14:creationId xmlns:p14="http://schemas.microsoft.com/office/powerpoint/2010/main" val="3322976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6EF7D-A77F-8E49-D77D-70A3D58B9F9A}"/>
              </a:ext>
            </a:extLst>
          </p:cNvPr>
          <p:cNvSpPr>
            <a:spLocks noGrp="1"/>
          </p:cNvSpPr>
          <p:nvPr>
            <p:ph type="title"/>
          </p:nvPr>
        </p:nvSpPr>
        <p:spPr/>
        <p:txBody>
          <a:bodyPr/>
          <a:lstStyle/>
          <a:p>
            <a:r>
              <a:rPr lang="en-US" dirty="0"/>
              <a:t>Layers of OSI model</a:t>
            </a:r>
          </a:p>
        </p:txBody>
      </p:sp>
      <p:sp>
        <p:nvSpPr>
          <p:cNvPr id="3" name="Content Placeholder 2">
            <a:extLst>
              <a:ext uri="{FF2B5EF4-FFF2-40B4-BE49-F238E27FC236}">
                <a16:creationId xmlns:a16="http://schemas.microsoft.com/office/drawing/2014/main" id="{13386544-195A-4A7B-30C4-35A6458E134A}"/>
              </a:ext>
            </a:extLst>
          </p:cNvPr>
          <p:cNvSpPr>
            <a:spLocks noGrp="1"/>
          </p:cNvSpPr>
          <p:nvPr>
            <p:ph idx="1"/>
          </p:nvPr>
        </p:nvSpPr>
        <p:spPr/>
        <p:txBody>
          <a:bodyPr vert="horz" lIns="91440" tIns="45720" rIns="91440" bIns="45720" rtlCol="0" anchor="t">
            <a:normAutofit lnSpcReduction="10000"/>
          </a:bodyPr>
          <a:lstStyle/>
          <a:p>
            <a:pPr marL="0" indent="0">
              <a:buNone/>
            </a:pPr>
            <a:r>
              <a:rPr lang="en-US" b="1" i="1" dirty="0">
                <a:solidFill>
                  <a:srgbClr val="000000"/>
                </a:solidFill>
                <a:ea typeface="+mn-lt"/>
                <a:cs typeface="+mn-lt"/>
              </a:rPr>
              <a:t>The Physical Layer:</a:t>
            </a:r>
            <a:endParaRPr lang="en-US" b="1" i="1" dirty="0"/>
          </a:p>
          <a:p>
            <a:r>
              <a:rPr lang="en-US" dirty="0">
                <a:solidFill>
                  <a:srgbClr val="000000"/>
                </a:solidFill>
                <a:ea typeface="+mn-lt"/>
                <a:cs typeface="+mn-lt"/>
              </a:rPr>
              <a:t> Physical layer is the lowest layer of OSI model and is responsible for the physical connection between all the required devices. </a:t>
            </a:r>
          </a:p>
          <a:p>
            <a:r>
              <a:rPr lang="en-US" dirty="0">
                <a:solidFill>
                  <a:srgbClr val="000000"/>
                </a:solidFill>
                <a:ea typeface="+mn-lt"/>
                <a:cs typeface="+mn-lt"/>
              </a:rPr>
              <a:t>The information present in physical layer is in the form of bits. Hence, this layer is concerned with transmitting raw bits over communication channel</a:t>
            </a:r>
          </a:p>
          <a:p>
            <a:r>
              <a:rPr lang="en-US" dirty="0">
                <a:solidFill>
                  <a:srgbClr val="000000"/>
                </a:solidFill>
                <a:ea typeface="+mn-lt"/>
                <a:cs typeface="+mn-lt"/>
              </a:rPr>
              <a:t> Physical layer performs various functions such as bit rate control, bit synchronization, transmission mode etc.</a:t>
            </a:r>
          </a:p>
          <a:p>
            <a:r>
              <a:rPr lang="en-US" dirty="0">
                <a:solidFill>
                  <a:srgbClr val="000000"/>
                </a:solidFill>
              </a:rPr>
              <a:t>Make sure that when one side sends a 1 bit it is received by the other side as a 1 bit, not as a 0 bit.</a:t>
            </a:r>
          </a:p>
        </p:txBody>
      </p:sp>
    </p:spTree>
    <p:extLst>
      <p:ext uri="{BB962C8B-B14F-4D97-AF65-F5344CB8AC3E}">
        <p14:creationId xmlns:p14="http://schemas.microsoft.com/office/powerpoint/2010/main" val="1665555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12088-E885-BE99-0A18-87F6AB54EBF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31F8C1-71BC-C287-B126-0BAD3FD6E3DB}"/>
              </a:ext>
            </a:extLst>
          </p:cNvPr>
          <p:cNvSpPr>
            <a:spLocks noGrp="1"/>
          </p:cNvSpPr>
          <p:nvPr>
            <p:ph idx="1"/>
          </p:nvPr>
        </p:nvSpPr>
        <p:spPr/>
        <p:txBody>
          <a:bodyPr vert="horz" lIns="91440" tIns="45720" rIns="91440" bIns="45720" rtlCol="0" anchor="t">
            <a:normAutofit/>
          </a:bodyPr>
          <a:lstStyle/>
          <a:p>
            <a:pPr marL="0" indent="0">
              <a:buNone/>
            </a:pPr>
            <a:r>
              <a:rPr lang="en-US" b="1" i="1" dirty="0"/>
              <a:t>The Data Link Layer:</a:t>
            </a:r>
            <a:endParaRPr lang="en-US" dirty="0"/>
          </a:p>
          <a:p>
            <a:r>
              <a:rPr lang="en-US" dirty="0">
                <a:solidFill>
                  <a:srgbClr val="000000"/>
                </a:solidFill>
                <a:ea typeface="+mn-lt"/>
                <a:cs typeface="+mn-lt"/>
              </a:rPr>
              <a:t>The data link layer is responsible for the node-to-node delivery of the message. </a:t>
            </a:r>
          </a:p>
          <a:p>
            <a:r>
              <a:rPr lang="en-US" dirty="0">
                <a:solidFill>
                  <a:srgbClr val="000000"/>
                </a:solidFill>
                <a:ea typeface="+mn-lt"/>
                <a:cs typeface="+mn-lt"/>
              </a:rPr>
              <a:t>The main function of this layer is to make sure data transfer is error-free from one node to another, over the physical layer. </a:t>
            </a:r>
          </a:p>
          <a:p>
            <a:r>
              <a:rPr lang="en-US" dirty="0">
                <a:solidFill>
                  <a:srgbClr val="000000"/>
                </a:solidFill>
                <a:ea typeface="+mn-lt"/>
                <a:cs typeface="+mn-lt"/>
              </a:rPr>
              <a:t>When a packet arrives in a network, it is the responsibility of the DLL to transmit it to the Host using its MAC address. </a:t>
            </a:r>
            <a:endParaRPr lang="en-US"/>
          </a:p>
          <a:p>
            <a:endParaRPr lang="en-US" dirty="0"/>
          </a:p>
        </p:txBody>
      </p:sp>
    </p:spTree>
    <p:extLst>
      <p:ext uri="{BB962C8B-B14F-4D97-AF65-F5344CB8AC3E}">
        <p14:creationId xmlns:p14="http://schemas.microsoft.com/office/powerpoint/2010/main" val="3633185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3CB7E-E473-691B-7F74-A2D2012D20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A2E7A3-997E-AED4-DA22-7F77CD432C97}"/>
              </a:ext>
            </a:extLst>
          </p:cNvPr>
          <p:cNvSpPr>
            <a:spLocks noGrp="1"/>
          </p:cNvSpPr>
          <p:nvPr>
            <p:ph idx="1"/>
          </p:nvPr>
        </p:nvSpPr>
        <p:spPr/>
        <p:txBody>
          <a:bodyPr vert="horz" lIns="91440" tIns="45720" rIns="91440" bIns="45720" rtlCol="0" anchor="t">
            <a:normAutofit/>
          </a:bodyPr>
          <a:lstStyle/>
          <a:p>
            <a:pPr marL="0" indent="0">
              <a:buNone/>
            </a:pPr>
            <a:r>
              <a:rPr lang="en-US" b="1" i="1" dirty="0"/>
              <a:t>The Network Layer:</a:t>
            </a:r>
            <a:endParaRPr lang="en-US" dirty="0"/>
          </a:p>
          <a:p>
            <a:r>
              <a:rPr lang="en-US" dirty="0">
                <a:solidFill>
                  <a:srgbClr val="000000"/>
                </a:solidFill>
                <a:ea typeface="+mn-lt"/>
                <a:cs typeface="+mn-lt"/>
              </a:rPr>
              <a:t>The network layer works for the transmission of data from one host to the other located in different networks. </a:t>
            </a:r>
          </a:p>
          <a:p>
            <a:r>
              <a:rPr lang="en-US" dirty="0">
                <a:solidFill>
                  <a:srgbClr val="000000"/>
                </a:solidFill>
                <a:ea typeface="+mn-lt"/>
                <a:cs typeface="+mn-lt"/>
              </a:rPr>
              <a:t>It also takes care of packet routing i.e. selection of the shortest path to transmit the packet, from the number of routes available. The sender &amp; receiver’s IP addresses are placed in the header by the network layer. </a:t>
            </a:r>
            <a:endParaRPr lang="en-US" dirty="0">
              <a:solidFill>
                <a:srgbClr val="000000"/>
              </a:solidFill>
            </a:endParaRPr>
          </a:p>
        </p:txBody>
      </p:sp>
    </p:spTree>
    <p:extLst>
      <p:ext uri="{BB962C8B-B14F-4D97-AF65-F5344CB8AC3E}">
        <p14:creationId xmlns:p14="http://schemas.microsoft.com/office/powerpoint/2010/main" val="2081618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2E262-8493-8881-C69F-E5CE36A703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40325E-AEAE-1019-3093-E8530C5B7639}"/>
              </a:ext>
            </a:extLst>
          </p:cNvPr>
          <p:cNvSpPr>
            <a:spLocks noGrp="1"/>
          </p:cNvSpPr>
          <p:nvPr>
            <p:ph idx="1"/>
          </p:nvPr>
        </p:nvSpPr>
        <p:spPr/>
        <p:txBody>
          <a:bodyPr vert="horz" lIns="91440" tIns="45720" rIns="91440" bIns="45720" rtlCol="0" anchor="t">
            <a:normAutofit/>
          </a:bodyPr>
          <a:lstStyle/>
          <a:p>
            <a:pPr marL="0" indent="0">
              <a:buNone/>
            </a:pPr>
            <a:r>
              <a:rPr lang="en-US" b="1" i="1"/>
              <a:t>The Transport Layer:</a:t>
            </a:r>
            <a:endParaRPr lang="en-US"/>
          </a:p>
          <a:p>
            <a:r>
              <a:rPr lang="en-US" dirty="0"/>
              <a:t>The transport layer provides services to the application layer and takes services from the network layer. </a:t>
            </a:r>
          </a:p>
          <a:p>
            <a:r>
              <a:rPr lang="en-US" dirty="0"/>
              <a:t>The data in the transport layer is referred to as Segments. </a:t>
            </a:r>
            <a:endParaRPr lang="en-US"/>
          </a:p>
          <a:p>
            <a:r>
              <a:rPr lang="en-US" dirty="0"/>
              <a:t>It is responsible for the End to End Delivery of the complete message. </a:t>
            </a:r>
            <a:endParaRPr lang="en-US"/>
          </a:p>
          <a:p>
            <a:r>
              <a:rPr lang="en-US" dirty="0"/>
              <a:t>The transport layer also provides the acknowledgment of the successful data transmission and re-transmits the data if an error is found.</a:t>
            </a:r>
          </a:p>
        </p:txBody>
      </p:sp>
    </p:spTree>
    <p:extLst>
      <p:ext uri="{BB962C8B-B14F-4D97-AF65-F5344CB8AC3E}">
        <p14:creationId xmlns:p14="http://schemas.microsoft.com/office/powerpoint/2010/main" val="3993022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10649-BDE1-C108-D817-D2271DD2F3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EEBF89-9FA7-E22A-9278-D3D5FB29F9D2}"/>
              </a:ext>
            </a:extLst>
          </p:cNvPr>
          <p:cNvSpPr>
            <a:spLocks noGrp="1"/>
          </p:cNvSpPr>
          <p:nvPr>
            <p:ph idx="1"/>
          </p:nvPr>
        </p:nvSpPr>
        <p:spPr/>
        <p:txBody>
          <a:bodyPr vert="horz" lIns="91440" tIns="45720" rIns="91440" bIns="45720" rtlCol="0" anchor="t">
            <a:normAutofit/>
          </a:bodyPr>
          <a:lstStyle/>
          <a:p>
            <a:pPr marL="0" indent="0">
              <a:buNone/>
            </a:pPr>
            <a:r>
              <a:rPr lang="en-US">
                <a:solidFill>
                  <a:srgbClr val="000000"/>
                </a:solidFill>
                <a:ea typeface="+mn-lt"/>
                <a:cs typeface="+mn-lt"/>
              </a:rPr>
              <a:t>At the sender’s side: </a:t>
            </a:r>
            <a:endParaRPr lang="en-US"/>
          </a:p>
          <a:p>
            <a:r>
              <a:rPr lang="en-US" dirty="0">
                <a:solidFill>
                  <a:srgbClr val="000000"/>
                </a:solidFill>
                <a:ea typeface="+mn-lt"/>
                <a:cs typeface="+mn-lt"/>
              </a:rPr>
              <a:t>The transport layer receives the formatted data from the upper layers, performs Segmentation, and also implements Flow &amp; Error control to ensure proper data transmission. It also adds Source and Destination port numbers in its header and forwards the segmented data to the Network Layer. </a:t>
            </a:r>
            <a:endParaRPr lang="en-US" dirty="0">
              <a:solidFill>
                <a:srgbClr val="000000"/>
              </a:solidFill>
            </a:endParaRPr>
          </a:p>
        </p:txBody>
      </p:sp>
    </p:spTree>
    <p:extLst>
      <p:ext uri="{BB962C8B-B14F-4D97-AF65-F5344CB8AC3E}">
        <p14:creationId xmlns:p14="http://schemas.microsoft.com/office/powerpoint/2010/main" val="2048552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C1299-4B4F-D2EA-718A-B4BC606A2C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49957F-1697-0833-BA5C-60F411038013}"/>
              </a:ext>
            </a:extLst>
          </p:cNvPr>
          <p:cNvSpPr>
            <a:spLocks noGrp="1"/>
          </p:cNvSpPr>
          <p:nvPr>
            <p:ph idx="1"/>
          </p:nvPr>
        </p:nvSpPr>
        <p:spPr/>
        <p:txBody>
          <a:bodyPr vert="horz" lIns="91440" tIns="45720" rIns="91440" bIns="45720" rtlCol="0" anchor="t">
            <a:normAutofit/>
          </a:bodyPr>
          <a:lstStyle/>
          <a:p>
            <a:pPr marL="0" indent="0">
              <a:buNone/>
            </a:pPr>
            <a:r>
              <a:rPr lang="en-US" b="1" i="1" dirty="0"/>
              <a:t>The Session Layer</a:t>
            </a:r>
            <a:endParaRPr lang="en-US"/>
          </a:p>
          <a:p>
            <a:r>
              <a:rPr lang="en-US" dirty="0">
                <a:solidFill>
                  <a:srgbClr val="000000"/>
                </a:solidFill>
                <a:ea typeface="+mn-lt"/>
                <a:cs typeface="+mn-lt"/>
              </a:rPr>
              <a:t>This layer is responsible for the establishment of connection, maintenance of sessions, and authentication, and also ensures security.</a:t>
            </a:r>
            <a:endParaRPr lang="en-US" dirty="0">
              <a:solidFill>
                <a:srgbClr val="000000"/>
              </a:solidFill>
            </a:endParaRPr>
          </a:p>
        </p:txBody>
      </p:sp>
    </p:spTree>
    <p:extLst>
      <p:ext uri="{BB962C8B-B14F-4D97-AF65-F5344CB8AC3E}">
        <p14:creationId xmlns:p14="http://schemas.microsoft.com/office/powerpoint/2010/main" val="2957790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7E399-A107-50D6-C58E-C1300096833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D7F07A-CFE8-129B-0FBD-0BFF4C036A96}"/>
              </a:ext>
            </a:extLst>
          </p:cNvPr>
          <p:cNvSpPr>
            <a:spLocks noGrp="1"/>
          </p:cNvSpPr>
          <p:nvPr>
            <p:ph idx="1"/>
          </p:nvPr>
        </p:nvSpPr>
        <p:spPr/>
        <p:txBody>
          <a:bodyPr vert="horz" lIns="91440" tIns="45720" rIns="91440" bIns="45720" rtlCol="0" anchor="t">
            <a:normAutofit/>
          </a:bodyPr>
          <a:lstStyle/>
          <a:p>
            <a:pPr marL="0" indent="0">
              <a:buNone/>
            </a:pPr>
            <a:r>
              <a:rPr lang="en-US" b="1" i="1" dirty="0"/>
              <a:t>The Presentation Layer</a:t>
            </a:r>
            <a:endParaRPr lang="en-US" b="1" i="1"/>
          </a:p>
          <a:p>
            <a:r>
              <a:rPr lang="en-US" dirty="0">
                <a:solidFill>
                  <a:srgbClr val="000000"/>
                </a:solidFill>
                <a:ea typeface="+mn-lt"/>
                <a:cs typeface="+mn-lt"/>
              </a:rPr>
              <a:t>The presentation layer is also called the Translation layer. The data from the application layer is extracted here and manipulated as per the required format to transmit over the network. </a:t>
            </a:r>
          </a:p>
          <a:p>
            <a:endParaRPr lang="en-US" dirty="0">
              <a:solidFill>
                <a:srgbClr val="000000"/>
              </a:solidFill>
            </a:endParaRPr>
          </a:p>
        </p:txBody>
      </p:sp>
    </p:spTree>
    <p:extLst>
      <p:ext uri="{BB962C8B-B14F-4D97-AF65-F5344CB8AC3E}">
        <p14:creationId xmlns:p14="http://schemas.microsoft.com/office/powerpoint/2010/main" val="1391198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922EFE-FB16-461A-1675-B2651BD196E4}"/>
              </a:ext>
            </a:extLst>
          </p:cNvPr>
          <p:cNvSpPr>
            <a:spLocks noGrp="1"/>
          </p:cNvSpPr>
          <p:nvPr>
            <p:ph idx="1"/>
          </p:nvPr>
        </p:nvSpPr>
        <p:spPr/>
        <p:txBody>
          <a:bodyPr vert="horz" lIns="91440" tIns="45720" rIns="91440" bIns="45720" rtlCol="0" anchor="t">
            <a:normAutofit/>
          </a:bodyPr>
          <a:lstStyle/>
          <a:p>
            <a:pPr marL="0" indent="0">
              <a:buNone/>
            </a:pPr>
            <a:r>
              <a:rPr lang="en-US" b="1" i="1" dirty="0"/>
              <a:t>The Application Layer:</a:t>
            </a:r>
          </a:p>
          <a:p>
            <a:r>
              <a:rPr lang="en-US" dirty="0">
                <a:solidFill>
                  <a:srgbClr val="000000"/>
                </a:solidFill>
                <a:ea typeface="+mn-lt"/>
                <a:cs typeface="+mn-lt"/>
              </a:rPr>
              <a:t>At the very top of the OSI Reference Model stack of layers, we find the Application layer which is implemented by the network applications. </a:t>
            </a:r>
          </a:p>
          <a:p>
            <a:r>
              <a:rPr lang="en-US" dirty="0">
                <a:solidFill>
                  <a:srgbClr val="000000"/>
                </a:solidFill>
                <a:ea typeface="+mn-lt"/>
                <a:cs typeface="+mn-lt"/>
              </a:rPr>
              <a:t>These applications produce the data, which has to be transferred over the network. </a:t>
            </a:r>
          </a:p>
          <a:p>
            <a:r>
              <a:rPr lang="en-US" dirty="0">
                <a:solidFill>
                  <a:srgbClr val="000000"/>
                </a:solidFill>
                <a:ea typeface="+mn-lt"/>
                <a:cs typeface="+mn-lt"/>
              </a:rPr>
              <a:t>This layer also serves as a window for the application services to access the network and for displaying the received information to the user. </a:t>
            </a:r>
            <a:endParaRPr lang="en-US">
              <a:solidFill>
                <a:srgbClr val="000000"/>
              </a:solidFill>
            </a:endParaRPr>
          </a:p>
        </p:txBody>
      </p:sp>
    </p:spTree>
    <p:extLst>
      <p:ext uri="{BB962C8B-B14F-4D97-AF65-F5344CB8AC3E}">
        <p14:creationId xmlns:p14="http://schemas.microsoft.com/office/powerpoint/2010/main" val="142976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47C1D-F661-57A0-51ED-AECC7BEEFE5A}"/>
              </a:ext>
            </a:extLst>
          </p:cNvPr>
          <p:cNvSpPr>
            <a:spLocks noGrp="1"/>
          </p:cNvSpPr>
          <p:nvPr>
            <p:ph type="title"/>
          </p:nvPr>
        </p:nvSpPr>
        <p:spPr>
          <a:xfrm>
            <a:off x="329784" y="365125"/>
            <a:ext cx="11862216" cy="1325563"/>
          </a:xfrm>
        </p:spPr>
        <p:txBody>
          <a:bodyPr/>
          <a:lstStyle/>
          <a:p>
            <a:r>
              <a:rPr lang="en-US" dirty="0"/>
              <a:t>The TCP/IP Reference Model/Internet Protocol Suite</a:t>
            </a:r>
          </a:p>
        </p:txBody>
      </p:sp>
      <p:sp>
        <p:nvSpPr>
          <p:cNvPr id="3" name="Content Placeholder 2">
            <a:extLst>
              <a:ext uri="{FF2B5EF4-FFF2-40B4-BE49-F238E27FC236}">
                <a16:creationId xmlns:a16="http://schemas.microsoft.com/office/drawing/2014/main" id="{8820666E-B8FF-C77C-529D-C216D953ADD5}"/>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TCP/IP was designed and developed by the Department of Defense (DoD) in the 1960s</a:t>
            </a:r>
          </a:p>
          <a:p>
            <a:r>
              <a:rPr lang="en-US" dirty="0">
                <a:solidFill>
                  <a:srgbClr val="000000"/>
                </a:solidFill>
                <a:ea typeface="+mn-lt"/>
                <a:cs typeface="+mn-lt"/>
              </a:rPr>
              <a:t>It stands for Transmission Control Protocol/Internet Protocol. </a:t>
            </a:r>
          </a:p>
          <a:p>
            <a:r>
              <a:rPr lang="en-US" dirty="0">
                <a:solidFill>
                  <a:srgbClr val="000000"/>
                </a:solidFill>
              </a:rPr>
              <a:t>It contains Five/four layers</a:t>
            </a:r>
          </a:p>
          <a:p>
            <a:r>
              <a:rPr lang="en-US" dirty="0">
                <a:solidFill>
                  <a:srgbClr val="000000"/>
                </a:solidFill>
                <a:ea typeface="+mn-lt"/>
                <a:cs typeface="+mn-lt"/>
              </a:rPr>
              <a:t>To ensure that, each message reaches its final destination accurately, the TCP/IP model divides its data into packets and combines them at the other end, which helps in maintaining the accuracy of the data while transferring from one end to another end.</a:t>
            </a:r>
            <a:endParaRPr lang="en-US" dirty="0">
              <a:solidFill>
                <a:srgbClr val="000000"/>
              </a:solidFill>
            </a:endParaRPr>
          </a:p>
        </p:txBody>
      </p:sp>
    </p:spTree>
    <p:extLst>
      <p:ext uri="{BB962C8B-B14F-4D97-AF65-F5344CB8AC3E}">
        <p14:creationId xmlns:p14="http://schemas.microsoft.com/office/powerpoint/2010/main" val="2240684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EF80-F267-7682-8C25-66A968A157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CC4850-68A4-081B-C91E-8092C1CE6AC3}"/>
              </a:ext>
            </a:extLst>
          </p:cNvPr>
          <p:cNvSpPr>
            <a:spLocks noGrp="1"/>
          </p:cNvSpPr>
          <p:nvPr>
            <p:ph idx="1"/>
          </p:nvPr>
        </p:nvSpPr>
        <p:spPr/>
        <p:txBody>
          <a:bodyPr>
            <a:noAutofit/>
          </a:bodyPr>
          <a:lstStyle/>
          <a:p>
            <a:pPr>
              <a:buNone/>
            </a:pPr>
            <a:r>
              <a:rPr lang="en-US" sz="3600" b="1" dirty="0">
                <a:solidFill>
                  <a:srgbClr val="C00000"/>
                </a:solidFill>
              </a:rPr>
              <a:t>TCP/IP</a:t>
            </a:r>
          </a:p>
          <a:p>
            <a:pPr>
              <a:buNone/>
            </a:pPr>
            <a:endParaRPr lang="en-US" sz="3600" b="1" dirty="0">
              <a:solidFill>
                <a:srgbClr val="C00000"/>
              </a:solidFill>
            </a:endParaRPr>
          </a:p>
          <a:p>
            <a:r>
              <a:rPr lang="en-US" sz="3600" b="1" dirty="0"/>
              <a:t>The most popular network protocol in the world, TCP/IP protocol suite, was designed in 1970s by 2 DARPA scientists—</a:t>
            </a:r>
            <a:r>
              <a:rPr lang="en-US" sz="3600" b="1" dirty="0" err="1"/>
              <a:t>Vint</a:t>
            </a:r>
            <a:r>
              <a:rPr lang="en-US" sz="3600" b="1" dirty="0"/>
              <a:t> Cerf(Vinton Gray "</a:t>
            </a:r>
            <a:r>
              <a:rPr lang="en-US" sz="3600" b="1" dirty="0" err="1"/>
              <a:t>Vint</a:t>
            </a:r>
            <a:r>
              <a:rPr lang="en-US" sz="3600" b="1" dirty="0"/>
              <a:t>" Cerf) and Bob Kahn(Robert Elliot Kahn ), persons most often called </a:t>
            </a:r>
            <a:r>
              <a:rPr lang="en-US" sz="3600" b="1" i="1" dirty="0"/>
              <a:t>the fathers of the Internet</a:t>
            </a:r>
            <a:r>
              <a:rPr lang="en-US" sz="3600" b="1" dirty="0"/>
              <a:t>.</a:t>
            </a:r>
          </a:p>
          <a:p>
            <a:pPr>
              <a:buNone/>
            </a:pPr>
            <a:endParaRPr lang="en-US" sz="3600" b="1" dirty="0"/>
          </a:p>
        </p:txBody>
      </p:sp>
    </p:spTree>
    <p:extLst>
      <p:ext uri="{BB962C8B-B14F-4D97-AF65-F5344CB8AC3E}">
        <p14:creationId xmlns:p14="http://schemas.microsoft.com/office/powerpoint/2010/main" val="2934197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6A42D-0873-5C88-C427-306D9E8112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146705-EC3E-64AB-B74F-102597246A83}"/>
              </a:ext>
            </a:extLst>
          </p:cNvPr>
          <p:cNvSpPr>
            <a:spLocks noGrp="1"/>
          </p:cNvSpPr>
          <p:nvPr>
            <p:ph idx="1"/>
          </p:nvPr>
        </p:nvSpPr>
        <p:spPr>
          <a:xfrm>
            <a:off x="1752600" y="4595019"/>
            <a:ext cx="8229600" cy="4525963"/>
          </a:xfrm>
        </p:spPr>
        <p:txBody>
          <a:bodyPr/>
          <a:lstStyle/>
          <a:p>
            <a:pPr>
              <a:buNone/>
            </a:pPr>
            <a:r>
              <a:rPr lang="en-US" dirty="0"/>
              <a:t>Vinton Gray "</a:t>
            </a:r>
            <a:r>
              <a:rPr lang="en-US" dirty="0" err="1"/>
              <a:t>Vint</a:t>
            </a:r>
            <a:r>
              <a:rPr lang="en-US" dirty="0"/>
              <a:t>" Cerf       Robert Elliot Kahn</a:t>
            </a:r>
          </a:p>
        </p:txBody>
      </p:sp>
      <p:pic>
        <p:nvPicPr>
          <p:cNvPr id="18434" name="Picture 2" descr="C:\Users\remyat\Desktop\kahn.jpg">
            <a:extLst>
              <a:ext uri="{FF2B5EF4-FFF2-40B4-BE49-F238E27FC236}">
                <a16:creationId xmlns:a16="http://schemas.microsoft.com/office/drawing/2014/main" id="{3C3B4E10-D9D9-F860-DFB4-2F07929A670E}"/>
              </a:ext>
            </a:extLst>
          </p:cNvPr>
          <p:cNvPicPr>
            <a:picLocks noChangeAspect="1" noChangeArrowheads="1"/>
          </p:cNvPicPr>
          <p:nvPr/>
        </p:nvPicPr>
        <p:blipFill>
          <a:blip r:embed="rId2" cstate="print"/>
          <a:srcRect/>
          <a:stretch>
            <a:fillRect/>
          </a:stretch>
        </p:blipFill>
        <p:spPr bwMode="auto">
          <a:xfrm>
            <a:off x="6172200" y="838201"/>
            <a:ext cx="3124200" cy="3381375"/>
          </a:xfrm>
          <a:prstGeom prst="rect">
            <a:avLst/>
          </a:prstGeom>
          <a:noFill/>
        </p:spPr>
      </p:pic>
      <p:pic>
        <p:nvPicPr>
          <p:cNvPr id="18435" name="Picture 3" descr="C:\Users\remyat\Desktop\cerf.jpg">
            <a:extLst>
              <a:ext uri="{FF2B5EF4-FFF2-40B4-BE49-F238E27FC236}">
                <a16:creationId xmlns:a16="http://schemas.microsoft.com/office/drawing/2014/main" id="{D289F5B6-BDB3-8CF0-6258-E10926646B8F}"/>
              </a:ext>
            </a:extLst>
          </p:cNvPr>
          <p:cNvPicPr>
            <a:picLocks noChangeAspect="1" noChangeArrowheads="1"/>
          </p:cNvPicPr>
          <p:nvPr/>
        </p:nvPicPr>
        <p:blipFill>
          <a:blip r:embed="rId3" cstate="print"/>
          <a:srcRect/>
          <a:stretch>
            <a:fillRect/>
          </a:stretch>
        </p:blipFill>
        <p:spPr bwMode="auto">
          <a:xfrm>
            <a:off x="1981200" y="685801"/>
            <a:ext cx="3200400" cy="3686175"/>
          </a:xfrm>
          <a:prstGeom prst="rect">
            <a:avLst/>
          </a:prstGeom>
          <a:noFill/>
        </p:spPr>
      </p:pic>
    </p:spTree>
    <p:extLst>
      <p:ext uri="{BB962C8B-B14F-4D97-AF65-F5344CB8AC3E}">
        <p14:creationId xmlns:p14="http://schemas.microsoft.com/office/powerpoint/2010/main" val="3588025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87512-4640-5AD0-F956-FD9C218885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11B37D-6EB9-43BE-9B82-AF5E3ABD9BF6}"/>
              </a:ext>
            </a:extLst>
          </p:cNvPr>
          <p:cNvSpPr>
            <a:spLocks noGrp="1"/>
          </p:cNvSpPr>
          <p:nvPr>
            <p:ph idx="1"/>
          </p:nvPr>
        </p:nvSpPr>
        <p:spPr>
          <a:xfrm>
            <a:off x="1981200" y="457201"/>
            <a:ext cx="8229600" cy="5668963"/>
          </a:xfrm>
        </p:spPr>
        <p:txBody>
          <a:bodyPr>
            <a:noAutofit/>
          </a:bodyPr>
          <a:lstStyle/>
          <a:p>
            <a:pPr algn="just">
              <a:buNone/>
            </a:pPr>
            <a:r>
              <a:rPr lang="en-US" b="1" dirty="0"/>
              <a:t>Why TCP/IP Model</a:t>
            </a:r>
          </a:p>
          <a:p>
            <a:pPr algn="just">
              <a:buNone/>
            </a:pPr>
            <a:endParaRPr lang="en-US" b="1" dirty="0"/>
          </a:p>
          <a:p>
            <a:pPr algn="just"/>
            <a:r>
              <a:rPr lang="en-US" b="1" dirty="0"/>
              <a:t>TCP/IP that is Transmission Control Protocol and Internet Protocol was developed by Department of Defense Advanced Research Projects Agency(ARPA, later DARPA) as a part of a research project of network interconnection to connect remote machines.</a:t>
            </a:r>
          </a:p>
          <a:p>
            <a:pPr algn="just">
              <a:buNone/>
            </a:pPr>
            <a:endParaRPr lang="en-US" b="1" dirty="0"/>
          </a:p>
          <a:p>
            <a:pPr algn="just"/>
            <a:r>
              <a:rPr lang="en-US" b="1" dirty="0"/>
              <a:t>The features that stood out during the research, which led to making the TCP/IP reference model were:</a:t>
            </a:r>
          </a:p>
          <a:p>
            <a:pPr algn="just"/>
            <a:endParaRPr lang="en-US" b="1" dirty="0"/>
          </a:p>
        </p:txBody>
      </p:sp>
    </p:spTree>
    <p:extLst>
      <p:ext uri="{BB962C8B-B14F-4D97-AF65-F5344CB8AC3E}">
        <p14:creationId xmlns:p14="http://schemas.microsoft.com/office/powerpoint/2010/main" val="3604291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AAB33-02B0-8A88-A3DB-060237A675B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2CD7FD-52A0-1D77-4C67-4E23D58A9026}"/>
              </a:ext>
            </a:extLst>
          </p:cNvPr>
          <p:cNvSpPr>
            <a:spLocks noGrp="1"/>
          </p:cNvSpPr>
          <p:nvPr>
            <p:ph idx="1"/>
          </p:nvPr>
        </p:nvSpPr>
        <p:spPr/>
        <p:txBody>
          <a:bodyPr>
            <a:noAutofit/>
          </a:bodyPr>
          <a:lstStyle/>
          <a:p>
            <a:pPr algn="just">
              <a:buFont typeface="Wingdings" pitchFamily="2" charset="2"/>
              <a:buChar char="Ø"/>
            </a:pPr>
            <a:r>
              <a:rPr lang="en-US" sz="3600" b="1" dirty="0"/>
              <a:t>Support for a flexible architecture. Adding more machines to a network was easy.</a:t>
            </a:r>
          </a:p>
          <a:p>
            <a:pPr algn="just">
              <a:buNone/>
            </a:pPr>
            <a:endParaRPr lang="en-US" sz="3600" b="1" dirty="0"/>
          </a:p>
          <a:p>
            <a:pPr algn="just">
              <a:buFont typeface="Wingdings" pitchFamily="2" charset="2"/>
              <a:buChar char="Ø"/>
            </a:pPr>
            <a:r>
              <a:rPr lang="en-US" sz="3600" b="1" dirty="0"/>
              <a:t>The network was robust, and connections remained intact until the source and destination machines were functioning.</a:t>
            </a:r>
          </a:p>
          <a:p>
            <a:pPr algn="just">
              <a:buNone/>
            </a:pPr>
            <a:endParaRPr lang="en-US" sz="3600" b="1" dirty="0"/>
          </a:p>
          <a:p>
            <a:endParaRPr lang="en-US" sz="3600" b="1" dirty="0"/>
          </a:p>
        </p:txBody>
      </p:sp>
    </p:spTree>
    <p:extLst>
      <p:ext uri="{BB962C8B-B14F-4D97-AF65-F5344CB8AC3E}">
        <p14:creationId xmlns:p14="http://schemas.microsoft.com/office/powerpoint/2010/main" val="2980648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169D1-E69E-6F40-13FF-5E54455735E2}"/>
              </a:ext>
            </a:extLst>
          </p:cNvPr>
          <p:cNvSpPr>
            <a:spLocks noGrp="1"/>
          </p:cNvSpPr>
          <p:nvPr>
            <p:ph type="title"/>
          </p:nvPr>
        </p:nvSpPr>
        <p:spPr/>
        <p:txBody>
          <a:bodyPr/>
          <a:lstStyle/>
          <a:p>
            <a:r>
              <a:rPr lang="en-US" dirty="0"/>
              <a:t>Working of TCP/IP model</a:t>
            </a:r>
          </a:p>
        </p:txBody>
      </p:sp>
      <p:sp>
        <p:nvSpPr>
          <p:cNvPr id="3" name="Content Placeholder 2">
            <a:extLst>
              <a:ext uri="{FF2B5EF4-FFF2-40B4-BE49-F238E27FC236}">
                <a16:creationId xmlns:a16="http://schemas.microsoft.com/office/drawing/2014/main" id="{05AC9452-EACD-4545-0A16-CAA357FC30E7}"/>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Whenever we want to send something over the internet using the TCP/IP Model, the TCP/IP Model divides the data into packets at the sender’s end and the same packets have to be recombined at the receiver’s end to form the same data.</a:t>
            </a:r>
          </a:p>
          <a:p>
            <a:r>
              <a:rPr lang="en-US" dirty="0">
                <a:solidFill>
                  <a:srgbClr val="000000"/>
                </a:solidFill>
                <a:ea typeface="+mn-lt"/>
                <a:cs typeface="+mn-lt"/>
              </a:rPr>
              <a:t> TCP/IP model divides the data into a 4-layer procedure, where the data first go into this layer in one order and again in reverse order to get organized in the same way at the receiver’s end.</a:t>
            </a:r>
            <a:endParaRPr lang="en-US">
              <a:solidFill>
                <a:srgbClr val="000000"/>
              </a:solidFill>
            </a:endParaRPr>
          </a:p>
        </p:txBody>
      </p:sp>
    </p:spTree>
    <p:extLst>
      <p:ext uri="{BB962C8B-B14F-4D97-AF65-F5344CB8AC3E}">
        <p14:creationId xmlns:p14="http://schemas.microsoft.com/office/powerpoint/2010/main" val="3262599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AA8B43DC-D055-AB16-FAA2-B3176ED038D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The TCP/IP Reference Model</a:t>
            </a:r>
          </a:p>
        </p:txBody>
      </p:sp>
      <p:pic>
        <p:nvPicPr>
          <p:cNvPr id="6" name="Content Placeholder 5">
            <a:extLst>
              <a:ext uri="{FF2B5EF4-FFF2-40B4-BE49-F238E27FC236}">
                <a16:creationId xmlns:a16="http://schemas.microsoft.com/office/drawing/2014/main" id="{C597B90F-837B-49E1-F4F1-5BBA6E7C75AE}"/>
              </a:ext>
            </a:extLst>
          </p:cNvPr>
          <p:cNvPicPr>
            <a:picLocks noGrp="1" noChangeAspect="1"/>
          </p:cNvPicPr>
          <p:nvPr>
            <p:ph idx="1"/>
          </p:nvPr>
        </p:nvPicPr>
        <p:blipFill>
          <a:blip r:embed="rId2"/>
          <a:stretch>
            <a:fillRect/>
          </a:stretch>
        </p:blipFill>
        <p:spPr>
          <a:xfrm>
            <a:off x="4777316" y="1020687"/>
            <a:ext cx="6780700" cy="4814296"/>
          </a:xfrm>
          <a:prstGeom prst="rect">
            <a:avLst/>
          </a:prstGeom>
        </p:spPr>
      </p:pic>
    </p:spTree>
    <p:extLst>
      <p:ext uri="{BB962C8B-B14F-4D97-AF65-F5344CB8AC3E}">
        <p14:creationId xmlns:p14="http://schemas.microsoft.com/office/powerpoint/2010/main" val="2925400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279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A3CEE46C-AA42-BF0D-492F-9CD73D2DC296}"/>
              </a:ext>
            </a:extLst>
          </p:cNvPr>
          <p:cNvPicPr>
            <a:picLocks noGrp="1" noChangeAspect="1"/>
          </p:cNvPicPr>
          <p:nvPr>
            <p:ph idx="1"/>
          </p:nvPr>
        </p:nvPicPr>
        <p:blipFill>
          <a:blip r:embed="rId2"/>
          <a:stretch>
            <a:fillRect/>
          </a:stretch>
        </p:blipFill>
        <p:spPr>
          <a:xfrm>
            <a:off x="764835" y="643467"/>
            <a:ext cx="10662330" cy="5571066"/>
          </a:xfrm>
          <a:prstGeom prst="rect">
            <a:avLst/>
          </a:prstGeom>
        </p:spPr>
      </p:pic>
    </p:spTree>
    <p:extLst>
      <p:ext uri="{BB962C8B-B14F-4D97-AF65-F5344CB8AC3E}">
        <p14:creationId xmlns:p14="http://schemas.microsoft.com/office/powerpoint/2010/main" val="3458434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9E89442-0C33-2ADB-5D58-02A5413B311B}"/>
              </a:ext>
            </a:extLst>
          </p:cNvPr>
          <p:cNvPicPr>
            <a:picLocks noGrp="1" noChangeAspect="1"/>
          </p:cNvPicPr>
          <p:nvPr>
            <p:ph idx="1"/>
          </p:nvPr>
        </p:nvPicPr>
        <p:blipFill>
          <a:blip r:embed="rId2"/>
          <a:stretch>
            <a:fillRect/>
          </a:stretch>
        </p:blipFill>
        <p:spPr>
          <a:xfrm>
            <a:off x="524657" y="164893"/>
            <a:ext cx="10912838" cy="6370818"/>
          </a:xfrm>
          <a:prstGeom prst="rect">
            <a:avLst/>
          </a:prstGeom>
        </p:spPr>
      </p:pic>
    </p:spTree>
    <p:extLst>
      <p:ext uri="{BB962C8B-B14F-4D97-AF65-F5344CB8AC3E}">
        <p14:creationId xmlns:p14="http://schemas.microsoft.com/office/powerpoint/2010/main" val="4085726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5E87C-FB6C-6EDD-9AF0-17CEC66A1E27}"/>
              </a:ext>
            </a:extLst>
          </p:cNvPr>
          <p:cNvSpPr>
            <a:spLocks noGrp="1"/>
          </p:cNvSpPr>
          <p:nvPr>
            <p:ph type="title"/>
          </p:nvPr>
        </p:nvSpPr>
        <p:spPr>
          <a:xfrm>
            <a:off x="838200" y="-81190"/>
            <a:ext cx="9688286" cy="1325563"/>
          </a:xfrm>
        </p:spPr>
        <p:txBody>
          <a:bodyPr/>
          <a:lstStyle/>
          <a:p>
            <a:pPr algn="ctr"/>
            <a:r>
              <a:rPr lang="en-IN" dirty="0">
                <a:effectLst/>
                <a:latin typeface="Helvetica" pitchFamily="2" charset="0"/>
              </a:rPr>
              <a:t>Application layer</a:t>
            </a:r>
            <a:br>
              <a:rPr lang="en-IN"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0F9F734F-9A89-0441-DB7E-B5690CFB8514}"/>
              </a:ext>
            </a:extLst>
          </p:cNvPr>
          <p:cNvSpPr>
            <a:spLocks noGrp="1"/>
          </p:cNvSpPr>
          <p:nvPr>
            <p:ph idx="1"/>
          </p:nvPr>
        </p:nvSpPr>
        <p:spPr>
          <a:xfrm>
            <a:off x="838200" y="849086"/>
            <a:ext cx="10428514" cy="5491163"/>
          </a:xfrm>
        </p:spPr>
        <p:txBody>
          <a:bodyPr>
            <a:normAutofit lnSpcReduction="10000"/>
          </a:bodyPr>
          <a:lstStyle/>
          <a:p>
            <a:pPr>
              <a:lnSpc>
                <a:spcPct val="100000"/>
              </a:lnSpc>
            </a:pPr>
            <a:r>
              <a:rPr lang="en-US" sz="2600" dirty="0">
                <a:latin typeface="Helvetica" pitchFamily="2" charset="0"/>
              </a:rPr>
              <a:t>An application layer is the topmost layer in the TCP/IP model.</a:t>
            </a:r>
          </a:p>
          <a:p>
            <a:pPr>
              <a:lnSpc>
                <a:spcPct val="100000"/>
              </a:lnSpc>
            </a:pPr>
            <a:r>
              <a:rPr lang="en-US" sz="2600" dirty="0">
                <a:latin typeface="Helvetica" pitchFamily="2" charset="0"/>
              </a:rPr>
              <a:t>It is responsible for handling high-level protocols, issues of representation.</a:t>
            </a:r>
          </a:p>
          <a:p>
            <a:r>
              <a:rPr lang="en-US" sz="2600" dirty="0">
                <a:ea typeface="+mn-lt"/>
                <a:cs typeface="+mn-lt"/>
              </a:rPr>
              <a:t>This layer allows the user to interact with the application.</a:t>
            </a:r>
            <a:endParaRPr lang="en-IN" sz="2600" dirty="0">
              <a:effectLst/>
              <a:latin typeface="Helvetica" pitchFamily="2" charset="0"/>
            </a:endParaRPr>
          </a:p>
          <a:p>
            <a:pPr>
              <a:buFont typeface="Arial" panose="020B0604020202020204" pitchFamily="34" charset="0"/>
              <a:buChar char="•"/>
            </a:pPr>
            <a:r>
              <a:rPr lang="en-IN" sz="2600" dirty="0">
                <a:effectLst/>
                <a:latin typeface="Helvetica" pitchFamily="2" charset="0"/>
              </a:rPr>
              <a:t>﻿﻿This is the place where high level protocols reside and those protocols include FTP, SMTP, DNS, SNMP and HTTP.</a:t>
            </a:r>
          </a:p>
          <a:p>
            <a:pPr>
              <a:buFont typeface="Arial" panose="020B0604020202020204" pitchFamily="34" charset="0"/>
              <a:buChar char="•"/>
            </a:pPr>
            <a:r>
              <a:rPr lang="en-IN" sz="2600" dirty="0">
                <a:effectLst/>
                <a:latin typeface="Helvetica" pitchFamily="2" charset="0"/>
              </a:rPr>
              <a:t>﻿﻿File Transfer Protocol(FTP) : To permit reliable transfer of files between different platforms. It uses TCP at the transport layer.</a:t>
            </a:r>
          </a:p>
          <a:p>
            <a:pPr>
              <a:buFont typeface="Arial" panose="020B0604020202020204" pitchFamily="34" charset="0"/>
              <a:buChar char="•"/>
            </a:pPr>
            <a:r>
              <a:rPr lang="en-IN" sz="2600" dirty="0">
                <a:effectLst/>
                <a:latin typeface="Helvetica" pitchFamily="2" charset="0"/>
              </a:rPr>
              <a:t>﻿﻿Hyper Text Transfer Protocol(HTTP): Permits applications such as browsers to upload and download web pages. To check reliability, it makes use of TCP at the transport layer. HTTP delivers HTML documents</a:t>
            </a:r>
          </a:p>
          <a:p>
            <a:pPr>
              <a:buFont typeface="Arial" panose="020B0604020202020204" pitchFamily="34" charset="0"/>
              <a:buChar char="•"/>
            </a:pPr>
            <a:r>
              <a:rPr lang="en-IN" sz="2600" dirty="0">
                <a:effectLst/>
                <a:latin typeface="Helvetica" pitchFamily="2" charset="0"/>
              </a:rPr>
              <a:t>﻿﻿Simple Mail Transfer Protocol (SMTP) : Helps to send email to other computers that support TCP/IP protocol suite.</a:t>
            </a:r>
          </a:p>
          <a:p>
            <a:endParaRPr lang="en-US" dirty="0"/>
          </a:p>
        </p:txBody>
      </p:sp>
    </p:spTree>
    <p:extLst>
      <p:ext uri="{BB962C8B-B14F-4D97-AF65-F5344CB8AC3E}">
        <p14:creationId xmlns:p14="http://schemas.microsoft.com/office/powerpoint/2010/main" val="4224512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CBE9C-1B23-E00C-53E1-06CF337A892A}"/>
              </a:ext>
            </a:extLst>
          </p:cNvPr>
          <p:cNvSpPr>
            <a:spLocks noGrp="1"/>
          </p:cNvSpPr>
          <p:nvPr>
            <p:ph type="title"/>
          </p:nvPr>
        </p:nvSpPr>
        <p:spPr/>
        <p:txBody>
          <a:bodyPr/>
          <a:lstStyle/>
          <a:p>
            <a:r>
              <a:rPr lang="en-IN" dirty="0">
                <a:effectLst/>
                <a:latin typeface="Helvetica" pitchFamily="2" charset="0"/>
              </a:rPr>
              <a:t>Application layer</a:t>
            </a:r>
            <a:br>
              <a:rPr lang="en-IN"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6824001F-B820-1E43-4484-6F2BC4F92A38}"/>
              </a:ext>
            </a:extLst>
          </p:cNvPr>
          <p:cNvSpPr>
            <a:spLocks noGrp="1"/>
          </p:cNvSpPr>
          <p:nvPr>
            <p:ph idx="1"/>
          </p:nvPr>
        </p:nvSpPr>
        <p:spPr/>
        <p:txBody>
          <a:bodyPr>
            <a:normAutofit/>
          </a:bodyPr>
          <a:lstStyle/>
          <a:p>
            <a:pPr>
              <a:buFont typeface="Arial" panose="020B0604020202020204" pitchFamily="34" charset="0"/>
              <a:buChar char="•"/>
            </a:pPr>
            <a:endParaRPr lang="en-IN" sz="2600" dirty="0">
              <a:latin typeface="Helvetica" pitchFamily="2" charset="0"/>
            </a:endParaRPr>
          </a:p>
          <a:p>
            <a:pPr>
              <a:buFont typeface="Arial" panose="020B0604020202020204" pitchFamily="34" charset="0"/>
              <a:buChar char="•"/>
            </a:pPr>
            <a:r>
              <a:rPr lang="en-IN" sz="2600" dirty="0">
                <a:latin typeface="Helvetica" pitchFamily="2" charset="0"/>
              </a:rPr>
              <a:t>﻿﻿Domain Name System(DNS) Protocol: Allows the network determine the IP address from name and vice versa</a:t>
            </a:r>
          </a:p>
          <a:p>
            <a:pPr>
              <a:buFont typeface="Arial" panose="020B0604020202020204" pitchFamily="34" charset="0"/>
              <a:buChar char="•"/>
            </a:pPr>
            <a:r>
              <a:rPr lang="en-IN" sz="2600" dirty="0">
                <a:latin typeface="Helvetica" pitchFamily="2" charset="0"/>
              </a:rPr>
              <a:t>﻿﻿Simple Network Management Protocol (SNMP) : For the transport of network management information</a:t>
            </a:r>
          </a:p>
          <a:p>
            <a:pPr>
              <a:buFont typeface="Arial" panose="020B0604020202020204" pitchFamily="34" charset="0"/>
              <a:buChar char="•"/>
            </a:pPr>
            <a:r>
              <a:rPr lang="en-IN" sz="2600" dirty="0">
                <a:latin typeface="Helvetica" pitchFamily="2" charset="0"/>
              </a:rPr>
              <a:t>﻿﻿Telnet Protocol: This is the virtual terminal protocol which allows the user in one machine to log into another machine and work</a:t>
            </a:r>
          </a:p>
          <a:p>
            <a:endParaRPr lang="en-US" dirty="0"/>
          </a:p>
        </p:txBody>
      </p:sp>
    </p:spTree>
    <p:extLst>
      <p:ext uri="{BB962C8B-B14F-4D97-AF65-F5344CB8AC3E}">
        <p14:creationId xmlns:p14="http://schemas.microsoft.com/office/powerpoint/2010/main" val="1644319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A832A-70C2-30BF-A028-0765DAF75372}"/>
              </a:ext>
            </a:extLst>
          </p:cNvPr>
          <p:cNvSpPr>
            <a:spLocks noGrp="1"/>
          </p:cNvSpPr>
          <p:nvPr>
            <p:ph type="title"/>
          </p:nvPr>
        </p:nvSpPr>
        <p:spPr/>
        <p:txBody>
          <a:bodyPr/>
          <a:lstStyle/>
          <a:p>
            <a:r>
              <a:rPr lang="en-IN" dirty="0">
                <a:effectLst/>
                <a:latin typeface="Helvetica" pitchFamily="2" charset="0"/>
              </a:rPr>
              <a:t>Transport Layer</a:t>
            </a:r>
            <a:br>
              <a:rPr lang="en-IN"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20F4838A-727C-080B-9292-402955B92EB8}"/>
              </a:ext>
            </a:extLst>
          </p:cNvPr>
          <p:cNvSpPr>
            <a:spLocks noGrp="1"/>
          </p:cNvSpPr>
          <p:nvPr>
            <p:ph idx="1"/>
          </p:nvPr>
        </p:nvSpPr>
        <p:spPr>
          <a:xfrm>
            <a:off x="838200" y="1262743"/>
            <a:ext cx="10515600" cy="4914220"/>
          </a:xfrm>
        </p:spPr>
        <p:txBody>
          <a:bodyPr>
            <a:normAutofit fontScale="85000" lnSpcReduction="20000"/>
          </a:bodyPr>
          <a:lstStyle/>
          <a:p>
            <a:pPr>
              <a:lnSpc>
                <a:spcPct val="110000"/>
              </a:lnSpc>
            </a:pPr>
            <a:r>
              <a:rPr lang="en-IN" dirty="0">
                <a:effectLst/>
                <a:latin typeface="Helvetica" pitchFamily="2" charset="0"/>
              </a:rPr>
              <a:t>﻿﻿</a:t>
            </a:r>
            <a:r>
              <a:rPr lang="en-IN" dirty="0">
                <a:latin typeface="Helvetica" pitchFamily="2" charset="0"/>
              </a:rPr>
              <a:t>The transport layer is responsible for the transport of data</a:t>
            </a:r>
          </a:p>
          <a:p>
            <a:pPr>
              <a:lnSpc>
                <a:spcPct val="110000"/>
              </a:lnSpc>
            </a:pPr>
            <a:r>
              <a:rPr lang="en-US" dirty="0">
                <a:latin typeface="Helvetica" pitchFamily="2" charset="0"/>
              </a:rPr>
              <a:t>The transport layer is responsible for the reliability, flow control, and correction of data which is being sent over the network.</a:t>
            </a:r>
          </a:p>
          <a:p>
            <a:pPr>
              <a:lnSpc>
                <a:spcPct val="110000"/>
              </a:lnSpc>
            </a:pPr>
            <a:r>
              <a:rPr lang="en-US" dirty="0">
                <a:latin typeface="Helvetica" pitchFamily="2" charset="0"/>
              </a:rPr>
              <a:t>The protocols used in this layer is TCP and UDP</a:t>
            </a:r>
            <a:endParaRPr lang="en-IN" dirty="0">
              <a:latin typeface="Helvetica" pitchFamily="2" charset="0"/>
            </a:endParaRPr>
          </a:p>
          <a:p>
            <a:pPr>
              <a:lnSpc>
                <a:spcPct val="110000"/>
              </a:lnSpc>
            </a:pPr>
            <a:r>
              <a:rPr lang="en-IN" dirty="0">
                <a:latin typeface="Helvetica" pitchFamily="2" charset="0"/>
              </a:rPr>
              <a:t>﻿﻿Transport layer communicates data between two applications running on computers, making use of port numbers</a:t>
            </a:r>
          </a:p>
          <a:p>
            <a:pPr>
              <a:lnSpc>
                <a:spcPct val="110000"/>
              </a:lnSpc>
            </a:pPr>
            <a:r>
              <a:rPr lang="en-IN" dirty="0">
                <a:latin typeface="Helvetica" pitchFamily="2" charset="0"/>
              </a:rPr>
              <a:t>﻿﻿It also incorporates error detection</a:t>
            </a:r>
          </a:p>
          <a:p>
            <a:pPr>
              <a:lnSpc>
                <a:spcPct val="110000"/>
              </a:lnSpc>
            </a:pPr>
            <a:r>
              <a:rPr lang="en-IN" dirty="0">
                <a:latin typeface="Helvetica" pitchFamily="2" charset="0"/>
              </a:rPr>
              <a:t>﻿﻿TCP(Transmission Control Protocol): It is a reliable connection oriented protocol that permits a byte stream originating on machine to be transported without error to any machine in the internet.</a:t>
            </a:r>
          </a:p>
          <a:p>
            <a:pPr>
              <a:lnSpc>
                <a:spcPct val="110000"/>
              </a:lnSpc>
            </a:pPr>
            <a:r>
              <a:rPr lang="en-IN" dirty="0">
                <a:latin typeface="Helvetica" pitchFamily="2" charset="0"/>
              </a:rPr>
              <a:t>﻿﻿UDP(User Datagram Protocol) : It is an unreliable connectionless protocol for applications that do not want TCP's sequencing on flow control.</a:t>
            </a:r>
          </a:p>
          <a:p>
            <a:endParaRPr lang="en-US" dirty="0"/>
          </a:p>
        </p:txBody>
      </p:sp>
    </p:spTree>
    <p:extLst>
      <p:ext uri="{BB962C8B-B14F-4D97-AF65-F5344CB8AC3E}">
        <p14:creationId xmlns:p14="http://schemas.microsoft.com/office/powerpoint/2010/main" val="3776050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78636-DCDE-5CC3-8AA5-CA7237F4C79B}"/>
              </a:ext>
            </a:extLst>
          </p:cNvPr>
          <p:cNvSpPr>
            <a:spLocks noGrp="1"/>
          </p:cNvSpPr>
          <p:nvPr>
            <p:ph type="title"/>
          </p:nvPr>
        </p:nvSpPr>
        <p:spPr>
          <a:xfrm>
            <a:off x="838200" y="27668"/>
            <a:ext cx="10515600" cy="1325563"/>
          </a:xfrm>
        </p:spPr>
        <p:txBody>
          <a:bodyPr/>
          <a:lstStyle/>
          <a:p>
            <a:r>
              <a:rPr lang="en-IN" dirty="0">
                <a:effectLst/>
                <a:latin typeface="Helvetica" pitchFamily="2" charset="0"/>
              </a:rPr>
              <a:t>Internet Layer</a:t>
            </a:r>
            <a:br>
              <a:rPr lang="en-IN"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F339E1E5-E394-6FFC-364E-A3A8FFDF15C2}"/>
              </a:ext>
            </a:extLst>
          </p:cNvPr>
          <p:cNvSpPr>
            <a:spLocks noGrp="1"/>
          </p:cNvSpPr>
          <p:nvPr>
            <p:ph idx="1"/>
          </p:nvPr>
        </p:nvSpPr>
        <p:spPr>
          <a:xfrm>
            <a:off x="838200" y="1066800"/>
            <a:ext cx="10668000" cy="5355771"/>
          </a:xfrm>
        </p:spPr>
        <p:txBody>
          <a:bodyPr>
            <a:normAutofit fontScale="32500" lnSpcReduction="20000"/>
          </a:bodyPr>
          <a:lstStyle/>
          <a:p>
            <a:pPr>
              <a:lnSpc>
                <a:spcPct val="110000"/>
              </a:lnSpc>
            </a:pPr>
            <a:r>
              <a:rPr lang="en-IN" sz="5100" dirty="0">
                <a:latin typeface="Helvetica" pitchFamily="2" charset="0"/>
              </a:rPr>
              <a:t>﻿﻿</a:t>
            </a:r>
            <a:r>
              <a:rPr lang="en-IN" sz="7400" dirty="0">
                <a:latin typeface="Helvetica" pitchFamily="2" charset="0"/>
              </a:rPr>
              <a:t>This layer is responsible for sending packets through different networks</a:t>
            </a:r>
          </a:p>
          <a:p>
            <a:pPr>
              <a:lnSpc>
                <a:spcPct val="110000"/>
              </a:lnSpc>
            </a:pPr>
            <a:r>
              <a:rPr lang="en-US" sz="7400" dirty="0">
                <a:latin typeface="Helvetica" pitchFamily="2" charset="0"/>
              </a:rPr>
              <a:t>An internet layer is the second layer of the TCP/IP model.</a:t>
            </a:r>
          </a:p>
          <a:p>
            <a:pPr>
              <a:lnSpc>
                <a:spcPct val="110000"/>
              </a:lnSpc>
            </a:pPr>
            <a:r>
              <a:rPr lang="en-US" sz="7400" dirty="0">
                <a:latin typeface="Helvetica" pitchFamily="2" charset="0"/>
              </a:rPr>
              <a:t>An internet layer is also known as the network layer.</a:t>
            </a:r>
          </a:p>
          <a:p>
            <a:pPr>
              <a:lnSpc>
                <a:spcPct val="110000"/>
              </a:lnSpc>
            </a:pPr>
            <a:r>
              <a:rPr lang="en-US" sz="7400" dirty="0">
                <a:latin typeface="Helvetica" pitchFamily="2" charset="0"/>
              </a:rPr>
              <a:t>The main responsibility of the internet layer is to send the packets from any network, and they arrive at the destination irrespective of the route they take.</a:t>
            </a:r>
            <a:endParaRPr lang="en-IN" sz="7400" dirty="0">
              <a:latin typeface="Helvetica" pitchFamily="2" charset="0"/>
            </a:endParaRPr>
          </a:p>
          <a:p>
            <a:pPr>
              <a:lnSpc>
                <a:spcPct val="110000"/>
              </a:lnSpc>
            </a:pPr>
            <a:r>
              <a:rPr lang="en-IN" sz="7400" dirty="0">
                <a:latin typeface="Helvetica" pitchFamily="2" charset="0"/>
              </a:rPr>
              <a:t>﻿﻿The internet layer encapsulates the segments from the Transport Layer into envelopes called packets and then determines the path the information is to take across the network</a:t>
            </a:r>
          </a:p>
          <a:p>
            <a:pPr>
              <a:lnSpc>
                <a:spcPct val="110000"/>
              </a:lnSpc>
            </a:pPr>
            <a:r>
              <a:rPr lang="en-IN" sz="7400" dirty="0">
                <a:latin typeface="Helvetica" pitchFamily="2" charset="0"/>
              </a:rPr>
              <a:t>﻿﻿IP(Internet Protocol): Responsible for delivering packets from source to destination by looking at the IP addresses</a:t>
            </a:r>
          </a:p>
          <a:p>
            <a:pPr>
              <a:lnSpc>
                <a:spcPct val="110000"/>
              </a:lnSpc>
            </a:pPr>
            <a:r>
              <a:rPr lang="en-IN" sz="7400" dirty="0">
                <a:latin typeface="Helvetica" pitchFamily="2" charset="0"/>
              </a:rPr>
              <a:t>﻿﻿ARP(address Resolution Protocol): Used to find Ethernet(hardware) address from a specific IP address</a:t>
            </a:r>
          </a:p>
          <a:p>
            <a:endParaRPr lang="en-US" dirty="0"/>
          </a:p>
        </p:txBody>
      </p:sp>
    </p:spTree>
    <p:extLst>
      <p:ext uri="{BB962C8B-B14F-4D97-AF65-F5344CB8AC3E}">
        <p14:creationId xmlns:p14="http://schemas.microsoft.com/office/powerpoint/2010/main" val="20925864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76F2CA-766D-64F6-AB37-8EF6A096429A}"/>
              </a:ext>
            </a:extLst>
          </p:cNvPr>
          <p:cNvSpPr>
            <a:spLocks noGrp="1"/>
          </p:cNvSpPr>
          <p:nvPr>
            <p:ph idx="1"/>
          </p:nvPr>
        </p:nvSpPr>
        <p:spPr>
          <a:xfrm>
            <a:off x="838200" y="1055914"/>
            <a:ext cx="10515600" cy="5121049"/>
          </a:xfrm>
        </p:spPr>
        <p:txBody>
          <a:bodyPr/>
          <a:lstStyle/>
          <a:p>
            <a:r>
              <a:rPr lang="en-IN" dirty="0">
                <a:effectLst/>
                <a:latin typeface="Helvetica" pitchFamily="2" charset="0"/>
              </a:rPr>
              <a:t>﻿﻿</a:t>
            </a:r>
            <a:r>
              <a:rPr lang="en-IN" dirty="0">
                <a:latin typeface="Helvetica" pitchFamily="2" charset="0"/>
              </a:rPr>
              <a:t>ICMP(Internet Control Message Protocol) : Provides management and error reporting to help manage the process of sending data between computers</a:t>
            </a:r>
          </a:p>
          <a:p>
            <a:r>
              <a:rPr lang="en-IN" dirty="0">
                <a:latin typeface="Helvetica" pitchFamily="2" charset="0"/>
              </a:rPr>
              <a:t>﻿﻿IGMP(Internet Group Message Protocol): Supports multicasting</a:t>
            </a:r>
          </a:p>
          <a:p>
            <a:r>
              <a:rPr lang="en-IN" dirty="0">
                <a:latin typeface="Helvetica" pitchFamily="2" charset="0"/>
              </a:rPr>
              <a:t>﻿﻿RARP(Reverse Address Resolution Protocol) : Allows a computer without a logical permanent data storage media to determine its IP</a:t>
            </a:r>
            <a:br>
              <a:rPr lang="en-IN" dirty="0">
                <a:latin typeface="Helvetica" pitchFamily="2" charset="0"/>
              </a:rPr>
            </a:br>
            <a:r>
              <a:rPr lang="en-IN" dirty="0">
                <a:latin typeface="Helvetica" pitchFamily="2" charset="0"/>
              </a:rPr>
              <a:t>address from its Ethernet address</a:t>
            </a:r>
          </a:p>
          <a:p>
            <a:endParaRPr lang="en-US" dirty="0"/>
          </a:p>
        </p:txBody>
      </p:sp>
    </p:spTree>
    <p:extLst>
      <p:ext uri="{BB962C8B-B14F-4D97-AF65-F5344CB8AC3E}">
        <p14:creationId xmlns:p14="http://schemas.microsoft.com/office/powerpoint/2010/main" val="2391577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25CD1-EBD0-481A-C71A-9A18FE64AD6B}"/>
              </a:ext>
            </a:extLst>
          </p:cNvPr>
          <p:cNvSpPr>
            <a:spLocks noGrp="1"/>
          </p:cNvSpPr>
          <p:nvPr>
            <p:ph type="title"/>
          </p:nvPr>
        </p:nvSpPr>
        <p:spPr>
          <a:xfrm>
            <a:off x="838200" y="-15873"/>
            <a:ext cx="10515600" cy="1325563"/>
          </a:xfrm>
        </p:spPr>
        <p:txBody>
          <a:bodyPr/>
          <a:lstStyle/>
          <a:p>
            <a:r>
              <a:rPr lang="en-IN" dirty="0">
                <a:effectLst/>
                <a:latin typeface="Helvetica" pitchFamily="2" charset="0"/>
              </a:rPr>
              <a:t>Link Layer or Network Access Layer</a:t>
            </a:r>
            <a:br>
              <a:rPr lang="en-IN"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4F2CA39E-3960-F810-9CC2-105C83735530}"/>
              </a:ext>
            </a:extLst>
          </p:cNvPr>
          <p:cNvSpPr>
            <a:spLocks noGrp="1"/>
          </p:cNvSpPr>
          <p:nvPr>
            <p:ph idx="1"/>
          </p:nvPr>
        </p:nvSpPr>
        <p:spPr>
          <a:xfrm>
            <a:off x="838201" y="1023257"/>
            <a:ext cx="10232570" cy="5143047"/>
          </a:xfrm>
        </p:spPr>
        <p:txBody>
          <a:bodyPr>
            <a:normAutofit fontScale="25000" lnSpcReduction="20000"/>
          </a:bodyPr>
          <a:lstStyle/>
          <a:p>
            <a:pPr>
              <a:lnSpc>
                <a:spcPct val="120000"/>
              </a:lnSpc>
            </a:pPr>
            <a:r>
              <a:rPr lang="en-IN" sz="7200" dirty="0">
                <a:latin typeface="Helvetica" pitchFamily="2" charset="0"/>
              </a:rPr>
              <a:t>﻿</a:t>
            </a:r>
            <a:r>
              <a:rPr lang="en-US" sz="9600" dirty="0">
                <a:latin typeface="Helvetica" pitchFamily="2" charset="0"/>
              </a:rPr>
              <a:t>A network layer is the combination of the Physical layer and Data Link layer defined in the OSI reference model.</a:t>
            </a:r>
          </a:p>
          <a:p>
            <a:pPr>
              <a:lnSpc>
                <a:spcPct val="120000"/>
              </a:lnSpc>
            </a:pPr>
            <a:r>
              <a:rPr lang="en-US" sz="9600" dirty="0">
                <a:latin typeface="Helvetica" pitchFamily="2" charset="0"/>
              </a:rPr>
              <a:t>It defines how the data should be sent physically through the network.</a:t>
            </a:r>
          </a:p>
          <a:p>
            <a:pPr>
              <a:lnSpc>
                <a:spcPct val="120000"/>
              </a:lnSpc>
            </a:pPr>
            <a:r>
              <a:rPr lang="en-US" sz="9600" dirty="0">
                <a:latin typeface="Helvetica" pitchFamily="2" charset="0"/>
              </a:rPr>
              <a:t>This layer is mainly responsible for the transmission of the data between two devices on the same network.</a:t>
            </a:r>
            <a:endParaRPr lang="en-IN" sz="9600" dirty="0">
              <a:latin typeface="Helvetica" pitchFamily="2" charset="0"/>
            </a:endParaRPr>
          </a:p>
          <a:p>
            <a:pPr>
              <a:lnSpc>
                <a:spcPct val="120000"/>
              </a:lnSpc>
              <a:buFont typeface="Arial" panose="020B0604020202020204" pitchFamily="34" charset="0"/>
              <a:buChar char="•"/>
            </a:pPr>
            <a:r>
              <a:rPr lang="en-IN" sz="9600" dirty="0">
                <a:latin typeface="Helvetica" pitchFamily="2" charset="0"/>
              </a:rPr>
              <a:t>﻿The link layer offers the ability to access the physical network to transmit data</a:t>
            </a:r>
          </a:p>
          <a:p>
            <a:pPr>
              <a:lnSpc>
                <a:spcPct val="120000"/>
              </a:lnSpc>
              <a:buFont typeface="Arial" panose="020B0604020202020204" pitchFamily="34" charset="0"/>
              <a:buChar char="•"/>
            </a:pPr>
            <a:r>
              <a:rPr lang="en-IN" sz="9600" dirty="0">
                <a:latin typeface="Helvetica" pitchFamily="2" charset="0"/>
              </a:rPr>
              <a:t>﻿﻿Breaks down the packets from the Internet layer into frames and then eventually into bits for transmission across the physical network medium</a:t>
            </a:r>
          </a:p>
          <a:p>
            <a:pPr>
              <a:lnSpc>
                <a:spcPct val="120000"/>
              </a:lnSpc>
              <a:buFont typeface="Arial" panose="020B0604020202020204" pitchFamily="34" charset="0"/>
              <a:buChar char="•"/>
            </a:pPr>
            <a:r>
              <a:rPr lang="en-IN" sz="9600" dirty="0">
                <a:latin typeface="Helvetica" pitchFamily="2" charset="0"/>
              </a:rPr>
              <a:t>﻿﻿Contains all specifications relating to the transmission of data over a physical network</a:t>
            </a:r>
          </a:p>
          <a:p>
            <a:pPr>
              <a:lnSpc>
                <a:spcPct val="120000"/>
              </a:lnSpc>
              <a:buFont typeface="Arial" panose="020B0604020202020204" pitchFamily="34" charset="0"/>
              <a:buChar char="•"/>
            </a:pPr>
            <a:r>
              <a:rPr lang="en-IN" sz="9600" dirty="0">
                <a:latin typeface="Helvetica" pitchFamily="2" charset="0"/>
              </a:rPr>
              <a:t>﻿﻿Routing and synchronizing data over a network, checking data formats, converting signals and error detection in the transmitted data</a:t>
            </a:r>
          </a:p>
          <a:p>
            <a:endParaRPr lang="en-US" dirty="0"/>
          </a:p>
        </p:txBody>
      </p:sp>
    </p:spTree>
    <p:extLst>
      <p:ext uri="{BB962C8B-B14F-4D97-AF65-F5344CB8AC3E}">
        <p14:creationId xmlns:p14="http://schemas.microsoft.com/office/powerpoint/2010/main" val="6783830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06B8BF-07E6-C417-9CC3-2CF0A725F0EA}"/>
              </a:ext>
            </a:extLst>
          </p:cNvPr>
          <p:cNvSpPr>
            <a:spLocks noGrp="1"/>
          </p:cNvSpPr>
          <p:nvPr>
            <p:ph idx="1"/>
          </p:nvPr>
        </p:nvSpPr>
        <p:spPr/>
        <p:txBody>
          <a:bodyPr/>
          <a:lstStyle/>
          <a:p>
            <a:pPr>
              <a:buFont typeface="Arial" panose="020B0604020202020204" pitchFamily="34" charset="0"/>
              <a:buChar char="•"/>
            </a:pPr>
            <a:r>
              <a:rPr lang="en-IN" dirty="0" err="1">
                <a:effectLst/>
                <a:latin typeface="Helvetica" pitchFamily="2" charset="0"/>
              </a:rPr>
              <a:t>Signaling</a:t>
            </a:r>
            <a:r>
              <a:rPr lang="en-IN" dirty="0">
                <a:effectLst/>
                <a:latin typeface="Helvetica" pitchFamily="2" charset="0"/>
              </a:rPr>
              <a:t> and network medium standards such as Ethernet, Token ring, FDDI, X.25, Frame Relay, Point-to-Point Protocol (PPP), RS 232 etc. are defined in this layer</a:t>
            </a:r>
          </a:p>
          <a:p>
            <a:pPr>
              <a:buFont typeface="Arial" panose="020B0604020202020204" pitchFamily="34" charset="0"/>
              <a:buChar char="•"/>
            </a:pPr>
            <a:r>
              <a:rPr lang="en-IN" dirty="0">
                <a:effectLst/>
                <a:latin typeface="Helvetica" pitchFamily="2" charset="0"/>
              </a:rPr>
              <a:t>﻿﻿Network Interface Cards, hubs, repeaters, switches etc. operate at this layer</a:t>
            </a:r>
          </a:p>
          <a:p>
            <a:pPr marL="0" indent="0">
              <a:buNone/>
            </a:pPr>
            <a:endParaRPr lang="en-US" dirty="0"/>
          </a:p>
        </p:txBody>
      </p:sp>
    </p:spTree>
    <p:extLst>
      <p:ext uri="{BB962C8B-B14F-4D97-AF65-F5344CB8AC3E}">
        <p14:creationId xmlns:p14="http://schemas.microsoft.com/office/powerpoint/2010/main" val="12471629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28700" y="1967266"/>
            <a:ext cx="2628900" cy="2547257"/>
          </a:xfrm>
          <a:noFill/>
        </p:spPr>
        <p:txBody>
          <a:bodyPr vert="horz" lIns="91440" tIns="45720" rIns="91440" bIns="45720" rtlCol="0" anchor="ctr">
            <a:normAutofit/>
          </a:bodyPr>
          <a:lstStyle/>
          <a:p>
            <a:r>
              <a:rPr lang="en-US" sz="2800" kern="1200">
                <a:solidFill>
                  <a:srgbClr val="FFFFFF"/>
                </a:solidFill>
                <a:latin typeface="+mj-lt"/>
                <a:ea typeface="+mj-ea"/>
                <a:cs typeface="+mj-cs"/>
              </a:rPr>
              <a:t>Diagrammatic Comparison between OSI Reference Model and TCP/IP Reference Model</a:t>
            </a:r>
          </a:p>
        </p:txBody>
      </p:sp>
      <p:pic>
        <p:nvPicPr>
          <p:cNvPr id="1026" name="Picture 2" descr="between OSI (7 layers) and TCP/IP (4 layers) Model"/>
          <p:cNvPicPr>
            <a:picLocks noChangeAspect="1" noChangeArrowheads="1"/>
          </p:cNvPicPr>
          <p:nvPr/>
        </p:nvPicPr>
        <p:blipFill>
          <a:blip r:embed="rId2" cstate="print"/>
          <a:stretch>
            <a:fillRect/>
          </a:stretch>
        </p:blipFill>
        <p:spPr bwMode="auto">
          <a:xfrm>
            <a:off x="4527804" y="209862"/>
            <a:ext cx="7209493" cy="6325849"/>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9389" y="762001"/>
            <a:ext cx="10882859" cy="5668779"/>
          </a:xfrm>
        </p:spPr>
        <p:txBody>
          <a:bodyPr/>
          <a:lstStyle/>
          <a:p>
            <a:pPr algn="just">
              <a:buNone/>
            </a:pPr>
            <a:r>
              <a:rPr lang="en-US" dirty="0"/>
              <a:t>	Following are some </a:t>
            </a:r>
            <a:r>
              <a:rPr lang="en-US" b="1" dirty="0"/>
              <a:t>similarities</a:t>
            </a:r>
            <a:r>
              <a:rPr lang="en-US" dirty="0"/>
              <a:t> between OSI Reference Model and TCP/IP Reference Model.</a:t>
            </a:r>
          </a:p>
          <a:p>
            <a:pPr algn="just">
              <a:buNone/>
            </a:pPr>
            <a:endParaRPr lang="en-US" dirty="0"/>
          </a:p>
          <a:p>
            <a:r>
              <a:rPr lang="en-US" sz="3600" dirty="0"/>
              <a:t>Both have layered architecture.</a:t>
            </a:r>
          </a:p>
          <a:p>
            <a:r>
              <a:rPr lang="en-US" sz="3600" dirty="0"/>
              <a:t>Layers provide similar functionalities.</a:t>
            </a:r>
          </a:p>
          <a:p>
            <a:r>
              <a:rPr lang="en-US" sz="3600" dirty="0"/>
              <a:t>Both are protocol stack.</a:t>
            </a:r>
          </a:p>
          <a:p>
            <a:r>
              <a:rPr lang="en-US" sz="3600" dirty="0"/>
              <a:t>Both are reference models.</a:t>
            </a:r>
          </a:p>
          <a:p>
            <a:pPr>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2590800"/>
            <a:ext cx="8229600" cy="1143000"/>
          </a:xfrm>
        </p:spPr>
        <p:txBody>
          <a:bodyPr>
            <a:normAutofit fontScale="90000"/>
          </a:bodyPr>
          <a:lstStyle/>
          <a:p>
            <a:r>
              <a:rPr lang="en-US" dirty="0">
                <a:solidFill>
                  <a:srgbClr val="FF0000"/>
                </a:solidFill>
              </a:rPr>
              <a:t>Difference between OSI and TCP/IP Reference Model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129795170"/>
              </p:ext>
            </p:extLst>
          </p:nvPr>
        </p:nvGraphicFramePr>
        <p:xfrm>
          <a:off x="643467" y="254833"/>
          <a:ext cx="10905066" cy="6205928"/>
        </p:xfrm>
        <a:graphic>
          <a:graphicData uri="http://schemas.openxmlformats.org/drawingml/2006/table">
            <a:tbl>
              <a:tblPr firstRow="1" bandRow="1"/>
              <a:tblGrid>
                <a:gridCol w="5452533">
                  <a:extLst>
                    <a:ext uri="{9D8B030D-6E8A-4147-A177-3AD203B41FA5}">
                      <a16:colId xmlns:a16="http://schemas.microsoft.com/office/drawing/2014/main" val="20000"/>
                    </a:ext>
                  </a:extLst>
                </a:gridCol>
                <a:gridCol w="5452533">
                  <a:extLst>
                    <a:ext uri="{9D8B030D-6E8A-4147-A177-3AD203B41FA5}">
                      <a16:colId xmlns:a16="http://schemas.microsoft.com/office/drawing/2014/main" val="20001"/>
                    </a:ext>
                  </a:extLst>
                </a:gridCol>
              </a:tblGrid>
              <a:tr h="855659">
                <a:tc>
                  <a:txBody>
                    <a:bodyPr/>
                    <a:lstStyle/>
                    <a:p>
                      <a:pPr algn="l" fontAlgn="t"/>
                      <a:r>
                        <a:rPr lang="en-US" sz="1900" b="1">
                          <a:solidFill>
                            <a:srgbClr val="C00000"/>
                          </a:solidFill>
                        </a:rPr>
                        <a:t>OSI(Open System Interconnection)</a:t>
                      </a:r>
                    </a:p>
                  </a:txBody>
                  <a:tcPr marL="42924" marR="42924" marT="42924" marB="42924">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900" b="1">
                          <a:solidFill>
                            <a:srgbClr val="C00000"/>
                          </a:solidFill>
                        </a:rPr>
                        <a:t>TCP/IP(Transmission Control Protocol / Internet Protocol) </a:t>
                      </a:r>
                    </a:p>
                  </a:txBody>
                  <a:tcPr marL="42924" marR="42924" marT="42924" marB="42924">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1927633">
                <a:tc>
                  <a:txBody>
                    <a:bodyPr/>
                    <a:lstStyle/>
                    <a:p>
                      <a:pPr algn="just" fontAlgn="t"/>
                      <a:r>
                        <a:rPr lang="en-US" sz="1900" b="1" dirty="0"/>
                        <a:t>1. OSI is a generic, protocol independent standard, acting as a communication gateway between the network and end user.</a:t>
                      </a:r>
                    </a:p>
                  </a:txBody>
                  <a:tcPr marL="42924" marR="42924" marT="42924" marB="42924">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tcPr>
                </a:tc>
                <a:tc>
                  <a:txBody>
                    <a:bodyPr/>
                    <a:lstStyle/>
                    <a:p>
                      <a:pPr algn="just" fontAlgn="t"/>
                      <a:r>
                        <a:rPr lang="en-US" sz="1900" b="1"/>
                        <a:t>1. TCP/IP model is based on standard protocols around which the Internet has developed. It is a communication protocol, which allows connection of hosts over a network.</a:t>
                      </a:r>
                    </a:p>
                  </a:txBody>
                  <a:tcPr marL="42924" marR="42924" marT="42924" marB="42924">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1212984">
                <a:tc>
                  <a:txBody>
                    <a:bodyPr/>
                    <a:lstStyle/>
                    <a:p>
                      <a:pPr algn="just" fontAlgn="t"/>
                      <a:r>
                        <a:rPr lang="en-US" sz="1900" b="1"/>
                        <a:t>2. In OSI model the transport layer guarantees the delivery of packets.</a:t>
                      </a:r>
                    </a:p>
                  </a:txBody>
                  <a:tcPr marL="42924" marR="42924" marT="42924" marB="42924">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tc>
                  <a:txBody>
                    <a:bodyPr/>
                    <a:lstStyle/>
                    <a:p>
                      <a:pPr algn="just" fontAlgn="t"/>
                      <a:r>
                        <a:rPr lang="en-US" sz="1900" b="1"/>
                        <a:t>2. In TCP/IP model the transport layer does not guarantees delivery of packets. Still the TCP/IP model is more reliable.</a:t>
                      </a:r>
                    </a:p>
                  </a:txBody>
                  <a:tcPr marL="42924" marR="42924" marT="42924" marB="42924">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498334">
                <a:tc>
                  <a:txBody>
                    <a:bodyPr/>
                    <a:lstStyle/>
                    <a:p>
                      <a:pPr algn="just" fontAlgn="t"/>
                      <a:r>
                        <a:rPr lang="en-US" sz="1900" b="1"/>
                        <a:t>3. Follows vertical approach.</a:t>
                      </a:r>
                    </a:p>
                  </a:txBody>
                  <a:tcPr marL="42924" marR="42924" marT="42924" marB="42924">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tcPr>
                </a:tc>
                <a:tc>
                  <a:txBody>
                    <a:bodyPr/>
                    <a:lstStyle/>
                    <a:p>
                      <a:pPr algn="just" fontAlgn="t"/>
                      <a:r>
                        <a:rPr lang="en-US" sz="1900" b="1"/>
                        <a:t>3. Follows horizontal approach.</a:t>
                      </a:r>
                    </a:p>
                  </a:txBody>
                  <a:tcPr marL="42924" marR="42924" marT="42924" marB="42924">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855659">
                <a:tc>
                  <a:txBody>
                    <a:bodyPr/>
                    <a:lstStyle/>
                    <a:p>
                      <a:pPr algn="just" fontAlgn="t"/>
                      <a:r>
                        <a:rPr lang="en-US" sz="1900" b="1"/>
                        <a:t>4. OSI model has a separate Presentation layer and Session layer.</a:t>
                      </a:r>
                    </a:p>
                  </a:txBody>
                  <a:tcPr marL="42924" marR="42924" marT="42924" marB="42924">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tc>
                  <a:txBody>
                    <a:bodyPr/>
                    <a:lstStyle/>
                    <a:p>
                      <a:pPr algn="just" fontAlgn="t"/>
                      <a:r>
                        <a:rPr lang="en-US" sz="1900" b="1"/>
                        <a:t>4. TCP/IP does not have a separate Presentation layer or Session layer.</a:t>
                      </a:r>
                    </a:p>
                  </a:txBody>
                  <a:tcPr marL="42924" marR="42924" marT="42924" marB="42924">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r h="855659">
                <a:tc>
                  <a:txBody>
                    <a:bodyPr/>
                    <a:lstStyle/>
                    <a:p>
                      <a:pPr algn="just" fontAlgn="t"/>
                      <a:r>
                        <a:rPr lang="en-US" sz="1900" b="1"/>
                        <a:t>5. Transport Layer is Connection Oriented.</a:t>
                      </a:r>
                    </a:p>
                  </a:txBody>
                  <a:tcPr marL="42924" marR="42924" marT="42924" marB="42924">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tcPr>
                </a:tc>
                <a:tc>
                  <a:txBody>
                    <a:bodyPr/>
                    <a:lstStyle/>
                    <a:p>
                      <a:pPr algn="just" fontAlgn="t"/>
                      <a:r>
                        <a:rPr lang="en-US" sz="1900" b="1" dirty="0"/>
                        <a:t>5. Transport Layer is both Connection Oriented and Connection less.</a:t>
                      </a:r>
                    </a:p>
                  </a:txBody>
                  <a:tcPr marL="42924" marR="42924" marT="42924" marB="42924">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623925728"/>
              </p:ext>
            </p:extLst>
          </p:nvPr>
        </p:nvGraphicFramePr>
        <p:xfrm>
          <a:off x="643467" y="164893"/>
          <a:ext cx="10905067" cy="6505730"/>
        </p:xfrm>
        <a:graphic>
          <a:graphicData uri="http://schemas.openxmlformats.org/drawingml/2006/table">
            <a:tbl>
              <a:tblPr firstRow="1" bandRow="1"/>
              <a:tblGrid>
                <a:gridCol w="5415626">
                  <a:extLst>
                    <a:ext uri="{9D8B030D-6E8A-4147-A177-3AD203B41FA5}">
                      <a16:colId xmlns:a16="http://schemas.microsoft.com/office/drawing/2014/main" val="20000"/>
                    </a:ext>
                  </a:extLst>
                </a:gridCol>
                <a:gridCol w="5489441">
                  <a:extLst>
                    <a:ext uri="{9D8B030D-6E8A-4147-A177-3AD203B41FA5}">
                      <a16:colId xmlns:a16="http://schemas.microsoft.com/office/drawing/2014/main" val="20001"/>
                    </a:ext>
                  </a:extLst>
                </a:gridCol>
              </a:tblGrid>
              <a:tr h="786331">
                <a:tc>
                  <a:txBody>
                    <a:bodyPr/>
                    <a:lstStyle/>
                    <a:p>
                      <a:pPr algn="l" fontAlgn="t"/>
                      <a:r>
                        <a:rPr lang="en-US" sz="1800" b="1"/>
                        <a:t>6. Network Layer is both Connection Oriented and Connection less.</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800" b="1"/>
                        <a:t>6. Network Layer is Connection less.</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1120135">
                <a:tc>
                  <a:txBody>
                    <a:bodyPr/>
                    <a:lstStyle/>
                    <a:p>
                      <a:pPr algn="l" fontAlgn="t"/>
                      <a:r>
                        <a:rPr lang="en-US" sz="1800" b="1"/>
                        <a:t>7. OSI is a reference model around which the networks are built. Generally it is used as a guidance tool.</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tcPr>
                </a:tc>
                <a:tc>
                  <a:txBody>
                    <a:bodyPr/>
                    <a:lstStyle/>
                    <a:p>
                      <a:pPr algn="l" fontAlgn="t"/>
                      <a:r>
                        <a:rPr lang="en-US" sz="1800" b="1"/>
                        <a:t>7. TCP/IP model is, in a way implementation of the OSI model.</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1120135">
                <a:tc>
                  <a:txBody>
                    <a:bodyPr/>
                    <a:lstStyle/>
                    <a:p>
                      <a:pPr algn="l" fontAlgn="t"/>
                      <a:r>
                        <a:rPr lang="en-US" sz="1800" b="1"/>
                        <a:t>8. Network layer of OSI model provides both connection oriented and connectionless service. </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800" b="1"/>
                        <a:t>8. The Network layer in TCP/IP model provides connectionless service.</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786331">
                <a:tc>
                  <a:txBody>
                    <a:bodyPr/>
                    <a:lstStyle/>
                    <a:p>
                      <a:pPr algn="l" fontAlgn="t"/>
                      <a:r>
                        <a:rPr lang="en-US" sz="1800" b="1"/>
                        <a:t>9. OSI model has a problem of fitting the protocols into the model.</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tcPr>
                </a:tc>
                <a:tc>
                  <a:txBody>
                    <a:bodyPr/>
                    <a:lstStyle/>
                    <a:p>
                      <a:pPr algn="l" fontAlgn="t"/>
                      <a:r>
                        <a:rPr lang="en-US" sz="1800" b="1"/>
                        <a:t>9. TCP/IP model does not fit any protocol</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786331">
                <a:tc>
                  <a:txBody>
                    <a:bodyPr/>
                    <a:lstStyle/>
                    <a:p>
                      <a:pPr algn="l" fontAlgn="t"/>
                      <a:r>
                        <a:rPr lang="en-US" sz="1800" b="1" dirty="0"/>
                        <a:t>10. Protocols are hidden in OSI model and are easily replaced as the technology changes. </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800" b="1"/>
                        <a:t>10. In TCP/IP replacing protocol is not easy.</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r h="1453939">
                <a:tc>
                  <a:txBody>
                    <a:bodyPr/>
                    <a:lstStyle/>
                    <a:p>
                      <a:pPr algn="l" fontAlgn="t"/>
                      <a:r>
                        <a:rPr lang="en-US" sz="1800" b="1"/>
                        <a:t>11. OSI model defines services, interfaces and protocols very clearly and makes clear distinction between them. It is protocol independent.</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tcPr>
                </a:tc>
                <a:tc>
                  <a:txBody>
                    <a:bodyPr/>
                    <a:lstStyle/>
                    <a:p>
                      <a:pPr algn="l" fontAlgn="t"/>
                      <a:r>
                        <a:rPr lang="en-US" sz="1800" b="1"/>
                        <a:t>11. In TCP/IP, services, interfaces and protocols are not clearly separated. It is also protocol dependent.</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452528">
                <a:tc>
                  <a:txBody>
                    <a:bodyPr/>
                    <a:lstStyle/>
                    <a:p>
                      <a:pPr algn="l" fontAlgn="t"/>
                      <a:r>
                        <a:rPr lang="en-US" sz="1800" b="1"/>
                        <a:t>12. It has 7 layers</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800" b="1" dirty="0"/>
                        <a:t>12. It has 4 layers</a:t>
                      </a:r>
                    </a:p>
                  </a:txBody>
                  <a:tcPr marL="35703" marR="35703" marT="35703" marB="35703">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968AE025085A4381B5FE55A4B7B3DB" ma:contentTypeVersion="3" ma:contentTypeDescription="Create a new document." ma:contentTypeScope="" ma:versionID="bd89c5ba67f969997ddc75c00e52ceb6">
  <xsd:schema xmlns:xsd="http://www.w3.org/2001/XMLSchema" xmlns:xs="http://www.w3.org/2001/XMLSchema" xmlns:p="http://schemas.microsoft.com/office/2006/metadata/properties" xmlns:ns2="9491888e-085e-4340-beca-492653a9b978" targetNamespace="http://schemas.microsoft.com/office/2006/metadata/properties" ma:root="true" ma:fieldsID="9456090e7249331ed3f7fa7a4e50cd65" ns2:_="">
    <xsd:import namespace="9491888e-085e-4340-beca-492653a9b97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91888e-085e-4340-beca-492653a9b9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F237748-518E-4DAE-AA11-470998500675}"/>
</file>

<file path=customXml/itemProps2.xml><?xml version="1.0" encoding="utf-8"?>
<ds:datastoreItem xmlns:ds="http://schemas.openxmlformats.org/officeDocument/2006/customXml" ds:itemID="{44007FC6-365B-4053-A13E-764870B6CB82}"/>
</file>

<file path=customXml/itemProps3.xml><?xml version="1.0" encoding="utf-8"?>
<ds:datastoreItem xmlns:ds="http://schemas.openxmlformats.org/officeDocument/2006/customXml" ds:itemID="{B837828C-7088-4982-8890-102156ECC695}"/>
</file>

<file path=docProps/app.xml><?xml version="1.0" encoding="utf-8"?>
<Properties xmlns="http://schemas.openxmlformats.org/officeDocument/2006/extended-properties" xmlns:vt="http://schemas.openxmlformats.org/officeDocument/2006/docPropsVTypes">
  <Template>office theme</Template>
  <TotalTime>81</TotalTime>
  <Words>2455</Words>
  <Application>Microsoft Macintosh PowerPoint</Application>
  <PresentationFormat>Widescreen</PresentationFormat>
  <Paragraphs>151</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Aptos</vt:lpstr>
      <vt:lpstr>Aptos Display</vt:lpstr>
      <vt:lpstr>Arial</vt:lpstr>
      <vt:lpstr>Calibri</vt:lpstr>
      <vt:lpstr>Helvetica</vt:lpstr>
      <vt:lpstr>Wingdings</vt:lpstr>
      <vt:lpstr>office theme</vt:lpstr>
      <vt:lpstr>Computer Networks 21CSA212</vt:lpstr>
      <vt:lpstr>Computer Network Models</vt:lpstr>
      <vt:lpstr>PowerPoint Presentation</vt:lpstr>
      <vt:lpstr>Layered Architecture</vt:lpstr>
      <vt:lpstr>Need for layered architecture</vt:lpstr>
      <vt:lpstr>Need for layered architecture</vt:lpstr>
      <vt:lpstr>The OSI model</vt:lpstr>
      <vt:lpstr>The OSI Model</vt:lpstr>
      <vt:lpstr>Layers of OSI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TCP/IP Reference Model/Internet Protocol Suite</vt:lpstr>
      <vt:lpstr>PowerPoint Presentation</vt:lpstr>
      <vt:lpstr>PowerPoint Presentation</vt:lpstr>
      <vt:lpstr>PowerPoint Presentation</vt:lpstr>
      <vt:lpstr>PowerPoint Presentation</vt:lpstr>
      <vt:lpstr>Working of TCP/IP model</vt:lpstr>
      <vt:lpstr>The TCP/IP Reference Model</vt:lpstr>
      <vt:lpstr>PowerPoint Presentation</vt:lpstr>
      <vt:lpstr>PowerPoint Presentation</vt:lpstr>
      <vt:lpstr>Application layer </vt:lpstr>
      <vt:lpstr>Application layer </vt:lpstr>
      <vt:lpstr>Transport Layer </vt:lpstr>
      <vt:lpstr>Internet Layer </vt:lpstr>
      <vt:lpstr>PowerPoint Presentation</vt:lpstr>
      <vt:lpstr>Link Layer or Network Access Layer </vt:lpstr>
      <vt:lpstr>PowerPoint Presentation</vt:lpstr>
      <vt:lpstr>Diagrammatic Comparison between OSI Reference Model and TCP/IP Reference Model</vt:lpstr>
      <vt:lpstr>PowerPoint Presentation</vt:lpstr>
      <vt:lpstr>Difference between OSI and TCP/IP Reference Model</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Anupama K N</cp:lastModifiedBy>
  <cp:revision>295</cp:revision>
  <dcterms:created xsi:type="dcterms:W3CDTF">2024-01-26T16:21:44Z</dcterms:created>
  <dcterms:modified xsi:type="dcterms:W3CDTF">2025-01-27T08:12:20Z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0x01010082968AE025085A4381B5FE55A4B7B3DB</vt:lpwstr>
  </property>
</Properties>
</file>