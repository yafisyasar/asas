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entation.xml" ContentType="application/vnd.openxmlformats-officedocument.presentationml.presentation.main+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10.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5" r:id="rId3"/>
    <p:sldId id="276" r:id="rId4"/>
    <p:sldId id="277" r:id="rId5"/>
    <p:sldId id="278" r:id="rId6"/>
    <p:sldId id="279" r:id="rId7"/>
    <p:sldId id="280" r:id="rId8"/>
    <p:sldId id="281" r:id="rId9"/>
    <p:sldId id="282" r:id="rId10"/>
    <p:sldId id="283" r:id="rId11"/>
    <p:sldId id="284" r:id="rId12"/>
    <p:sldId id="28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2"/>
    <p:restoredTop sz="94630"/>
  </p:normalViewPr>
  <p:slideViewPr>
    <p:cSldViewPr snapToGrid="0">
      <p:cViewPr varScale="1">
        <p:scale>
          <a:sx n="93" d="100"/>
          <a:sy n="93" d="100"/>
        </p:scale>
        <p:origin x="216" y="6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FB094-8EA6-DB1F-73E3-D570B16FFDB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5A9537A-7B3C-C972-0FC6-D686154A51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2740C52-3BBF-640E-2CA1-336331C70226}"/>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2CB4F66D-6C7A-61E0-DF0B-8E4FDD9D27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A60900-09B4-1A71-F047-9C58CF753656}"/>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1756781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66890-088C-3203-2D31-BAE81BA9284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2FAD1C8-88BF-A3B2-5264-C80B005194F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21C0AD8-7B72-24B0-861E-A7E674E855E2}"/>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3D8FDE2B-1760-33C2-F057-9F0E98E471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847757-BC96-23AA-7F39-98A98CEA73E0}"/>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1650093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07CF4-EF61-80CF-7658-F0209F64D7A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0F4D9A5-E4B0-1685-DFEC-BD4489EDE11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6C2B784-2377-65DE-5905-F5212C364D13}"/>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B492705A-4166-30CF-00BA-A8B2564D30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F323A4-1CEF-40BF-6A28-AAB9B0C9329E}"/>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31330316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084A5-2F0D-6433-9861-A77EA3A336A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23F4A63-9708-27AE-BBAA-45D1FFB6C13A}"/>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60E0515-27ED-F3BD-BF3B-EDAD1367EA7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36CE94CC-C88A-8090-8681-A082A9714AEE}"/>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6" name="Footer Placeholder 5">
            <a:extLst>
              <a:ext uri="{FF2B5EF4-FFF2-40B4-BE49-F238E27FC236}">
                <a16:creationId xmlns:a16="http://schemas.microsoft.com/office/drawing/2014/main" id="{7A3DAB13-1188-4270-7A7F-914012F377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4660FC-0A20-2D29-4157-4DB4D078EEA7}"/>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3085294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11899-46A4-3F50-7485-15D4A396770E}"/>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01BF12D3-1E8E-E67B-32C2-7BB84CC32D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971724A3-4578-D0CC-1BE7-1E6675BD95E3}"/>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35FD2E3-D6DF-250D-A7C0-2D4B823D93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2AEA0F2C-908C-CF63-751D-5929119CB95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B065FBE6-ACE7-2AD1-0EAC-6BA16D21267D}"/>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8" name="Footer Placeholder 7">
            <a:extLst>
              <a:ext uri="{FF2B5EF4-FFF2-40B4-BE49-F238E27FC236}">
                <a16:creationId xmlns:a16="http://schemas.microsoft.com/office/drawing/2014/main" id="{3BE1BDB0-5B0B-28B7-1DE8-029DD7C59F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92B33F-6FF2-A8CB-853F-CB0DC4CE28D2}"/>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3279541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90448-056D-948D-34B6-DB523EDF51A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428465E-8D12-3F3A-B8E4-C6DDF229A774}"/>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4" name="Footer Placeholder 3">
            <a:extLst>
              <a:ext uri="{FF2B5EF4-FFF2-40B4-BE49-F238E27FC236}">
                <a16:creationId xmlns:a16="http://schemas.microsoft.com/office/drawing/2014/main" id="{4C00F7CC-05A2-980F-B104-C941F7DF02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11148B7-6BFA-F30D-039B-1975108871F4}"/>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3477734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70FACD-D065-AD92-8344-CF50CF7D583E}"/>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3" name="Footer Placeholder 2">
            <a:extLst>
              <a:ext uri="{FF2B5EF4-FFF2-40B4-BE49-F238E27FC236}">
                <a16:creationId xmlns:a16="http://schemas.microsoft.com/office/drawing/2014/main" id="{AF74B930-2879-C7E6-780A-65E44558C1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1B8546-CDE1-4FBD-20C2-5D048577091B}"/>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461659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B1E79-FDBB-8FE2-A0AD-EC4B72A30FB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496A103-9EE7-3A25-92B5-1FD99B17B5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89C88A1-78BA-A30D-01D9-9C79B9BE2F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728FA3A-0130-7186-8DC8-5643C84D0A3E}"/>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6" name="Footer Placeholder 5">
            <a:extLst>
              <a:ext uri="{FF2B5EF4-FFF2-40B4-BE49-F238E27FC236}">
                <a16:creationId xmlns:a16="http://schemas.microsoft.com/office/drawing/2014/main" id="{3FE26E8B-8E3D-7CD9-FCF8-9ED8DD135A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2A206C-484F-183D-E231-B8D71CF1E769}"/>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7648991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60BAE-9091-45E7-1E2E-239FC024C16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53857DE5-E36E-CB61-4D2B-E9A05E525F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D34F2E6-FFCF-F09C-7583-0302F6369D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47AEDA9-D8A5-37A4-5D2B-B597EAE550DF}"/>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6" name="Footer Placeholder 5">
            <a:extLst>
              <a:ext uri="{FF2B5EF4-FFF2-40B4-BE49-F238E27FC236}">
                <a16:creationId xmlns:a16="http://schemas.microsoft.com/office/drawing/2014/main" id="{12BB8C76-BC75-FC2D-7C77-82E0F62B71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509D779-BB8C-E8D0-36A2-81F391DFA6E4}"/>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2116648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4386-9962-3447-E831-B8CA6FB6C96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A56485C-FBEB-382F-B66A-914AF69CE3A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CAF99A6-6B34-F347-7A27-1F4317E38C3D}"/>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739CCA89-5CD7-E9C3-45ED-5E1413CF94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315D23-3D43-B2CC-BDD3-90EA01FA5EAE}"/>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4005383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5882FA-33F6-F07B-03A7-59710F1E883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8579E0A-73FE-347D-37A4-3059376623F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9C77315-4BCB-4503-15BB-2B56AF372671}"/>
              </a:ext>
            </a:extLst>
          </p:cNvPr>
          <p:cNvSpPr>
            <a:spLocks noGrp="1"/>
          </p:cNvSpPr>
          <p:nvPr>
            <p:ph type="dt" sz="half" idx="10"/>
          </p:nvPr>
        </p:nvSpPr>
        <p:spPr/>
        <p:txBody>
          <a:body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738C61D6-8187-B1A1-7625-4283968FFD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62A9F2-0B9A-6F5B-AC3C-5F5048C71DC9}"/>
              </a:ext>
            </a:extLst>
          </p:cNvPr>
          <p:cNvSpPr>
            <a:spLocks noGrp="1"/>
          </p:cNvSpPr>
          <p:nvPr>
            <p:ph type="sldNum" sz="quarter" idx="12"/>
          </p:nvPr>
        </p:nvSpPr>
        <p:spPr/>
        <p:txBody>
          <a:bodyPr/>
          <a:lstStyle/>
          <a:p>
            <a:fld id="{B233F2E1-900D-8D4E-AAC8-7BE762417091}" type="slidenum">
              <a:rPr lang="en-US" smtClean="0"/>
              <a:t>‹#›</a:t>
            </a:fld>
            <a:endParaRPr lang="en-US"/>
          </a:p>
        </p:txBody>
      </p:sp>
    </p:spTree>
    <p:extLst>
      <p:ext uri="{BB962C8B-B14F-4D97-AF65-F5344CB8AC3E}">
        <p14:creationId xmlns:p14="http://schemas.microsoft.com/office/powerpoint/2010/main" val="5014918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6B596C5-9476-5755-FEE2-97341F24B6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5DFDD-0303-43CE-4A55-6E5EB7CD16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796FBB-776B-4F51-29C7-2D4A10E8AED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6C8187-C6CA-A242-90A3-DBA3D45B9BA5}" type="datetimeFigureOut">
              <a:rPr lang="en-US" smtClean="0"/>
              <a:t>2/11/25</a:t>
            </a:fld>
            <a:endParaRPr lang="en-US"/>
          </a:p>
        </p:txBody>
      </p:sp>
      <p:sp>
        <p:nvSpPr>
          <p:cNvPr id="5" name="Footer Placeholder 4">
            <a:extLst>
              <a:ext uri="{FF2B5EF4-FFF2-40B4-BE49-F238E27FC236}">
                <a16:creationId xmlns:a16="http://schemas.microsoft.com/office/drawing/2014/main" id="{121A26FA-129D-5329-7A2E-31C7DBEBF8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B24E3B-FEF2-5648-3EAE-6FBB838E4D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233F2E1-900D-8D4E-AAC8-7BE762417091}" type="slidenum">
              <a:rPr lang="en-US" smtClean="0"/>
              <a:t>‹#›</a:t>
            </a:fld>
            <a:endParaRPr lang="en-US"/>
          </a:p>
        </p:txBody>
      </p:sp>
    </p:spTree>
    <p:extLst>
      <p:ext uri="{BB962C8B-B14F-4D97-AF65-F5344CB8AC3E}">
        <p14:creationId xmlns:p14="http://schemas.microsoft.com/office/powerpoint/2010/main" val="4122326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A306E-E00F-C4E6-158B-702B6324E9E7}"/>
              </a:ext>
            </a:extLst>
          </p:cNvPr>
          <p:cNvSpPr>
            <a:spLocks noGrp="1"/>
          </p:cNvSpPr>
          <p:nvPr>
            <p:ph type="ctrTitle"/>
          </p:nvPr>
        </p:nvSpPr>
        <p:spPr/>
        <p:txBody>
          <a:bodyPr/>
          <a:lstStyle/>
          <a:p>
            <a:r>
              <a:rPr lang="en-US" dirty="0"/>
              <a:t>UNGUIDED MEDIA</a:t>
            </a:r>
          </a:p>
        </p:txBody>
      </p:sp>
    </p:spTree>
    <p:extLst>
      <p:ext uri="{BB962C8B-B14F-4D97-AF65-F5344CB8AC3E}">
        <p14:creationId xmlns:p14="http://schemas.microsoft.com/office/powerpoint/2010/main" val="1600423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709F-5344-DEFE-7C0E-64EBDF3AD536}"/>
              </a:ext>
            </a:extLst>
          </p:cNvPr>
          <p:cNvSpPr>
            <a:spLocks noGrp="1"/>
          </p:cNvSpPr>
          <p:nvPr>
            <p:ph type="title"/>
          </p:nvPr>
        </p:nvSpPr>
        <p:spPr/>
        <p:txBody>
          <a:bodyPr/>
          <a:lstStyle/>
          <a:p>
            <a:r>
              <a:rPr lang="en-US" dirty="0">
                <a:cs typeface="Calibri Light"/>
              </a:rPr>
              <a:t>Unguided Media</a:t>
            </a:r>
          </a:p>
        </p:txBody>
      </p:sp>
      <p:sp>
        <p:nvSpPr>
          <p:cNvPr id="3" name="Content Placeholder 2">
            <a:extLst>
              <a:ext uri="{FF2B5EF4-FFF2-40B4-BE49-F238E27FC236}">
                <a16:creationId xmlns:a16="http://schemas.microsoft.com/office/drawing/2014/main" id="{8C14825E-A51A-41B4-542C-70012EDC2B70}"/>
              </a:ext>
            </a:extLst>
          </p:cNvPr>
          <p:cNvSpPr>
            <a:spLocks noGrp="1"/>
          </p:cNvSpPr>
          <p:nvPr>
            <p:ph idx="1"/>
          </p:nvPr>
        </p:nvSpPr>
        <p:spPr/>
        <p:txBody>
          <a:bodyPr vert="horz" lIns="91440" tIns="45720" rIns="91440" bIns="45720" rtlCol="0" anchor="t">
            <a:normAutofit/>
          </a:bodyPr>
          <a:lstStyle/>
          <a:p>
            <a:r>
              <a:rPr lang="en-US" dirty="0">
                <a:ea typeface="+mn-lt"/>
                <a:cs typeface="+mn-lt"/>
              </a:rPr>
              <a:t>Unguided media transport electromagnetic waves without using a physical conductor. </a:t>
            </a:r>
          </a:p>
          <a:p>
            <a:r>
              <a:rPr lang="en-US" dirty="0">
                <a:ea typeface="+mn-lt"/>
                <a:cs typeface="+mn-lt"/>
              </a:rPr>
              <a:t>This type of communication is often referred to as wireless communication. </a:t>
            </a:r>
            <a:endParaRPr lang="en-US" dirty="0">
              <a:cs typeface="Calibri"/>
            </a:endParaRPr>
          </a:p>
          <a:p>
            <a:r>
              <a:rPr lang="en-US">
                <a:ea typeface="+mn-lt"/>
                <a:cs typeface="+mn-lt"/>
              </a:rPr>
              <a:t>Signals are normally broadcast through free space and thus are available to anyone who has a device capable of receiving them. Unguided signals can travel from the source to destination in several ways: ground propagation, sky propagation, and line-of- sight propagation. </a:t>
            </a:r>
            <a:endParaRPr lang="en-US" dirty="0">
              <a:cs typeface="Calibri"/>
            </a:endParaRPr>
          </a:p>
          <a:p>
            <a:endParaRPr lang="en-US" dirty="0">
              <a:cs typeface="Calibri"/>
            </a:endParaRPr>
          </a:p>
          <a:p>
            <a:endParaRPr lang="en-US" dirty="0">
              <a:cs typeface="Calibri"/>
            </a:endParaRPr>
          </a:p>
        </p:txBody>
      </p:sp>
    </p:spTree>
    <p:extLst>
      <p:ext uri="{BB962C8B-B14F-4D97-AF65-F5344CB8AC3E}">
        <p14:creationId xmlns:p14="http://schemas.microsoft.com/office/powerpoint/2010/main" val="3421724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0DE24D-F00C-00AF-E10C-8FB1874630E1}"/>
              </a:ext>
            </a:extLst>
          </p:cNvPr>
          <p:cNvSpPr>
            <a:spLocks noGrp="1"/>
          </p:cNvSpPr>
          <p:nvPr>
            <p:ph type="title"/>
          </p:nvPr>
        </p:nvSpPr>
        <p:spPr>
          <a:xfrm>
            <a:off x="572493" y="238539"/>
            <a:ext cx="11018520" cy="1434415"/>
          </a:xfrm>
        </p:spPr>
        <p:txBody>
          <a:bodyPr anchor="b">
            <a:normAutofit/>
          </a:bodyPr>
          <a:lstStyle/>
          <a:p>
            <a:r>
              <a:rPr lang="en-US" sz="5400" dirty="0">
                <a:cs typeface="Calibri Light"/>
              </a:rPr>
              <a:t>Ground Propagation</a:t>
            </a:r>
            <a:endParaRPr lang="en-US" sz="5400" dirty="0"/>
          </a:p>
        </p:txBody>
      </p:sp>
      <p:sp>
        <p:nvSpPr>
          <p:cNvPr id="3" name="Content Placeholder 2">
            <a:extLst>
              <a:ext uri="{FF2B5EF4-FFF2-40B4-BE49-F238E27FC236}">
                <a16:creationId xmlns:a16="http://schemas.microsoft.com/office/drawing/2014/main" id="{E5A379AE-964A-9A5C-A831-F5FC3FDFCAB0}"/>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ea typeface="+mn-lt"/>
                <a:cs typeface="+mn-lt"/>
              </a:rPr>
              <a:t>In ground propagation, radio waves travel through the lowest portion of the atmosphere, </a:t>
            </a:r>
            <a:endParaRPr lang="en-US" sz="2200">
              <a:cs typeface="Calibri"/>
            </a:endParaRPr>
          </a:p>
          <a:p>
            <a:r>
              <a:rPr lang="en-US" sz="2200">
                <a:ea typeface="+mn-lt"/>
                <a:cs typeface="+mn-lt"/>
              </a:rPr>
              <a:t>These low frequency signals emanate in all directions from the transmitting antenna and follow the curvature of the planet. </a:t>
            </a:r>
          </a:p>
          <a:p>
            <a:r>
              <a:rPr lang="en-US" sz="2200">
                <a:ea typeface="+mn-lt"/>
                <a:cs typeface="+mn-lt"/>
              </a:rPr>
              <a:t>Distance depends on the amount of power in the signal: The greater the power, the greater the distance.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637C4376-C025-792F-EB45-3AFFF0362D68}"/>
              </a:ext>
            </a:extLst>
          </p:cNvPr>
          <p:cNvPicPr>
            <a:picLocks noChangeAspect="1"/>
          </p:cNvPicPr>
          <p:nvPr/>
        </p:nvPicPr>
        <p:blipFill rotWithShape="1">
          <a:blip r:embed="rId2"/>
          <a:srcRect r="-4" b="14763"/>
          <a:stretch/>
        </p:blipFill>
        <p:spPr>
          <a:xfrm>
            <a:off x="7675658" y="2085116"/>
            <a:ext cx="3923344" cy="3892721"/>
          </a:xfrm>
          <a:prstGeom prst="rect">
            <a:avLst/>
          </a:prstGeom>
        </p:spPr>
      </p:pic>
    </p:spTree>
    <p:extLst>
      <p:ext uri="{BB962C8B-B14F-4D97-AF65-F5344CB8AC3E}">
        <p14:creationId xmlns:p14="http://schemas.microsoft.com/office/powerpoint/2010/main" val="164921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50E1C-A9C4-5517-F2E5-85963CB0244D}"/>
              </a:ext>
            </a:extLst>
          </p:cNvPr>
          <p:cNvSpPr>
            <a:spLocks noGrp="1"/>
          </p:cNvSpPr>
          <p:nvPr>
            <p:ph type="title"/>
          </p:nvPr>
        </p:nvSpPr>
        <p:spPr>
          <a:xfrm>
            <a:off x="640080" y="325369"/>
            <a:ext cx="9064648" cy="1956841"/>
          </a:xfrm>
        </p:spPr>
        <p:txBody>
          <a:bodyPr anchor="b">
            <a:normAutofit/>
          </a:bodyPr>
          <a:lstStyle/>
          <a:p>
            <a:r>
              <a:rPr lang="en-US" sz="5400" dirty="0">
                <a:cs typeface="Calibri Light"/>
              </a:rPr>
              <a:t>Sky Propagation</a:t>
            </a:r>
            <a:endParaRPr lang="en-US" sz="5400" dirty="0"/>
          </a:p>
        </p:txBody>
      </p:sp>
      <p:sp>
        <p:nvSpPr>
          <p:cNvPr id="3" name="Content Placeholder 2">
            <a:extLst>
              <a:ext uri="{FF2B5EF4-FFF2-40B4-BE49-F238E27FC236}">
                <a16:creationId xmlns:a16="http://schemas.microsoft.com/office/drawing/2014/main" id="{88B6D38D-9F4C-0DEF-C96A-9452C02C3DBC}"/>
              </a:ext>
            </a:extLst>
          </p:cNvPr>
          <p:cNvSpPr>
            <a:spLocks noGrp="1"/>
          </p:cNvSpPr>
          <p:nvPr>
            <p:ph idx="1"/>
          </p:nvPr>
        </p:nvSpPr>
        <p:spPr>
          <a:xfrm>
            <a:off x="640080" y="2872899"/>
            <a:ext cx="6742239" cy="3320668"/>
          </a:xfrm>
        </p:spPr>
        <p:txBody>
          <a:bodyPr vert="horz" lIns="91440" tIns="45720" rIns="91440" bIns="45720" rtlCol="0" anchor="t">
            <a:normAutofit/>
          </a:bodyPr>
          <a:lstStyle/>
          <a:p>
            <a:r>
              <a:rPr lang="en-US" dirty="0">
                <a:ea typeface="+mn-lt"/>
                <a:cs typeface="+mn-lt"/>
              </a:rPr>
              <a:t>In sky propagation, higher-frequency radio waves radiate upward into the ionosphere where they are reflected back to earth. </a:t>
            </a:r>
          </a:p>
          <a:p>
            <a:r>
              <a:rPr lang="en-US" dirty="0">
                <a:ea typeface="+mn-lt"/>
                <a:cs typeface="+mn-lt"/>
              </a:rPr>
              <a:t>This type of transmission allows for greater distances with lower output power.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550825EF-41CC-A7CD-BBD1-E11DFC22E6C3}"/>
              </a:ext>
            </a:extLst>
          </p:cNvPr>
          <p:cNvPicPr>
            <a:picLocks noChangeAspect="1"/>
          </p:cNvPicPr>
          <p:nvPr/>
        </p:nvPicPr>
        <p:blipFill rotWithShape="1">
          <a:blip r:embed="rId2"/>
          <a:srcRect t="4670" b="31025"/>
          <a:stretch/>
        </p:blipFill>
        <p:spPr>
          <a:xfrm>
            <a:off x="7739469" y="2073358"/>
            <a:ext cx="4451008" cy="3774549"/>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80303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A130D-5115-7D37-4114-E17F2A143FD3}"/>
              </a:ext>
            </a:extLst>
          </p:cNvPr>
          <p:cNvSpPr>
            <a:spLocks noGrp="1"/>
          </p:cNvSpPr>
          <p:nvPr>
            <p:ph type="title"/>
          </p:nvPr>
        </p:nvSpPr>
        <p:spPr>
          <a:xfrm>
            <a:off x="572493" y="238539"/>
            <a:ext cx="11018520" cy="1434415"/>
          </a:xfrm>
        </p:spPr>
        <p:txBody>
          <a:bodyPr anchor="b">
            <a:normAutofit/>
          </a:bodyPr>
          <a:lstStyle/>
          <a:p>
            <a:r>
              <a:rPr lang="en-US" sz="5400" dirty="0">
                <a:cs typeface="Calibri Light"/>
              </a:rPr>
              <a:t>Line-or-sight</a:t>
            </a:r>
            <a:endParaRPr lang="en-US" sz="5400" dirty="0"/>
          </a:p>
        </p:txBody>
      </p:sp>
      <p:sp>
        <p:nvSpPr>
          <p:cNvPr id="3" name="Content Placeholder 2">
            <a:extLst>
              <a:ext uri="{FF2B5EF4-FFF2-40B4-BE49-F238E27FC236}">
                <a16:creationId xmlns:a16="http://schemas.microsoft.com/office/drawing/2014/main" id="{A4955BF6-F2B4-E7AB-07B1-5986749D08AF}"/>
              </a:ext>
            </a:extLst>
          </p:cNvPr>
          <p:cNvSpPr>
            <a:spLocks noGrp="1"/>
          </p:cNvSpPr>
          <p:nvPr>
            <p:ph idx="1"/>
          </p:nvPr>
        </p:nvSpPr>
        <p:spPr>
          <a:xfrm>
            <a:off x="572493" y="2071316"/>
            <a:ext cx="6713552" cy="4119172"/>
          </a:xfrm>
        </p:spPr>
        <p:txBody>
          <a:bodyPr vert="horz" lIns="91440" tIns="45720" rIns="91440" bIns="45720" rtlCol="0" anchor="t">
            <a:normAutofit/>
          </a:bodyPr>
          <a:lstStyle/>
          <a:p>
            <a:r>
              <a:rPr lang="en-US" sz="2200">
                <a:latin typeface="Arial"/>
                <a:cs typeface="Arial"/>
              </a:rPr>
              <a:t>In line-or-sight propagation, very high-frequency signals are transmitted in straight lines directly from antenna to antenna. Antennas must be directional, facing each other, and either tall enough or close enough together not to be affected by the curvature of the earth. Line-of-sight propagation is tricky because radio transmissions cannot be completely focused. </a:t>
            </a:r>
          </a:p>
          <a:p>
            <a:endParaRPr lang="en-US" sz="2200">
              <a:cs typeface="Calibri"/>
            </a:endParaRPr>
          </a:p>
        </p:txBody>
      </p:sp>
      <p:pic>
        <p:nvPicPr>
          <p:cNvPr id="4" name="Picture 3" descr="A black and white image of a planet&#10;&#10;Description automatically generated">
            <a:extLst>
              <a:ext uri="{FF2B5EF4-FFF2-40B4-BE49-F238E27FC236}">
                <a16:creationId xmlns:a16="http://schemas.microsoft.com/office/drawing/2014/main" id="{215463EB-A2B9-676B-6161-C2B7CEF10E52}"/>
              </a:ext>
            </a:extLst>
          </p:cNvPr>
          <p:cNvPicPr>
            <a:picLocks noChangeAspect="1"/>
          </p:cNvPicPr>
          <p:nvPr/>
        </p:nvPicPr>
        <p:blipFill rotWithShape="1">
          <a:blip r:embed="rId2"/>
          <a:srcRect l="672" r="399" b="-3"/>
          <a:stretch/>
        </p:blipFill>
        <p:spPr>
          <a:xfrm>
            <a:off x="7675658" y="2093976"/>
            <a:ext cx="3941064" cy="4096512"/>
          </a:xfrm>
          <a:prstGeom prst="rect">
            <a:avLst/>
          </a:prstGeom>
        </p:spPr>
      </p:pic>
    </p:spTree>
    <p:extLst>
      <p:ext uri="{BB962C8B-B14F-4D97-AF65-F5344CB8AC3E}">
        <p14:creationId xmlns:p14="http://schemas.microsoft.com/office/powerpoint/2010/main" val="2758083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F4CA2-F2D9-318E-0FE3-F2C3703A9C4D}"/>
              </a:ext>
            </a:extLst>
          </p:cNvPr>
          <p:cNvSpPr>
            <a:spLocks noGrp="1"/>
          </p:cNvSpPr>
          <p:nvPr>
            <p:ph type="title"/>
          </p:nvPr>
        </p:nvSpPr>
        <p:spPr/>
        <p:txBody>
          <a:bodyPr/>
          <a:lstStyle/>
          <a:p>
            <a:r>
              <a:rPr lang="en-US" dirty="0">
                <a:cs typeface="Calibri Light"/>
              </a:rPr>
              <a:t>Radio Waves</a:t>
            </a:r>
            <a:endParaRPr lang="en-US" dirty="0"/>
          </a:p>
        </p:txBody>
      </p:sp>
      <p:sp>
        <p:nvSpPr>
          <p:cNvPr id="3" name="Content Placeholder 2">
            <a:extLst>
              <a:ext uri="{FF2B5EF4-FFF2-40B4-BE49-F238E27FC236}">
                <a16:creationId xmlns:a16="http://schemas.microsoft.com/office/drawing/2014/main" id="{86DDE4A7-DF8C-0CEF-AC34-4B8B43D3F730}"/>
              </a:ext>
            </a:extLst>
          </p:cNvPr>
          <p:cNvSpPr>
            <a:spLocks noGrp="1"/>
          </p:cNvSpPr>
          <p:nvPr>
            <p:ph idx="1"/>
          </p:nvPr>
        </p:nvSpPr>
        <p:spPr>
          <a:xfrm>
            <a:off x="615351" y="1516511"/>
            <a:ext cx="10515600" cy="4351338"/>
          </a:xfrm>
        </p:spPr>
        <p:txBody>
          <a:bodyPr vert="horz" lIns="91440" tIns="45720" rIns="91440" bIns="45720" rtlCol="0" anchor="t">
            <a:noAutofit/>
          </a:bodyPr>
          <a:lstStyle/>
          <a:p>
            <a:r>
              <a:rPr lang="en-US" dirty="0">
                <a:ea typeface="+mn-lt"/>
                <a:cs typeface="+mn-lt"/>
              </a:rPr>
              <a:t>Waves ranging in frequencies between 3 kHz and 1 GHz are called radio waves. </a:t>
            </a:r>
          </a:p>
          <a:p>
            <a:r>
              <a:rPr lang="en-US" dirty="0">
                <a:ea typeface="+mn-lt"/>
                <a:cs typeface="+mn-lt"/>
              </a:rPr>
              <a:t>Radio waves are omnidirectional. When an antenna transmits radio waves, they are propagated in all directions. This means that the sending and receiving antennas do not have to be aligned. </a:t>
            </a:r>
          </a:p>
          <a:p>
            <a:r>
              <a:rPr lang="en-US" dirty="0">
                <a:ea typeface="+mn-lt"/>
                <a:cs typeface="+mn-lt"/>
              </a:rPr>
              <a:t>A sending antenna sends waves that can be received by any receiving antenna. </a:t>
            </a:r>
            <a:endParaRPr lang="en-US">
              <a:ea typeface="+mn-lt"/>
              <a:cs typeface="+mn-lt"/>
            </a:endParaRPr>
          </a:p>
          <a:p>
            <a:r>
              <a:rPr lang="en-US" dirty="0">
                <a:ea typeface="+mn-lt"/>
                <a:cs typeface="+mn-lt"/>
              </a:rPr>
              <a:t>The omnidirectional property has a disadvantage, too. The radio waves transmitted by one antenna are susceptible to interference by another antenna that may send signals using the same frequency or band. </a:t>
            </a:r>
            <a:endParaRPr lang="en-US" dirty="0">
              <a:cs typeface="Calibri"/>
            </a:endParaRPr>
          </a:p>
        </p:txBody>
      </p:sp>
    </p:spTree>
    <p:extLst>
      <p:ext uri="{BB962C8B-B14F-4D97-AF65-F5344CB8AC3E}">
        <p14:creationId xmlns:p14="http://schemas.microsoft.com/office/powerpoint/2010/main" val="3212914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30E82-03A0-F434-0CD1-75ED3095E3B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7474C5-3D0C-E3C4-B107-A83BEE5F155F}"/>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Radio waves, particularly those waves that propagate in the sky mode, can travel long distances. This makes radio waves a good candidate for long-distance broadcasting such as AM radio. </a:t>
            </a:r>
            <a:endParaRPr lang="en-US" dirty="0">
              <a:solidFill>
                <a:srgbClr val="808080"/>
              </a:solidFill>
              <a:ea typeface="+mn-lt"/>
              <a:cs typeface="+mn-lt"/>
            </a:endParaRPr>
          </a:p>
          <a:p>
            <a:r>
              <a:rPr lang="en-US" dirty="0">
                <a:ea typeface="+mn-lt"/>
                <a:cs typeface="+mn-lt"/>
              </a:rPr>
              <a:t>Radio waves, particularly those of low and medium frequencies, can penetrate walls. This characteristic can be both an advantage and a disadvantage. It is an advantage because, for example, an AM radio can receive signals inside a building. It is a disadvantage because we cannot isolate a communication to just inside or outside a building. </a:t>
            </a:r>
            <a:endParaRPr lang="en-US" dirty="0">
              <a:solidFill>
                <a:srgbClr val="808080"/>
              </a:solidFill>
              <a:ea typeface="+mn-lt"/>
              <a:cs typeface="+mn-lt"/>
            </a:endParaRPr>
          </a:p>
          <a:p>
            <a:r>
              <a:rPr lang="en-US" dirty="0">
                <a:ea typeface="+mn-lt"/>
                <a:cs typeface="+mn-lt"/>
              </a:rPr>
              <a:t>The radio wave band is relatively narrow, just under 1 GHz, compared to the microwave band. When this band is divided into sub bands, the sub bands are also narrow, leading to a low data rate for digital communications. </a:t>
            </a:r>
            <a:endParaRPr lang="en-US">
              <a:solidFill>
                <a:srgbClr val="808080"/>
              </a:solidFill>
              <a:ea typeface="+mn-lt"/>
              <a:cs typeface="+mn-lt"/>
            </a:endParaRPr>
          </a:p>
          <a:p>
            <a:endParaRPr lang="en-US" dirty="0">
              <a:cs typeface="Calibri"/>
            </a:endParaRPr>
          </a:p>
        </p:txBody>
      </p:sp>
    </p:spTree>
    <p:extLst>
      <p:ext uri="{BB962C8B-B14F-4D97-AF65-F5344CB8AC3E}">
        <p14:creationId xmlns:p14="http://schemas.microsoft.com/office/powerpoint/2010/main" val="3925930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CB29B-8723-EEDC-D63E-A2BB1A22A93F}"/>
              </a:ext>
            </a:extLst>
          </p:cNvPr>
          <p:cNvSpPr>
            <a:spLocks noGrp="1"/>
          </p:cNvSpPr>
          <p:nvPr>
            <p:ph type="title"/>
          </p:nvPr>
        </p:nvSpPr>
        <p:spPr/>
        <p:txBody>
          <a:bodyPr/>
          <a:lstStyle/>
          <a:p>
            <a:r>
              <a:rPr lang="en-US" dirty="0">
                <a:cs typeface="Calibri Light"/>
              </a:rPr>
              <a:t>Microwaves</a:t>
            </a:r>
            <a:endParaRPr lang="en-US" dirty="0"/>
          </a:p>
        </p:txBody>
      </p:sp>
      <p:sp>
        <p:nvSpPr>
          <p:cNvPr id="3" name="Content Placeholder 2">
            <a:extLst>
              <a:ext uri="{FF2B5EF4-FFF2-40B4-BE49-F238E27FC236}">
                <a16:creationId xmlns:a16="http://schemas.microsoft.com/office/drawing/2014/main" id="{DD0E0E99-7128-29C5-F68B-368288E8F2CE}"/>
              </a:ext>
            </a:extLst>
          </p:cNvPr>
          <p:cNvSpPr>
            <a:spLocks noGrp="1"/>
          </p:cNvSpPr>
          <p:nvPr>
            <p:ph idx="1"/>
          </p:nvPr>
        </p:nvSpPr>
        <p:spPr/>
        <p:txBody>
          <a:bodyPr vert="horz" lIns="91440" tIns="45720" rIns="91440" bIns="45720" rtlCol="0" anchor="t">
            <a:noAutofit/>
          </a:bodyPr>
          <a:lstStyle/>
          <a:p>
            <a:r>
              <a:rPr lang="en-US" dirty="0">
                <a:ea typeface="+mn-lt"/>
                <a:cs typeface="+mn-lt"/>
              </a:rPr>
              <a:t>Electromagnetic waves having frequencies between 1 and 300 GHz are called microwaves. </a:t>
            </a:r>
          </a:p>
          <a:p>
            <a:r>
              <a:rPr lang="en-US" dirty="0">
                <a:ea typeface="+mn-lt"/>
                <a:cs typeface="+mn-lt"/>
              </a:rPr>
              <a:t>Microwaves are unidirectional. When an antenna transmits microwave waves, they can be narrowly focused. This means that the sending and receiving antennas need to be aligned. The unidirectional property has an obvious advantage. </a:t>
            </a:r>
            <a:endParaRPr lang="en-US" dirty="0">
              <a:cs typeface="Calibri" panose="020F0502020204030204"/>
            </a:endParaRPr>
          </a:p>
          <a:p>
            <a:r>
              <a:rPr lang="en-US" dirty="0">
                <a:ea typeface="+mn-lt"/>
                <a:cs typeface="+mn-lt"/>
              </a:rPr>
              <a:t>A pair of antennas can be aligned without interfering with another pair of aligned antennas. </a:t>
            </a:r>
            <a:endParaRPr lang="en-US" dirty="0"/>
          </a:p>
          <a:p>
            <a:endParaRPr lang="en-US"/>
          </a:p>
        </p:txBody>
      </p:sp>
    </p:spTree>
    <p:extLst>
      <p:ext uri="{BB962C8B-B14F-4D97-AF65-F5344CB8AC3E}">
        <p14:creationId xmlns:p14="http://schemas.microsoft.com/office/powerpoint/2010/main" val="3552776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02A52-11AF-88DB-CABC-7299923056C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1F1B673-79FF-42FE-2BF8-BBCE89B86CA5}"/>
              </a:ext>
            </a:extLst>
          </p:cNvPr>
          <p:cNvSpPr>
            <a:spLocks noGrp="1"/>
          </p:cNvSpPr>
          <p:nvPr>
            <p:ph idx="1"/>
          </p:nvPr>
        </p:nvSpPr>
        <p:spPr/>
        <p:txBody>
          <a:bodyPr vert="horz" lIns="91440" tIns="45720" rIns="91440" bIns="45720" rtlCol="0" anchor="t">
            <a:normAutofit/>
          </a:bodyPr>
          <a:lstStyle/>
          <a:p>
            <a:pPr marL="0" indent="0">
              <a:buNone/>
            </a:pPr>
            <a:r>
              <a:rPr lang="en-US" dirty="0">
                <a:latin typeface="Arial"/>
                <a:cs typeface="Arial"/>
              </a:rPr>
              <a:t>The following describes some characteristics of microwave propagation: </a:t>
            </a:r>
            <a:endParaRPr lang="en-US" dirty="0">
              <a:solidFill>
                <a:srgbClr val="808080"/>
              </a:solidFill>
              <a:latin typeface="Arial"/>
              <a:cs typeface="Arial"/>
            </a:endParaRPr>
          </a:p>
          <a:p>
            <a:r>
              <a:rPr lang="en-US">
                <a:latin typeface="Arial"/>
                <a:cs typeface="Arial"/>
              </a:rPr>
              <a:t>a. Microwave propagation is line-of-sight. Since the towers with the mounted antennas need to be in direct sight of each other, towers that are far apart need to be very tall. The curvature of the earth as well as other blocking obstacles does not allow two short towers to communicate by using microwaves. Repeaters are often needed for long distance communication. </a:t>
            </a:r>
            <a:endParaRPr lang="en-US">
              <a:solidFill>
                <a:srgbClr val="808080"/>
              </a:solidFill>
              <a:latin typeface="Arial"/>
              <a:cs typeface="Arial"/>
            </a:endParaRPr>
          </a:p>
          <a:p>
            <a:pPr marL="0" indent="0">
              <a:buNone/>
            </a:pPr>
            <a:endParaRPr lang="en-US" dirty="0">
              <a:latin typeface="Arial"/>
              <a:cs typeface="Arial"/>
            </a:endParaRPr>
          </a:p>
          <a:p>
            <a:endParaRPr lang="en-US" dirty="0">
              <a:cs typeface="Calibri"/>
            </a:endParaRPr>
          </a:p>
        </p:txBody>
      </p:sp>
    </p:spTree>
    <p:extLst>
      <p:ext uri="{BB962C8B-B14F-4D97-AF65-F5344CB8AC3E}">
        <p14:creationId xmlns:p14="http://schemas.microsoft.com/office/powerpoint/2010/main" val="3007875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C9D7B-5921-B03D-8FCF-788871654F8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2C18C2-3DCD-ABC5-07F8-EFA0E3F15146}"/>
              </a:ext>
            </a:extLst>
          </p:cNvPr>
          <p:cNvSpPr>
            <a:spLocks noGrp="1"/>
          </p:cNvSpPr>
          <p:nvPr>
            <p:ph idx="1"/>
          </p:nvPr>
        </p:nvSpPr>
        <p:spPr/>
        <p:txBody>
          <a:bodyPr vert="horz" lIns="91440" tIns="45720" rIns="91440" bIns="45720" rtlCol="0" anchor="t">
            <a:normAutofit/>
          </a:bodyPr>
          <a:lstStyle/>
          <a:p>
            <a:pPr marL="0" indent="0">
              <a:buNone/>
            </a:pPr>
            <a:r>
              <a:rPr lang="en-US" sz="2600" dirty="0">
                <a:latin typeface="Arial"/>
                <a:cs typeface="Arial"/>
              </a:rPr>
              <a:t>b. Very high-frequency microwaves cannot penetrate walls. This characteristic can be a disadvantage if receivers are inside buildings.</a:t>
            </a:r>
            <a:br>
              <a:rPr lang="en-US" sz="2600" dirty="0">
                <a:latin typeface="Arial"/>
                <a:cs typeface="Arial"/>
              </a:rPr>
            </a:br>
            <a:endParaRPr lang="en-US" sz="2600">
              <a:solidFill>
                <a:srgbClr val="808080"/>
              </a:solidFill>
              <a:latin typeface="Arial"/>
              <a:cs typeface="Arial"/>
            </a:endParaRPr>
          </a:p>
          <a:p>
            <a:pPr marL="0" indent="0">
              <a:buNone/>
            </a:pPr>
            <a:r>
              <a:rPr lang="en-US" sz="2400" baseline="0" dirty="0">
                <a:latin typeface="Arial"/>
              </a:rPr>
              <a:t>c.</a:t>
            </a:r>
            <a:r>
              <a:rPr lang="en-US" sz="2400" dirty="0">
                <a:latin typeface="Arial"/>
              </a:rPr>
              <a:t> </a:t>
            </a:r>
            <a:r>
              <a:rPr lang="en-US" sz="2400" baseline="0" dirty="0">
                <a:latin typeface="Arial"/>
              </a:rPr>
              <a:t>The microwave band is relatively wide, almost 299 GHz. Therefore wider sub bands can be assigned, and a high data rate is possible</a:t>
            </a:r>
            <a:r>
              <a:rPr lang="en-US" sz="2400" dirty="0">
                <a:latin typeface="Arial"/>
              </a:rPr>
              <a:t> </a:t>
            </a:r>
            <a:endParaRPr lang="en-US">
              <a:latin typeface="Calibri" panose="020F0502020204030204"/>
              <a:cs typeface="Calibri" panose="020F0502020204030204"/>
            </a:endParaRPr>
          </a:p>
          <a:p>
            <a:pPr marL="0" indent="0">
              <a:buNone/>
            </a:pPr>
            <a:endParaRPr lang="en-US" sz="2400" dirty="0">
              <a:latin typeface="Arial"/>
            </a:endParaRPr>
          </a:p>
          <a:p>
            <a:pPr marL="0" indent="0">
              <a:buNone/>
            </a:pPr>
            <a:r>
              <a:rPr lang="en-US" sz="2400" baseline="0" dirty="0">
                <a:latin typeface="Arial"/>
              </a:rPr>
              <a:t>d. Use of certain portions of the band requires permission from authorities. </a:t>
            </a:r>
            <a:r>
              <a:rPr lang="en-US" sz="2400" dirty="0">
                <a:solidFill>
                  <a:srgbClr val="808080"/>
                </a:solidFill>
                <a:latin typeface="Arial"/>
                <a:ea typeface="Arial"/>
                <a:cs typeface="Arial"/>
              </a:rPr>
              <a:t>​</a:t>
            </a:r>
            <a:endParaRPr lang="en-US">
              <a:cs typeface="Calibri" panose="020F0502020204030204"/>
            </a:endParaRPr>
          </a:p>
        </p:txBody>
      </p:sp>
    </p:spTree>
    <p:extLst>
      <p:ext uri="{BB962C8B-B14F-4D97-AF65-F5344CB8AC3E}">
        <p14:creationId xmlns:p14="http://schemas.microsoft.com/office/powerpoint/2010/main" val="614543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87B47-AD71-7F9B-4D80-6AB9A31AECCC}"/>
              </a:ext>
            </a:extLst>
          </p:cNvPr>
          <p:cNvSpPr>
            <a:spLocks noGrp="1"/>
          </p:cNvSpPr>
          <p:nvPr>
            <p:ph type="title"/>
          </p:nvPr>
        </p:nvSpPr>
        <p:spPr/>
        <p:txBody>
          <a:bodyPr/>
          <a:lstStyle/>
          <a:p>
            <a:r>
              <a:rPr lang="en-US" dirty="0">
                <a:cs typeface="Calibri Light"/>
              </a:rPr>
              <a:t>Infrared</a:t>
            </a:r>
            <a:endParaRPr lang="en-US" dirty="0"/>
          </a:p>
        </p:txBody>
      </p:sp>
      <p:sp>
        <p:nvSpPr>
          <p:cNvPr id="3" name="Content Placeholder 2">
            <a:extLst>
              <a:ext uri="{FF2B5EF4-FFF2-40B4-BE49-F238E27FC236}">
                <a16:creationId xmlns:a16="http://schemas.microsoft.com/office/drawing/2014/main" id="{C05AC15C-FF4B-2C26-3BE6-3672969B659F}"/>
              </a:ext>
            </a:extLst>
          </p:cNvPr>
          <p:cNvSpPr>
            <a:spLocks noGrp="1"/>
          </p:cNvSpPr>
          <p:nvPr>
            <p:ph idx="1"/>
          </p:nvPr>
        </p:nvSpPr>
        <p:spPr/>
        <p:txBody>
          <a:bodyPr vert="horz" lIns="91440" tIns="45720" rIns="91440" bIns="45720" rtlCol="0" anchor="t">
            <a:noAutofit/>
          </a:bodyPr>
          <a:lstStyle/>
          <a:p>
            <a:r>
              <a:rPr lang="en-US" dirty="0">
                <a:ea typeface="+mn-lt"/>
                <a:cs typeface="+mn-lt"/>
              </a:rPr>
              <a:t>Infrared waves, with frequencies from 300 GHz to 400 THz (wavelengths from 1 mm to 770 nm), can be used for short-range communication. </a:t>
            </a:r>
          </a:p>
          <a:p>
            <a:r>
              <a:rPr lang="en-US" dirty="0">
                <a:ea typeface="+mn-lt"/>
                <a:cs typeface="+mn-lt"/>
              </a:rPr>
              <a:t>Infrared waves, having high frequencies, cannot penetrate walls. </a:t>
            </a:r>
          </a:p>
          <a:p>
            <a:r>
              <a:rPr lang="en-US" dirty="0">
                <a:ea typeface="+mn-lt"/>
                <a:cs typeface="+mn-lt"/>
              </a:rPr>
              <a:t>This advantageous characteristic prevents interference between one system and another; a short-range communication system in one room cannot be affected by another system in the next room. </a:t>
            </a:r>
          </a:p>
          <a:p>
            <a:pPr marL="0" indent="0">
              <a:buNone/>
            </a:pPr>
            <a:endParaRPr lang="en-US" dirty="0">
              <a:cs typeface="Calibri"/>
            </a:endParaRPr>
          </a:p>
          <a:p>
            <a:endParaRPr lang="en-US" dirty="0">
              <a:cs typeface="Calibri"/>
            </a:endParaRPr>
          </a:p>
        </p:txBody>
      </p:sp>
    </p:spTree>
    <p:extLst>
      <p:ext uri="{BB962C8B-B14F-4D97-AF65-F5344CB8AC3E}">
        <p14:creationId xmlns:p14="http://schemas.microsoft.com/office/powerpoint/2010/main" val="266160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8BDC5-B27D-F4D7-FCBA-D699235B27A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B866970-29F6-A2F6-3592-63BACA2FA162}"/>
              </a:ext>
            </a:extLst>
          </p:cNvPr>
          <p:cNvSpPr>
            <a:spLocks noGrp="1"/>
          </p:cNvSpPr>
          <p:nvPr>
            <p:ph idx="1"/>
          </p:nvPr>
        </p:nvSpPr>
        <p:spPr/>
        <p:txBody>
          <a:bodyPr vert="horz" lIns="91440" tIns="45720" rIns="91440" bIns="45720" rtlCol="0" anchor="t">
            <a:normAutofit/>
          </a:bodyPr>
          <a:lstStyle/>
          <a:p>
            <a:r>
              <a:rPr lang="en-US" dirty="0">
                <a:ea typeface="+mn-lt"/>
                <a:cs typeface="+mn-lt"/>
              </a:rPr>
              <a:t>When we use our infrared remote control, we do not interfere with the use of the remote by our neighbors. </a:t>
            </a:r>
          </a:p>
          <a:p>
            <a:r>
              <a:rPr lang="en-US" dirty="0">
                <a:ea typeface="+mn-lt"/>
                <a:cs typeface="+mn-lt"/>
              </a:rPr>
              <a:t>However, this same characteristic makes infrared signals useless for long-range communication. </a:t>
            </a:r>
          </a:p>
          <a:p>
            <a:r>
              <a:rPr lang="en-US">
                <a:ea typeface="+mn-lt"/>
                <a:cs typeface="+mn-lt"/>
              </a:rPr>
              <a:t>In addition, we cannot use infrared waves </a:t>
            </a:r>
            <a:r>
              <a:rPr lang="en-US" dirty="0">
                <a:ea typeface="+mn-lt"/>
                <a:cs typeface="+mn-lt"/>
              </a:rPr>
              <a:t>outside a building because the sun's rays contain infrared waves that can interfere with the communication. </a:t>
            </a:r>
            <a:endParaRPr lang="en-US">
              <a:cs typeface="Calibri"/>
            </a:endParaRPr>
          </a:p>
        </p:txBody>
      </p:sp>
    </p:spTree>
    <p:extLst>
      <p:ext uri="{BB962C8B-B14F-4D97-AF65-F5344CB8AC3E}">
        <p14:creationId xmlns:p14="http://schemas.microsoft.com/office/powerpoint/2010/main" val="7980159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2968AE025085A4381B5FE55A4B7B3DB" ma:contentTypeVersion="3" ma:contentTypeDescription="Create a new document." ma:contentTypeScope="" ma:versionID="bd89c5ba67f969997ddc75c00e52ceb6">
  <xsd:schema xmlns:xsd="http://www.w3.org/2001/XMLSchema" xmlns:xs="http://www.w3.org/2001/XMLSchema" xmlns:p="http://schemas.microsoft.com/office/2006/metadata/properties" xmlns:ns2="9491888e-085e-4340-beca-492653a9b978" targetNamespace="http://schemas.microsoft.com/office/2006/metadata/properties" ma:root="true" ma:fieldsID="9456090e7249331ed3f7fa7a4e50cd65" ns2:_="">
    <xsd:import namespace="9491888e-085e-4340-beca-492653a9b97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91888e-085e-4340-beca-492653a9b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529CA3-408E-44D8-A6CE-7E110FD2D308}"/>
</file>

<file path=customXml/itemProps2.xml><?xml version="1.0" encoding="utf-8"?>
<ds:datastoreItem xmlns:ds="http://schemas.openxmlformats.org/officeDocument/2006/customXml" ds:itemID="{B97B0CBA-2B4C-467B-A76D-702F522170F8}"/>
</file>

<file path=customXml/itemProps3.xml><?xml version="1.0" encoding="utf-8"?>
<ds:datastoreItem xmlns:ds="http://schemas.openxmlformats.org/officeDocument/2006/customXml" ds:itemID="{0AF070AB-6F66-43CC-B4AB-A577878406AD}"/>
</file>

<file path=docProps/app.xml><?xml version="1.0" encoding="utf-8"?>
<Properties xmlns="http://schemas.openxmlformats.org/officeDocument/2006/extended-properties" xmlns:vt="http://schemas.openxmlformats.org/officeDocument/2006/docPropsVTypes">
  <TotalTime>0</TotalTime>
  <Words>801</Words>
  <Application>Microsoft Macintosh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Aptos</vt:lpstr>
      <vt:lpstr>Aptos Display</vt:lpstr>
      <vt:lpstr>Arial</vt:lpstr>
      <vt:lpstr>Calibri</vt:lpstr>
      <vt:lpstr>Calibri Light</vt:lpstr>
      <vt:lpstr>Office Theme</vt:lpstr>
      <vt:lpstr>UNGUIDED MEDIA</vt:lpstr>
      <vt:lpstr>Unguided Media</vt:lpstr>
      <vt:lpstr>Ground Propagation</vt:lpstr>
      <vt:lpstr>Sky Propagation</vt:lpstr>
      <vt:lpstr>Line-or-sight</vt:lpstr>
      <vt:lpstr>Radio Waves</vt:lpstr>
      <vt:lpstr>PowerPoint Presentation</vt:lpstr>
      <vt:lpstr>Microwaves</vt:lpstr>
      <vt:lpstr>PowerPoint Presentation</vt:lpstr>
      <vt:lpstr>PowerPoint Presentation</vt:lpstr>
      <vt:lpstr>Infrared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Anupama K N</dc:creator>
  <cp:lastModifiedBy>Anupama K N</cp:lastModifiedBy>
  <cp:revision>1</cp:revision>
  <dcterms:created xsi:type="dcterms:W3CDTF">2025-02-11T05:17:18Z</dcterms:created>
  <dcterms:modified xsi:type="dcterms:W3CDTF">2025-02-11T05:18:08Z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0x01010082968AE025085A4381B5FE55A4B7B3DB</vt:lpwstr>
  </property>
</Properties>
</file>