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  <p:sldId id="271" r:id="rId21"/>
    <p:sldId id="272" r:id="rId22"/>
    <p:sldId id="274" r:id="rId23"/>
    <p:sldId id="275" r:id="rId24"/>
    <p:sldId id="276" r:id="rId25"/>
    <p:sldId id="277" r:id="rId26"/>
    <p:sldId id="27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312" r:id="rId54"/>
    <p:sldId id="310" r:id="rId55"/>
    <p:sldId id="311" r:id="rId56"/>
    <p:sldId id="326" r:id="rId57"/>
    <p:sldId id="345" r:id="rId58"/>
    <p:sldId id="346" r:id="rId59"/>
    <p:sldId id="328" r:id="rId60"/>
    <p:sldId id="329" r:id="rId61"/>
    <p:sldId id="330" r:id="rId62"/>
    <p:sldId id="331" r:id="rId63"/>
    <p:sldId id="348" r:id="rId64"/>
    <p:sldId id="336" r:id="rId65"/>
    <p:sldId id="332" r:id="rId66"/>
    <p:sldId id="333" r:id="rId67"/>
    <p:sldId id="334" r:id="rId68"/>
    <p:sldId id="335" r:id="rId69"/>
    <p:sldId id="349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24" r:id="rId79"/>
    <p:sldId id="347" r:id="rId80"/>
    <p:sldId id="323" r:id="rId81"/>
    <p:sldId id="325" r:id="rId82"/>
    <p:sldId id="356" r:id="rId83"/>
    <p:sldId id="350" r:id="rId84"/>
    <p:sldId id="355" r:id="rId85"/>
    <p:sldId id="351" r:id="rId86"/>
    <p:sldId id="352" r:id="rId87"/>
    <p:sldId id="353" r:id="rId88"/>
    <p:sldId id="354" r:id="rId89"/>
    <p:sldId id="357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87356-1595-A3E6-7B5A-7317AC7476C4}" v="29" dt="2024-02-25T13:52:27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microsoft.com/office/2015/10/relationships/revisionInfo" Target="revisionInfo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147A76-1572-47F9-A39D-04E89112912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C2B87E-00F7-46C3-8BFC-47DBDFC98966}">
      <dgm:prSet/>
      <dgm:spPr/>
      <dgm:t>
        <a:bodyPr/>
        <a:lstStyle/>
        <a:p>
          <a:r>
            <a:rPr lang="en-IN" u="sng"/>
            <a:t>CRC generation at sender side</a:t>
          </a:r>
          <a:endParaRPr lang="en-US"/>
        </a:p>
      </dgm:t>
    </dgm:pt>
    <dgm:pt modelId="{63E2E2E2-95B9-48B6-8374-E5BEC962194E}" type="parTrans" cxnId="{08465095-FFA5-4E2D-A0AF-877AA0A98D1F}">
      <dgm:prSet/>
      <dgm:spPr/>
      <dgm:t>
        <a:bodyPr/>
        <a:lstStyle/>
        <a:p>
          <a:endParaRPr lang="en-US"/>
        </a:p>
      </dgm:t>
    </dgm:pt>
    <dgm:pt modelId="{D058B358-D3CE-4216-8AA0-C00D6728546B}" type="sibTrans" cxnId="{08465095-FFA5-4E2D-A0AF-877AA0A98D1F}">
      <dgm:prSet/>
      <dgm:spPr/>
      <dgm:t>
        <a:bodyPr/>
        <a:lstStyle/>
        <a:p>
          <a:endParaRPr lang="en-US"/>
        </a:p>
      </dgm:t>
    </dgm:pt>
    <dgm:pt modelId="{3B4EFDC8-AD08-418D-B7BD-BCEDF18153BE}">
      <dgm:prSet/>
      <dgm:spPr/>
      <dgm:t>
        <a:bodyPr/>
        <a:lstStyle/>
        <a:p>
          <a:r>
            <a:rPr lang="en-IN"/>
            <a:t>Step 1 : Find the length of the divisor "L"</a:t>
          </a:r>
          <a:endParaRPr lang="en-US"/>
        </a:p>
      </dgm:t>
    </dgm:pt>
    <dgm:pt modelId="{6E34A5D9-5EED-41ED-BE85-93843888AC39}" type="parTrans" cxnId="{423D6CC4-B3F9-45EE-98A4-FF16E89AA312}">
      <dgm:prSet/>
      <dgm:spPr/>
      <dgm:t>
        <a:bodyPr/>
        <a:lstStyle/>
        <a:p>
          <a:endParaRPr lang="en-US"/>
        </a:p>
      </dgm:t>
    </dgm:pt>
    <dgm:pt modelId="{D15646B2-40D8-4F1B-A13B-8EAB17AA5918}" type="sibTrans" cxnId="{423D6CC4-B3F9-45EE-98A4-FF16E89AA312}">
      <dgm:prSet/>
      <dgm:spPr/>
      <dgm:t>
        <a:bodyPr/>
        <a:lstStyle/>
        <a:p>
          <a:endParaRPr lang="en-US"/>
        </a:p>
      </dgm:t>
    </dgm:pt>
    <dgm:pt modelId="{2E0165FD-5B22-4AF1-A49F-B65C1A45786A}">
      <dgm:prSet/>
      <dgm:spPr/>
      <dgm:t>
        <a:bodyPr/>
        <a:lstStyle/>
        <a:p>
          <a:r>
            <a:rPr lang="en-IN"/>
            <a:t>Step 2 : Append "L-1" bits to the original message</a:t>
          </a:r>
          <a:endParaRPr lang="en-US"/>
        </a:p>
      </dgm:t>
    </dgm:pt>
    <dgm:pt modelId="{B526F970-C2F5-4DF8-89E4-B823DF5D41C6}" type="parTrans" cxnId="{036BE721-1F85-4734-8181-1F0CAC0E78D7}">
      <dgm:prSet/>
      <dgm:spPr/>
      <dgm:t>
        <a:bodyPr/>
        <a:lstStyle/>
        <a:p>
          <a:endParaRPr lang="en-US"/>
        </a:p>
      </dgm:t>
    </dgm:pt>
    <dgm:pt modelId="{51E7D020-FB7B-46B2-B327-A8AAA6BD783D}" type="sibTrans" cxnId="{036BE721-1F85-4734-8181-1F0CAC0E78D7}">
      <dgm:prSet/>
      <dgm:spPr/>
      <dgm:t>
        <a:bodyPr/>
        <a:lstStyle/>
        <a:p>
          <a:endParaRPr lang="en-US"/>
        </a:p>
      </dgm:t>
    </dgm:pt>
    <dgm:pt modelId="{CE361727-DC90-4382-91FC-15B5D3FC555E}">
      <dgm:prSet/>
      <dgm:spPr/>
      <dgm:t>
        <a:bodyPr/>
        <a:lstStyle/>
        <a:p>
          <a:r>
            <a:rPr lang="en-IN"/>
            <a:t>Step 3: Perform binary division (XOR ) Operation</a:t>
          </a:r>
          <a:endParaRPr lang="en-US"/>
        </a:p>
      </dgm:t>
    </dgm:pt>
    <dgm:pt modelId="{C10E0B90-FA22-4FC0-87EA-13888ECE30DF}" type="parTrans" cxnId="{B1B4F68C-FED0-4FFE-A2C4-98F6EFF5DBAC}">
      <dgm:prSet/>
      <dgm:spPr/>
      <dgm:t>
        <a:bodyPr/>
        <a:lstStyle/>
        <a:p>
          <a:endParaRPr lang="en-US"/>
        </a:p>
      </dgm:t>
    </dgm:pt>
    <dgm:pt modelId="{53FDE6EA-B49E-4D3F-94B6-AC9054128628}" type="sibTrans" cxnId="{B1B4F68C-FED0-4FFE-A2C4-98F6EFF5DBAC}">
      <dgm:prSet/>
      <dgm:spPr/>
      <dgm:t>
        <a:bodyPr/>
        <a:lstStyle/>
        <a:p>
          <a:endParaRPr lang="en-US"/>
        </a:p>
      </dgm:t>
    </dgm:pt>
    <dgm:pt modelId="{9B950F0D-077A-44AA-AEF7-6092B997975B}">
      <dgm:prSet/>
      <dgm:spPr/>
      <dgm:t>
        <a:bodyPr/>
        <a:lstStyle/>
        <a:p>
          <a:r>
            <a:rPr lang="en-IN"/>
            <a:t>Step 4 : Remainder of the division = CRC</a:t>
          </a:r>
          <a:endParaRPr lang="en-US"/>
        </a:p>
      </dgm:t>
    </dgm:pt>
    <dgm:pt modelId="{20206901-BD79-4C5B-AC9B-1AD6CC25676C}" type="parTrans" cxnId="{15957EA1-520A-4901-B3E3-F9FED517C3BB}">
      <dgm:prSet/>
      <dgm:spPr/>
      <dgm:t>
        <a:bodyPr/>
        <a:lstStyle/>
        <a:p>
          <a:endParaRPr lang="en-US"/>
        </a:p>
      </dgm:t>
    </dgm:pt>
    <dgm:pt modelId="{8C9902D9-0AEE-47B1-BB73-A23B2893210C}" type="sibTrans" cxnId="{15957EA1-520A-4901-B3E3-F9FED517C3BB}">
      <dgm:prSet/>
      <dgm:spPr/>
      <dgm:t>
        <a:bodyPr/>
        <a:lstStyle/>
        <a:p>
          <a:endParaRPr lang="en-US"/>
        </a:p>
      </dgm:t>
    </dgm:pt>
    <dgm:pt modelId="{1BAEB52F-0780-3C43-A78C-C5F920ACE287}" type="pres">
      <dgm:prSet presAssocID="{95147A76-1572-47F9-A39D-04E891129128}" presName="vert0" presStyleCnt="0">
        <dgm:presLayoutVars>
          <dgm:dir/>
          <dgm:animOne val="branch"/>
          <dgm:animLvl val="lvl"/>
        </dgm:presLayoutVars>
      </dgm:prSet>
      <dgm:spPr/>
    </dgm:pt>
    <dgm:pt modelId="{1B318774-EA73-6948-9B38-CBA517AF3F1B}" type="pres">
      <dgm:prSet presAssocID="{1EC2B87E-00F7-46C3-8BFC-47DBDFC98966}" presName="thickLine" presStyleLbl="alignNode1" presStyleIdx="0" presStyleCnt="5"/>
      <dgm:spPr/>
    </dgm:pt>
    <dgm:pt modelId="{590848C4-3F7E-374A-A98E-87CA50D49803}" type="pres">
      <dgm:prSet presAssocID="{1EC2B87E-00F7-46C3-8BFC-47DBDFC98966}" presName="horz1" presStyleCnt="0"/>
      <dgm:spPr/>
    </dgm:pt>
    <dgm:pt modelId="{4A623F1B-F6B3-BE40-A260-165FC5944D68}" type="pres">
      <dgm:prSet presAssocID="{1EC2B87E-00F7-46C3-8BFC-47DBDFC98966}" presName="tx1" presStyleLbl="revTx" presStyleIdx="0" presStyleCnt="5"/>
      <dgm:spPr/>
    </dgm:pt>
    <dgm:pt modelId="{400E7559-F90D-844A-9460-F1251A922C82}" type="pres">
      <dgm:prSet presAssocID="{1EC2B87E-00F7-46C3-8BFC-47DBDFC98966}" presName="vert1" presStyleCnt="0"/>
      <dgm:spPr/>
    </dgm:pt>
    <dgm:pt modelId="{B0C7562C-0426-0E4F-9C22-DDB67BD6870B}" type="pres">
      <dgm:prSet presAssocID="{3B4EFDC8-AD08-418D-B7BD-BCEDF18153BE}" presName="thickLine" presStyleLbl="alignNode1" presStyleIdx="1" presStyleCnt="5"/>
      <dgm:spPr/>
    </dgm:pt>
    <dgm:pt modelId="{972F64C0-C900-FE44-8004-F99134408056}" type="pres">
      <dgm:prSet presAssocID="{3B4EFDC8-AD08-418D-B7BD-BCEDF18153BE}" presName="horz1" presStyleCnt="0"/>
      <dgm:spPr/>
    </dgm:pt>
    <dgm:pt modelId="{9B1A65B9-3FE7-C646-830C-D0D06F7EEE4D}" type="pres">
      <dgm:prSet presAssocID="{3B4EFDC8-AD08-418D-B7BD-BCEDF18153BE}" presName="tx1" presStyleLbl="revTx" presStyleIdx="1" presStyleCnt="5"/>
      <dgm:spPr/>
    </dgm:pt>
    <dgm:pt modelId="{071CE224-6490-F446-8B9B-81C55B121FAE}" type="pres">
      <dgm:prSet presAssocID="{3B4EFDC8-AD08-418D-B7BD-BCEDF18153BE}" presName="vert1" presStyleCnt="0"/>
      <dgm:spPr/>
    </dgm:pt>
    <dgm:pt modelId="{82D113C1-DD94-8B4F-B7E4-0EF50A7BB8DC}" type="pres">
      <dgm:prSet presAssocID="{2E0165FD-5B22-4AF1-A49F-B65C1A45786A}" presName="thickLine" presStyleLbl="alignNode1" presStyleIdx="2" presStyleCnt="5"/>
      <dgm:spPr/>
    </dgm:pt>
    <dgm:pt modelId="{66D1BB65-409B-0D4B-BE6F-C7468C30ADC3}" type="pres">
      <dgm:prSet presAssocID="{2E0165FD-5B22-4AF1-A49F-B65C1A45786A}" presName="horz1" presStyleCnt="0"/>
      <dgm:spPr/>
    </dgm:pt>
    <dgm:pt modelId="{DA71744F-0D9E-F84A-BA57-262605ED84FF}" type="pres">
      <dgm:prSet presAssocID="{2E0165FD-5B22-4AF1-A49F-B65C1A45786A}" presName="tx1" presStyleLbl="revTx" presStyleIdx="2" presStyleCnt="5"/>
      <dgm:spPr/>
    </dgm:pt>
    <dgm:pt modelId="{F1743862-6963-EE48-9CC5-660E5BDBD93C}" type="pres">
      <dgm:prSet presAssocID="{2E0165FD-5B22-4AF1-A49F-B65C1A45786A}" presName="vert1" presStyleCnt="0"/>
      <dgm:spPr/>
    </dgm:pt>
    <dgm:pt modelId="{5EEBD3A6-EC7B-5A47-B8E1-7DF2F6563373}" type="pres">
      <dgm:prSet presAssocID="{CE361727-DC90-4382-91FC-15B5D3FC555E}" presName="thickLine" presStyleLbl="alignNode1" presStyleIdx="3" presStyleCnt="5"/>
      <dgm:spPr/>
    </dgm:pt>
    <dgm:pt modelId="{D28A2107-C5EE-5445-BF9A-8F682A1175B4}" type="pres">
      <dgm:prSet presAssocID="{CE361727-DC90-4382-91FC-15B5D3FC555E}" presName="horz1" presStyleCnt="0"/>
      <dgm:spPr/>
    </dgm:pt>
    <dgm:pt modelId="{B42FDD89-FAB8-F64C-8E5D-42542F29156E}" type="pres">
      <dgm:prSet presAssocID="{CE361727-DC90-4382-91FC-15B5D3FC555E}" presName="tx1" presStyleLbl="revTx" presStyleIdx="3" presStyleCnt="5"/>
      <dgm:spPr/>
    </dgm:pt>
    <dgm:pt modelId="{192FDEB2-34C0-2E46-8384-B93A2E2F6D48}" type="pres">
      <dgm:prSet presAssocID="{CE361727-DC90-4382-91FC-15B5D3FC555E}" presName="vert1" presStyleCnt="0"/>
      <dgm:spPr/>
    </dgm:pt>
    <dgm:pt modelId="{E6796192-500B-2249-A77E-250EC9F536F5}" type="pres">
      <dgm:prSet presAssocID="{9B950F0D-077A-44AA-AEF7-6092B997975B}" presName="thickLine" presStyleLbl="alignNode1" presStyleIdx="4" presStyleCnt="5"/>
      <dgm:spPr/>
    </dgm:pt>
    <dgm:pt modelId="{E0066E3A-AFE9-D74D-AB0C-7114F5804A48}" type="pres">
      <dgm:prSet presAssocID="{9B950F0D-077A-44AA-AEF7-6092B997975B}" presName="horz1" presStyleCnt="0"/>
      <dgm:spPr/>
    </dgm:pt>
    <dgm:pt modelId="{587BC303-08C6-D649-91FF-2F2BE4A6B22F}" type="pres">
      <dgm:prSet presAssocID="{9B950F0D-077A-44AA-AEF7-6092B997975B}" presName="tx1" presStyleLbl="revTx" presStyleIdx="4" presStyleCnt="5"/>
      <dgm:spPr/>
    </dgm:pt>
    <dgm:pt modelId="{2F5CCC86-0424-4B4D-AE28-0B3BA6F90174}" type="pres">
      <dgm:prSet presAssocID="{9B950F0D-077A-44AA-AEF7-6092B997975B}" presName="vert1" presStyleCnt="0"/>
      <dgm:spPr/>
    </dgm:pt>
  </dgm:ptLst>
  <dgm:cxnLst>
    <dgm:cxn modelId="{036BE721-1F85-4734-8181-1F0CAC0E78D7}" srcId="{95147A76-1572-47F9-A39D-04E891129128}" destId="{2E0165FD-5B22-4AF1-A49F-B65C1A45786A}" srcOrd="2" destOrd="0" parTransId="{B526F970-C2F5-4DF8-89E4-B823DF5D41C6}" sibTransId="{51E7D020-FB7B-46B2-B327-A8AAA6BD783D}"/>
    <dgm:cxn modelId="{2D6FD233-14B5-A946-98B2-884FB9006B41}" type="presOf" srcId="{9B950F0D-077A-44AA-AEF7-6092B997975B}" destId="{587BC303-08C6-D649-91FF-2F2BE4A6B22F}" srcOrd="0" destOrd="0" presId="urn:microsoft.com/office/officeart/2008/layout/LinedList"/>
    <dgm:cxn modelId="{B1B4F68C-FED0-4FFE-A2C4-98F6EFF5DBAC}" srcId="{95147A76-1572-47F9-A39D-04E891129128}" destId="{CE361727-DC90-4382-91FC-15B5D3FC555E}" srcOrd="3" destOrd="0" parTransId="{C10E0B90-FA22-4FC0-87EA-13888ECE30DF}" sibTransId="{53FDE6EA-B49E-4D3F-94B6-AC9054128628}"/>
    <dgm:cxn modelId="{7BC8D394-BA0C-AF49-BD73-BA07485BDBF3}" type="presOf" srcId="{1EC2B87E-00F7-46C3-8BFC-47DBDFC98966}" destId="{4A623F1B-F6B3-BE40-A260-165FC5944D68}" srcOrd="0" destOrd="0" presId="urn:microsoft.com/office/officeart/2008/layout/LinedList"/>
    <dgm:cxn modelId="{08465095-FFA5-4E2D-A0AF-877AA0A98D1F}" srcId="{95147A76-1572-47F9-A39D-04E891129128}" destId="{1EC2B87E-00F7-46C3-8BFC-47DBDFC98966}" srcOrd="0" destOrd="0" parTransId="{63E2E2E2-95B9-48B6-8374-E5BEC962194E}" sibTransId="{D058B358-D3CE-4216-8AA0-C00D6728546B}"/>
    <dgm:cxn modelId="{1A95479C-A0E3-C447-8BC4-8E9F818C70F1}" type="presOf" srcId="{2E0165FD-5B22-4AF1-A49F-B65C1A45786A}" destId="{DA71744F-0D9E-F84A-BA57-262605ED84FF}" srcOrd="0" destOrd="0" presId="urn:microsoft.com/office/officeart/2008/layout/LinedList"/>
    <dgm:cxn modelId="{15957EA1-520A-4901-B3E3-F9FED517C3BB}" srcId="{95147A76-1572-47F9-A39D-04E891129128}" destId="{9B950F0D-077A-44AA-AEF7-6092B997975B}" srcOrd="4" destOrd="0" parTransId="{20206901-BD79-4C5B-AC9B-1AD6CC25676C}" sibTransId="{8C9902D9-0AEE-47B1-BB73-A23B2893210C}"/>
    <dgm:cxn modelId="{4BB39EA8-3717-4A41-9BE7-4D79ADE4FB09}" type="presOf" srcId="{95147A76-1572-47F9-A39D-04E891129128}" destId="{1BAEB52F-0780-3C43-A78C-C5F920ACE287}" srcOrd="0" destOrd="0" presId="urn:microsoft.com/office/officeart/2008/layout/LinedList"/>
    <dgm:cxn modelId="{423D6CC4-B3F9-45EE-98A4-FF16E89AA312}" srcId="{95147A76-1572-47F9-A39D-04E891129128}" destId="{3B4EFDC8-AD08-418D-B7BD-BCEDF18153BE}" srcOrd="1" destOrd="0" parTransId="{6E34A5D9-5EED-41ED-BE85-93843888AC39}" sibTransId="{D15646B2-40D8-4F1B-A13B-8EAB17AA5918}"/>
    <dgm:cxn modelId="{B7F819C5-0232-1B48-8079-29998A76EA49}" type="presOf" srcId="{3B4EFDC8-AD08-418D-B7BD-BCEDF18153BE}" destId="{9B1A65B9-3FE7-C646-830C-D0D06F7EEE4D}" srcOrd="0" destOrd="0" presId="urn:microsoft.com/office/officeart/2008/layout/LinedList"/>
    <dgm:cxn modelId="{7E561CC6-5F6E-A540-8D22-5331744800DB}" type="presOf" srcId="{CE361727-DC90-4382-91FC-15B5D3FC555E}" destId="{B42FDD89-FAB8-F64C-8E5D-42542F29156E}" srcOrd="0" destOrd="0" presId="urn:microsoft.com/office/officeart/2008/layout/LinedList"/>
    <dgm:cxn modelId="{894CFC38-4934-9340-BC18-689DD03CF694}" type="presParOf" srcId="{1BAEB52F-0780-3C43-A78C-C5F920ACE287}" destId="{1B318774-EA73-6948-9B38-CBA517AF3F1B}" srcOrd="0" destOrd="0" presId="urn:microsoft.com/office/officeart/2008/layout/LinedList"/>
    <dgm:cxn modelId="{85F12337-5BB8-E548-ACBB-F26D621595C1}" type="presParOf" srcId="{1BAEB52F-0780-3C43-A78C-C5F920ACE287}" destId="{590848C4-3F7E-374A-A98E-87CA50D49803}" srcOrd="1" destOrd="0" presId="urn:microsoft.com/office/officeart/2008/layout/LinedList"/>
    <dgm:cxn modelId="{5CB4DD6B-1B3E-D540-89DD-A9D508F2F9A8}" type="presParOf" srcId="{590848C4-3F7E-374A-A98E-87CA50D49803}" destId="{4A623F1B-F6B3-BE40-A260-165FC5944D68}" srcOrd="0" destOrd="0" presId="urn:microsoft.com/office/officeart/2008/layout/LinedList"/>
    <dgm:cxn modelId="{895139B5-266E-784A-9B03-02934598185B}" type="presParOf" srcId="{590848C4-3F7E-374A-A98E-87CA50D49803}" destId="{400E7559-F90D-844A-9460-F1251A922C82}" srcOrd="1" destOrd="0" presId="urn:microsoft.com/office/officeart/2008/layout/LinedList"/>
    <dgm:cxn modelId="{FA69EA4B-F86C-5D46-8ECB-E4B1FA1C8833}" type="presParOf" srcId="{1BAEB52F-0780-3C43-A78C-C5F920ACE287}" destId="{B0C7562C-0426-0E4F-9C22-DDB67BD6870B}" srcOrd="2" destOrd="0" presId="urn:microsoft.com/office/officeart/2008/layout/LinedList"/>
    <dgm:cxn modelId="{0FFEC608-67BF-234F-A256-09EAFB0CC79F}" type="presParOf" srcId="{1BAEB52F-0780-3C43-A78C-C5F920ACE287}" destId="{972F64C0-C900-FE44-8004-F99134408056}" srcOrd="3" destOrd="0" presId="urn:microsoft.com/office/officeart/2008/layout/LinedList"/>
    <dgm:cxn modelId="{5AED4845-DABC-2943-8652-044032C56A01}" type="presParOf" srcId="{972F64C0-C900-FE44-8004-F99134408056}" destId="{9B1A65B9-3FE7-C646-830C-D0D06F7EEE4D}" srcOrd="0" destOrd="0" presId="urn:microsoft.com/office/officeart/2008/layout/LinedList"/>
    <dgm:cxn modelId="{224065FC-13B4-1D45-AD81-B996494592DF}" type="presParOf" srcId="{972F64C0-C900-FE44-8004-F99134408056}" destId="{071CE224-6490-F446-8B9B-81C55B121FAE}" srcOrd="1" destOrd="0" presId="urn:microsoft.com/office/officeart/2008/layout/LinedList"/>
    <dgm:cxn modelId="{B60FAE34-1659-0046-BCB6-12D6656C78DE}" type="presParOf" srcId="{1BAEB52F-0780-3C43-A78C-C5F920ACE287}" destId="{82D113C1-DD94-8B4F-B7E4-0EF50A7BB8DC}" srcOrd="4" destOrd="0" presId="urn:microsoft.com/office/officeart/2008/layout/LinedList"/>
    <dgm:cxn modelId="{0D7F2014-8D3D-9240-8E84-91E1AD981083}" type="presParOf" srcId="{1BAEB52F-0780-3C43-A78C-C5F920ACE287}" destId="{66D1BB65-409B-0D4B-BE6F-C7468C30ADC3}" srcOrd="5" destOrd="0" presId="urn:microsoft.com/office/officeart/2008/layout/LinedList"/>
    <dgm:cxn modelId="{D397A606-4984-D44F-96D2-4610317E6DEB}" type="presParOf" srcId="{66D1BB65-409B-0D4B-BE6F-C7468C30ADC3}" destId="{DA71744F-0D9E-F84A-BA57-262605ED84FF}" srcOrd="0" destOrd="0" presId="urn:microsoft.com/office/officeart/2008/layout/LinedList"/>
    <dgm:cxn modelId="{BCF39015-D4DF-254A-94D4-B1C5C59AE649}" type="presParOf" srcId="{66D1BB65-409B-0D4B-BE6F-C7468C30ADC3}" destId="{F1743862-6963-EE48-9CC5-660E5BDBD93C}" srcOrd="1" destOrd="0" presId="urn:microsoft.com/office/officeart/2008/layout/LinedList"/>
    <dgm:cxn modelId="{DEA2682A-2790-6C42-B258-22FE610B1868}" type="presParOf" srcId="{1BAEB52F-0780-3C43-A78C-C5F920ACE287}" destId="{5EEBD3A6-EC7B-5A47-B8E1-7DF2F6563373}" srcOrd="6" destOrd="0" presId="urn:microsoft.com/office/officeart/2008/layout/LinedList"/>
    <dgm:cxn modelId="{13872A77-9D87-A04B-92AC-724E8C6DC9F5}" type="presParOf" srcId="{1BAEB52F-0780-3C43-A78C-C5F920ACE287}" destId="{D28A2107-C5EE-5445-BF9A-8F682A1175B4}" srcOrd="7" destOrd="0" presId="urn:microsoft.com/office/officeart/2008/layout/LinedList"/>
    <dgm:cxn modelId="{277D6F1C-4CFD-444B-8879-63EE8FBC5C54}" type="presParOf" srcId="{D28A2107-C5EE-5445-BF9A-8F682A1175B4}" destId="{B42FDD89-FAB8-F64C-8E5D-42542F29156E}" srcOrd="0" destOrd="0" presId="urn:microsoft.com/office/officeart/2008/layout/LinedList"/>
    <dgm:cxn modelId="{2EBDB85E-8149-B844-8759-3F0305D093F3}" type="presParOf" srcId="{D28A2107-C5EE-5445-BF9A-8F682A1175B4}" destId="{192FDEB2-34C0-2E46-8384-B93A2E2F6D48}" srcOrd="1" destOrd="0" presId="urn:microsoft.com/office/officeart/2008/layout/LinedList"/>
    <dgm:cxn modelId="{E4ADBBF0-61D8-1948-80A6-8BD52F47ADB6}" type="presParOf" srcId="{1BAEB52F-0780-3C43-A78C-C5F920ACE287}" destId="{E6796192-500B-2249-A77E-250EC9F536F5}" srcOrd="8" destOrd="0" presId="urn:microsoft.com/office/officeart/2008/layout/LinedList"/>
    <dgm:cxn modelId="{0D45060E-F6C9-834F-8BFA-88D86F09CE3C}" type="presParOf" srcId="{1BAEB52F-0780-3C43-A78C-C5F920ACE287}" destId="{E0066E3A-AFE9-D74D-AB0C-7114F5804A48}" srcOrd="9" destOrd="0" presId="urn:microsoft.com/office/officeart/2008/layout/LinedList"/>
    <dgm:cxn modelId="{0D40A3FF-68EA-514A-91B3-CC746ECB922D}" type="presParOf" srcId="{E0066E3A-AFE9-D74D-AB0C-7114F5804A48}" destId="{587BC303-08C6-D649-91FF-2F2BE4A6B22F}" srcOrd="0" destOrd="0" presId="urn:microsoft.com/office/officeart/2008/layout/LinedList"/>
    <dgm:cxn modelId="{37767BDB-FF0D-7B4C-B83A-947563881034}" type="presParOf" srcId="{E0066E3A-AFE9-D74D-AB0C-7114F5804A48}" destId="{2F5CCC86-0424-4B4D-AE28-0B3BA6F901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18774-EA73-6948-9B38-CBA517AF3F1B}">
      <dsp:nvSpPr>
        <dsp:cNvPr id="0" name=""/>
        <dsp:cNvSpPr/>
      </dsp:nvSpPr>
      <dsp:spPr>
        <a:xfrm>
          <a:off x="0" y="596"/>
          <a:ext cx="105047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23F1B-F6B3-BE40-A260-165FC5944D68}">
      <dsp:nvSpPr>
        <dsp:cNvPr id="0" name=""/>
        <dsp:cNvSpPr/>
      </dsp:nvSpPr>
      <dsp:spPr>
        <a:xfrm>
          <a:off x="0" y="596"/>
          <a:ext cx="10504714" cy="976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u="sng" kern="1200"/>
            <a:t>CRC generation at sender side</a:t>
          </a:r>
          <a:endParaRPr lang="en-US" sz="3800" kern="1200"/>
        </a:p>
      </dsp:txBody>
      <dsp:txXfrm>
        <a:off x="0" y="596"/>
        <a:ext cx="10504714" cy="976503"/>
      </dsp:txXfrm>
    </dsp:sp>
    <dsp:sp modelId="{B0C7562C-0426-0E4F-9C22-DDB67BD6870B}">
      <dsp:nvSpPr>
        <dsp:cNvPr id="0" name=""/>
        <dsp:cNvSpPr/>
      </dsp:nvSpPr>
      <dsp:spPr>
        <a:xfrm>
          <a:off x="0" y="977099"/>
          <a:ext cx="105047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A65B9-3FE7-C646-830C-D0D06F7EEE4D}">
      <dsp:nvSpPr>
        <dsp:cNvPr id="0" name=""/>
        <dsp:cNvSpPr/>
      </dsp:nvSpPr>
      <dsp:spPr>
        <a:xfrm>
          <a:off x="0" y="977099"/>
          <a:ext cx="10504714" cy="976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Step 1 : Find the length of the divisor "L"</a:t>
          </a:r>
          <a:endParaRPr lang="en-US" sz="3800" kern="1200"/>
        </a:p>
      </dsp:txBody>
      <dsp:txXfrm>
        <a:off x="0" y="977099"/>
        <a:ext cx="10504714" cy="976503"/>
      </dsp:txXfrm>
    </dsp:sp>
    <dsp:sp modelId="{82D113C1-DD94-8B4F-B7E4-0EF50A7BB8DC}">
      <dsp:nvSpPr>
        <dsp:cNvPr id="0" name=""/>
        <dsp:cNvSpPr/>
      </dsp:nvSpPr>
      <dsp:spPr>
        <a:xfrm>
          <a:off x="0" y="1953602"/>
          <a:ext cx="105047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1744F-0D9E-F84A-BA57-262605ED84FF}">
      <dsp:nvSpPr>
        <dsp:cNvPr id="0" name=""/>
        <dsp:cNvSpPr/>
      </dsp:nvSpPr>
      <dsp:spPr>
        <a:xfrm>
          <a:off x="0" y="1953602"/>
          <a:ext cx="10504714" cy="976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Step 2 : Append "L-1" bits to the original message</a:t>
          </a:r>
          <a:endParaRPr lang="en-US" sz="3800" kern="1200"/>
        </a:p>
      </dsp:txBody>
      <dsp:txXfrm>
        <a:off x="0" y="1953602"/>
        <a:ext cx="10504714" cy="976503"/>
      </dsp:txXfrm>
    </dsp:sp>
    <dsp:sp modelId="{5EEBD3A6-EC7B-5A47-B8E1-7DF2F6563373}">
      <dsp:nvSpPr>
        <dsp:cNvPr id="0" name=""/>
        <dsp:cNvSpPr/>
      </dsp:nvSpPr>
      <dsp:spPr>
        <a:xfrm>
          <a:off x="0" y="2930106"/>
          <a:ext cx="105047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FDD89-FAB8-F64C-8E5D-42542F29156E}">
      <dsp:nvSpPr>
        <dsp:cNvPr id="0" name=""/>
        <dsp:cNvSpPr/>
      </dsp:nvSpPr>
      <dsp:spPr>
        <a:xfrm>
          <a:off x="0" y="2930106"/>
          <a:ext cx="10504714" cy="976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Step 3: Perform binary division (XOR ) Operation</a:t>
          </a:r>
          <a:endParaRPr lang="en-US" sz="3800" kern="1200"/>
        </a:p>
      </dsp:txBody>
      <dsp:txXfrm>
        <a:off x="0" y="2930106"/>
        <a:ext cx="10504714" cy="976503"/>
      </dsp:txXfrm>
    </dsp:sp>
    <dsp:sp modelId="{E6796192-500B-2249-A77E-250EC9F536F5}">
      <dsp:nvSpPr>
        <dsp:cNvPr id="0" name=""/>
        <dsp:cNvSpPr/>
      </dsp:nvSpPr>
      <dsp:spPr>
        <a:xfrm>
          <a:off x="0" y="3906609"/>
          <a:ext cx="105047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BC303-08C6-D649-91FF-2F2BE4A6B22F}">
      <dsp:nvSpPr>
        <dsp:cNvPr id="0" name=""/>
        <dsp:cNvSpPr/>
      </dsp:nvSpPr>
      <dsp:spPr>
        <a:xfrm>
          <a:off x="0" y="3906609"/>
          <a:ext cx="10504714" cy="976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Step 4 : Remainder of the division = CRC</a:t>
          </a:r>
          <a:endParaRPr lang="en-US" sz="3800" kern="1200"/>
        </a:p>
      </dsp:txBody>
      <dsp:txXfrm>
        <a:off x="0" y="3906609"/>
        <a:ext cx="10504714" cy="976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Lecture: 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14EF-191E-DA29-472E-26AF9A64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 Link Layer Design Issues</a:t>
            </a:r>
            <a:endParaRPr lang="en-US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18F4F-6543-EF8F-5DA4-74EAA4081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Services Provided to the Network Layer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Framing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Error Control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Flow Control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10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83DFD-0FA2-9D92-3C20-3C799C8E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Functions of the Data Link Layer</a:t>
            </a:r>
            <a:endParaRPr lang="en-US" sz="4800"/>
          </a:p>
          <a:p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68E4-380F-DD4B-05A8-FC83D2DF4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Provide service interface to the network layer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Framing provides a way for a sender to transmit a set of bits that are meaningful to the receiver.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Dealing with transmission errors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Regulating data flow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Slow receivers not swamped by fast senders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 diagram of a trailer and a trailer&#10;&#10;Description automatically generated">
            <a:extLst>
              <a:ext uri="{FF2B5EF4-FFF2-40B4-BE49-F238E27FC236}">
                <a16:creationId xmlns:a16="http://schemas.microsoft.com/office/drawing/2014/main" id="{2117FBB3-5261-C5E8-AE43-8EA65CF8F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70230"/>
            <a:ext cx="5150277" cy="267765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83D9E-87CC-F747-CC83-D77A8C65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5000">
                <a:ea typeface="+mj-lt"/>
                <a:cs typeface="+mj-lt"/>
              </a:rPr>
              <a:t>Services Provided to Network Layer</a:t>
            </a:r>
            <a:endParaRPr lang="en-US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0DAB2-4055-9FD4-5E57-78D381BF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Services Provided to the Network Layer - </a:t>
            </a:r>
            <a:r>
              <a:rPr lang="en-US" sz="2200">
                <a:ea typeface="+mn-lt"/>
                <a:cs typeface="+mn-lt"/>
              </a:rPr>
              <a:t>Recall that lower layers provide services to higher layers that implement the actual physical path. </a:t>
            </a:r>
          </a:p>
          <a:p>
            <a:r>
              <a:rPr lang="en-US" sz="2200">
                <a:ea typeface="+mn-lt"/>
                <a:cs typeface="+mn-lt"/>
              </a:rPr>
              <a:t>The higher layer on the source communicates to the same layer on the destination via a </a:t>
            </a:r>
            <a:r>
              <a:rPr lang="en-US" sz="2200" i="1">
                <a:ea typeface="+mn-lt"/>
                <a:cs typeface="+mn-lt"/>
              </a:rPr>
              <a:t>virtual</a:t>
            </a:r>
            <a:r>
              <a:rPr lang="en-US" sz="2200">
                <a:ea typeface="+mn-lt"/>
                <a:cs typeface="+mn-lt"/>
              </a:rPr>
              <a:t> path created by the lower layers. </a:t>
            </a:r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pic>
        <p:nvPicPr>
          <p:cNvPr id="4" name="Picture 3" descr="A diagram of a virtual data path&#10;&#10;Description automatically generated">
            <a:extLst>
              <a:ext uri="{FF2B5EF4-FFF2-40B4-BE49-F238E27FC236}">
                <a16:creationId xmlns:a16="http://schemas.microsoft.com/office/drawing/2014/main" id="{2B1DDC1B-794D-E7A5-B635-74CD4730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30" y="640080"/>
            <a:ext cx="528500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6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D2FF-F6E2-6590-0DF0-BFFD2C7C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Types of services provided to the Network Layer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24259-7520-F5FE-82A9-4EA6AB380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Unacknowledged Connectionless service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Acknowledged Connectionless service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Acknowledged Connection-Oriented service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41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48F4-ACF7-BABC-EC10-E55EB40F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Unacknowledged Connectionless service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42002-3450-575A-20A8-DEBDC481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Source machine send independent frames to the destination machine without having the destination machine acknowledge them</a:t>
            </a:r>
          </a:p>
          <a:p>
            <a:r>
              <a:rPr lang="en-US" dirty="0">
                <a:ea typeface="+mn-lt"/>
                <a:cs typeface="+mn-lt"/>
              </a:rPr>
              <a:t>No logical connection is established beforehand and released afterward</a:t>
            </a:r>
          </a:p>
          <a:p>
            <a:r>
              <a:rPr lang="en-US" dirty="0"/>
              <a:t>If a frame is lost due to noise on the line, no attempt is made to detect the loss or recover  from it in the data link layer.</a:t>
            </a:r>
          </a:p>
          <a:p>
            <a:r>
              <a:rPr lang="en-US" dirty="0">
                <a:ea typeface="+mn-lt"/>
                <a:cs typeface="+mn-lt"/>
              </a:rPr>
              <a:t>Appropriate for voice, where delay is worse than bad data.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5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C85A-C0BC-3558-8DD5-72BFFB65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Acknowledged Connectionless service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D823A-59AC-CF08-17D8-757AFE87A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is no logical connections between sender and receiver</a:t>
            </a:r>
          </a:p>
          <a:p>
            <a:r>
              <a:rPr lang="en-US" dirty="0">
                <a:ea typeface="+mn-lt"/>
                <a:cs typeface="+mn-lt"/>
              </a:rPr>
              <a:t>Each frame sent is individually acknowledged. Hence the sender knows whether the frame has arrived correctly or not.</a:t>
            </a:r>
          </a:p>
          <a:p>
            <a:r>
              <a:rPr lang="en-US" dirty="0">
                <a:ea typeface="+mn-lt"/>
                <a:cs typeface="+mn-lt"/>
              </a:rPr>
              <a:t>If it is not arrived within a specified time interval, it can be send again.</a:t>
            </a:r>
          </a:p>
          <a:p>
            <a:r>
              <a:rPr lang="en-US" dirty="0">
                <a:ea typeface="+mn-lt"/>
                <a:cs typeface="+mn-lt"/>
              </a:rPr>
              <a:t>This service is useful over unreliable channels such as wireless system.</a:t>
            </a:r>
          </a:p>
          <a:p>
            <a:r>
              <a:rPr lang="en-US" dirty="0">
                <a:ea typeface="+mn-lt"/>
                <a:cs typeface="+mn-lt"/>
              </a:rPr>
              <a:t>Adding ack in the DLL rather than in the NL is just an optimization and not a requirement.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9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383B-F543-6CB8-B72C-BA34FEDB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Acknowledged Connection-oriented service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BC9BA-7CB0-BB3F-3BD5-F4E54EA6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Most reliable</a:t>
            </a:r>
          </a:p>
          <a:p>
            <a:r>
              <a:rPr lang="en-US" dirty="0"/>
              <a:t>Source and destination machine establishes a connection before </a:t>
            </a:r>
            <a:r>
              <a:rPr lang="en-US"/>
              <a:t>any data are sent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Guaranteed service – 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Each frame sent is indeed received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Each frame is received exactly once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Frames are received in order</a:t>
            </a:r>
            <a:endParaRPr lang="en-US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1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6327-9EC9-332A-8C6B-6F70327C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FAA3-AFF3-52D1-634B-FA23A90D9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Framing is a function of the data link layer. 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It provides a way for a sender to transmit a set of bits that are meaningful to the receiver.</a:t>
            </a:r>
          </a:p>
          <a:p>
            <a:r>
              <a:rPr lang="en-US" dirty="0">
                <a:ea typeface="+mn-lt"/>
                <a:cs typeface="+mn-lt"/>
              </a:rPr>
              <a:t>Ethernet, token ring, frame relay, and other data link layer technologies have their own frame structures.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Frames have headers that contain information such as error-checking codes.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0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A9DB-EAAF-00F3-34FF-EDA7A888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39A1-3E2E-2BE9-3927-E72D23D8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There are four different types of framing, each of which provides a way for the sender to tell the receiver where the block of data begins and ends: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Byte  Count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Flag bytes with byte stuffing</a:t>
            </a:r>
            <a:br>
              <a:rPr lang="en-US" dirty="0"/>
            </a:br>
            <a:endParaRPr lang="en-US"/>
          </a:p>
          <a:p>
            <a:r>
              <a:rPr lang="en-US" dirty="0">
                <a:ea typeface="+mn-lt"/>
                <a:cs typeface="+mn-lt"/>
              </a:rPr>
              <a:t>Flag bytes with bit stuffing</a:t>
            </a:r>
            <a:br>
              <a:rPr lang="en-US" dirty="0"/>
            </a:br>
            <a:endParaRPr lang="en-US"/>
          </a:p>
          <a:p>
            <a:r>
              <a:rPr lang="en-US" dirty="0">
                <a:ea typeface="+mn-lt"/>
                <a:cs typeface="+mn-lt"/>
              </a:rPr>
              <a:t>Physical Layer Violation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38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D5AF-7656-89A0-CC51-25A43F6D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Byte Count</a:t>
            </a:r>
            <a:endParaRPr lang="en-US" sz="3200" dirty="0"/>
          </a:p>
          <a:p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29C3-8366-7A62-5FAE-2DD66030B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121996"/>
            <a:ext cx="4156861" cy="3463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b="1" dirty="0">
                <a:ea typeface="+mn-lt"/>
                <a:cs typeface="+mn-lt"/>
              </a:rPr>
              <a:t>This framing method uses a field in the header to specify the number of bytes in the frame.</a:t>
            </a:r>
            <a:endParaRPr lang="en-US" sz="2000"/>
          </a:p>
          <a:p>
            <a:pPr algn="just"/>
            <a:r>
              <a:rPr lang="en-US" sz="2000" b="1" dirty="0"/>
              <a:t>When the data link layer at the destination sees the byte count, it knows how many bytes follow and hence whare the end of the frame is.</a:t>
            </a:r>
          </a:p>
          <a:p>
            <a:pPr algn="just"/>
            <a:r>
              <a:rPr lang="en-US" sz="2000" b="1" dirty="0"/>
              <a:t>What if the count is garbled..?</a:t>
            </a:r>
          </a:p>
        </p:txBody>
      </p:sp>
      <p:pic>
        <p:nvPicPr>
          <p:cNvPr id="4" name="Picture 3" descr="A diagram of a character stream&#10;&#10;Description automatically generated">
            <a:extLst>
              <a:ext uri="{FF2B5EF4-FFF2-40B4-BE49-F238E27FC236}">
                <a16:creationId xmlns:a16="http://schemas.microsoft.com/office/drawing/2014/main" id="{F41E5875-E217-8513-D9CA-BE560D9F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232" y="1548431"/>
            <a:ext cx="6099786" cy="377806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841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31F8-41E1-934D-4A6C-EF7006F2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with byte count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51C4-5FEB-C733-7199-422E42DED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Even if with checksum, the receiver knows that the frame is bad there is no way to tell where the next frame starts.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Asking for retransmission doesn’t help either because the start of the retransmitted frame is not known.</a:t>
            </a:r>
            <a:endParaRPr lang="en-US" dirty="0"/>
          </a:p>
          <a:p>
            <a:endParaRPr lang="en-US" dirty="0"/>
          </a:p>
          <a:p>
            <a:r>
              <a:rPr lang="en-US" dirty="0"/>
              <a:t>Rarely used method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21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4AD35-CFE8-FDB7-B14B-507EC137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Framing with byte stuffing</a:t>
            </a:r>
            <a:endParaRPr lang="en-US" sz="3400"/>
          </a:p>
          <a:p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60E0-2884-9AFB-A5D1-94355DF0E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Each frame starts and end with special bytes called flag byte.</a:t>
            </a:r>
          </a:p>
          <a:p>
            <a:r>
              <a:rPr lang="en-US" sz="2000" b="1" dirty="0"/>
              <a:t>Two consecutive flag byte indicates the end of one frame and start of the other frame.</a:t>
            </a:r>
          </a:p>
          <a:p>
            <a:r>
              <a:rPr lang="en-US" sz="2000" b="1" dirty="0"/>
              <a:t>If the receiver looses synchronization it can just search for two flag bytes to find the end of the current frame  and start of the next frame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9A784589-C57D-1CD5-D206-A445641C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364539"/>
            <a:ext cx="6440424" cy="407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33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E0C7-595A-3864-5D66-2A4654E6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rial"/>
                <a:cs typeface="Arial"/>
              </a:rPr>
              <a:t>Problem in byte stuffing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88A80-4D6B-F406-13E7-AEC888DC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latin typeface="Arial"/>
                <a:cs typeface="Arial"/>
              </a:rPr>
              <a:t>Flag byte can occur in data</a:t>
            </a:r>
          </a:p>
          <a:p>
            <a:r>
              <a:rPr lang="en-US" b="1" dirty="0">
                <a:latin typeface="Arial"/>
                <a:cs typeface="Arial"/>
              </a:rPr>
              <a:t>To solve this, to solve this insert a special character called ESC(escape byte) at the sender's data link layer just before each " accidental" flag byte in the data.</a:t>
            </a:r>
          </a:p>
          <a:p>
            <a:r>
              <a:rPr lang="en-US" b="1" dirty="0">
                <a:latin typeface="Arial"/>
                <a:cs typeface="Arial"/>
              </a:rPr>
              <a:t>Hence the framing flag byte can be distinguished from one in the data by the absence or presence of ESC before it.</a:t>
            </a:r>
          </a:p>
          <a:p>
            <a:r>
              <a:rPr lang="en-US" b="1" dirty="0">
                <a:latin typeface="Arial"/>
                <a:cs typeface="Arial"/>
              </a:rPr>
              <a:t>The data link layer at the receiving end removes the escape bytes before giving it to the network layer. </a:t>
            </a:r>
            <a:endParaRPr lang="en-US" dirty="0">
              <a:solidFill>
                <a:srgbClr val="808080"/>
              </a:solidFill>
              <a:latin typeface="Arial"/>
              <a:cs typeface="Arial"/>
            </a:endParaRPr>
          </a:p>
          <a:p>
            <a:r>
              <a:rPr lang="en-US" b="1" dirty="0">
                <a:latin typeface="Arial"/>
                <a:cs typeface="Arial"/>
              </a:rPr>
              <a:t>This technique is known as </a:t>
            </a:r>
            <a:r>
              <a:rPr lang="en-US" b="1" i="1" dirty="0">
                <a:solidFill>
                  <a:srgbClr val="C00000"/>
                </a:solidFill>
                <a:latin typeface="Arial"/>
                <a:cs typeface="Arial"/>
              </a:rPr>
              <a:t>byte stuffing</a:t>
            </a:r>
          </a:p>
          <a:p>
            <a:r>
              <a:rPr lang="en-US" b="1" dirty="0">
                <a:latin typeface="Arial"/>
                <a:cs typeface="Arial"/>
              </a:rPr>
              <a:t>The data become so bulky</a:t>
            </a:r>
            <a:endParaRPr lang="en-US" dirty="0">
              <a:solidFill>
                <a:srgbClr val="808080"/>
              </a:solidFill>
              <a:latin typeface="Arial"/>
              <a:cs typeface="Arial"/>
            </a:endParaRPr>
          </a:p>
          <a:p>
            <a:endParaRPr lang="en-US" sz="1800" dirty="0">
              <a:solidFill>
                <a:srgbClr val="80808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ACE1-FF44-B46E-6B2E-CDBDB28B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Framing with bit stuffing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93DE0-6E8A-1385-D31B-9FEBBCAA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Bit stuffing is also known as bit-oriented framing or bit-oriented approach.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000000"/>
                </a:solidFill>
              </a:rPr>
              <a:t>Framing done at the bit level.</a:t>
            </a:r>
          </a:p>
          <a:p>
            <a:r>
              <a:rPr lang="en-US" dirty="0">
                <a:solidFill>
                  <a:srgbClr val="000000"/>
                </a:solidFill>
              </a:rPr>
              <a:t>Frames can contain an arbitrary number of bits made up of units of any size</a:t>
            </a:r>
          </a:p>
          <a:p>
            <a:r>
              <a:rPr lang="en-US" dirty="0">
                <a:solidFill>
                  <a:srgbClr val="000000"/>
                </a:solidFill>
              </a:rPr>
              <a:t>Each frame begins with a special bit pattern, 01111110 or 0x7E in hexadecimal</a:t>
            </a:r>
          </a:p>
          <a:p>
            <a:r>
              <a:rPr lang="en-US" dirty="0">
                <a:solidFill>
                  <a:srgbClr val="000000"/>
                </a:solidFill>
              </a:rPr>
              <a:t>Whenever the sender's data link layer encounters five consecutive 1's in the data, it automatically stuffs a 0 bit into the outgoing bit stream.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40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5683-41EB-A5CF-2AA9-3BBBCF65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CE7E-535D-CE7F-71C4-8F0DBA67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the receiver sees five consecutive incoming 1 by, followed by a 0 bit, it automatically destuffs the 0 bit</a:t>
            </a:r>
          </a:p>
          <a:p>
            <a:r>
              <a:rPr lang="en-US" dirty="0"/>
              <a:t>The boundary between two frames can be recognized by the flag pattern.</a:t>
            </a:r>
          </a:p>
          <a:p>
            <a:r>
              <a:rPr lang="en-US" dirty="0"/>
              <a:t>If the receiver loses track of where it is, scan the input for flag sequence, since they only occur at the frame boundaries and never within the data</a:t>
            </a:r>
          </a:p>
          <a:p>
            <a:r>
              <a:rPr lang="en-US" dirty="0"/>
              <a:t>The data become so bulky</a:t>
            </a:r>
          </a:p>
        </p:txBody>
      </p:sp>
    </p:spTree>
    <p:extLst>
      <p:ext uri="{BB962C8B-B14F-4D97-AF65-F5344CB8AC3E}">
        <p14:creationId xmlns:p14="http://schemas.microsoft.com/office/powerpoint/2010/main" val="194219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ack background with red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182396F0-0020-7F9B-46AC-4352A5874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65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C7279-1A6E-46EC-0ECE-1B5E7A67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Bit stuffing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D50AFD-A17B-A360-B16F-EACEF457C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(a) The original data.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(b) The data as they appear on the line.</a:t>
            </a:r>
            <a:endParaRPr lang="en-US" sz="240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(c) The data as they are stored in receiver’s memory after destuffing.</a:t>
            </a:r>
            <a:endParaRPr lang="en-US" sz="2400" dirty="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7" name="Picture 6" descr="A diagram of stuffed bitcoin&#10;&#10;Description automatically generated">
            <a:extLst>
              <a:ext uri="{FF2B5EF4-FFF2-40B4-BE49-F238E27FC236}">
                <a16:creationId xmlns:a16="http://schemas.microsoft.com/office/drawing/2014/main" id="{6E977EB5-7859-B54D-F681-264074CA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135098"/>
            <a:ext cx="4788505" cy="1855546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34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E784-6B78-4CC1-4F2F-D356C8E0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Physical Layer Coding Violations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FFA41-AD3B-7DF4-27FA-F5743E73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Encoding on physical medium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Framing by invalid physical code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Use some code that does not represent 0 nor 1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Manchester encoding in 802 LAN standard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4B/5B line code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Combination of approaches is possible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E.g., character count + one other method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Preamble in Ethernet followed by length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7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A625F3B0-F45F-FB18-69E3-942FEDE53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15" y="643466"/>
            <a:ext cx="10384650" cy="630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80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FFECE2F-E5B2-43D4-0E1D-DCF4375B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endParaRPr lang="en-US" sz="32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F698A6-9F0E-94FC-228B-9E71ACE33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3" descr="A diagram of a computer code&#10;&#10;Description automatically generated">
            <a:extLst>
              <a:ext uri="{FF2B5EF4-FFF2-40B4-BE49-F238E27FC236}">
                <a16:creationId xmlns:a16="http://schemas.microsoft.com/office/drawing/2014/main" id="{340050F7-B568-25FE-DEEC-265AE0E3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0" y="16193"/>
            <a:ext cx="10855767" cy="68380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746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A269-6396-82C3-260D-4572258E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Error Control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9E098-4826-849A-C663-BB1E5E15C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Positive and Negative feedback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Timers : what happens when a frame completely vanishes : receiver neither sends a +ack nor –ack … then timer comes to help.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It may result in a frame being sent more than once and received more than once : 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solution :  assign sequence numbers to frames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9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9174-E766-8941-6FAE-471E3126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Error Detection and Correction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5982-A2F5-D1EE-C9C4-8D0291953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some cases it is sufficient to detect an error and in some, it requires the errors to be corrected also. For </a:t>
            </a:r>
            <a:r>
              <a:rPr lang="en-US">
                <a:ea typeface="+mn-lt"/>
                <a:cs typeface="+mn-lt"/>
              </a:rPr>
              <a:t>example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On a reliable medium : ED is sufficient where the error rate is low and asking for retransmission after ED would work efficiently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In contrast, on an unreliable medium : Retransmission after ED may result in another error and still another and so on. Hence EC is desirable.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4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B7B1-96AC-F06F-A335-64C3BD9A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Error detecting code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7484-A333-C806-7B2E-98CDCF52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Parity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Checksum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Polynomial code or CRC( Cyclic Redundancy Check 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429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1472" y="2260854"/>
            <a:ext cx="8436610" cy="2438400"/>
            <a:chOff x="347472" y="2260854"/>
            <a:chExt cx="8436610" cy="2438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472" y="2260854"/>
              <a:ext cx="8436102" cy="2438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72" y="2260854"/>
              <a:ext cx="8436102" cy="24383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0" y="148590"/>
            <a:ext cx="2519172" cy="7863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59661" y="228537"/>
            <a:ext cx="2078989" cy="4527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35" dirty="0">
                <a:latin typeface="Arial"/>
                <a:cs typeface="Arial"/>
              </a:rPr>
              <a:t>Type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of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305" dirty="0">
                <a:latin typeface="Arial"/>
                <a:cs typeface="Arial"/>
              </a:rPr>
              <a:t>Errors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5" dirty="0">
                <a:solidFill>
                  <a:srgbClr val="775F55"/>
                </a:solidFill>
              </a:rPr>
              <a:t>Type</a:t>
            </a:r>
            <a:r>
              <a:rPr spc="-15" dirty="0">
                <a:solidFill>
                  <a:srgbClr val="775F55"/>
                </a:solidFill>
              </a:rPr>
              <a:t> </a:t>
            </a:r>
            <a:r>
              <a:rPr dirty="0">
                <a:solidFill>
                  <a:srgbClr val="775F55"/>
                </a:solidFill>
              </a:rPr>
              <a:t>of</a:t>
            </a:r>
            <a:r>
              <a:rPr spc="90" dirty="0">
                <a:solidFill>
                  <a:srgbClr val="775F55"/>
                </a:solidFill>
              </a:rPr>
              <a:t> </a:t>
            </a:r>
            <a:r>
              <a:rPr spc="-370" dirty="0">
                <a:solidFill>
                  <a:srgbClr val="775F55"/>
                </a:solidFill>
              </a:rPr>
              <a:t>Errors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141" y="1310894"/>
            <a:ext cx="2155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indent="-318770">
              <a:spcBef>
                <a:spcPts val="100"/>
              </a:spcBef>
              <a:buClr>
                <a:srgbClr val="DD8047"/>
              </a:buClr>
              <a:buSzPct val="60416"/>
              <a:buFont typeface="Wingdings"/>
              <a:buChar char=""/>
              <a:tabLst>
                <a:tab pos="331470" algn="l"/>
              </a:tabLst>
            </a:pPr>
            <a:r>
              <a:rPr sz="2400" spc="-140" dirty="0">
                <a:latin typeface="Arial MT"/>
                <a:cs typeface="Arial MT"/>
              </a:rPr>
              <a:t>Single-</a:t>
            </a:r>
            <a:r>
              <a:rPr sz="2400" spc="-150" dirty="0">
                <a:latin typeface="Arial MT"/>
                <a:cs typeface="Arial MT"/>
              </a:rPr>
              <a:t>Bit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Error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293" y="1765655"/>
            <a:ext cx="62591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spcBef>
                <a:spcPts val="100"/>
              </a:spcBef>
            </a:pPr>
            <a:r>
              <a:rPr sz="2400" spc="165" dirty="0">
                <a:latin typeface="Arial MT"/>
                <a:cs typeface="Arial MT"/>
              </a:rPr>
              <a:t>~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when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only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one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unit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has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changed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2811705"/>
            <a:ext cx="7612378" cy="16098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12112" y="4751323"/>
            <a:ext cx="748410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Single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bit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errors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least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likely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type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errors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serial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data </a:t>
            </a:r>
            <a:r>
              <a:rPr dirty="0">
                <a:latin typeface="Arial MT"/>
                <a:cs typeface="Arial MT"/>
              </a:rPr>
              <a:t>transmission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because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noise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must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have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very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short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duration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25" dirty="0">
                <a:latin typeface="Arial MT"/>
                <a:cs typeface="Arial MT"/>
              </a:rPr>
              <a:t> is </a:t>
            </a:r>
            <a:r>
              <a:rPr dirty="0">
                <a:latin typeface="Arial MT"/>
                <a:cs typeface="Arial MT"/>
              </a:rPr>
              <a:t>very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rare.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However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kind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errors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can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happen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parallel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transmission.</a:t>
            </a:r>
            <a:endParaRPr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5" dirty="0">
                <a:solidFill>
                  <a:srgbClr val="775F55"/>
                </a:solidFill>
              </a:rPr>
              <a:t>Type</a:t>
            </a:r>
            <a:r>
              <a:rPr spc="-15" dirty="0">
                <a:solidFill>
                  <a:srgbClr val="775F55"/>
                </a:solidFill>
              </a:rPr>
              <a:t> </a:t>
            </a:r>
            <a:r>
              <a:rPr dirty="0">
                <a:solidFill>
                  <a:srgbClr val="775F55"/>
                </a:solidFill>
              </a:rPr>
              <a:t>of</a:t>
            </a:r>
            <a:r>
              <a:rPr spc="90" dirty="0">
                <a:solidFill>
                  <a:srgbClr val="775F55"/>
                </a:solidFill>
              </a:rPr>
              <a:t> </a:t>
            </a:r>
            <a:r>
              <a:rPr spc="-370" dirty="0">
                <a:solidFill>
                  <a:srgbClr val="775F55"/>
                </a:solidFill>
              </a:rPr>
              <a:t>Errors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5330" y="1523211"/>
            <a:ext cx="7597775" cy="15297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1470" indent="-318770">
              <a:spcBef>
                <a:spcPts val="80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100" dirty="0">
                <a:latin typeface="Arial MT"/>
                <a:cs typeface="Arial MT"/>
              </a:rPr>
              <a:t>Multiple-</a:t>
            </a:r>
            <a:r>
              <a:rPr sz="2900" spc="-170" dirty="0">
                <a:latin typeface="Arial MT"/>
                <a:cs typeface="Arial MT"/>
              </a:rPr>
              <a:t>Bit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Error</a:t>
            </a:r>
            <a:endParaRPr sz="2900" dirty="0">
              <a:latin typeface="Arial MT"/>
              <a:cs typeface="Arial MT"/>
            </a:endParaRPr>
          </a:p>
          <a:p>
            <a:pPr marL="331470" marR="5080" indent="-319405">
              <a:spcBef>
                <a:spcPts val="705"/>
              </a:spcBef>
              <a:tabLst>
                <a:tab pos="926465" algn="l"/>
              </a:tabLst>
            </a:pPr>
            <a:r>
              <a:rPr sz="2900" spc="150" dirty="0">
                <a:latin typeface="Arial MT"/>
                <a:cs typeface="Arial MT"/>
              </a:rPr>
              <a:t>~</a:t>
            </a:r>
            <a:r>
              <a:rPr sz="2900" dirty="0">
                <a:latin typeface="Arial MT"/>
                <a:cs typeface="Arial MT"/>
              </a:rPr>
              <a:t>		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when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two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spc="-220" dirty="0">
                <a:latin typeface="Arial MT"/>
                <a:cs typeface="Arial MT"/>
              </a:rPr>
              <a:t>more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nonconsecutive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bits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the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190" dirty="0">
                <a:latin typeface="Arial MT"/>
                <a:cs typeface="Arial MT"/>
              </a:rPr>
              <a:t>unit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04" dirty="0">
                <a:latin typeface="Arial MT"/>
                <a:cs typeface="Arial MT"/>
              </a:rPr>
              <a:t>have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changed</a:t>
            </a:r>
            <a:endParaRPr sz="29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8" y="3850013"/>
            <a:ext cx="7163884" cy="169280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5" dirty="0">
                <a:solidFill>
                  <a:srgbClr val="775F55"/>
                </a:solidFill>
              </a:rPr>
              <a:t>Type</a:t>
            </a:r>
            <a:r>
              <a:rPr spc="-15" dirty="0">
                <a:solidFill>
                  <a:srgbClr val="775F55"/>
                </a:solidFill>
              </a:rPr>
              <a:t> </a:t>
            </a:r>
            <a:r>
              <a:rPr dirty="0">
                <a:solidFill>
                  <a:srgbClr val="775F55"/>
                </a:solidFill>
              </a:rPr>
              <a:t>of</a:t>
            </a:r>
            <a:r>
              <a:rPr spc="90" dirty="0">
                <a:solidFill>
                  <a:srgbClr val="775F55"/>
                </a:solidFill>
              </a:rPr>
              <a:t> </a:t>
            </a:r>
            <a:r>
              <a:rPr spc="-370" dirty="0">
                <a:solidFill>
                  <a:srgbClr val="775F55"/>
                </a:solidFill>
              </a:rPr>
              <a:t>Errors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2340" y="1218411"/>
            <a:ext cx="7292340" cy="15297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1470" indent="-318770">
              <a:spcBef>
                <a:spcPts val="80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275" dirty="0">
                <a:latin typeface="Arial MT"/>
                <a:cs typeface="Arial MT"/>
              </a:rPr>
              <a:t>Burst</a:t>
            </a:r>
            <a:r>
              <a:rPr sz="2900" spc="-10" dirty="0">
                <a:latin typeface="Arial MT"/>
                <a:cs typeface="Arial MT"/>
              </a:rPr>
              <a:t> Error</a:t>
            </a:r>
            <a:endParaRPr sz="2900">
              <a:latin typeface="Arial MT"/>
              <a:cs typeface="Arial MT"/>
            </a:endParaRPr>
          </a:p>
          <a:p>
            <a:pPr marL="331470" marR="5080" indent="-319405">
              <a:spcBef>
                <a:spcPts val="705"/>
              </a:spcBef>
              <a:tabLst>
                <a:tab pos="926465" algn="l"/>
              </a:tabLst>
            </a:pPr>
            <a:r>
              <a:rPr sz="2900" spc="150" dirty="0">
                <a:latin typeface="Arial MT"/>
                <a:cs typeface="Arial MT"/>
              </a:rPr>
              <a:t>~</a:t>
            </a:r>
            <a:r>
              <a:rPr sz="2900" dirty="0">
                <a:latin typeface="Arial MT"/>
                <a:cs typeface="Arial MT"/>
              </a:rPr>
              <a:t>		</a:t>
            </a:r>
            <a:r>
              <a:rPr sz="2900" spc="-305" dirty="0">
                <a:latin typeface="Arial MT"/>
                <a:cs typeface="Arial MT"/>
              </a:rPr>
              <a:t>means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that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2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215" dirty="0">
                <a:latin typeface="Arial MT"/>
                <a:cs typeface="Arial MT"/>
              </a:rPr>
              <a:t>more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consecutive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bits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the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90" dirty="0">
                <a:latin typeface="Arial MT"/>
                <a:cs typeface="Arial MT"/>
              </a:rPr>
              <a:t>unit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04" dirty="0">
                <a:latin typeface="Arial MT"/>
                <a:cs typeface="Arial MT"/>
              </a:rPr>
              <a:t>have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changed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889" y="3330713"/>
            <a:ext cx="6832240" cy="27507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03905" y="287275"/>
            <a:ext cx="2072005" cy="814705"/>
            <a:chOff x="2279904" y="287274"/>
            <a:chExt cx="2072005" cy="8147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9904" y="287274"/>
              <a:ext cx="1234440" cy="8145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2488" y="287274"/>
              <a:ext cx="1209293" cy="81457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285066" y="371327"/>
            <a:ext cx="7927975" cy="55073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marR="6985" algn="just">
              <a:lnSpc>
                <a:spcPts val="3130"/>
              </a:lnSpc>
              <a:spcBef>
                <a:spcPts val="490"/>
              </a:spcBef>
            </a:pPr>
            <a:r>
              <a:rPr sz="2900" spc="-395" dirty="0">
                <a:latin typeface="Arial MT"/>
                <a:cs typeface="Arial MT"/>
              </a:rPr>
              <a:t>The</a:t>
            </a:r>
            <a:r>
              <a:rPr sz="2900" spc="19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term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b="1" spc="-280" dirty="0">
                <a:solidFill>
                  <a:srgbClr val="CC0066"/>
                </a:solidFill>
                <a:latin typeface="Arial"/>
                <a:cs typeface="Arial"/>
              </a:rPr>
              <a:t>burst</a:t>
            </a:r>
            <a:r>
              <a:rPr sz="2900" b="1" spc="80" dirty="0">
                <a:solidFill>
                  <a:srgbClr val="CC0066"/>
                </a:solidFill>
                <a:latin typeface="Arial"/>
                <a:cs typeface="Arial"/>
              </a:rPr>
              <a:t> </a:t>
            </a:r>
            <a:r>
              <a:rPr sz="2900" b="1" spc="-215" dirty="0">
                <a:solidFill>
                  <a:srgbClr val="CC0066"/>
                </a:solidFill>
                <a:latin typeface="Arial"/>
                <a:cs typeface="Arial"/>
              </a:rPr>
              <a:t>error</a:t>
            </a:r>
            <a:r>
              <a:rPr sz="2900" b="1" spc="15" dirty="0">
                <a:solidFill>
                  <a:srgbClr val="CC0066"/>
                </a:solidFill>
                <a:latin typeface="Arial"/>
                <a:cs typeface="Arial"/>
              </a:rPr>
              <a:t> </a:t>
            </a:r>
            <a:r>
              <a:rPr sz="2900" spc="-315" dirty="0">
                <a:latin typeface="Arial MT"/>
                <a:cs typeface="Arial MT"/>
              </a:rPr>
              <a:t>means</a:t>
            </a:r>
            <a:r>
              <a:rPr sz="2900" spc="114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that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two</a:t>
            </a:r>
            <a:r>
              <a:rPr sz="2900" spc="-1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190" dirty="0">
                <a:latin typeface="Arial MT"/>
                <a:cs typeface="Arial MT"/>
              </a:rPr>
              <a:t>more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bits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in </a:t>
            </a:r>
            <a:r>
              <a:rPr sz="2900" spc="-80" dirty="0">
                <a:latin typeface="Arial MT"/>
                <a:cs typeface="Arial MT"/>
              </a:rPr>
              <a:t>the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 </a:t>
            </a:r>
            <a:r>
              <a:rPr sz="2900" spc="-125" dirty="0">
                <a:latin typeface="Arial MT"/>
                <a:cs typeface="Arial MT"/>
              </a:rPr>
              <a:t>unit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have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changed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from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1 to 0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 </a:t>
            </a:r>
            <a:r>
              <a:rPr sz="2900" spc="-65" dirty="0">
                <a:latin typeface="Arial MT"/>
                <a:cs typeface="Arial MT"/>
              </a:rPr>
              <a:t>from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0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1.</a:t>
            </a:r>
            <a:endParaRPr sz="2900">
              <a:latin typeface="Arial MT"/>
              <a:cs typeface="Arial MT"/>
            </a:endParaRPr>
          </a:p>
          <a:p>
            <a:pPr marL="355600" marR="5715" indent="-635" algn="just">
              <a:lnSpc>
                <a:spcPts val="3130"/>
              </a:lnSpc>
              <a:spcBef>
                <a:spcPts val="710"/>
              </a:spcBef>
            </a:pPr>
            <a:r>
              <a:rPr sz="2900" b="1" spc="-330" dirty="0">
                <a:latin typeface="Arial"/>
                <a:cs typeface="Arial"/>
              </a:rPr>
              <a:t>Burst</a:t>
            </a:r>
            <a:r>
              <a:rPr sz="2900" b="1" spc="130" dirty="0">
                <a:latin typeface="Arial"/>
                <a:cs typeface="Arial"/>
              </a:rPr>
              <a:t> </a:t>
            </a:r>
            <a:r>
              <a:rPr sz="2900" b="1" spc="-140" dirty="0">
                <a:latin typeface="Arial"/>
                <a:cs typeface="Arial"/>
              </a:rPr>
              <a:t>errors</a:t>
            </a:r>
            <a:r>
              <a:rPr sz="2900" b="1" spc="85" dirty="0">
                <a:latin typeface="Arial"/>
                <a:cs typeface="Arial"/>
              </a:rPr>
              <a:t> </a:t>
            </a:r>
            <a:r>
              <a:rPr sz="2900" b="1" spc="-275" dirty="0">
                <a:latin typeface="Arial"/>
                <a:cs typeface="Arial"/>
              </a:rPr>
              <a:t>does</a:t>
            </a:r>
            <a:r>
              <a:rPr sz="2900" b="1" spc="11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not</a:t>
            </a:r>
            <a:r>
              <a:rPr sz="2900" b="1" spc="1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 MT"/>
                <a:cs typeface="Arial MT"/>
              </a:rPr>
              <a:t>necessarily</a:t>
            </a:r>
            <a:r>
              <a:rPr sz="2800" spc="140" dirty="0">
                <a:latin typeface="Arial MT"/>
                <a:cs typeface="Arial MT"/>
              </a:rPr>
              <a:t> </a:t>
            </a:r>
            <a:r>
              <a:rPr sz="2900" b="1" spc="-20" dirty="0">
                <a:latin typeface="Arial"/>
                <a:cs typeface="Arial"/>
              </a:rPr>
              <a:t>mean</a:t>
            </a:r>
            <a:r>
              <a:rPr sz="2900" b="1" spc="11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that</a:t>
            </a:r>
            <a:r>
              <a:rPr sz="2900" b="1" spc="105" dirty="0">
                <a:latin typeface="Arial"/>
                <a:cs typeface="Arial"/>
              </a:rPr>
              <a:t> </a:t>
            </a:r>
            <a:r>
              <a:rPr sz="2900" b="1" spc="-125" dirty="0">
                <a:latin typeface="Arial"/>
                <a:cs typeface="Arial"/>
              </a:rPr>
              <a:t>the </a:t>
            </a:r>
            <a:r>
              <a:rPr sz="2900" b="1" spc="-210" dirty="0">
                <a:latin typeface="Arial"/>
                <a:cs typeface="Arial"/>
              </a:rPr>
              <a:t>errors</a:t>
            </a:r>
            <a:r>
              <a:rPr sz="2900" b="1" spc="10" dirty="0">
                <a:latin typeface="Arial"/>
                <a:cs typeface="Arial"/>
              </a:rPr>
              <a:t> </a:t>
            </a:r>
            <a:r>
              <a:rPr sz="2900" b="1" spc="-330" dirty="0">
                <a:latin typeface="Arial"/>
                <a:cs typeface="Arial"/>
              </a:rPr>
              <a:t>occur</a:t>
            </a:r>
            <a:r>
              <a:rPr sz="2900" b="1" spc="13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in</a:t>
            </a:r>
            <a:r>
              <a:rPr sz="2900" b="1" spc="55" dirty="0">
                <a:latin typeface="Arial"/>
                <a:cs typeface="Arial"/>
              </a:rPr>
              <a:t> </a:t>
            </a:r>
            <a:r>
              <a:rPr sz="2900" b="1" spc="-265" dirty="0">
                <a:latin typeface="Arial"/>
                <a:cs typeface="Arial"/>
              </a:rPr>
              <a:t>consecutive</a:t>
            </a:r>
            <a:r>
              <a:rPr sz="2900" b="1" spc="75" dirty="0">
                <a:latin typeface="Arial"/>
                <a:cs typeface="Arial"/>
              </a:rPr>
              <a:t> </a:t>
            </a:r>
            <a:r>
              <a:rPr sz="2900" b="1" spc="-155" dirty="0">
                <a:latin typeface="Arial"/>
                <a:cs typeface="Arial"/>
              </a:rPr>
              <a:t>bits</a:t>
            </a:r>
            <a:r>
              <a:rPr sz="2900" spc="-155" dirty="0">
                <a:latin typeface="Arial MT"/>
                <a:cs typeface="Arial MT"/>
              </a:rPr>
              <a:t>,</a:t>
            </a:r>
            <a:r>
              <a:rPr sz="2900" spc="65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the</a:t>
            </a:r>
            <a:r>
              <a:rPr sz="2900" spc="7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length</a:t>
            </a:r>
            <a:r>
              <a:rPr sz="2900" spc="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140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the </a:t>
            </a:r>
            <a:r>
              <a:rPr sz="2900" spc="-155" dirty="0">
                <a:latin typeface="Arial MT"/>
                <a:cs typeface="Arial MT"/>
              </a:rPr>
              <a:t>burst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measured</a:t>
            </a:r>
            <a:r>
              <a:rPr sz="2900" spc="1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from </a:t>
            </a:r>
            <a:r>
              <a:rPr sz="2900" spc="-130" dirty="0">
                <a:latin typeface="Arial MT"/>
                <a:cs typeface="Arial MT"/>
              </a:rPr>
              <a:t>the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first</a:t>
            </a:r>
            <a:r>
              <a:rPr sz="2900" spc="-105" dirty="0">
                <a:latin typeface="Arial MT"/>
                <a:cs typeface="Arial MT"/>
              </a:rPr>
              <a:t> corrupted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the </a:t>
            </a:r>
            <a:r>
              <a:rPr sz="2900" dirty="0">
                <a:latin typeface="Arial MT"/>
                <a:cs typeface="Arial MT"/>
              </a:rPr>
              <a:t>last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corrupted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bit.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spc="-330" dirty="0">
                <a:latin typeface="Arial MT"/>
                <a:cs typeface="Arial MT"/>
              </a:rPr>
              <a:t>Some</a:t>
            </a:r>
            <a:r>
              <a:rPr sz="2900" spc="1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bits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between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may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not </a:t>
            </a:r>
            <a:r>
              <a:rPr sz="2900" spc="-210" dirty="0">
                <a:latin typeface="Arial MT"/>
                <a:cs typeface="Arial MT"/>
              </a:rPr>
              <a:t>have</a:t>
            </a:r>
            <a:r>
              <a:rPr sz="2900" spc="20" dirty="0">
                <a:latin typeface="Arial MT"/>
                <a:cs typeface="Arial MT"/>
              </a:rPr>
              <a:t> </a:t>
            </a:r>
            <a:r>
              <a:rPr sz="2900" spc="-185" dirty="0">
                <a:latin typeface="Arial MT"/>
                <a:cs typeface="Arial MT"/>
              </a:rPr>
              <a:t>been</a:t>
            </a:r>
            <a:r>
              <a:rPr sz="2900" spc="1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corrupted.</a:t>
            </a:r>
            <a:endParaRPr sz="2900">
              <a:latin typeface="Arial MT"/>
              <a:cs typeface="Arial MT"/>
            </a:endParaRPr>
          </a:p>
          <a:p>
            <a:pPr marL="355600" marR="5080" indent="-342900" algn="just">
              <a:lnSpc>
                <a:spcPts val="3130"/>
              </a:lnSpc>
              <a:spcBef>
                <a:spcPts val="705"/>
              </a:spcBef>
              <a:buClr>
                <a:srgbClr val="CC0066"/>
              </a:buClr>
              <a:buSzPct val="60344"/>
              <a:buFont typeface="Wingdings"/>
              <a:buChar char=""/>
              <a:tabLst>
                <a:tab pos="355600" algn="l"/>
              </a:tabLst>
            </a:pPr>
            <a:r>
              <a:rPr sz="2900" b="1" spc="-330" dirty="0">
                <a:latin typeface="Arial"/>
                <a:cs typeface="Arial"/>
              </a:rPr>
              <a:t>Burst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spc="-20" dirty="0">
                <a:latin typeface="Arial"/>
                <a:cs typeface="Arial"/>
              </a:rPr>
              <a:t>error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is</a:t>
            </a:r>
            <a:r>
              <a:rPr sz="2900" b="1" spc="360" dirty="0">
                <a:latin typeface="Arial"/>
                <a:cs typeface="Arial"/>
              </a:rPr>
              <a:t> </a:t>
            </a:r>
            <a:r>
              <a:rPr sz="2900" b="1" spc="-280" dirty="0">
                <a:latin typeface="Arial"/>
                <a:cs typeface="Arial"/>
              </a:rPr>
              <a:t>most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likely</a:t>
            </a:r>
            <a:r>
              <a:rPr sz="2900" b="1" spc="36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to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spc="-65" dirty="0">
                <a:latin typeface="Arial"/>
                <a:cs typeface="Arial"/>
              </a:rPr>
              <a:t>happen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in</a:t>
            </a:r>
            <a:r>
              <a:rPr sz="2900" b="1" spc="355" dirty="0">
                <a:latin typeface="Arial"/>
                <a:cs typeface="Arial"/>
              </a:rPr>
              <a:t> </a:t>
            </a:r>
            <a:r>
              <a:rPr sz="2900" b="1" spc="-110" dirty="0">
                <a:latin typeface="Arial"/>
                <a:cs typeface="Arial"/>
              </a:rPr>
              <a:t>serial </a:t>
            </a:r>
            <a:r>
              <a:rPr sz="2900" b="1" spc="-240" dirty="0">
                <a:latin typeface="Arial"/>
                <a:cs typeface="Arial"/>
              </a:rPr>
              <a:t>transmission</a:t>
            </a:r>
            <a:r>
              <a:rPr sz="2900" b="1" spc="40" dirty="0">
                <a:latin typeface="Arial"/>
                <a:cs typeface="Arial"/>
              </a:rPr>
              <a:t> </a:t>
            </a:r>
            <a:r>
              <a:rPr sz="2900" spc="-295" dirty="0">
                <a:latin typeface="Arial MT"/>
                <a:cs typeface="Arial MT"/>
              </a:rPr>
              <a:t>since</a:t>
            </a:r>
            <a:r>
              <a:rPr sz="2900" spc="95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the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14" dirty="0">
                <a:latin typeface="Arial MT"/>
                <a:cs typeface="Arial MT"/>
              </a:rPr>
              <a:t>duration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13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noise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290" dirty="0">
                <a:latin typeface="Arial MT"/>
                <a:cs typeface="Arial MT"/>
              </a:rPr>
              <a:t>is</a:t>
            </a:r>
            <a:r>
              <a:rPr sz="2900" spc="90" dirty="0">
                <a:latin typeface="Arial MT"/>
                <a:cs typeface="Arial MT"/>
              </a:rPr>
              <a:t> </a:t>
            </a:r>
            <a:r>
              <a:rPr sz="2900" spc="-85" dirty="0">
                <a:latin typeface="Arial MT"/>
                <a:cs typeface="Arial MT"/>
              </a:rPr>
              <a:t>normally </a:t>
            </a:r>
            <a:r>
              <a:rPr sz="2900" spc="-125" dirty="0">
                <a:latin typeface="Arial MT"/>
                <a:cs typeface="Arial MT"/>
              </a:rPr>
              <a:t>longer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85" dirty="0">
                <a:latin typeface="Arial MT"/>
                <a:cs typeface="Arial MT"/>
              </a:rPr>
              <a:t>than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duration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bit.</a:t>
            </a:r>
            <a:endParaRPr sz="2900">
              <a:latin typeface="Arial MT"/>
              <a:cs typeface="Arial MT"/>
            </a:endParaRPr>
          </a:p>
          <a:p>
            <a:pPr marL="355600" marR="5715" indent="-342900" algn="just">
              <a:lnSpc>
                <a:spcPts val="3130"/>
              </a:lnSpc>
              <a:spcBef>
                <a:spcPts val="710"/>
              </a:spcBef>
              <a:buClr>
                <a:srgbClr val="CC0066"/>
              </a:buClr>
              <a:buSzPct val="60344"/>
              <a:buFont typeface="Wingdings"/>
              <a:buChar char=""/>
              <a:tabLst>
                <a:tab pos="355600" algn="l"/>
              </a:tabLst>
            </a:pPr>
            <a:r>
              <a:rPr sz="2900" spc="-350" dirty="0">
                <a:latin typeface="Arial MT"/>
                <a:cs typeface="Arial MT"/>
              </a:rPr>
              <a:t>The</a:t>
            </a:r>
            <a:r>
              <a:rPr sz="2900" spc="150" dirty="0">
                <a:latin typeface="Arial MT"/>
                <a:cs typeface="Arial MT"/>
              </a:rPr>
              <a:t> </a:t>
            </a:r>
            <a:r>
              <a:rPr sz="2900" spc="-180" dirty="0">
                <a:latin typeface="Arial MT"/>
                <a:cs typeface="Arial MT"/>
              </a:rPr>
              <a:t>number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6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bits</a:t>
            </a:r>
            <a:r>
              <a:rPr sz="2900" spc="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affected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depends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on</a:t>
            </a:r>
            <a:r>
              <a:rPr sz="2900" spc="6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the</a:t>
            </a:r>
            <a:r>
              <a:rPr sz="2900" spc="5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data rate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110" dirty="0">
                <a:latin typeface="Arial MT"/>
                <a:cs typeface="Arial MT"/>
              </a:rPr>
              <a:t>and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duration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 </a:t>
            </a:r>
            <a:r>
              <a:rPr sz="2900" spc="-50" dirty="0">
                <a:latin typeface="Arial MT"/>
                <a:cs typeface="Arial MT"/>
              </a:rPr>
              <a:t>noise.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615" y="211836"/>
            <a:ext cx="3885438" cy="1228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8890">
              <a:lnSpc>
                <a:spcPct val="100000"/>
              </a:lnSpc>
              <a:spcBef>
                <a:spcPts val="95"/>
              </a:spcBef>
            </a:pPr>
            <a:r>
              <a:rPr b="1" i="1" spc="-540" dirty="0">
                <a:solidFill>
                  <a:srgbClr val="CC0066"/>
                </a:solidFill>
                <a:latin typeface="Arial"/>
                <a:cs typeface="Arial"/>
              </a:rPr>
              <a:t>Error</a:t>
            </a:r>
            <a:r>
              <a:rPr b="1" i="1" spc="-25" dirty="0">
                <a:solidFill>
                  <a:srgbClr val="CC0066"/>
                </a:solidFill>
                <a:latin typeface="Arial"/>
                <a:cs typeface="Arial"/>
              </a:rPr>
              <a:t> </a:t>
            </a:r>
            <a:r>
              <a:rPr b="1" i="1" spc="-475" dirty="0">
                <a:solidFill>
                  <a:srgbClr val="CC0066"/>
                </a:solidFill>
                <a:latin typeface="Arial"/>
                <a:cs typeface="Arial"/>
              </a:rPr>
              <a:t>detection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97930" y="1991908"/>
            <a:ext cx="8235950" cy="329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98780">
              <a:spcBef>
                <a:spcPts val="95"/>
              </a:spcBef>
            </a:pPr>
            <a:r>
              <a:rPr sz="2900" spc="-190" dirty="0">
                <a:latin typeface="Arial MT"/>
                <a:cs typeface="Arial MT"/>
              </a:rPr>
              <a:t>Error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detection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310" dirty="0">
                <a:latin typeface="Arial MT"/>
                <a:cs typeface="Arial MT"/>
              </a:rPr>
              <a:t>means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decide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whether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received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50" dirty="0">
                <a:latin typeface="Arial MT"/>
                <a:cs typeface="Arial MT"/>
              </a:rPr>
              <a:t>correct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180" dirty="0">
                <a:latin typeface="Arial MT"/>
                <a:cs typeface="Arial MT"/>
              </a:rPr>
              <a:t>not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55" dirty="0">
                <a:latin typeface="Arial MT"/>
                <a:cs typeface="Arial MT"/>
              </a:rPr>
              <a:t>without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50" dirty="0">
                <a:latin typeface="Arial MT"/>
                <a:cs typeface="Arial MT"/>
              </a:rPr>
              <a:t>having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copy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spc="-60" dirty="0">
                <a:latin typeface="Arial MT"/>
                <a:cs typeface="Arial MT"/>
              </a:rPr>
              <a:t>original</a:t>
            </a:r>
            <a:r>
              <a:rPr sz="2900" spc="-140" dirty="0">
                <a:latin typeface="Arial MT"/>
                <a:cs typeface="Arial MT"/>
              </a:rPr>
              <a:t> </a:t>
            </a:r>
            <a:r>
              <a:rPr sz="2900" spc="-275" dirty="0">
                <a:latin typeface="Arial MT"/>
                <a:cs typeface="Arial MT"/>
              </a:rPr>
              <a:t>message.</a:t>
            </a:r>
            <a:endParaRPr sz="2900">
              <a:latin typeface="Arial MT"/>
              <a:cs typeface="Arial MT"/>
            </a:endParaRPr>
          </a:p>
          <a:p>
            <a:pPr>
              <a:spcBef>
                <a:spcPts val="1545"/>
              </a:spcBef>
            </a:pPr>
            <a:endParaRPr sz="2900">
              <a:latin typeface="Arial MT"/>
              <a:cs typeface="Arial MT"/>
            </a:endParaRPr>
          </a:p>
          <a:p>
            <a:pPr marL="12700" marR="5080"/>
            <a:r>
              <a:rPr sz="2900" spc="-185" dirty="0">
                <a:latin typeface="Arial MT"/>
                <a:cs typeface="Arial MT"/>
              </a:rPr>
              <a:t>Error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detection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b="1" spc="-320" dirty="0">
                <a:latin typeface="Arial"/>
                <a:cs typeface="Arial"/>
              </a:rPr>
              <a:t>uses</a:t>
            </a:r>
            <a:r>
              <a:rPr sz="2900" b="1" spc="-30" dirty="0">
                <a:latin typeface="Arial"/>
                <a:cs typeface="Arial"/>
              </a:rPr>
              <a:t> </a:t>
            </a:r>
            <a:r>
              <a:rPr sz="2900" b="1" spc="-240" dirty="0">
                <a:latin typeface="Arial"/>
                <a:cs typeface="Arial"/>
              </a:rPr>
              <a:t>the</a:t>
            </a:r>
            <a:r>
              <a:rPr sz="2900" b="1" spc="-30" dirty="0">
                <a:latin typeface="Arial"/>
                <a:cs typeface="Arial"/>
              </a:rPr>
              <a:t> </a:t>
            </a:r>
            <a:r>
              <a:rPr sz="2900" b="1" spc="-305" dirty="0">
                <a:latin typeface="Arial"/>
                <a:cs typeface="Arial"/>
              </a:rPr>
              <a:t>concept</a:t>
            </a:r>
            <a:r>
              <a:rPr sz="2900" b="1" spc="-2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of</a:t>
            </a:r>
            <a:r>
              <a:rPr sz="2900" b="1" spc="45" dirty="0">
                <a:latin typeface="Arial"/>
                <a:cs typeface="Arial"/>
              </a:rPr>
              <a:t> </a:t>
            </a:r>
            <a:r>
              <a:rPr sz="2900" b="1" spc="-229" dirty="0">
                <a:latin typeface="Arial"/>
                <a:cs typeface="Arial"/>
              </a:rPr>
              <a:t>redundancy</a:t>
            </a:r>
            <a:r>
              <a:rPr sz="2900" spc="-229" dirty="0">
                <a:latin typeface="Arial MT"/>
                <a:cs typeface="Arial MT"/>
              </a:rPr>
              <a:t>,</a:t>
            </a:r>
            <a:r>
              <a:rPr sz="2900" spc="15" dirty="0">
                <a:latin typeface="Arial MT"/>
                <a:cs typeface="Arial MT"/>
              </a:rPr>
              <a:t> </a:t>
            </a:r>
            <a:r>
              <a:rPr sz="2900" b="1" spc="-114" dirty="0">
                <a:latin typeface="Arial"/>
                <a:cs typeface="Arial"/>
              </a:rPr>
              <a:t>which </a:t>
            </a:r>
            <a:r>
              <a:rPr sz="2900" b="1" spc="-254" dirty="0">
                <a:latin typeface="Arial"/>
                <a:cs typeface="Arial"/>
              </a:rPr>
              <a:t>means</a:t>
            </a:r>
            <a:r>
              <a:rPr sz="2900" b="1" spc="-5" dirty="0">
                <a:latin typeface="Arial"/>
                <a:cs typeface="Arial"/>
              </a:rPr>
              <a:t> </a:t>
            </a:r>
            <a:r>
              <a:rPr sz="2900" spc="-55" dirty="0">
                <a:latin typeface="Arial MT"/>
                <a:cs typeface="Arial MT"/>
              </a:rPr>
              <a:t>adding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spc="-40" dirty="0">
                <a:latin typeface="Arial MT"/>
                <a:cs typeface="Arial MT"/>
              </a:rPr>
              <a:t>extra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bits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detecting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errors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at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spc="-75" dirty="0">
                <a:latin typeface="Arial MT"/>
                <a:cs typeface="Arial MT"/>
              </a:rPr>
              <a:t>destination.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6152" y="932941"/>
            <a:ext cx="21793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indent="-318770">
              <a:spcBef>
                <a:spcPts val="95"/>
              </a:spcBef>
              <a:buClr>
                <a:srgbClr val="DD8047"/>
              </a:buClr>
              <a:buSzPct val="60000"/>
              <a:buFont typeface="Wingdings"/>
              <a:buChar char=""/>
              <a:tabLst>
                <a:tab pos="331470" algn="l"/>
              </a:tabLst>
            </a:pPr>
            <a:r>
              <a:rPr sz="2000" spc="-130" dirty="0">
                <a:latin typeface="Arial MT"/>
                <a:cs typeface="Arial MT"/>
              </a:rPr>
              <a:t>Detection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methods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047" y="2133600"/>
            <a:ext cx="8042148" cy="20589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A75A-6A44-85F0-2AA7-447D8801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Parity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F1AF-FDB1-D2A0-5CCA-4127521EB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Value of parity bit is such that character has even (even parity) or odd (odd parity) number of ones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Even number of bit errors goes undetected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Simple Parity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Longitudinal Redundancy Check/Vertical Redundancy Check (LRC/VRC)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59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A662-F2B7-45D9-CCFC-8D1D9EAE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5996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Parity Examples - Using Even Parity</a:t>
            </a:r>
            <a:endParaRPr lang="en-US" sz="3600">
              <a:solidFill>
                <a:schemeClr val="tx2"/>
              </a:solidFill>
            </a:endParaRPr>
          </a:p>
          <a:p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9492A-8B6E-3762-7C92-111E81C3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57" y="602673"/>
            <a:ext cx="3579732" cy="2766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812C43-11AC-0A80-75E8-DBD38D595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62198"/>
            <a:ext cx="3759105" cy="26104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450A-5F24-50CA-7F4D-0ACE2F8F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Even Parity of 1’s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sz="1800" b="1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1800" b="1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1800" b="1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1800" b="1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1800" b="1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2400" b="1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LRC/VRC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105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2CF4-5892-45E3-566B-8D188891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78C0-DCB4-00D5-0B69-7B7570D4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Parity Checks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Simple parity - If performing even parity, add a parity bit such that an even number of 1s are maintained.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performing odd parity, add a parity bit such that an odd number of 1s are maintained.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For example, if the character 1001010 is to be sent, using even parity, a parity bit = 1 would be added to the character.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the character 1001011 is to be sent, using even parity, a parity bit = 0 would be added to the character.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25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7DBF-B97C-EE2A-0619-A79CBFB8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50A6-594E-58DC-9471-C25F1B68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Parity Checks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What happens if the character 10010101 (parity bit is the last bit) and the first two 0s accidentally become two 1s?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Thus, the following character is received: 11110101.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Will there be a parity error?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Problem: Simple parity only detects odd numbers of bits in error (50%)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17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F2E2-8837-79D9-03A5-72BB7723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0DEDA-C010-8F81-591A-E70FA4CD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Parity Checks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Longitudinal parity adds a parity bit to each character then adds a row of parity bits after a block of characters.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row of parity bits is actually a parity bit for each “column” of characters.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row parity bits plus the column parity bits add a great amount of redundancy to a block of characters.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14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F8198D6F-4DB5-FC14-821A-A30F48B89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54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098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131F2894-A05B-5556-41A8-5BD32C905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54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59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1F7B-ACB2-D3E8-EDCB-69CA09CA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858B-8673-4282-89D0-AAD42F49D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Parity Checks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Both simple parity and longitudinal parity do not catch all errors.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Simple parity only catches odd numbers of bit errors (50% of all errors)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Longitudinal parity is better at catching errors but requires too many check bits added to a block of data.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As such, these methods are not that often used. However, a parity bit exists in 1 byte of data.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We need a better error detection method.  What about cyclic redundancy checksum?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2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6890" y="778649"/>
            <a:ext cx="7768590" cy="1778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01955" indent="-389255">
              <a:spcBef>
                <a:spcPts val="700"/>
              </a:spcBef>
              <a:buClr>
                <a:srgbClr val="DD8047"/>
              </a:buClr>
              <a:buSzPct val="60000"/>
              <a:buFont typeface="Wingdings"/>
              <a:buChar char=""/>
              <a:tabLst>
                <a:tab pos="401955" algn="l"/>
              </a:tabLst>
            </a:pPr>
            <a:r>
              <a:rPr sz="2000" spc="-85" dirty="0">
                <a:latin typeface="Arial MT"/>
                <a:cs typeface="Arial MT"/>
              </a:rPr>
              <a:t>Parity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Check</a:t>
            </a:r>
            <a:endParaRPr sz="2000">
              <a:latin typeface="Arial MT"/>
              <a:cs typeface="Arial MT"/>
            </a:endParaRPr>
          </a:p>
          <a:p>
            <a:pPr marL="652145" marR="5080" indent="-273050">
              <a:spcBef>
                <a:spcPts val="600"/>
              </a:spcBef>
            </a:pPr>
            <a:r>
              <a:rPr sz="1400" spc="250" dirty="0">
                <a:solidFill>
                  <a:srgbClr val="94B6D2"/>
                </a:solidFill>
                <a:latin typeface="Arial MT"/>
                <a:cs typeface="Arial MT"/>
              </a:rPr>
              <a:t>🞑</a:t>
            </a:r>
            <a:r>
              <a:rPr sz="1400" spc="275" dirty="0">
                <a:solidFill>
                  <a:srgbClr val="94B6D2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parity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added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every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unit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40" dirty="0">
                <a:latin typeface="Arial MT"/>
                <a:cs typeface="Arial MT"/>
              </a:rPr>
              <a:t>so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that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total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number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spc="-135" dirty="0">
                <a:latin typeface="Arial MT"/>
                <a:cs typeface="Arial MT"/>
              </a:rPr>
              <a:t>1s(including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parity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bit)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becomes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even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even-</a:t>
            </a:r>
            <a:r>
              <a:rPr sz="2000" dirty="0">
                <a:latin typeface="Arial MT"/>
                <a:cs typeface="Arial MT"/>
              </a:rPr>
              <a:t>parity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check</a:t>
            </a:r>
            <a:r>
              <a:rPr sz="2000" dirty="0">
                <a:latin typeface="Arial MT"/>
                <a:cs typeface="Arial MT"/>
              </a:rPr>
              <a:t> 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odd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odd-</a:t>
            </a:r>
            <a:r>
              <a:rPr sz="2000" dirty="0">
                <a:latin typeface="Arial MT"/>
                <a:cs typeface="Arial MT"/>
              </a:rPr>
              <a:t>parity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check</a:t>
            </a:r>
            <a:endParaRPr sz="2000">
              <a:latin typeface="Arial MT"/>
              <a:cs typeface="Arial MT"/>
            </a:endParaRPr>
          </a:p>
          <a:p>
            <a:pPr marL="379730">
              <a:spcBef>
                <a:spcPts val="600"/>
              </a:spcBef>
              <a:tabLst>
                <a:tab pos="722630" algn="l"/>
              </a:tabLst>
            </a:pPr>
            <a:r>
              <a:rPr sz="1400" spc="200" dirty="0">
                <a:solidFill>
                  <a:srgbClr val="94B6D2"/>
                </a:solidFill>
                <a:latin typeface="Arial MT"/>
                <a:cs typeface="Arial MT"/>
              </a:rPr>
              <a:t>🞑</a:t>
            </a:r>
            <a:r>
              <a:rPr sz="1400" dirty="0">
                <a:solidFill>
                  <a:srgbClr val="94B6D2"/>
                </a:solidFill>
                <a:latin typeface="Arial MT"/>
                <a:cs typeface="Arial MT"/>
              </a:rPr>
              <a:t>	</a:t>
            </a:r>
            <a:r>
              <a:rPr sz="2000" spc="-145" dirty="0">
                <a:latin typeface="Arial MT"/>
                <a:cs typeface="Arial MT"/>
              </a:rPr>
              <a:t>Simple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check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2604" y="2526605"/>
            <a:ext cx="5252465" cy="39389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3768" y="46482"/>
            <a:ext cx="4771390" cy="1117600"/>
            <a:chOff x="429768" y="46482"/>
            <a:chExt cx="4771390" cy="111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46482"/>
              <a:ext cx="2673096" cy="11170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972" y="46482"/>
              <a:ext cx="829055" cy="11170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2135" y="46482"/>
              <a:ext cx="2588514" cy="11170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53616" y="165513"/>
            <a:ext cx="4137025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0" dirty="0"/>
              <a:t>Detection</a:t>
            </a:r>
            <a:r>
              <a:rPr sz="4000" spc="5" dirty="0"/>
              <a:t> </a:t>
            </a:r>
            <a:r>
              <a:rPr sz="4000" spc="-25" dirty="0"/>
              <a:t>-</a:t>
            </a:r>
            <a:r>
              <a:rPr sz="4000" spc="-265" dirty="0"/>
              <a:t>examples</a:t>
            </a:r>
            <a:endParaRPr sz="4000"/>
          </a:p>
        </p:txBody>
      </p:sp>
      <p:grpSp>
        <p:nvGrpSpPr>
          <p:cNvPr id="7" name="object 7"/>
          <p:cNvGrpSpPr/>
          <p:nvPr/>
        </p:nvGrpSpPr>
        <p:grpSpPr>
          <a:xfrm>
            <a:off x="1745741" y="831341"/>
            <a:ext cx="2327910" cy="897890"/>
            <a:chOff x="221741" y="831341"/>
            <a:chExt cx="2327910" cy="897890"/>
          </a:xfrm>
        </p:grpSpPr>
        <p:sp>
          <p:nvSpPr>
            <p:cNvPr id="8" name="object 8"/>
            <p:cNvSpPr/>
            <p:nvPr/>
          </p:nvSpPr>
          <p:spPr>
            <a:xfrm>
              <a:off x="380999" y="914399"/>
              <a:ext cx="1997710" cy="584835"/>
            </a:xfrm>
            <a:custGeom>
              <a:avLst/>
              <a:gdLst/>
              <a:ahLst/>
              <a:cxnLst/>
              <a:rect l="l" t="t" r="r" b="b"/>
              <a:pathLst>
                <a:path w="1997710" h="584835">
                  <a:moveTo>
                    <a:pt x="1997202" y="0"/>
                  </a:moveTo>
                  <a:lnTo>
                    <a:pt x="0" y="0"/>
                  </a:lnTo>
                  <a:lnTo>
                    <a:pt x="0" y="584453"/>
                  </a:lnTo>
                  <a:lnTo>
                    <a:pt x="1997202" y="584453"/>
                  </a:lnTo>
                  <a:lnTo>
                    <a:pt x="1997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741" y="831341"/>
              <a:ext cx="2327910" cy="89763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905000" y="914401"/>
            <a:ext cx="1997710" cy="524503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>
              <a:spcBef>
                <a:spcPts val="250"/>
              </a:spcBef>
            </a:pPr>
            <a:r>
              <a:rPr sz="3200" b="1" i="1" dirty="0">
                <a:latin typeface="Times New Roman"/>
                <a:cs typeface="Times New Roman"/>
              </a:rPr>
              <a:t>Example</a:t>
            </a:r>
            <a:r>
              <a:rPr sz="3200" b="1" i="1" spc="-120" dirty="0">
                <a:latin typeface="Times New Roman"/>
                <a:cs typeface="Times New Roman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2491" y="2611628"/>
            <a:ext cx="7526655" cy="278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world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ASCII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  <a:p>
            <a:pPr marL="101600">
              <a:spcBef>
                <a:spcPts val="1680"/>
              </a:spcBef>
              <a:tabLst>
                <a:tab pos="1534795" algn="l"/>
                <a:tab pos="2967990" algn="l"/>
                <a:tab pos="4440555" algn="l"/>
                <a:tab pos="591375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1110111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1101111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1110010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1101100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1100100</a:t>
            </a:r>
            <a:endParaRPr sz="2800">
              <a:latin typeface="Times New Roman"/>
              <a:cs typeface="Times New Roman"/>
            </a:endParaRPr>
          </a:p>
          <a:p>
            <a:pPr marL="12700">
              <a:spcBef>
                <a:spcPts val="168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sent</a:t>
            </a:r>
            <a:endParaRPr sz="2800">
              <a:latin typeface="Times New Roman"/>
              <a:cs typeface="Times New Roman"/>
            </a:endParaRPr>
          </a:p>
          <a:p>
            <a:pPr marL="101600">
              <a:spcBef>
                <a:spcPts val="2080"/>
              </a:spcBef>
              <a:tabLst>
                <a:tab pos="1503680" algn="l"/>
                <a:tab pos="2906395" algn="l"/>
                <a:tab pos="4331335" algn="l"/>
                <a:tab pos="5756910" algn="l"/>
              </a:tabLst>
            </a:pPr>
            <a:r>
              <a:rPr sz="2400" spc="-10" dirty="0">
                <a:latin typeface="Times New Roman"/>
                <a:cs typeface="Times New Roman"/>
              </a:rPr>
              <a:t>1110111</a:t>
            </a:r>
            <a:r>
              <a:rPr sz="24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7B615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1101111</a:t>
            </a:r>
            <a:r>
              <a:rPr sz="24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7B615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1110010</a:t>
            </a:r>
            <a:r>
              <a:rPr sz="24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7B615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1101100</a:t>
            </a:r>
            <a:r>
              <a:rPr sz="24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7B615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1100100</a:t>
            </a:r>
            <a:r>
              <a:rPr sz="24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3663" y="212597"/>
            <a:ext cx="8784590" cy="1295400"/>
            <a:chOff x="359663" y="212597"/>
            <a:chExt cx="8784590" cy="129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3" y="212597"/>
              <a:ext cx="2938272" cy="12283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2512" y="212597"/>
              <a:ext cx="1005077" cy="12283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90" y="212597"/>
              <a:ext cx="2844545" cy="12283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Detection</a:t>
            </a:r>
            <a:r>
              <a:rPr spc="-5" dirty="0"/>
              <a:t> </a:t>
            </a:r>
            <a:r>
              <a:rPr spc="-270" dirty="0"/>
              <a:t>–</a:t>
            </a:r>
            <a:r>
              <a:rPr spc="10" dirty="0"/>
              <a:t> </a:t>
            </a:r>
            <a:r>
              <a:rPr spc="-290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12315" y="2370328"/>
            <a:ext cx="750189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2725"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Now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Example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received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corrupted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101600">
              <a:spcBef>
                <a:spcPts val="1680"/>
              </a:spcBef>
              <a:tabLst>
                <a:tab pos="1737360" algn="l"/>
                <a:tab pos="3373120" algn="l"/>
                <a:tab pos="5035550" algn="l"/>
              </a:tabLst>
            </a:pPr>
            <a:r>
              <a:rPr sz="2800" spc="-10" dirty="0">
                <a:latin typeface="Times New Roman"/>
                <a:cs typeface="Times New Roman"/>
              </a:rPr>
              <a:t>11101110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11011110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11100100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11011000</a:t>
            </a:r>
            <a:endParaRPr sz="2800">
              <a:latin typeface="Times New Roman"/>
              <a:cs typeface="Times New Roman"/>
            </a:endParaRPr>
          </a:p>
          <a:p>
            <a:pPr marL="12700"/>
            <a:r>
              <a:rPr sz="2800" spc="-10" dirty="0">
                <a:latin typeface="Times New Roman"/>
                <a:cs typeface="Times New Roman"/>
              </a:rPr>
              <a:t>11001001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spcBef>
                <a:spcPts val="168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comes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(6,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4).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data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accepted.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3663" y="212597"/>
            <a:ext cx="8784590" cy="1295400"/>
            <a:chOff x="359663" y="212597"/>
            <a:chExt cx="8784590" cy="129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3" y="212597"/>
              <a:ext cx="2938272" cy="12283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2512" y="212597"/>
              <a:ext cx="1005077" cy="12283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6090" y="212597"/>
              <a:ext cx="2844545" cy="12283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Detection</a:t>
            </a:r>
            <a:r>
              <a:rPr spc="-5" dirty="0"/>
              <a:t> </a:t>
            </a:r>
            <a:r>
              <a:rPr spc="-270" dirty="0"/>
              <a:t>–</a:t>
            </a:r>
            <a:r>
              <a:rPr spc="10" dirty="0"/>
              <a:t> </a:t>
            </a:r>
            <a:r>
              <a:rPr spc="-290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7115" y="2129028"/>
            <a:ext cx="740918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93444"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Now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Example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corrupted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101600">
              <a:spcBef>
                <a:spcPts val="1680"/>
              </a:spcBef>
              <a:tabLst>
                <a:tab pos="1711325" algn="l"/>
                <a:tab pos="3348354" algn="l"/>
                <a:tab pos="4998085" algn="l"/>
              </a:tabLst>
            </a:pPr>
            <a:r>
              <a:rPr sz="2800" spc="-10" dirty="0">
                <a:latin typeface="Times New Roman"/>
                <a:cs typeface="Times New Roman"/>
              </a:rPr>
              <a:t>11111110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11011110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11101100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11011000</a:t>
            </a:r>
            <a:endParaRPr sz="2800">
              <a:latin typeface="Times New Roman"/>
              <a:cs typeface="Times New Roman"/>
            </a:endParaRPr>
          </a:p>
          <a:p>
            <a:pPr marL="12700"/>
            <a:r>
              <a:rPr sz="2800" spc="-10" dirty="0">
                <a:latin typeface="Times New Roman"/>
                <a:cs typeface="Times New Roman"/>
              </a:rPr>
              <a:t>11001001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spcBef>
                <a:spcPts val="168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comes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odd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(7,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6,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4).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receiver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corrupted, </a:t>
            </a:r>
            <a:r>
              <a:rPr sz="2800" dirty="0">
                <a:latin typeface="Times New Roman"/>
                <a:cs typeface="Times New Roman"/>
              </a:rPr>
              <a:t>discards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asks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retransmission.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5516" y="1612646"/>
            <a:ext cx="7941945" cy="3650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marR="302895" indent="-319405">
              <a:spcBef>
                <a:spcPts val="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225" dirty="0">
                <a:latin typeface="Arial MT"/>
                <a:cs typeface="Arial MT"/>
              </a:rPr>
              <a:t>simplest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form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error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detection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345" dirty="0">
                <a:latin typeface="Arial MT"/>
                <a:cs typeface="Arial MT"/>
              </a:rPr>
              <a:t>use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a </a:t>
            </a:r>
            <a:r>
              <a:rPr sz="2900" spc="-175" dirty="0">
                <a:latin typeface="Arial MT"/>
                <a:cs typeface="Arial MT"/>
              </a:rPr>
              <a:t>single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b="1" spc="-150" dirty="0">
                <a:latin typeface="Arial"/>
                <a:cs typeface="Arial"/>
              </a:rPr>
              <a:t>parity</a:t>
            </a:r>
            <a:r>
              <a:rPr sz="2900" b="1" spc="-40" dirty="0">
                <a:latin typeface="Arial"/>
                <a:cs typeface="Arial"/>
              </a:rPr>
              <a:t> </a:t>
            </a:r>
            <a:r>
              <a:rPr sz="2900" b="1" spc="-20" dirty="0">
                <a:latin typeface="Arial"/>
                <a:cs typeface="Arial"/>
              </a:rPr>
              <a:t>bit.</a:t>
            </a:r>
            <a:endParaRPr sz="2900">
              <a:latin typeface="Arial"/>
              <a:cs typeface="Arial"/>
            </a:endParaRPr>
          </a:p>
          <a:p>
            <a:pPr marL="331470" marR="5080" indent="-319405">
              <a:spcBef>
                <a:spcPts val="70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270" dirty="0">
                <a:latin typeface="Arial MT"/>
                <a:cs typeface="Arial MT"/>
              </a:rPr>
              <a:t>In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an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245" dirty="0">
                <a:latin typeface="Arial MT"/>
                <a:cs typeface="Arial MT"/>
              </a:rPr>
              <a:t>even</a:t>
            </a:r>
            <a:r>
              <a:rPr sz="2900" dirty="0">
                <a:latin typeface="Arial MT"/>
                <a:cs typeface="Arial MT"/>
              </a:rPr>
              <a:t> parity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320" dirty="0">
                <a:latin typeface="Arial MT"/>
                <a:cs typeface="Arial MT"/>
              </a:rPr>
              <a:t>scheme,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sender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simply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includes </a:t>
            </a:r>
            <a:r>
              <a:rPr sz="2900" spc="-245" dirty="0">
                <a:latin typeface="Arial MT"/>
                <a:cs typeface="Arial MT"/>
              </a:rPr>
              <a:t>one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additional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and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305" dirty="0">
                <a:latin typeface="Arial MT"/>
                <a:cs typeface="Arial MT"/>
              </a:rPr>
              <a:t>chooses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its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value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365" dirty="0">
                <a:latin typeface="Arial MT"/>
                <a:cs typeface="Arial MT"/>
              </a:rPr>
              <a:t>such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that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total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240" dirty="0">
                <a:latin typeface="Arial MT"/>
                <a:cs typeface="Arial MT"/>
              </a:rPr>
              <a:t>number</a:t>
            </a:r>
            <a:r>
              <a:rPr sz="2900" dirty="0">
                <a:latin typeface="Arial MT"/>
                <a:cs typeface="Arial MT"/>
              </a:rPr>
              <a:t> of</a:t>
            </a:r>
            <a:r>
              <a:rPr sz="2900" spc="40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1s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i="1" dirty="0">
                <a:latin typeface="Arial"/>
                <a:cs typeface="Arial"/>
              </a:rPr>
              <a:t>d</a:t>
            </a:r>
            <a:r>
              <a:rPr sz="2900" i="1" spc="-40" dirty="0">
                <a:latin typeface="Arial"/>
                <a:cs typeface="Arial"/>
              </a:rPr>
              <a:t> </a:t>
            </a:r>
            <a:r>
              <a:rPr sz="2900" i="1" spc="235" dirty="0">
                <a:latin typeface="Arial"/>
                <a:cs typeface="Arial"/>
              </a:rPr>
              <a:t>+</a:t>
            </a:r>
            <a:r>
              <a:rPr sz="2900" i="1" spc="-30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1</a:t>
            </a:r>
            <a:r>
              <a:rPr sz="2900" i="1" spc="-40" dirty="0">
                <a:latin typeface="Arial"/>
                <a:cs typeface="Arial"/>
              </a:rPr>
              <a:t> </a:t>
            </a:r>
            <a:r>
              <a:rPr sz="2900" i="1" spc="-175" dirty="0">
                <a:latin typeface="Arial"/>
                <a:cs typeface="Arial"/>
              </a:rPr>
              <a:t>bits</a:t>
            </a:r>
            <a:r>
              <a:rPr sz="2900" i="1" spc="-25" dirty="0">
                <a:latin typeface="Arial"/>
                <a:cs typeface="Arial"/>
              </a:rPr>
              <a:t> </a:t>
            </a:r>
            <a:r>
              <a:rPr sz="2900" i="1" spc="-185" dirty="0">
                <a:latin typeface="Arial"/>
                <a:cs typeface="Arial"/>
              </a:rPr>
              <a:t>(the</a:t>
            </a:r>
            <a:r>
              <a:rPr sz="2900" i="1" spc="-15" dirty="0">
                <a:latin typeface="Arial"/>
                <a:cs typeface="Arial"/>
              </a:rPr>
              <a:t> </a:t>
            </a:r>
            <a:r>
              <a:rPr sz="2900" i="1" spc="-10" dirty="0">
                <a:latin typeface="Arial"/>
                <a:cs typeface="Arial"/>
              </a:rPr>
              <a:t>original </a:t>
            </a:r>
            <a:r>
              <a:rPr sz="2900" i="1" spc="-150" dirty="0">
                <a:latin typeface="Arial"/>
                <a:cs typeface="Arial"/>
              </a:rPr>
              <a:t>information</a:t>
            </a:r>
            <a:r>
              <a:rPr sz="2900" i="1" spc="-50" dirty="0">
                <a:latin typeface="Arial"/>
                <a:cs typeface="Arial"/>
              </a:rPr>
              <a:t> </a:t>
            </a:r>
            <a:r>
              <a:rPr sz="2900" i="1" spc="-260" dirty="0">
                <a:latin typeface="Arial"/>
                <a:cs typeface="Arial"/>
              </a:rPr>
              <a:t>plus</a:t>
            </a:r>
            <a:r>
              <a:rPr sz="2900" i="1" spc="-10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a</a:t>
            </a:r>
            <a:r>
              <a:rPr sz="2900" i="1" spc="-200" dirty="0">
                <a:latin typeface="Arial"/>
                <a:cs typeface="Arial"/>
              </a:rPr>
              <a:t> </a:t>
            </a:r>
            <a:r>
              <a:rPr sz="2900" i="1" spc="-85" dirty="0">
                <a:latin typeface="Arial"/>
                <a:cs typeface="Arial"/>
              </a:rPr>
              <a:t>parity</a:t>
            </a:r>
            <a:r>
              <a:rPr sz="2900" i="1" spc="-114" dirty="0">
                <a:latin typeface="Arial"/>
                <a:cs typeface="Arial"/>
              </a:rPr>
              <a:t> </a:t>
            </a:r>
            <a:r>
              <a:rPr sz="2900" spc="-20" dirty="0">
                <a:latin typeface="Arial MT"/>
                <a:cs typeface="Arial MT"/>
              </a:rPr>
              <a:t>bit)</a:t>
            </a:r>
            <a:r>
              <a:rPr sz="2900" spc="-14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29" dirty="0">
                <a:latin typeface="Arial MT"/>
                <a:cs typeface="Arial MT"/>
              </a:rPr>
              <a:t>even.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45" dirty="0">
                <a:latin typeface="Arial MT"/>
                <a:cs typeface="Arial MT"/>
              </a:rPr>
              <a:t>For</a:t>
            </a:r>
            <a:r>
              <a:rPr sz="2900" spc="-10" dirty="0">
                <a:latin typeface="Arial MT"/>
                <a:cs typeface="Arial MT"/>
              </a:rPr>
              <a:t> odd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parity </a:t>
            </a:r>
            <a:r>
              <a:rPr sz="2900" spc="-330" dirty="0">
                <a:latin typeface="Arial MT"/>
                <a:cs typeface="Arial MT"/>
              </a:rPr>
              <a:t>schemes,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parity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value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300" dirty="0">
                <a:latin typeface="Arial MT"/>
                <a:cs typeface="Arial MT"/>
              </a:rPr>
              <a:t>chosen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365" dirty="0">
                <a:latin typeface="Arial MT"/>
                <a:cs typeface="Arial MT"/>
              </a:rPr>
              <a:t>such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that </a:t>
            </a:r>
            <a:r>
              <a:rPr sz="2900" spc="-140" dirty="0">
                <a:latin typeface="Arial MT"/>
                <a:cs typeface="Arial MT"/>
              </a:rPr>
              <a:t>there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80" dirty="0">
                <a:latin typeface="Arial MT"/>
                <a:cs typeface="Arial MT"/>
              </a:rPr>
              <a:t>an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odd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240" dirty="0">
                <a:latin typeface="Arial MT"/>
                <a:cs typeface="Arial MT"/>
              </a:rPr>
              <a:t>number</a:t>
            </a:r>
            <a:r>
              <a:rPr sz="2900" dirty="0">
                <a:latin typeface="Arial MT"/>
                <a:cs typeface="Arial MT"/>
              </a:rPr>
              <a:t> of</a:t>
            </a:r>
            <a:r>
              <a:rPr sz="2900" spc="4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1s.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5515" y="1612646"/>
            <a:ext cx="7994650" cy="311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marR="5080" indent="-319405" algn="just">
              <a:spcBef>
                <a:spcPts val="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95" dirty="0">
                <a:latin typeface="Arial MT"/>
                <a:cs typeface="Arial MT"/>
              </a:rPr>
              <a:t>Receiver</a:t>
            </a:r>
            <a:r>
              <a:rPr sz="2900" spc="409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operation</a:t>
            </a:r>
            <a:r>
              <a:rPr sz="2900" spc="41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409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also</a:t>
            </a:r>
            <a:r>
              <a:rPr sz="2900" spc="4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simple</a:t>
            </a:r>
            <a:r>
              <a:rPr sz="2900" spc="4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409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415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single </a:t>
            </a:r>
            <a:r>
              <a:rPr sz="2900" dirty="0">
                <a:latin typeface="Arial MT"/>
                <a:cs typeface="Arial MT"/>
              </a:rPr>
              <a:t>parity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bit.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350" dirty="0">
                <a:latin typeface="Arial MT"/>
                <a:cs typeface="Arial MT"/>
              </a:rPr>
              <a:t>The</a:t>
            </a:r>
            <a:r>
              <a:rPr sz="2900" spc="150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receiver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14" dirty="0">
                <a:latin typeface="Arial MT"/>
                <a:cs typeface="Arial MT"/>
              </a:rPr>
              <a:t>need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only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229" dirty="0">
                <a:latin typeface="Arial MT"/>
                <a:cs typeface="Arial MT"/>
              </a:rPr>
              <a:t>count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the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number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spc="-310" dirty="0">
                <a:latin typeface="Arial MT"/>
                <a:cs typeface="Arial MT"/>
              </a:rPr>
              <a:t>1s</a:t>
            </a:r>
            <a:r>
              <a:rPr sz="2900" spc="110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the</a:t>
            </a:r>
            <a:r>
              <a:rPr sz="2900" spc="10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received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i="1" dirty="0">
                <a:latin typeface="Arial"/>
                <a:cs typeface="Arial"/>
              </a:rPr>
              <a:t>d</a:t>
            </a:r>
            <a:r>
              <a:rPr sz="2900" i="1" spc="15" dirty="0">
                <a:latin typeface="Arial"/>
                <a:cs typeface="Arial"/>
              </a:rPr>
              <a:t> </a:t>
            </a:r>
            <a:r>
              <a:rPr sz="2900" i="1" spc="235" dirty="0">
                <a:latin typeface="Arial"/>
                <a:cs typeface="Arial"/>
              </a:rPr>
              <a:t>+</a:t>
            </a:r>
            <a:r>
              <a:rPr sz="2900" i="1" spc="5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1</a:t>
            </a:r>
            <a:r>
              <a:rPr sz="2900" i="1" spc="10" dirty="0">
                <a:latin typeface="Arial"/>
                <a:cs typeface="Arial"/>
              </a:rPr>
              <a:t> </a:t>
            </a:r>
            <a:r>
              <a:rPr sz="2900" i="1" spc="-175" dirty="0">
                <a:latin typeface="Arial"/>
                <a:cs typeface="Arial"/>
              </a:rPr>
              <a:t>bits.</a:t>
            </a:r>
            <a:r>
              <a:rPr sz="2900" i="1" spc="5" dirty="0">
                <a:latin typeface="Arial"/>
                <a:cs typeface="Arial"/>
              </a:rPr>
              <a:t> </a:t>
            </a:r>
            <a:r>
              <a:rPr sz="2900" i="1" spc="70" dirty="0">
                <a:latin typeface="Arial"/>
                <a:cs typeface="Arial"/>
              </a:rPr>
              <a:t>If</a:t>
            </a:r>
            <a:r>
              <a:rPr sz="2900" i="1" spc="245" dirty="0">
                <a:latin typeface="Arial"/>
                <a:cs typeface="Arial"/>
              </a:rPr>
              <a:t> </a:t>
            </a:r>
            <a:r>
              <a:rPr sz="2900" i="1" spc="-320" dirty="0">
                <a:latin typeface="Arial"/>
                <a:cs typeface="Arial"/>
              </a:rPr>
              <a:t>an</a:t>
            </a:r>
            <a:r>
              <a:rPr sz="2900" i="1" spc="120" dirty="0">
                <a:latin typeface="Arial"/>
                <a:cs typeface="Arial"/>
              </a:rPr>
              <a:t> </a:t>
            </a:r>
            <a:r>
              <a:rPr sz="2900" i="1" spc="-160" dirty="0">
                <a:latin typeface="Arial"/>
                <a:cs typeface="Arial"/>
              </a:rPr>
              <a:t>odd</a:t>
            </a:r>
            <a:r>
              <a:rPr sz="2900" i="1" dirty="0">
                <a:latin typeface="Arial"/>
                <a:cs typeface="Arial"/>
              </a:rPr>
              <a:t> </a:t>
            </a:r>
            <a:r>
              <a:rPr sz="2900" i="1" spc="-310" dirty="0">
                <a:latin typeface="Arial"/>
                <a:cs typeface="Arial"/>
              </a:rPr>
              <a:t>number</a:t>
            </a:r>
            <a:r>
              <a:rPr sz="2900" i="1" spc="110" dirty="0">
                <a:latin typeface="Arial"/>
                <a:cs typeface="Arial"/>
              </a:rPr>
              <a:t> </a:t>
            </a:r>
            <a:r>
              <a:rPr sz="2900" i="1" spc="-25" dirty="0">
                <a:latin typeface="Arial"/>
                <a:cs typeface="Arial"/>
              </a:rPr>
              <a:t>of </a:t>
            </a:r>
            <a:r>
              <a:rPr sz="2900" i="1" spc="-20" dirty="0">
                <a:latin typeface="Arial"/>
                <a:cs typeface="Arial"/>
              </a:rPr>
              <a:t>1-</a:t>
            </a:r>
            <a:r>
              <a:rPr sz="2900" spc="-125" dirty="0">
                <a:latin typeface="Arial MT"/>
                <a:cs typeface="Arial MT"/>
              </a:rPr>
              <a:t>valued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bits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found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with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75" dirty="0">
                <a:latin typeface="Arial MT"/>
                <a:cs typeface="Arial MT"/>
              </a:rPr>
              <a:t>an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245" dirty="0">
                <a:latin typeface="Arial MT"/>
                <a:cs typeface="Arial MT"/>
              </a:rPr>
              <a:t>even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parity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330" dirty="0">
                <a:latin typeface="Arial MT"/>
                <a:cs typeface="Arial MT"/>
              </a:rPr>
              <a:t>scheme,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receiver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spc="-290" dirty="0">
                <a:latin typeface="Arial MT"/>
                <a:cs typeface="Arial MT"/>
              </a:rPr>
              <a:t>knows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at</a:t>
            </a:r>
            <a:r>
              <a:rPr sz="2900" spc="11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least</a:t>
            </a:r>
            <a:r>
              <a:rPr sz="2900" spc="1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one</a:t>
            </a:r>
            <a:r>
              <a:rPr sz="2900" spc="1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1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error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spc="-320" dirty="0">
                <a:latin typeface="Arial MT"/>
                <a:cs typeface="Arial MT"/>
              </a:rPr>
              <a:t>has </a:t>
            </a:r>
            <a:r>
              <a:rPr sz="2900" spc="-105" dirty="0">
                <a:latin typeface="Arial MT"/>
                <a:cs typeface="Arial MT"/>
              </a:rPr>
              <a:t>occurred.</a:t>
            </a:r>
            <a:r>
              <a:rPr sz="2900" spc="2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More</a:t>
            </a:r>
            <a:r>
              <a:rPr sz="2900" spc="29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precisely,</a:t>
            </a:r>
            <a:r>
              <a:rPr sz="2900" spc="2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300" dirty="0">
                <a:latin typeface="Arial MT"/>
                <a:cs typeface="Arial MT"/>
              </a:rPr>
              <a:t> </a:t>
            </a:r>
            <a:r>
              <a:rPr sz="2900" spc="-290" dirty="0">
                <a:latin typeface="Arial MT"/>
                <a:cs typeface="Arial MT"/>
              </a:rPr>
              <a:t>knows</a:t>
            </a:r>
            <a:r>
              <a:rPr sz="2900" spc="2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290" dirty="0">
                <a:latin typeface="Arial MT"/>
                <a:cs typeface="Arial MT"/>
              </a:rPr>
              <a:t> </a:t>
            </a:r>
            <a:r>
              <a:rPr sz="2900" spc="-330" dirty="0">
                <a:latin typeface="Arial MT"/>
                <a:cs typeface="Arial MT"/>
              </a:rPr>
              <a:t>some</a:t>
            </a:r>
            <a:r>
              <a:rPr sz="2900" spc="300" dirty="0">
                <a:latin typeface="Arial MT"/>
                <a:cs typeface="Arial MT"/>
              </a:rPr>
              <a:t> </a:t>
            </a:r>
            <a:r>
              <a:rPr sz="2900" i="1" spc="-40" dirty="0">
                <a:latin typeface="Arial"/>
                <a:cs typeface="Arial"/>
              </a:rPr>
              <a:t>odd </a:t>
            </a:r>
            <a:r>
              <a:rPr sz="2900" i="1" spc="-295" dirty="0">
                <a:latin typeface="Arial"/>
                <a:cs typeface="Arial"/>
              </a:rPr>
              <a:t>number</a:t>
            </a:r>
            <a:r>
              <a:rPr sz="2900" i="1" spc="-5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of</a:t>
            </a:r>
            <a:r>
              <a:rPr sz="2900" i="1" spc="114" dirty="0">
                <a:latin typeface="Arial"/>
                <a:cs typeface="Arial"/>
              </a:rPr>
              <a:t> </a:t>
            </a:r>
            <a:r>
              <a:rPr sz="2900" i="1" spc="-20" dirty="0">
                <a:latin typeface="Arial"/>
                <a:cs typeface="Arial"/>
              </a:rPr>
              <a:t>bit</a:t>
            </a:r>
            <a:r>
              <a:rPr sz="2900" i="1" spc="-40" dirty="0">
                <a:latin typeface="Arial"/>
                <a:cs typeface="Arial"/>
              </a:rPr>
              <a:t> </a:t>
            </a:r>
            <a:r>
              <a:rPr sz="2900" spc="-145" dirty="0">
                <a:latin typeface="Arial MT"/>
                <a:cs typeface="Arial MT"/>
              </a:rPr>
              <a:t>errors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have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45" dirty="0">
                <a:latin typeface="Arial MT"/>
                <a:cs typeface="Arial MT"/>
              </a:rPr>
              <a:t>occurred.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279397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83663" y="212597"/>
            <a:ext cx="8784590" cy="1295400"/>
            <a:chOff x="359663" y="212597"/>
            <a:chExt cx="8784590" cy="1295400"/>
          </a:xfrm>
        </p:grpSpPr>
        <p:sp>
          <p:nvSpPr>
            <p:cNvPr id="4" name="object 4"/>
            <p:cNvSpPr/>
            <p:nvPr/>
          </p:nvSpPr>
          <p:spPr>
            <a:xfrm>
              <a:off x="590550" y="1279397"/>
              <a:ext cx="8553450" cy="228600"/>
            </a:xfrm>
            <a:custGeom>
              <a:avLst/>
              <a:gdLst/>
              <a:ahLst/>
              <a:cxnLst/>
              <a:rect l="l" t="t" r="r" b="b"/>
              <a:pathLst>
                <a:path w="8553450" h="228600">
                  <a:moveTo>
                    <a:pt x="85534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3450" y="22860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94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3" y="212597"/>
              <a:ext cx="1737360" cy="1228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12597"/>
              <a:ext cx="1005077" cy="1228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1253" y="212597"/>
              <a:ext cx="6277356" cy="122834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0" dirty="0"/>
              <a:t>Two</a:t>
            </a:r>
            <a:r>
              <a:rPr spc="-5" dirty="0"/>
              <a:t> </a:t>
            </a:r>
            <a:r>
              <a:rPr spc="-340" dirty="0"/>
              <a:t>–Dimensional</a:t>
            </a:r>
            <a:r>
              <a:rPr spc="-20" dirty="0"/>
              <a:t> </a:t>
            </a:r>
            <a:r>
              <a:rPr spc="-170" dirty="0"/>
              <a:t>Parity</a:t>
            </a:r>
            <a:r>
              <a:rPr spc="-80" dirty="0"/>
              <a:t> </a:t>
            </a:r>
            <a:r>
              <a:rPr spc="-434" dirty="0"/>
              <a:t>Check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6371" y="1440940"/>
            <a:ext cx="7779258" cy="53339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1" y="304801"/>
            <a:ext cx="6248399" cy="619277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1" y="317245"/>
            <a:ext cx="8148955" cy="550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marR="5715" indent="-319405" algn="just">
              <a:spcBef>
                <a:spcPts val="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-25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this</a:t>
            </a:r>
            <a:r>
              <a:rPr sz="2900" spc="-25" dirty="0">
                <a:latin typeface="Arial MT"/>
                <a:cs typeface="Arial MT"/>
              </a:rPr>
              <a:t>  </a:t>
            </a:r>
            <a:r>
              <a:rPr sz="2900" b="1" spc="-140" dirty="0">
                <a:latin typeface="Arial"/>
                <a:cs typeface="Arial"/>
              </a:rPr>
              <a:t>two-</a:t>
            </a:r>
            <a:r>
              <a:rPr sz="2900" b="1" spc="-55" dirty="0">
                <a:latin typeface="Arial"/>
                <a:cs typeface="Arial"/>
              </a:rPr>
              <a:t>dimensional</a:t>
            </a:r>
            <a:r>
              <a:rPr sz="2900" b="1" spc="-30" dirty="0">
                <a:latin typeface="Arial"/>
                <a:cs typeface="Arial"/>
              </a:rPr>
              <a:t>  </a:t>
            </a:r>
            <a:r>
              <a:rPr sz="2900" b="1" dirty="0">
                <a:latin typeface="Arial"/>
                <a:cs typeface="Arial"/>
              </a:rPr>
              <a:t>parity</a:t>
            </a:r>
            <a:r>
              <a:rPr sz="2900" b="1" spc="-25" dirty="0">
                <a:latin typeface="Arial"/>
                <a:cs typeface="Arial"/>
              </a:rPr>
              <a:t>  </a:t>
            </a:r>
            <a:r>
              <a:rPr sz="2900" b="1" spc="-270" dirty="0">
                <a:latin typeface="Arial"/>
                <a:cs typeface="Arial"/>
              </a:rPr>
              <a:t>scheme,</a:t>
            </a:r>
            <a:r>
              <a:rPr sz="2900" b="1" spc="-25" dirty="0">
                <a:latin typeface="Arial"/>
                <a:cs typeface="Arial"/>
              </a:rPr>
              <a:t>  </a:t>
            </a:r>
            <a:r>
              <a:rPr sz="2900" b="1" spc="-105" dirty="0">
                <a:latin typeface="Arial"/>
                <a:cs typeface="Arial"/>
              </a:rPr>
              <a:t>the </a:t>
            </a:r>
            <a:r>
              <a:rPr sz="2900" b="1" spc="-60" dirty="0">
                <a:latin typeface="Arial"/>
                <a:cs typeface="Arial"/>
              </a:rPr>
              <a:t>parity</a:t>
            </a:r>
            <a:r>
              <a:rPr sz="2900" b="1" spc="-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of</a:t>
            </a:r>
            <a:r>
              <a:rPr sz="2900" b="1" spc="170" dirty="0">
                <a:latin typeface="Arial"/>
                <a:cs typeface="Arial"/>
              </a:rPr>
              <a:t> </a:t>
            </a:r>
            <a:r>
              <a:rPr sz="2900" b="1" spc="-114" dirty="0">
                <a:latin typeface="Arial"/>
                <a:cs typeface="Arial"/>
              </a:rPr>
              <a:t>both</a:t>
            </a:r>
            <a:r>
              <a:rPr sz="2900" b="1" spc="30" dirty="0">
                <a:latin typeface="Arial"/>
                <a:cs typeface="Arial"/>
              </a:rPr>
              <a:t> </a:t>
            </a:r>
            <a:r>
              <a:rPr sz="2900" b="1" spc="-35" dirty="0">
                <a:latin typeface="Arial"/>
                <a:cs typeface="Arial"/>
              </a:rPr>
              <a:t>the</a:t>
            </a:r>
            <a:r>
              <a:rPr sz="2900" b="1" spc="30" dirty="0">
                <a:latin typeface="Arial"/>
                <a:cs typeface="Arial"/>
              </a:rPr>
              <a:t> </a:t>
            </a:r>
            <a:r>
              <a:rPr sz="2900" b="1" spc="-260" dirty="0">
                <a:latin typeface="Arial"/>
                <a:cs typeface="Arial"/>
              </a:rPr>
              <a:t>column</a:t>
            </a:r>
            <a:r>
              <a:rPr sz="2900" b="1" spc="60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row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containing </a:t>
            </a:r>
            <a:r>
              <a:rPr sz="2900" spc="-17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flipped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will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be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error.</a:t>
            </a:r>
            <a:endParaRPr sz="2900">
              <a:latin typeface="Arial MT"/>
              <a:cs typeface="Arial MT"/>
            </a:endParaRPr>
          </a:p>
          <a:p>
            <a:pPr marL="332105" marR="5080" indent="-320040" algn="just">
              <a:spcBef>
                <a:spcPts val="705"/>
              </a:spcBef>
              <a:buSzPct val="60344"/>
              <a:buFont typeface="Wingdings"/>
              <a:buChar char=""/>
              <a:tabLst>
                <a:tab pos="332105" algn="l"/>
                <a:tab pos="432434" algn="l"/>
              </a:tabLst>
            </a:pPr>
            <a:r>
              <a:rPr sz="2900" dirty="0">
                <a:solidFill>
                  <a:srgbClr val="DD8047"/>
                </a:solidFill>
                <a:latin typeface="Arial MT"/>
                <a:cs typeface="Arial MT"/>
              </a:rPr>
              <a:t>	</a:t>
            </a:r>
            <a:r>
              <a:rPr sz="2900" spc="-350" dirty="0">
                <a:latin typeface="Arial MT"/>
                <a:cs typeface="Arial MT"/>
              </a:rPr>
              <a:t>The</a:t>
            </a:r>
            <a:r>
              <a:rPr sz="2900" spc="150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receiver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can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300" dirty="0">
                <a:latin typeface="Arial MT"/>
                <a:cs typeface="Arial MT"/>
              </a:rPr>
              <a:t>thus</a:t>
            </a:r>
            <a:r>
              <a:rPr sz="2900" spc="100" dirty="0">
                <a:latin typeface="Arial MT"/>
                <a:cs typeface="Arial MT"/>
              </a:rPr>
              <a:t> </a:t>
            </a:r>
            <a:r>
              <a:rPr sz="2900" spc="-40" dirty="0">
                <a:latin typeface="Arial MT"/>
                <a:cs typeface="Arial MT"/>
              </a:rPr>
              <a:t>not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30" dirty="0">
                <a:latin typeface="Arial MT"/>
                <a:cs typeface="Arial MT"/>
              </a:rPr>
              <a:t>only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i="1" spc="-160" dirty="0">
                <a:latin typeface="Arial"/>
                <a:cs typeface="Arial"/>
              </a:rPr>
              <a:t>detect</a:t>
            </a:r>
            <a:r>
              <a:rPr sz="2900" i="1" spc="-35" dirty="0">
                <a:latin typeface="Arial"/>
                <a:cs typeface="Arial"/>
              </a:rPr>
              <a:t> </a:t>
            </a:r>
            <a:r>
              <a:rPr sz="2900" i="1" spc="-140" dirty="0">
                <a:latin typeface="Arial"/>
                <a:cs typeface="Arial"/>
              </a:rPr>
              <a:t>the</a:t>
            </a:r>
            <a:r>
              <a:rPr sz="2900" i="1" spc="-30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fact</a:t>
            </a:r>
            <a:r>
              <a:rPr sz="2900" i="1" spc="-30" dirty="0">
                <a:latin typeface="Arial"/>
                <a:cs typeface="Arial"/>
              </a:rPr>
              <a:t> </a:t>
            </a:r>
            <a:r>
              <a:rPr sz="2900" i="1" spc="-25" dirty="0">
                <a:latin typeface="Arial"/>
                <a:cs typeface="Arial"/>
              </a:rPr>
              <a:t>that</a:t>
            </a:r>
            <a:r>
              <a:rPr sz="2900" i="1" spc="-30" dirty="0">
                <a:latin typeface="Arial"/>
                <a:cs typeface="Arial"/>
              </a:rPr>
              <a:t> </a:t>
            </a:r>
            <a:r>
              <a:rPr sz="2900" i="1" spc="-50" dirty="0">
                <a:latin typeface="Arial"/>
                <a:cs typeface="Arial"/>
              </a:rPr>
              <a:t>a </a:t>
            </a:r>
            <a:r>
              <a:rPr sz="2900" i="1" spc="-135" dirty="0">
                <a:latin typeface="Arial"/>
                <a:cs typeface="Arial"/>
              </a:rPr>
              <a:t>single</a:t>
            </a:r>
            <a:r>
              <a:rPr sz="2900" i="1" spc="-50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bit</a:t>
            </a:r>
            <a:r>
              <a:rPr sz="2900" i="1" spc="105" dirty="0">
                <a:latin typeface="Arial"/>
                <a:cs typeface="Arial"/>
              </a:rPr>
              <a:t> </a:t>
            </a:r>
            <a:r>
              <a:rPr sz="2900" i="1" spc="-10" dirty="0">
                <a:latin typeface="Arial"/>
                <a:cs typeface="Arial"/>
              </a:rPr>
              <a:t>error</a:t>
            </a:r>
            <a:r>
              <a:rPr sz="2900" i="1" spc="100" dirty="0">
                <a:latin typeface="Arial"/>
                <a:cs typeface="Arial"/>
              </a:rPr>
              <a:t> </a:t>
            </a:r>
            <a:r>
              <a:rPr sz="2900" i="1" spc="-340" dirty="0">
                <a:latin typeface="Arial"/>
                <a:cs typeface="Arial"/>
              </a:rPr>
              <a:t>has</a:t>
            </a:r>
            <a:r>
              <a:rPr sz="2900" i="1" spc="140" dirty="0">
                <a:latin typeface="Arial"/>
                <a:cs typeface="Arial"/>
              </a:rPr>
              <a:t> </a:t>
            </a:r>
            <a:r>
              <a:rPr sz="2900" i="1" spc="-155" dirty="0">
                <a:latin typeface="Arial"/>
                <a:cs typeface="Arial"/>
              </a:rPr>
              <a:t>occurred,</a:t>
            </a:r>
            <a:r>
              <a:rPr sz="2900" i="1" spc="95" dirty="0">
                <a:latin typeface="Arial"/>
                <a:cs typeface="Arial"/>
              </a:rPr>
              <a:t> </a:t>
            </a:r>
            <a:r>
              <a:rPr sz="2900" i="1" dirty="0">
                <a:latin typeface="Arial"/>
                <a:cs typeface="Arial"/>
              </a:rPr>
              <a:t>but</a:t>
            </a:r>
            <a:r>
              <a:rPr sz="2900" i="1" spc="100" dirty="0">
                <a:latin typeface="Arial"/>
                <a:cs typeface="Arial"/>
              </a:rPr>
              <a:t> </a:t>
            </a:r>
            <a:r>
              <a:rPr sz="2900" i="1" spc="-295" dirty="0">
                <a:latin typeface="Arial"/>
                <a:cs typeface="Arial"/>
              </a:rPr>
              <a:t>can</a:t>
            </a:r>
            <a:r>
              <a:rPr sz="2900" i="1" spc="95" dirty="0">
                <a:latin typeface="Arial"/>
                <a:cs typeface="Arial"/>
              </a:rPr>
              <a:t> </a:t>
            </a:r>
            <a:r>
              <a:rPr sz="2900" i="1" spc="-405" dirty="0">
                <a:latin typeface="Arial"/>
                <a:cs typeface="Arial"/>
              </a:rPr>
              <a:t>use</a:t>
            </a:r>
            <a:r>
              <a:rPr sz="2900" i="1" spc="204" dirty="0">
                <a:latin typeface="Arial"/>
                <a:cs typeface="Arial"/>
              </a:rPr>
              <a:t> </a:t>
            </a:r>
            <a:r>
              <a:rPr sz="2900" i="1" spc="-90" dirty="0">
                <a:latin typeface="Arial"/>
                <a:cs typeface="Arial"/>
              </a:rPr>
              <a:t>the</a:t>
            </a:r>
            <a:r>
              <a:rPr sz="2900" i="1" spc="100" dirty="0">
                <a:latin typeface="Arial"/>
                <a:cs typeface="Arial"/>
              </a:rPr>
              <a:t> </a:t>
            </a:r>
            <a:r>
              <a:rPr sz="2900" i="1" spc="-300" dirty="0">
                <a:latin typeface="Arial"/>
                <a:cs typeface="Arial"/>
              </a:rPr>
              <a:t>column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row</a:t>
            </a:r>
            <a:r>
              <a:rPr sz="2900" spc="50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indices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1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50" dirty="0">
                <a:latin typeface="Arial MT"/>
                <a:cs typeface="Arial MT"/>
              </a:rPr>
              <a:t> </a:t>
            </a:r>
            <a:r>
              <a:rPr sz="2900" spc="-290" dirty="0">
                <a:latin typeface="Arial MT"/>
                <a:cs typeface="Arial MT"/>
              </a:rPr>
              <a:t>column</a:t>
            </a:r>
            <a:r>
              <a:rPr sz="2900" spc="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row</a:t>
            </a:r>
            <a:r>
              <a:rPr sz="2900" spc="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parity </a:t>
            </a:r>
            <a:r>
              <a:rPr sz="2900" spc="-110" dirty="0">
                <a:latin typeface="Arial MT"/>
                <a:cs typeface="Arial MT"/>
              </a:rPr>
              <a:t>errors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actually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identify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80" dirty="0">
                <a:latin typeface="Arial MT"/>
                <a:cs typeface="Arial MT"/>
              </a:rPr>
              <a:t>the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70" dirty="0">
                <a:latin typeface="Arial MT"/>
                <a:cs typeface="Arial MT"/>
              </a:rPr>
              <a:t>was</a:t>
            </a:r>
            <a:r>
              <a:rPr sz="2900" spc="70" dirty="0">
                <a:latin typeface="Arial MT"/>
                <a:cs typeface="Arial MT"/>
              </a:rPr>
              <a:t> </a:t>
            </a:r>
            <a:r>
              <a:rPr sz="2900" spc="-85" dirty="0">
                <a:latin typeface="Arial MT"/>
                <a:cs typeface="Arial MT"/>
              </a:rPr>
              <a:t>corrupted </a:t>
            </a:r>
            <a:r>
              <a:rPr sz="2900" spc="-110" dirty="0">
                <a:latin typeface="Arial MT"/>
                <a:cs typeface="Arial MT"/>
              </a:rPr>
              <a:t>and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i="1" spc="-180" dirty="0">
                <a:latin typeface="Arial"/>
                <a:cs typeface="Arial"/>
              </a:rPr>
              <a:t>correct</a:t>
            </a:r>
            <a:r>
              <a:rPr sz="2900" i="1" spc="-20" dirty="0">
                <a:latin typeface="Arial"/>
                <a:cs typeface="Arial"/>
              </a:rPr>
              <a:t> </a:t>
            </a:r>
            <a:r>
              <a:rPr sz="2900" i="1" spc="-120" dirty="0">
                <a:latin typeface="Arial"/>
                <a:cs typeface="Arial"/>
              </a:rPr>
              <a:t>that</a:t>
            </a:r>
            <a:r>
              <a:rPr sz="2900" i="1" spc="-50" dirty="0">
                <a:latin typeface="Arial"/>
                <a:cs typeface="Arial"/>
              </a:rPr>
              <a:t> </a:t>
            </a:r>
            <a:r>
              <a:rPr sz="2900" i="1" spc="-10" dirty="0">
                <a:latin typeface="Arial"/>
                <a:cs typeface="Arial"/>
              </a:rPr>
              <a:t>error.</a:t>
            </a:r>
            <a:endParaRPr sz="2900">
              <a:latin typeface="Arial"/>
              <a:cs typeface="Arial"/>
            </a:endParaRPr>
          </a:p>
          <a:p>
            <a:pPr marL="330835" marR="5080" indent="-318770" algn="just">
              <a:spcBef>
                <a:spcPts val="6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sz="2900" spc="-390" dirty="0">
                <a:latin typeface="Arial MT"/>
                <a:cs typeface="Arial MT"/>
              </a:rPr>
              <a:t>The</a:t>
            </a:r>
            <a:r>
              <a:rPr sz="2900" spc="1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ability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 </a:t>
            </a:r>
            <a:r>
              <a:rPr sz="2900" spc="-13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receiver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both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detect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and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correct 	</a:t>
            </a:r>
            <a:r>
              <a:rPr sz="2900" spc="-45" dirty="0">
                <a:latin typeface="Arial MT"/>
                <a:cs typeface="Arial MT"/>
              </a:rPr>
              <a:t>errors</a:t>
            </a:r>
            <a:r>
              <a:rPr sz="2900" spc="185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185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known</a:t>
            </a:r>
            <a:r>
              <a:rPr sz="2900" spc="185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as</a:t>
            </a:r>
            <a:r>
              <a:rPr sz="2900" spc="190" dirty="0">
                <a:latin typeface="Arial MT"/>
                <a:cs typeface="Arial MT"/>
              </a:rPr>
              <a:t> </a:t>
            </a:r>
            <a:r>
              <a:rPr sz="2900" b="1" spc="-70" dirty="0">
                <a:latin typeface="Arial"/>
                <a:cs typeface="Arial"/>
              </a:rPr>
              <a:t>forward</a:t>
            </a:r>
            <a:r>
              <a:rPr sz="2900" b="1" spc="180" dirty="0">
                <a:latin typeface="Arial"/>
                <a:cs typeface="Arial"/>
              </a:rPr>
              <a:t> </a:t>
            </a:r>
            <a:r>
              <a:rPr sz="2900" b="1" spc="-100" dirty="0">
                <a:latin typeface="Arial"/>
                <a:cs typeface="Arial"/>
              </a:rPr>
              <a:t>error</a:t>
            </a:r>
            <a:r>
              <a:rPr sz="2900" b="1" spc="190" dirty="0">
                <a:latin typeface="Arial"/>
                <a:cs typeface="Arial"/>
              </a:rPr>
              <a:t> </a:t>
            </a:r>
            <a:r>
              <a:rPr sz="2900" b="1" spc="-200" dirty="0">
                <a:latin typeface="Arial"/>
                <a:cs typeface="Arial"/>
              </a:rPr>
              <a:t>correction</a:t>
            </a:r>
            <a:r>
              <a:rPr sz="2900" b="1" spc="185" dirty="0">
                <a:latin typeface="Arial"/>
                <a:cs typeface="Arial"/>
              </a:rPr>
              <a:t> </a:t>
            </a:r>
            <a:r>
              <a:rPr sz="2900" b="1" spc="-270" dirty="0">
                <a:latin typeface="Arial"/>
                <a:cs typeface="Arial"/>
              </a:rPr>
              <a:t>(FEC). 	</a:t>
            </a:r>
            <a:r>
              <a:rPr sz="2900" b="1" spc="-305" dirty="0">
                <a:latin typeface="Arial"/>
                <a:cs typeface="Arial"/>
              </a:rPr>
              <a:t>These</a:t>
            </a:r>
            <a:r>
              <a:rPr sz="2900" b="1" spc="600" dirty="0">
                <a:latin typeface="Arial"/>
                <a:cs typeface="Arial"/>
              </a:rPr>
              <a:t> </a:t>
            </a:r>
            <a:r>
              <a:rPr sz="2900" b="1" spc="-260" dirty="0">
                <a:latin typeface="Arial"/>
                <a:cs typeface="Arial"/>
              </a:rPr>
              <a:t>techniques</a:t>
            </a:r>
            <a:r>
              <a:rPr sz="2900" b="1" spc="61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are</a:t>
            </a:r>
            <a:r>
              <a:rPr sz="2900" b="1" spc="610" dirty="0">
                <a:latin typeface="Arial"/>
                <a:cs typeface="Arial"/>
              </a:rPr>
              <a:t> </a:t>
            </a:r>
            <a:r>
              <a:rPr sz="2900" b="1" spc="-120" dirty="0">
                <a:latin typeface="Arial"/>
                <a:cs typeface="Arial"/>
              </a:rPr>
              <a:t>commonly</a:t>
            </a:r>
            <a:r>
              <a:rPr sz="2900" b="1" spc="615" dirty="0">
                <a:latin typeface="Arial"/>
                <a:cs typeface="Arial"/>
              </a:rPr>
              <a:t> </a:t>
            </a:r>
            <a:r>
              <a:rPr sz="2900" b="1" spc="-275" dirty="0">
                <a:latin typeface="Arial"/>
                <a:cs typeface="Arial"/>
              </a:rPr>
              <a:t>used</a:t>
            </a:r>
            <a:r>
              <a:rPr sz="2900" b="1" spc="61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in</a:t>
            </a:r>
            <a:r>
              <a:rPr sz="2900" b="1" spc="610" dirty="0">
                <a:latin typeface="Arial"/>
                <a:cs typeface="Arial"/>
              </a:rPr>
              <a:t> </a:t>
            </a:r>
            <a:r>
              <a:rPr sz="2900" b="1" spc="-110" dirty="0">
                <a:latin typeface="Arial"/>
                <a:cs typeface="Arial"/>
              </a:rPr>
              <a:t>audio 	</a:t>
            </a:r>
            <a:r>
              <a:rPr sz="2900" b="1" spc="-229" dirty="0">
                <a:latin typeface="Arial"/>
                <a:cs typeface="Arial"/>
              </a:rPr>
              <a:t>storage</a:t>
            </a:r>
            <a:r>
              <a:rPr sz="2900" b="1" spc="-25" dirty="0">
                <a:latin typeface="Arial"/>
                <a:cs typeface="Arial"/>
              </a:rPr>
              <a:t> </a:t>
            </a:r>
            <a:r>
              <a:rPr sz="2900" b="1" spc="-204" dirty="0">
                <a:latin typeface="Arial"/>
                <a:cs typeface="Arial"/>
              </a:rPr>
              <a:t>and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spc="-65" dirty="0">
                <a:latin typeface="Arial MT"/>
                <a:cs typeface="Arial MT"/>
              </a:rPr>
              <a:t>playback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devices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365" dirty="0">
                <a:latin typeface="Arial MT"/>
                <a:cs typeface="Arial MT"/>
              </a:rPr>
              <a:t>such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as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audio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375" dirty="0">
                <a:latin typeface="Arial MT"/>
                <a:cs typeface="Arial MT"/>
              </a:rPr>
              <a:t>CDs.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279397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58400" y="1279397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228600"/>
                </a:moveTo>
                <a:lnTo>
                  <a:pt x="609600" y="228600"/>
                </a:lnTo>
                <a:lnTo>
                  <a:pt x="609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4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883664" y="212598"/>
            <a:ext cx="5211445" cy="1228725"/>
            <a:chOff x="359663" y="212597"/>
            <a:chExt cx="5211445" cy="1228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3" y="212597"/>
              <a:ext cx="2938272" cy="1228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2512" y="212597"/>
              <a:ext cx="911351" cy="12283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2363" y="212597"/>
              <a:ext cx="2658617" cy="122834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15515" y="344677"/>
            <a:ext cx="4511040" cy="695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0" dirty="0"/>
              <a:t>Detection</a:t>
            </a:r>
            <a:r>
              <a:rPr spc="-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90" dirty="0"/>
              <a:t>example</a:t>
            </a:r>
          </a:p>
        </p:txBody>
      </p:sp>
      <p:sp>
        <p:nvSpPr>
          <p:cNvPr id="9" name="object 9"/>
          <p:cNvSpPr/>
          <p:nvPr/>
        </p:nvSpPr>
        <p:spPr>
          <a:xfrm>
            <a:off x="2057400" y="990601"/>
            <a:ext cx="8001000" cy="3508375"/>
          </a:xfrm>
          <a:custGeom>
            <a:avLst/>
            <a:gdLst/>
            <a:ahLst/>
            <a:cxnLst/>
            <a:rect l="l" t="t" r="r" b="b"/>
            <a:pathLst>
              <a:path w="8001000" h="3508375">
                <a:moveTo>
                  <a:pt x="8001000" y="0"/>
                </a:moveTo>
                <a:lnTo>
                  <a:pt x="0" y="0"/>
                </a:lnTo>
                <a:lnTo>
                  <a:pt x="0" y="3508248"/>
                </a:lnTo>
                <a:lnTo>
                  <a:pt x="8001000" y="3508248"/>
                </a:lnTo>
                <a:lnTo>
                  <a:pt x="800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36140" y="862534"/>
            <a:ext cx="7653020" cy="357790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spcBef>
                <a:spcPts val="1300"/>
              </a:spcBef>
            </a:pPr>
            <a:r>
              <a:rPr sz="2000" b="1" dirty="0">
                <a:latin typeface="Times New Roman"/>
                <a:cs typeface="Times New Roman"/>
              </a:rPr>
              <a:t>Suppose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following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block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sent:</a:t>
            </a:r>
            <a:endParaRPr sz="2000">
              <a:latin typeface="Times New Roman"/>
              <a:cs typeface="Times New Roman"/>
            </a:endParaRPr>
          </a:p>
          <a:p>
            <a:pPr marL="75565">
              <a:spcBef>
                <a:spcPts val="1200"/>
              </a:spcBef>
              <a:tabLst>
                <a:tab pos="1282700" algn="l"/>
                <a:tab pos="2459990" algn="l"/>
                <a:tab pos="3624579" algn="l"/>
                <a:tab pos="47752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10101001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00111001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11011101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11100111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10101010</a:t>
            </a:r>
            <a:endParaRPr sz="2000">
              <a:latin typeface="Times New Roman"/>
              <a:cs typeface="Times New Roman"/>
            </a:endParaRPr>
          </a:p>
          <a:p>
            <a:pPr marL="12700" marR="807720">
              <a:spcBef>
                <a:spcPts val="1200"/>
              </a:spcBef>
            </a:pPr>
            <a:r>
              <a:rPr sz="2000" b="1" spc="-25" dirty="0">
                <a:latin typeface="Times New Roman"/>
                <a:cs typeface="Times New Roman"/>
              </a:rPr>
              <a:t>However,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hit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burst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noise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are </a:t>
            </a:r>
            <a:r>
              <a:rPr sz="2000" b="1" spc="-10" dirty="0">
                <a:latin typeface="Times New Roman"/>
                <a:cs typeface="Times New Roman"/>
              </a:rPr>
              <a:t>corrupted.</a:t>
            </a:r>
            <a:endParaRPr sz="2000">
              <a:latin typeface="Times New Roman"/>
              <a:cs typeface="Times New Roman"/>
            </a:endParaRPr>
          </a:p>
          <a:p>
            <a:pPr marL="75565">
              <a:spcBef>
                <a:spcPts val="1200"/>
              </a:spcBef>
              <a:tabLst>
                <a:tab pos="1268095" algn="l"/>
                <a:tab pos="2475230" algn="l"/>
                <a:tab pos="3639185" algn="l"/>
                <a:tab pos="478917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1010</a:t>
            </a:r>
            <a:r>
              <a:rPr sz="20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0011</a:t>
            </a:r>
            <a:r>
              <a:rPr sz="2000" b="1" dirty="0">
                <a:solidFill>
                  <a:srgbClr val="F7B615"/>
                </a:solidFill>
                <a:latin typeface="Times New Roman"/>
                <a:cs typeface="Times New Roman"/>
              </a:rPr>
              <a:t>	</a:t>
            </a:r>
            <a:r>
              <a:rPr sz="2000" b="1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1000</a:t>
            </a:r>
            <a:r>
              <a:rPr sz="2000" b="1" spc="-10" dirty="0">
                <a:latin typeface="Times New Roman"/>
                <a:cs typeface="Times New Roman"/>
              </a:rPr>
              <a:t>1001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11011101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11100111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10101010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receiver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checks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parity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bits,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bits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follow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even-</a:t>
            </a:r>
            <a:r>
              <a:rPr sz="2000" b="1" dirty="0">
                <a:latin typeface="Times New Roman"/>
                <a:cs typeface="Times New Roman"/>
              </a:rPr>
              <a:t>parity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whole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block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discarded.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50"/>
              </a:spcBef>
            </a:pPr>
            <a:endParaRPr sz="2000">
              <a:latin typeface="Times New Roman"/>
              <a:cs typeface="Times New Roman"/>
            </a:endParaRPr>
          </a:p>
          <a:p>
            <a:pPr marL="75565">
              <a:spcBef>
                <a:spcPts val="5"/>
              </a:spcBef>
              <a:tabLst>
                <a:tab pos="1268095" algn="l"/>
                <a:tab pos="2475230" algn="l"/>
                <a:tab pos="3639185" algn="l"/>
                <a:tab pos="478917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10100011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10001001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11011101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11100111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spc="-10" dirty="0">
                <a:latin typeface="Times New Roman"/>
                <a:cs typeface="Times New Roman"/>
              </a:rPr>
              <a:t>0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101</a:t>
            </a:r>
            <a:r>
              <a:rPr sz="2000" b="1" spc="-10" dirty="0">
                <a:latin typeface="Times New Roman"/>
                <a:cs typeface="Times New Roman"/>
              </a:rPr>
              <a:t>0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spc="-1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0D5D-5A13-3F2A-4AD9-3724883FF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8C6DC33-7352-5446-BD91-B8C30E771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3" y="212598"/>
            <a:ext cx="2786634" cy="12283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D3F53B2-927D-E6C1-4B47-11469D2F3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Detection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E96E9D9-437A-FFE7-A056-722864A8A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62200" y="1825625"/>
            <a:ext cx="10515600" cy="157479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1470" indent="-318770">
              <a:lnSpc>
                <a:spcPct val="100000"/>
              </a:lnSpc>
              <a:spcBef>
                <a:spcPts val="80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pc="-350" dirty="0"/>
              <a:t>Checksum</a:t>
            </a:r>
          </a:p>
          <a:p>
            <a:pPr marL="926465" indent="-913765">
              <a:lnSpc>
                <a:spcPct val="100000"/>
              </a:lnSpc>
              <a:spcBef>
                <a:spcPts val="705"/>
              </a:spcBef>
              <a:buChar char="~"/>
              <a:tabLst>
                <a:tab pos="926465" algn="l"/>
              </a:tabLst>
            </a:pPr>
            <a:r>
              <a:rPr spc="-265" dirty="0"/>
              <a:t>used</a:t>
            </a:r>
            <a:r>
              <a:rPr spc="-10" dirty="0"/>
              <a:t> </a:t>
            </a:r>
            <a:r>
              <a:rPr dirty="0"/>
              <a:t>by</a:t>
            </a:r>
            <a:r>
              <a:rPr spc="-200" dirty="0"/>
              <a:t> </a:t>
            </a:r>
            <a:r>
              <a:rPr spc="-175" dirty="0"/>
              <a:t>the</a:t>
            </a:r>
            <a:r>
              <a:rPr spc="-25" dirty="0"/>
              <a:t> </a:t>
            </a:r>
            <a:r>
              <a:rPr spc="-150" dirty="0"/>
              <a:t>higher</a:t>
            </a:r>
            <a:r>
              <a:rPr spc="-50" dirty="0"/>
              <a:t> layer</a:t>
            </a:r>
            <a:r>
              <a:rPr spc="-70" dirty="0"/>
              <a:t> </a:t>
            </a:r>
            <a:r>
              <a:rPr spc="-40" dirty="0"/>
              <a:t>protocols</a:t>
            </a:r>
          </a:p>
          <a:p>
            <a:pPr marL="331470" marR="5080" indent="-319405">
              <a:lnSpc>
                <a:spcPct val="100000"/>
              </a:lnSpc>
              <a:spcBef>
                <a:spcPts val="695"/>
              </a:spcBef>
              <a:buChar char="~"/>
              <a:tabLst>
                <a:tab pos="331470" algn="l"/>
                <a:tab pos="926465" algn="l"/>
              </a:tabLst>
            </a:pPr>
            <a:r>
              <a:rPr dirty="0"/>
              <a:t>	</a:t>
            </a:r>
            <a:r>
              <a:rPr spc="-254" dirty="0"/>
              <a:t>is</a:t>
            </a:r>
            <a:r>
              <a:rPr spc="-10" dirty="0"/>
              <a:t> </a:t>
            </a:r>
            <a:r>
              <a:rPr spc="-145" dirty="0"/>
              <a:t>based</a:t>
            </a:r>
            <a:r>
              <a:rPr spc="-15" dirty="0"/>
              <a:t> </a:t>
            </a:r>
            <a:r>
              <a:rPr spc="-270" dirty="0"/>
              <a:t>on</a:t>
            </a:r>
            <a:r>
              <a:rPr dirty="0"/>
              <a:t> </a:t>
            </a:r>
            <a:r>
              <a:rPr spc="-170" dirty="0"/>
              <a:t>the</a:t>
            </a:r>
            <a:r>
              <a:rPr dirty="0"/>
              <a:t> </a:t>
            </a:r>
            <a:r>
              <a:rPr spc="-210" dirty="0"/>
              <a:t>concept</a:t>
            </a:r>
            <a:r>
              <a:rPr spc="-1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spc="-195" dirty="0"/>
              <a:t>redundancy(VRC, </a:t>
            </a:r>
            <a:r>
              <a:rPr spc="-420" dirty="0"/>
              <a:t>LRC,</a:t>
            </a:r>
            <a:r>
              <a:rPr spc="-15" dirty="0"/>
              <a:t> </a:t>
            </a:r>
            <a:r>
              <a:rPr spc="-455" dirty="0"/>
              <a:t>CRC</a:t>
            </a:r>
            <a:r>
              <a:rPr spc="-10" dirty="0"/>
              <a:t> </a:t>
            </a:r>
            <a:r>
              <a:rPr spc="-25" dirty="0"/>
              <a:t>….)</a:t>
            </a:r>
          </a:p>
        </p:txBody>
      </p:sp>
    </p:spTree>
    <p:extLst>
      <p:ext uri="{BB962C8B-B14F-4D97-AF65-F5344CB8AC3E}">
        <p14:creationId xmlns:p14="http://schemas.microsoft.com/office/powerpoint/2010/main" val="20503523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DF05-16C7-9D5A-D2F4-1B2B7E8D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16012F-B14B-78DB-BB53-C0EFE53FC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5342" y="234774"/>
            <a:ext cx="1367790" cy="40703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80" dirty="0">
                <a:solidFill>
                  <a:srgbClr val="775F55"/>
                </a:solidFill>
                <a:latin typeface="Arial"/>
                <a:cs typeface="Arial"/>
              </a:rPr>
              <a:t>Checksum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81EEE6B-74F1-CF02-D173-0F9B51FD7F8B}"/>
              </a:ext>
            </a:extLst>
          </p:cNvPr>
          <p:cNvSpPr txBox="1"/>
          <p:nvPr/>
        </p:nvSpPr>
        <p:spPr>
          <a:xfrm>
            <a:off x="1628078" y="714732"/>
            <a:ext cx="8898673" cy="370614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31470" marR="5080" indent="-319405" algn="just">
              <a:spcBef>
                <a:spcPts val="100"/>
              </a:spcBef>
              <a:buClr>
                <a:srgbClr val="DD8047"/>
              </a:buClr>
              <a:buSzPct val="60416"/>
              <a:buFont typeface="Wingdings"/>
              <a:buChar char=""/>
              <a:tabLst>
                <a:tab pos="33147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checksum error detection scheme, the data is divided into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835" marR="6350" indent="-318770" algn="just">
              <a:buClr>
                <a:srgbClr val="DD8047"/>
              </a:buClr>
              <a:buSzPct val="60416"/>
              <a:buFont typeface="Wingdings"/>
              <a:buChar char=""/>
              <a:tabLst>
                <a:tab pos="3308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sender’s end the segments are added using 1’s complement  arithmetic  to  get  the  sum.  The  sum  is complemented to get the checksum.</a:t>
            </a:r>
          </a:p>
          <a:p>
            <a:pPr marL="330835" marR="5080" indent="-318770" algn="just">
              <a:buClr>
                <a:srgbClr val="DD8047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checksum segment is sent along with the data 	segments.</a:t>
            </a:r>
          </a:p>
          <a:p>
            <a:pPr marL="331470" marR="5080" indent="-319405" algn="just">
              <a:buClr>
                <a:srgbClr val="DD8047"/>
              </a:buClr>
              <a:buSzPct val="60416"/>
              <a:buFont typeface="Wingdings"/>
              <a:buChar char=""/>
              <a:tabLst>
                <a:tab pos="33147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receiver’s end, all received segments are added using 1’s complement arithmetic to get the sum. The sum is complemented.</a:t>
            </a:r>
          </a:p>
          <a:p>
            <a:pPr marL="331470" marR="5080" indent="-319405" algn="just">
              <a:buClr>
                <a:srgbClr val="DD8047"/>
              </a:buClr>
              <a:buSzPct val="60416"/>
              <a:buFont typeface="Wingdings"/>
              <a:buChar char=""/>
              <a:tabLst>
                <a:tab pos="33147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result is zero, the received data is accepted; otherwise discarded.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AD75A24-490D-6951-BE98-3354FA858E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3733" y="5593800"/>
            <a:ext cx="6362967" cy="9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36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4F73-055B-2080-45EC-94D3C039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6845738-9757-BC93-8FA8-44A0531DEC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1" y="228601"/>
            <a:ext cx="6781787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80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Cyclic Redundancy Check (CRC)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676400"/>
            <a:ext cx="8077200" cy="4648200"/>
          </a:xfrm>
        </p:spPr>
        <p:txBody>
          <a:bodyPr/>
          <a:lstStyle/>
          <a:p>
            <a:pPr algn="l">
              <a:buFont typeface="Wingdings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 Cyclic Redundancy Check (CRC) is an error detection technique to detect changes to raw data and is used widely in today’s computer networks. </a:t>
            </a:r>
          </a:p>
          <a:p>
            <a:pPr algn="l">
              <a:buFont typeface="Wingdings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 CRC codes are also known as polynomial codes, since it is possible to view the bit string to be sent as a polynomial.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FEC3-20BF-0233-2076-A8FCD2E2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03151-A5E9-FFA6-654A-66CEB3B0A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Cyclic Redundancy Checksum (CRC)</a:t>
            </a:r>
          </a:p>
          <a:p>
            <a:r>
              <a:rPr lang="en-US">
                <a:ea typeface="+mn-lt"/>
                <a:cs typeface="+mn-lt"/>
              </a:rPr>
              <a:t>The CRC error detection method treats the packet of data to be transmitted as a large polynomial.</a:t>
            </a:r>
          </a:p>
          <a:p>
            <a:r>
              <a:rPr lang="en-US">
                <a:ea typeface="+mn-lt"/>
                <a:cs typeface="+mn-lt"/>
              </a:rPr>
              <a:t>The transmitter takes the message polynomial and using polynomial arithmetic, divides it by a given generating polynomial.</a:t>
            </a:r>
          </a:p>
          <a:p>
            <a:r>
              <a:rPr lang="en-US">
                <a:ea typeface="+mn-lt"/>
                <a:cs typeface="+mn-lt"/>
              </a:rPr>
              <a:t>The quotient is discarded but the remainder is “attached” to the end of the message (remainder (mod) arithmetic)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205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57EB-E9B2-BC30-AF91-2F6C0C887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9FE1-33E7-7330-6325-3DDCBFE3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D72DC-8671-D4A7-3CFC-521B4CD1A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Cyclic Redundancy Checksum</a:t>
            </a:r>
          </a:p>
          <a:p>
            <a:r>
              <a:rPr lang="en-US">
                <a:ea typeface="+mn-lt"/>
                <a:cs typeface="+mn-lt"/>
              </a:rPr>
              <a:t>The message (with the remainder) is transmitted to the receiver.</a:t>
            </a:r>
          </a:p>
          <a:p>
            <a:r>
              <a:rPr lang="en-US">
                <a:ea typeface="+mn-lt"/>
                <a:cs typeface="+mn-lt"/>
              </a:rPr>
              <a:t>The receiver divides the message and remainder by the same generating polynomial.</a:t>
            </a:r>
          </a:p>
          <a:p>
            <a:r>
              <a:rPr lang="en-US">
                <a:ea typeface="+mn-lt"/>
                <a:cs typeface="+mn-lt"/>
              </a:rPr>
              <a:t>If a remainder not equal to zero results, there was an error during transmission.</a:t>
            </a:r>
          </a:p>
          <a:p>
            <a:r>
              <a:rPr lang="en-US">
                <a:ea typeface="+mn-lt"/>
                <a:cs typeface="+mn-lt"/>
              </a:rPr>
              <a:t>If a remainder of zero results, there was no error during transmission.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34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1"/>
            <a:ext cx="8229600" cy="4754563"/>
          </a:xfrm>
        </p:spPr>
        <p:txBody>
          <a:bodyPr/>
          <a:lstStyle/>
          <a:p>
            <a:r>
              <a:rPr lang="en-US" dirty="0"/>
              <a:t>The sender and receiver must first agree on an </a:t>
            </a:r>
            <a:r>
              <a:rPr lang="en-US" i="1" dirty="0"/>
              <a:t>pattern, known as a generator, which we will denote as </a:t>
            </a:r>
            <a:r>
              <a:rPr lang="en-US" b="1" i="1" dirty="0"/>
              <a:t>G.</a:t>
            </a:r>
          </a:p>
          <a:p>
            <a:r>
              <a:rPr lang="en-US" dirty="0"/>
              <a:t>If the generator is a polynomial, it must follow the following two properties: 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It  should  not  be  divisible  by  x , because otherwise the last bit of the checksum would always be 0.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It should be divisible by 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Suppose m is the number of bits of the CRC generator. </a:t>
            </a:r>
          </a:p>
          <a:p>
            <a:pPr>
              <a:buNone/>
            </a:pPr>
            <a:r>
              <a:rPr lang="en-US" i="1" u="sng" dirty="0"/>
              <a:t>On Sender Side</a:t>
            </a:r>
          </a:p>
          <a:p>
            <a:pPr>
              <a:buFont typeface="Wingdings" pitchFamily="2" charset="2"/>
              <a:buChar char="Ø"/>
            </a:pPr>
            <a:r>
              <a:rPr lang="en-US" i="1" dirty="0"/>
              <a:t> Step 1</a:t>
            </a:r>
            <a:endParaRPr lang="en-US" i="1" u="sng" dirty="0"/>
          </a:p>
          <a:p>
            <a:r>
              <a:rPr lang="en-US" dirty="0"/>
              <a:t>Append (m-1) number of zeroes to the data on the Least Significant Bit (LSB) (rightmost) side.</a:t>
            </a:r>
          </a:p>
          <a:p>
            <a:r>
              <a:rPr lang="en-US" dirty="0"/>
              <a:t>Divide it by the CRC Generator. (XOR operation is performed instead of Subtraction while dividing)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i="1" dirty="0"/>
              <a:t> Step 2</a:t>
            </a:r>
            <a:endParaRPr lang="en-US" i="1" u="sng" dirty="0"/>
          </a:p>
          <a:p>
            <a:r>
              <a:rPr lang="en-US" dirty="0"/>
              <a:t>The remainder from this division is added to the data generated earlier in Step 1.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i="1" dirty="0"/>
              <a:t>       	</a:t>
            </a:r>
            <a:r>
              <a:rPr lang="en-US" i="1" u="sng" dirty="0"/>
              <a:t>This data is then sent to the destination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ED904-2448-2120-F3AF-9CC0E965B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431" y="803639"/>
            <a:ext cx="1765300" cy="1473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i="1" u="sng" dirty="0"/>
              <a:t>On Receiver Side</a:t>
            </a:r>
          </a:p>
          <a:p>
            <a:pPr>
              <a:buFont typeface="Wingdings" pitchFamily="2" charset="2"/>
              <a:buChar char="Ø"/>
            </a:pPr>
            <a:r>
              <a:rPr lang="en-US" i="1" dirty="0"/>
              <a:t> Step 1</a:t>
            </a:r>
            <a:endParaRPr lang="en-US" i="1" u="sng" dirty="0"/>
          </a:p>
          <a:p>
            <a:r>
              <a:rPr lang="en-US" dirty="0"/>
              <a:t>Received data is again divided by the CRC generator.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i="1" dirty="0"/>
              <a:t>Step 2</a:t>
            </a:r>
          </a:p>
          <a:p>
            <a:r>
              <a:rPr lang="en-US" dirty="0"/>
              <a:t>If remainder is zero         No Error in Data</a:t>
            </a:r>
          </a:p>
          <a:p>
            <a:r>
              <a:rPr lang="en-US" dirty="0"/>
              <a:t>If remainder is not zero          Data was altered                    					   somewhere in the 					   network. 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486400" y="42672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172200" y="4800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18982E7C-534E-5342-FB86-D89961728740}"/>
              </a:ext>
            </a:extLst>
          </p:cNvPr>
          <p:cNvGraphicFramePr/>
          <p:nvPr/>
        </p:nvGraphicFramePr>
        <p:xfrm>
          <a:off x="642257" y="653142"/>
          <a:ext cx="10504714" cy="4883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880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66FE97-ACC8-5E07-6544-045BE1183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7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we shall encode 14 bits of message. </a:t>
            </a:r>
          </a:p>
          <a:p>
            <a:r>
              <a:rPr lang="en-US" dirty="0"/>
              <a:t>Generator is the polynomial </a:t>
            </a:r>
            <a:r>
              <a:rPr lang="en-US" i="1" dirty="0"/>
              <a:t>x</a:t>
            </a:r>
            <a:r>
              <a:rPr lang="en-US" baseline="30000" dirty="0"/>
              <a:t>3</a:t>
            </a:r>
            <a:r>
              <a:rPr lang="en-US" dirty="0"/>
              <a:t> + </a:t>
            </a:r>
            <a:r>
              <a:rPr lang="en-US" i="1" dirty="0"/>
              <a:t>x</a:t>
            </a:r>
            <a:r>
              <a:rPr lang="en-US" dirty="0"/>
              <a:t> + 1. </a:t>
            </a:r>
          </a:p>
          <a:p>
            <a:r>
              <a:rPr lang="en-US" dirty="0"/>
              <a:t>The polynomial is written in binary as the coefficients           (1</a:t>
            </a:r>
            <a:r>
              <a:rPr lang="en-US" i="1" dirty="0"/>
              <a:t>x</a:t>
            </a:r>
            <a:r>
              <a:rPr lang="en-US" baseline="30000" dirty="0"/>
              <a:t>3</a:t>
            </a:r>
            <a:r>
              <a:rPr lang="en-US" dirty="0"/>
              <a:t> + 0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/>
              <a:t> + 1</a:t>
            </a:r>
            <a:r>
              <a:rPr lang="en-US" i="1" dirty="0"/>
              <a:t>x</a:t>
            </a:r>
            <a:r>
              <a:rPr lang="en-US" dirty="0"/>
              <a:t> + 1).</a:t>
            </a:r>
          </a:p>
          <a:p>
            <a:r>
              <a:rPr lang="en-US" dirty="0"/>
              <a:t> In this case, the coefficients are 1, 0, 1 and 1. </a:t>
            </a:r>
          </a:p>
          <a:p>
            <a:r>
              <a:rPr lang="en-US" dirty="0"/>
              <a:t>Generator = 1011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message to be encoded:</a:t>
            </a:r>
          </a:p>
          <a:p>
            <a:pPr>
              <a:buNone/>
            </a:pPr>
            <a:r>
              <a:rPr lang="en-US" dirty="0"/>
              <a:t>	 11010011101100</a:t>
            </a:r>
          </a:p>
          <a:p>
            <a:r>
              <a:rPr lang="en-US" dirty="0"/>
              <a:t>We have m = 4, so we append 3 zeroes to the LSB side.            11010011101100</a:t>
            </a:r>
            <a:r>
              <a:rPr lang="en-US" b="1" dirty="0"/>
              <a:t>000</a:t>
            </a:r>
          </a:p>
          <a:p>
            <a:r>
              <a:rPr lang="en-US" dirty="0"/>
              <a:t>Now we divide It by 1011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Remainder = 100</a:t>
            </a:r>
          </a:p>
          <a:p>
            <a:r>
              <a:rPr lang="en-US" dirty="0"/>
              <a:t>Now Add 100 to our original dividend.</a:t>
            </a:r>
          </a:p>
          <a:p>
            <a:pPr>
              <a:buNone/>
            </a:pPr>
            <a:r>
              <a:rPr lang="en-US" dirty="0"/>
              <a:t>  	 11010011101100</a:t>
            </a:r>
            <a:r>
              <a:rPr lang="en-US" b="1" dirty="0"/>
              <a:t>000</a:t>
            </a:r>
          </a:p>
          <a:p>
            <a:pPr>
              <a:buNone/>
            </a:pPr>
            <a:r>
              <a:rPr lang="en-US" b="1" dirty="0"/>
              <a:t>    +                               100</a:t>
            </a:r>
          </a:p>
          <a:p>
            <a:pPr>
              <a:buNone/>
            </a:pPr>
            <a:r>
              <a:rPr lang="en-US" b="1" dirty="0"/>
              <a:t>  ____________________</a:t>
            </a:r>
          </a:p>
          <a:p>
            <a:pPr>
              <a:buNone/>
            </a:pPr>
            <a:r>
              <a:rPr lang="en-US" b="1" dirty="0"/>
              <a:t>     11010011101100100</a:t>
            </a:r>
          </a:p>
          <a:p>
            <a:pPr>
              <a:buNone/>
            </a:pPr>
            <a:r>
              <a:rPr lang="en-US" dirty="0"/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0" y="5105400"/>
            <a:ext cx="396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57201"/>
            <a:ext cx="8229600" cy="5668963"/>
          </a:xfrm>
        </p:spPr>
        <p:txBody>
          <a:bodyPr/>
          <a:lstStyle/>
          <a:p>
            <a:r>
              <a:rPr lang="en-US" dirty="0"/>
              <a:t>If generator is x</a:t>
            </a:r>
            <a:r>
              <a:rPr lang="en-US" baseline="30000" dirty="0"/>
              <a:t>3</a:t>
            </a:r>
            <a:r>
              <a:rPr lang="en-US" dirty="0"/>
              <a:t> + 1 and message to be sent is “CAT” . Find What Data is Sent. Further if 5</a:t>
            </a:r>
            <a:r>
              <a:rPr lang="en-US" baseline="30000" dirty="0"/>
              <a:t>th</a:t>
            </a:r>
            <a:r>
              <a:rPr lang="en-US" dirty="0"/>
              <a:t> Bit is Changed show that the error can be detected. </a:t>
            </a:r>
          </a:p>
          <a:p>
            <a:pPr>
              <a:buNone/>
            </a:pPr>
            <a:r>
              <a:rPr lang="en-US" dirty="0"/>
              <a:t>    C - 1000011</a:t>
            </a:r>
          </a:p>
          <a:p>
            <a:pPr>
              <a:buNone/>
            </a:pPr>
            <a:r>
              <a:rPr lang="en-US" dirty="0"/>
              <a:t>    A - 1000001</a:t>
            </a:r>
          </a:p>
          <a:p>
            <a:pPr>
              <a:buNone/>
            </a:pPr>
            <a:r>
              <a:rPr lang="en-US" dirty="0"/>
              <a:t>    T – 1010100</a:t>
            </a:r>
          </a:p>
          <a:p>
            <a:r>
              <a:rPr lang="en-US" dirty="0"/>
              <a:t>Generator = 1001</a:t>
            </a:r>
          </a:p>
          <a:p>
            <a:r>
              <a:rPr lang="en-US" dirty="0"/>
              <a:t>Append Three Zeroes</a:t>
            </a:r>
          </a:p>
          <a:p>
            <a:r>
              <a:rPr lang="en-US" dirty="0"/>
              <a:t>Solve with the same steps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247D0C-4967-942C-73A7-8C00F9EE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69" y="5087377"/>
            <a:ext cx="7734923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FEA283-5788-754A-6181-92F35D7AB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34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03522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C241-B87A-E06A-A3BB-94F0B541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9AE71D-5ACF-5AC7-85FE-14C60CC068E5}"/>
              </a:ext>
            </a:extLst>
          </p:cNvPr>
          <p:cNvSpPr txBox="1"/>
          <p:nvPr/>
        </p:nvSpPr>
        <p:spPr>
          <a:xfrm>
            <a:off x="2215330" y="1523211"/>
            <a:ext cx="4921885" cy="10877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1470" indent="-318770">
              <a:spcBef>
                <a:spcPts val="80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275" dirty="0">
                <a:latin typeface="Arial MT"/>
                <a:cs typeface="Arial MT"/>
              </a:rPr>
              <a:t>CRC(Cyclic</a:t>
            </a:r>
            <a:r>
              <a:rPr sz="2900" spc="25" dirty="0">
                <a:latin typeface="Arial MT"/>
                <a:cs typeface="Arial MT"/>
              </a:rPr>
              <a:t> </a:t>
            </a:r>
            <a:r>
              <a:rPr sz="2900" spc="-245" dirty="0">
                <a:latin typeface="Arial MT"/>
                <a:cs typeface="Arial MT"/>
              </a:rPr>
              <a:t>Redundancy</a:t>
            </a:r>
            <a:r>
              <a:rPr sz="2900" spc="55" dirty="0">
                <a:latin typeface="Arial MT"/>
                <a:cs typeface="Arial MT"/>
              </a:rPr>
              <a:t> </a:t>
            </a:r>
            <a:r>
              <a:rPr sz="2900" spc="-270" dirty="0">
                <a:latin typeface="Arial MT"/>
                <a:cs typeface="Arial MT"/>
              </a:rPr>
              <a:t>Check)</a:t>
            </a:r>
            <a:endParaRPr sz="2900">
              <a:latin typeface="Arial MT"/>
              <a:cs typeface="Arial MT"/>
            </a:endParaRPr>
          </a:p>
          <a:p>
            <a:pPr marL="12700">
              <a:spcBef>
                <a:spcPts val="705"/>
              </a:spcBef>
              <a:tabLst>
                <a:tab pos="926465" algn="l"/>
              </a:tabLst>
            </a:pPr>
            <a:r>
              <a:rPr sz="2900" spc="150" dirty="0">
                <a:latin typeface="Arial MT"/>
                <a:cs typeface="Arial MT"/>
              </a:rPr>
              <a:t>~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based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270" dirty="0">
                <a:latin typeface="Arial MT"/>
                <a:cs typeface="Arial MT"/>
              </a:rPr>
              <a:t>on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binary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division.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5B96744-B8C5-6C5F-C43C-BA70E46ABB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806" y="2286000"/>
            <a:ext cx="8298940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97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25E4-7215-2852-5A18-D71D2F6B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D3A4CE-213E-8C80-DE1C-30802105F0CA}"/>
              </a:ext>
            </a:extLst>
          </p:cNvPr>
          <p:cNvSpPr txBox="1"/>
          <p:nvPr/>
        </p:nvSpPr>
        <p:spPr>
          <a:xfrm>
            <a:off x="1744028" y="788248"/>
            <a:ext cx="2731135" cy="10058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31470" indent="-318770">
              <a:spcBef>
                <a:spcPts val="119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455" dirty="0">
                <a:latin typeface="Arial MT"/>
                <a:cs typeface="Arial MT"/>
              </a:rPr>
              <a:t>CRC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generator</a:t>
            </a:r>
            <a:endParaRPr sz="2900">
              <a:latin typeface="Arial MT"/>
              <a:cs typeface="Arial MT"/>
            </a:endParaRPr>
          </a:p>
          <a:p>
            <a:pPr marL="12700">
              <a:spcBef>
                <a:spcPts val="750"/>
              </a:spcBef>
              <a:tabLst>
                <a:tab pos="331470" algn="l"/>
              </a:tabLst>
            </a:pPr>
            <a:r>
              <a:rPr sz="2000" spc="85" dirty="0">
                <a:latin typeface="Arial MT"/>
                <a:cs typeface="Arial MT"/>
              </a:rPr>
              <a:t>~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65" dirty="0">
                <a:latin typeface="Arial MT"/>
                <a:cs typeface="Arial MT"/>
              </a:rPr>
              <a:t>uses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modular-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division.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B2449DB-CEBD-0338-908D-EA854AF0882D}"/>
              </a:ext>
            </a:extLst>
          </p:cNvPr>
          <p:cNvGrpSpPr/>
          <p:nvPr/>
        </p:nvGrpSpPr>
        <p:grpSpPr>
          <a:xfrm>
            <a:off x="4905756" y="565404"/>
            <a:ext cx="5762625" cy="6292850"/>
            <a:chOff x="3381755" y="565404"/>
            <a:chExt cx="5762625" cy="629285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72B2028-DC1D-F736-9404-5CAEDA559D68}"/>
                </a:ext>
              </a:extLst>
            </p:cNvPr>
            <p:cNvSpPr/>
            <p:nvPr/>
          </p:nvSpPr>
          <p:spPr>
            <a:xfrm>
              <a:off x="3587877" y="3029330"/>
              <a:ext cx="1676400" cy="400050"/>
            </a:xfrm>
            <a:custGeom>
              <a:avLst/>
              <a:gdLst/>
              <a:ahLst/>
              <a:cxnLst/>
              <a:rect l="l" t="t" r="r" b="b"/>
              <a:pathLst>
                <a:path w="1676400" h="400050">
                  <a:moveTo>
                    <a:pt x="52387" y="100012"/>
                  </a:moveTo>
                  <a:lnTo>
                    <a:pt x="0" y="100012"/>
                  </a:lnTo>
                  <a:lnTo>
                    <a:pt x="0" y="300037"/>
                  </a:lnTo>
                  <a:lnTo>
                    <a:pt x="52387" y="300037"/>
                  </a:lnTo>
                  <a:lnTo>
                    <a:pt x="52387" y="100012"/>
                  </a:lnTo>
                  <a:close/>
                </a:path>
                <a:path w="1676400" h="400050">
                  <a:moveTo>
                    <a:pt x="209550" y="100012"/>
                  </a:moveTo>
                  <a:lnTo>
                    <a:pt x="104775" y="100012"/>
                  </a:lnTo>
                  <a:lnTo>
                    <a:pt x="104775" y="300037"/>
                  </a:lnTo>
                  <a:lnTo>
                    <a:pt x="209550" y="300037"/>
                  </a:lnTo>
                  <a:lnTo>
                    <a:pt x="209550" y="100012"/>
                  </a:lnTo>
                  <a:close/>
                </a:path>
                <a:path w="1676400" h="400050">
                  <a:moveTo>
                    <a:pt x="1676400" y="200025"/>
                  </a:moveTo>
                  <a:lnTo>
                    <a:pt x="1286167" y="0"/>
                  </a:lnTo>
                  <a:lnTo>
                    <a:pt x="1286167" y="100012"/>
                  </a:lnTo>
                  <a:lnTo>
                    <a:pt x="261937" y="100012"/>
                  </a:lnTo>
                  <a:lnTo>
                    <a:pt x="261937" y="300037"/>
                  </a:lnTo>
                  <a:lnTo>
                    <a:pt x="1286167" y="300037"/>
                  </a:lnTo>
                  <a:lnTo>
                    <a:pt x="1286167" y="400050"/>
                  </a:lnTo>
                  <a:lnTo>
                    <a:pt x="1676400" y="200025"/>
                  </a:lnTo>
                  <a:close/>
                </a:path>
              </a:pathLst>
            </a:custGeom>
            <a:solidFill>
              <a:srgbClr val="94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FD8149-6175-869A-C079-9FD5ABFBE581}"/>
                </a:ext>
              </a:extLst>
            </p:cNvPr>
            <p:cNvSpPr/>
            <p:nvPr/>
          </p:nvSpPr>
          <p:spPr>
            <a:xfrm>
              <a:off x="3849818" y="3029330"/>
              <a:ext cx="1414780" cy="400050"/>
            </a:xfrm>
            <a:custGeom>
              <a:avLst/>
              <a:gdLst/>
              <a:ahLst/>
              <a:cxnLst/>
              <a:rect l="l" t="t" r="r" b="b"/>
              <a:pathLst>
                <a:path w="1414779" h="400050">
                  <a:moveTo>
                    <a:pt x="1024229" y="0"/>
                  </a:moveTo>
                  <a:lnTo>
                    <a:pt x="1024229" y="100012"/>
                  </a:lnTo>
                  <a:lnTo>
                    <a:pt x="0" y="100012"/>
                  </a:lnTo>
                  <a:lnTo>
                    <a:pt x="0" y="300037"/>
                  </a:lnTo>
                  <a:lnTo>
                    <a:pt x="1024229" y="300037"/>
                  </a:lnTo>
                  <a:lnTo>
                    <a:pt x="1024229" y="400050"/>
                  </a:lnTo>
                  <a:lnTo>
                    <a:pt x="1414462" y="200025"/>
                  </a:lnTo>
                  <a:lnTo>
                    <a:pt x="1024229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874854C-327C-8565-0A7D-ACC290B52D71}"/>
                </a:ext>
              </a:extLst>
            </p:cNvPr>
            <p:cNvSpPr/>
            <p:nvPr/>
          </p:nvSpPr>
          <p:spPr>
            <a:xfrm>
              <a:off x="3587876" y="3129343"/>
              <a:ext cx="209550" cy="200025"/>
            </a:xfrm>
            <a:custGeom>
              <a:avLst/>
              <a:gdLst/>
              <a:ahLst/>
              <a:cxnLst/>
              <a:rect l="l" t="t" r="r" b="b"/>
              <a:pathLst>
                <a:path w="209550" h="200025">
                  <a:moveTo>
                    <a:pt x="104775" y="200025"/>
                  </a:moveTo>
                  <a:lnTo>
                    <a:pt x="209550" y="200025"/>
                  </a:lnTo>
                  <a:lnTo>
                    <a:pt x="209550" y="0"/>
                  </a:lnTo>
                  <a:lnTo>
                    <a:pt x="104775" y="0"/>
                  </a:lnTo>
                  <a:lnTo>
                    <a:pt x="104775" y="200025"/>
                  </a:lnTo>
                  <a:close/>
                </a:path>
                <a:path w="209550" h="200025">
                  <a:moveTo>
                    <a:pt x="0" y="200025"/>
                  </a:moveTo>
                  <a:lnTo>
                    <a:pt x="52387" y="200025"/>
                  </a:lnTo>
                  <a:lnTo>
                    <a:pt x="52387" y="0"/>
                  </a:lnTo>
                  <a:lnTo>
                    <a:pt x="0" y="0"/>
                  </a:lnTo>
                  <a:lnTo>
                    <a:pt x="0" y="20002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1D18AA1-DC95-EC74-427E-FC03A34425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755" y="565404"/>
              <a:ext cx="5762244" cy="6292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444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F5F8-5ACD-C826-A4B8-17281843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11E94C7-224A-DE25-D053-6D4A661EAC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668" y="0"/>
            <a:ext cx="2535174" cy="110947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A88D63D-B4B0-9112-ED92-E54F77CE10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5516" y="110744"/>
            <a:ext cx="1901189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40" dirty="0"/>
              <a:t>Detection</a:t>
            </a:r>
            <a:endParaRPr sz="400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0E99908-5A6A-B96B-92BC-AB24EB1B4770}"/>
              </a:ext>
            </a:extLst>
          </p:cNvPr>
          <p:cNvSpPr txBox="1"/>
          <p:nvPr/>
        </p:nvSpPr>
        <p:spPr>
          <a:xfrm>
            <a:off x="1983740" y="782827"/>
            <a:ext cx="2387600" cy="1351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Binary</a:t>
            </a:r>
            <a:r>
              <a:rPr sz="29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0000"/>
                </a:solidFill>
                <a:latin typeface="Times New Roman"/>
                <a:cs typeface="Times New Roman"/>
              </a:rPr>
              <a:t>Division </a:t>
            </a: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9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spc="-5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2900">
              <a:latin typeface="Times New Roman"/>
              <a:cs typeface="Times New Roman"/>
            </a:endParaRPr>
          </a:p>
          <a:p>
            <a:pPr marL="12700">
              <a:spcBef>
                <a:spcPts val="5"/>
              </a:spcBef>
            </a:pPr>
            <a:r>
              <a:rPr sz="2900" dirty="0">
                <a:solidFill>
                  <a:srgbClr val="FF0000"/>
                </a:solidFill>
                <a:latin typeface="Times New Roman"/>
                <a:cs typeface="Times New Roman"/>
              </a:rPr>
              <a:t>CRC</a:t>
            </a:r>
            <a:r>
              <a:rPr sz="29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0000"/>
                </a:solidFill>
                <a:latin typeface="Times New Roman"/>
                <a:cs typeface="Times New Roman"/>
              </a:rPr>
              <a:t>Checker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77E53EA-4F7C-49CD-CCC8-59DDE0BDB7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8200" y="703327"/>
            <a:ext cx="6019800" cy="615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067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8DAE-AB2F-982D-EDC6-859E3B1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1F3781B-625D-1DBD-6619-EB06F84481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3" y="212597"/>
            <a:ext cx="4390644" cy="122834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9E927F3-6105-0FE3-9398-B2BCF8A75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Detection(cont’d)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CBC889A-377C-A76C-09C8-95C811BB834F}"/>
              </a:ext>
            </a:extLst>
          </p:cNvPr>
          <p:cNvSpPr txBox="1"/>
          <p:nvPr/>
        </p:nvSpPr>
        <p:spPr>
          <a:xfrm>
            <a:off x="2215515" y="1524756"/>
            <a:ext cx="7919720" cy="14262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1470" indent="-318770">
              <a:spcBef>
                <a:spcPts val="790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135" dirty="0">
                <a:latin typeface="Arial MT"/>
                <a:cs typeface="Arial MT"/>
              </a:rPr>
              <a:t>Polynomials</a:t>
            </a:r>
            <a:endParaRPr sz="2900">
              <a:latin typeface="Arial MT"/>
              <a:cs typeface="Arial MT"/>
            </a:endParaRPr>
          </a:p>
          <a:p>
            <a:pPr marL="652145" marR="5080" indent="-273050">
              <a:spcBef>
                <a:spcPts val="615"/>
              </a:spcBef>
            </a:pPr>
            <a:r>
              <a:rPr spc="360" dirty="0">
                <a:solidFill>
                  <a:srgbClr val="94B6D2"/>
                </a:solidFill>
                <a:latin typeface="Arial MT"/>
                <a:cs typeface="Arial MT"/>
              </a:rPr>
              <a:t>🞑</a:t>
            </a:r>
            <a:r>
              <a:rPr spc="35" dirty="0">
                <a:solidFill>
                  <a:srgbClr val="94B6D2"/>
                </a:solidFill>
                <a:latin typeface="Arial MT"/>
                <a:cs typeface="Arial MT"/>
              </a:rPr>
              <a:t> </a:t>
            </a:r>
            <a:r>
              <a:rPr sz="2600" spc="-409" dirty="0">
                <a:latin typeface="Arial MT"/>
                <a:cs typeface="Arial MT"/>
              </a:rPr>
              <a:t>CRC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generator(divisor)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229" dirty="0">
                <a:latin typeface="Arial MT"/>
                <a:cs typeface="Arial MT"/>
              </a:rPr>
              <a:t>is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270" dirty="0">
                <a:latin typeface="Arial MT"/>
                <a:cs typeface="Arial MT"/>
              </a:rPr>
              <a:t>most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often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140" dirty="0">
                <a:latin typeface="Arial MT"/>
                <a:cs typeface="Arial MT"/>
              </a:rPr>
              <a:t>represented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170" dirty="0">
                <a:latin typeface="Arial MT"/>
                <a:cs typeface="Arial MT"/>
              </a:rPr>
              <a:t>not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00" dirty="0">
                <a:latin typeface="Arial MT"/>
                <a:cs typeface="Arial MT"/>
              </a:rPr>
              <a:t>as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135" dirty="0">
                <a:latin typeface="Arial MT"/>
                <a:cs typeface="Arial MT"/>
              </a:rPr>
              <a:t>string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40" dirty="0">
                <a:latin typeface="Arial MT"/>
                <a:cs typeface="Arial MT"/>
              </a:rPr>
              <a:t> </a:t>
            </a:r>
            <a:r>
              <a:rPr sz="2600" spc="-240" dirty="0">
                <a:latin typeface="Arial MT"/>
                <a:cs typeface="Arial MT"/>
              </a:rPr>
              <a:t>1s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and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235" dirty="0">
                <a:latin typeface="Arial MT"/>
                <a:cs typeface="Arial MT"/>
              </a:rPr>
              <a:t>0s,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but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240" dirty="0">
                <a:latin typeface="Arial MT"/>
                <a:cs typeface="Arial MT"/>
              </a:rPr>
              <a:t>as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180" dirty="0">
                <a:latin typeface="Arial MT"/>
                <a:cs typeface="Arial MT"/>
              </a:rPr>
              <a:t>an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75" dirty="0">
                <a:latin typeface="Arial MT"/>
                <a:cs typeface="Arial MT"/>
              </a:rPr>
              <a:t>algebraic</a:t>
            </a:r>
            <a:r>
              <a:rPr sz="2600" spc="-10" dirty="0">
                <a:latin typeface="Arial MT"/>
                <a:cs typeface="Arial MT"/>
              </a:rPr>
              <a:t> polynomial.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8F46735-BA98-EFDD-2D8F-46817BCE6A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6355" y="3048000"/>
            <a:ext cx="8008618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417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BFE09-65D0-333C-F93E-7C698D35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2F1B681-97E0-2A07-7B49-7BDA1ACDB4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3" y="212597"/>
            <a:ext cx="4390644" cy="122834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3686226-F079-AA48-2E50-2D2B26CBB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Detection(cont’d)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CE01A54-7C77-934C-DEE0-8BF9C8C60E2B}"/>
              </a:ext>
            </a:extLst>
          </p:cNvPr>
          <p:cNvSpPr txBox="1"/>
          <p:nvPr/>
        </p:nvSpPr>
        <p:spPr>
          <a:xfrm>
            <a:off x="2215515" y="1612646"/>
            <a:ext cx="557149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indent="-318770">
              <a:spcBef>
                <a:spcPts val="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200" dirty="0">
                <a:latin typeface="Arial MT"/>
                <a:cs typeface="Arial MT"/>
              </a:rPr>
              <a:t>A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polynomial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55" dirty="0">
                <a:latin typeface="Arial MT"/>
                <a:cs typeface="Arial MT"/>
              </a:rPr>
              <a:t>representing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divisor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83815BA-DC3F-C6C5-13EC-536694C0F2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6022" y="1524001"/>
            <a:ext cx="4021074" cy="48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180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7CAB-2908-D82D-939E-80D1F6A3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A0CFBC1-1785-11FE-2E12-018E810A5D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663" y="212597"/>
            <a:ext cx="4390644" cy="122834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8632690-F906-E351-BD8F-3C4DC746CA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683262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Detection(cont’d)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6AF139-0A45-CC42-7D37-655B88B583E3}"/>
              </a:ext>
            </a:extLst>
          </p:cNvPr>
          <p:cNvSpPr txBox="1"/>
          <p:nvPr/>
        </p:nvSpPr>
        <p:spPr>
          <a:xfrm>
            <a:off x="2215516" y="1612646"/>
            <a:ext cx="355917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1470" indent="-318770">
              <a:spcBef>
                <a:spcPts val="95"/>
              </a:spcBef>
              <a:buClr>
                <a:srgbClr val="DD8047"/>
              </a:buClr>
              <a:buSzPct val="60344"/>
              <a:buFont typeface="Wingdings"/>
              <a:buChar char=""/>
              <a:tabLst>
                <a:tab pos="331470" algn="l"/>
              </a:tabLst>
            </a:pPr>
            <a:r>
              <a:rPr sz="2900" spc="-114" dirty="0">
                <a:latin typeface="Arial MT"/>
                <a:cs typeface="Arial MT"/>
              </a:rPr>
              <a:t>Standard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150" dirty="0">
                <a:latin typeface="Arial MT"/>
                <a:cs typeface="Arial MT"/>
              </a:rPr>
              <a:t>polynomials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6665DD8-F9C8-CEFB-244E-BAC3FEBF41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428279"/>
            <a:ext cx="8440674" cy="26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62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08B1-B3E5-9A7A-B6FF-84E68961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390041-2CAE-6F40-3BB7-0F07754BC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8541" y="611377"/>
            <a:ext cx="3947795" cy="695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5" dirty="0">
                <a:solidFill>
                  <a:srgbClr val="775F55"/>
                </a:solidFill>
              </a:rPr>
              <a:t>Using</a:t>
            </a:r>
            <a:r>
              <a:rPr spc="-10" dirty="0">
                <a:solidFill>
                  <a:srgbClr val="775F55"/>
                </a:solidFill>
              </a:rPr>
              <a:t> </a:t>
            </a:r>
            <a:r>
              <a:rPr spc="-340" dirty="0">
                <a:solidFill>
                  <a:srgbClr val="775F55"/>
                </a:solidFill>
              </a:rPr>
              <a:t>Polynomials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424CF7-675C-AE01-F187-46CB4F66207A}"/>
              </a:ext>
            </a:extLst>
          </p:cNvPr>
          <p:cNvSpPr txBox="1"/>
          <p:nvPr/>
        </p:nvSpPr>
        <p:spPr>
          <a:xfrm>
            <a:off x="2288541" y="1950974"/>
            <a:ext cx="7491095" cy="34074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31470" marR="433705" indent="-319405">
              <a:lnSpc>
                <a:spcPts val="3020"/>
              </a:lnSpc>
              <a:spcBef>
                <a:spcPts val="484"/>
              </a:spcBef>
              <a:buClr>
                <a:srgbClr val="DD8047"/>
              </a:buClr>
              <a:buSzPct val="58928"/>
              <a:buFont typeface="Wingdings"/>
              <a:buChar char=""/>
              <a:tabLst>
                <a:tab pos="331470" algn="l"/>
              </a:tabLst>
            </a:pPr>
            <a:r>
              <a:rPr sz="2800" spc="-50" dirty="0">
                <a:latin typeface="Arial MT"/>
                <a:cs typeface="Arial MT"/>
              </a:rPr>
              <a:t>We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can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335" dirty="0">
                <a:latin typeface="Arial MT"/>
                <a:cs typeface="Arial MT"/>
              </a:rPr>
              <a:t>use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polynomial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represent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binary word.</a:t>
            </a:r>
            <a:endParaRPr sz="2800">
              <a:latin typeface="Arial MT"/>
              <a:cs typeface="Arial MT"/>
            </a:endParaRPr>
          </a:p>
          <a:p>
            <a:pPr marL="331470" marR="5080" indent="-319405">
              <a:lnSpc>
                <a:spcPts val="3020"/>
              </a:lnSpc>
              <a:spcBef>
                <a:spcPts val="710"/>
              </a:spcBef>
              <a:buClr>
                <a:srgbClr val="DD8047"/>
              </a:buClr>
              <a:buSzPct val="58928"/>
              <a:buFont typeface="Wingdings"/>
              <a:buChar char=""/>
              <a:tabLst>
                <a:tab pos="331470" algn="l"/>
              </a:tabLst>
            </a:pPr>
            <a:r>
              <a:rPr sz="2800" spc="-310" dirty="0">
                <a:latin typeface="Arial MT"/>
                <a:cs typeface="Arial MT"/>
              </a:rPr>
              <a:t>Each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bit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140" dirty="0">
                <a:latin typeface="Arial MT"/>
                <a:cs typeface="Arial MT"/>
              </a:rPr>
              <a:t>from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right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mapped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onto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power </a:t>
            </a:r>
            <a:r>
              <a:rPr sz="2800" spc="-10" dirty="0">
                <a:latin typeface="Arial MT"/>
                <a:cs typeface="Arial MT"/>
              </a:rPr>
              <a:t>term.</a:t>
            </a:r>
            <a:endParaRPr sz="2800">
              <a:latin typeface="Arial MT"/>
              <a:cs typeface="Arial MT"/>
            </a:endParaRPr>
          </a:p>
          <a:p>
            <a:pPr marL="331470" marR="361315" indent="-319405">
              <a:lnSpc>
                <a:spcPts val="3020"/>
              </a:lnSpc>
              <a:spcBef>
                <a:spcPts val="710"/>
              </a:spcBef>
              <a:buClr>
                <a:srgbClr val="DD8047"/>
              </a:buClr>
              <a:buSzPct val="58928"/>
              <a:buFont typeface="Wingdings"/>
              <a:buChar char=""/>
              <a:tabLst>
                <a:tab pos="331470" algn="l"/>
              </a:tabLst>
            </a:pPr>
            <a:r>
              <a:rPr sz="2800" spc="-34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rightmost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represents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the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75" dirty="0">
                <a:latin typeface="Arial MT"/>
                <a:cs typeface="Arial MT"/>
              </a:rPr>
              <a:t>“0”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power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term. </a:t>
            </a:r>
            <a:r>
              <a:rPr sz="2800" spc="-34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bit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next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75" dirty="0">
                <a:latin typeface="Arial MT"/>
                <a:cs typeface="Arial MT"/>
              </a:rPr>
              <a:t>“1”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power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term,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31470" marR="1052195" indent="-319405">
              <a:lnSpc>
                <a:spcPts val="3020"/>
              </a:lnSpc>
              <a:spcBef>
                <a:spcPts val="705"/>
              </a:spcBef>
              <a:buClr>
                <a:srgbClr val="DD8047"/>
              </a:buClr>
              <a:buSzPct val="58928"/>
              <a:buFont typeface="Wingdings"/>
              <a:buChar char=""/>
              <a:tabLst>
                <a:tab pos="331470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bit </a:t>
            </a:r>
            <a:r>
              <a:rPr sz="2800" spc="-254" dirty="0">
                <a:latin typeface="Arial MT"/>
                <a:cs typeface="Arial MT"/>
              </a:rPr>
              <a:t>is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value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zero,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power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term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is </a:t>
            </a:r>
            <a:r>
              <a:rPr sz="2800" spc="-75" dirty="0">
                <a:latin typeface="Arial MT"/>
                <a:cs typeface="Arial MT"/>
              </a:rPr>
              <a:t>deleted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40" dirty="0">
                <a:latin typeface="Arial MT"/>
                <a:cs typeface="Arial MT"/>
              </a:rPr>
              <a:t>from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expression.</a:t>
            </a:r>
            <a:endParaRPr sz="2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902398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8D31-27F8-8735-BFE7-CD341887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9370A9-57DC-A073-CE76-6448CAF715BC}"/>
              </a:ext>
            </a:extLst>
          </p:cNvPr>
          <p:cNvSpPr/>
          <p:nvPr/>
        </p:nvSpPr>
        <p:spPr>
          <a:xfrm>
            <a:off x="1676780" y="1371981"/>
            <a:ext cx="8763000" cy="1905"/>
          </a:xfrm>
          <a:custGeom>
            <a:avLst/>
            <a:gdLst/>
            <a:ahLst/>
            <a:cxnLst/>
            <a:rect l="l" t="t" r="r" b="b"/>
            <a:pathLst>
              <a:path w="8763000" h="1905">
                <a:moveTo>
                  <a:pt x="0" y="0"/>
                </a:moveTo>
                <a:lnTo>
                  <a:pt x="8763000" y="1524"/>
                </a:lnTo>
              </a:path>
            </a:pathLst>
          </a:custGeom>
          <a:ln w="251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E12F93-CD98-C3C9-34E2-436169B19772}"/>
              </a:ext>
            </a:extLst>
          </p:cNvPr>
          <p:cNvSpPr txBox="1"/>
          <p:nvPr/>
        </p:nvSpPr>
        <p:spPr>
          <a:xfrm>
            <a:off x="1475488" y="6533642"/>
            <a:ext cx="3778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000" b="1" spc="-25" dirty="0">
                <a:solidFill>
                  <a:srgbClr val="161616"/>
                </a:solidFill>
                <a:latin typeface="Arial"/>
                <a:cs typeface="Arial"/>
              </a:rPr>
              <a:t>10.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E5C4B1-4520-7481-F2C8-C7EF46407361}"/>
              </a:ext>
            </a:extLst>
          </p:cNvPr>
          <p:cNvSpPr/>
          <p:nvPr/>
        </p:nvSpPr>
        <p:spPr>
          <a:xfrm>
            <a:off x="1676400" y="533401"/>
            <a:ext cx="8763000" cy="1905"/>
          </a:xfrm>
          <a:custGeom>
            <a:avLst/>
            <a:gdLst/>
            <a:ahLst/>
            <a:cxnLst/>
            <a:rect l="l" t="t" r="r" b="b"/>
            <a:pathLst>
              <a:path w="8763000" h="1904">
                <a:moveTo>
                  <a:pt x="0" y="0"/>
                </a:moveTo>
                <a:lnTo>
                  <a:pt x="8763000" y="1524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9E65CA-5E7C-F8F6-48A6-0313CAB6AF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6486" y="742442"/>
            <a:ext cx="6372860" cy="3302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6700" algn="l"/>
              </a:tabLst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Figure</a:t>
            </a:r>
            <a:r>
              <a:rPr sz="1800" b="1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10.21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1800" b="1" i="1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1800" b="1" i="1" spc="-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polynomial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to</a:t>
            </a:r>
            <a:r>
              <a:rPr sz="2000" b="1" i="1" spc="-6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represent</a:t>
            </a:r>
            <a:r>
              <a:rPr sz="2000" b="1" i="1" spc="-5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a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binary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b="1" i="1" spc="-20" dirty="0">
                <a:latin typeface="Arial"/>
                <a:cs typeface="Arial"/>
              </a:rPr>
              <a:t>word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8979EB-B8B6-C2BB-CC92-4A8C66676369}"/>
              </a:ext>
            </a:extLst>
          </p:cNvPr>
          <p:cNvSpPr/>
          <p:nvPr/>
        </p:nvSpPr>
        <p:spPr>
          <a:xfrm>
            <a:off x="1676400" y="6248401"/>
            <a:ext cx="8763000" cy="1905"/>
          </a:xfrm>
          <a:custGeom>
            <a:avLst/>
            <a:gdLst/>
            <a:ahLst/>
            <a:cxnLst/>
            <a:rect l="l" t="t" r="r" b="b"/>
            <a:pathLst>
              <a:path w="8763000" h="1904">
                <a:moveTo>
                  <a:pt x="0" y="0"/>
                </a:moveTo>
                <a:lnTo>
                  <a:pt x="8763000" y="1524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2671589-4E14-62FF-E158-262F7255B3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2560320"/>
            <a:ext cx="8849104" cy="23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345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1656-2C46-4597-2FBC-5493D1CA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3D8253-A5C4-DCDE-F3ED-D58E983B6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0327"/>
            <a:ext cx="10515600" cy="4041934"/>
          </a:xfrm>
        </p:spPr>
      </p:pic>
    </p:spTree>
    <p:extLst>
      <p:ext uri="{BB962C8B-B14F-4D97-AF65-F5344CB8AC3E}">
        <p14:creationId xmlns:p14="http://schemas.microsoft.com/office/powerpoint/2010/main" val="29029507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4CF09-ADEB-AE20-EE28-CD9EB6DD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6823-54F6-4045-41A8-E87A54F4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18336-B1B3-E2DD-3248-171895E0C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 codeword is received or read, a CRC-enabled device performs a CRC on the whole codeword and compares the resulting check value with an expected </a:t>
            </a:r>
            <a:r>
              <a:rPr lang="en-US" i="1" dirty="0"/>
              <a:t>residue</a:t>
            </a:r>
            <a:r>
              <a:rPr lang="en-US" dirty="0"/>
              <a:t> constant.</a:t>
            </a:r>
          </a:p>
          <a:p>
            <a:r>
              <a:rPr lang="en-US" dirty="0"/>
              <a:t>If the CRC check values do not match, then the block contains a data error</a:t>
            </a:r>
          </a:p>
          <a:p>
            <a:r>
              <a:rPr lang="en-US" dirty="0"/>
              <a:t>The device may take corrective action, such as rereading the block or requesting that it be sent again. </a:t>
            </a:r>
          </a:p>
        </p:txBody>
      </p:sp>
    </p:spTree>
    <p:extLst>
      <p:ext uri="{BB962C8B-B14F-4D97-AF65-F5344CB8AC3E}">
        <p14:creationId xmlns:p14="http://schemas.microsoft.com/office/powerpoint/2010/main" val="5176274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F9BE3-32BC-8F99-61EB-381F499FFCE2}"/>
              </a:ext>
            </a:extLst>
          </p:cNvPr>
          <p:cNvSpPr txBox="1"/>
          <p:nvPr/>
        </p:nvSpPr>
        <p:spPr>
          <a:xfrm>
            <a:off x="713678" y="647036"/>
            <a:ext cx="10764644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900"/>
              </a:spcAft>
            </a:pPr>
            <a:r>
              <a:rPr lang="en-IN" b="0" i="0" u="none" strike="noStrike" dirty="0">
                <a:effectLst/>
                <a:latin typeface="Arimo"/>
              </a:rPr>
              <a:t>1.A bit stream 10011101 is transmitted using the standard CRC method. The generator polynomial is x</a:t>
            </a:r>
            <a:r>
              <a:rPr lang="en-IN" b="0" i="0" u="none" strike="noStrike" baseline="30000" dirty="0">
                <a:effectLst/>
                <a:latin typeface="Arimo"/>
              </a:rPr>
              <a:t>3</a:t>
            </a:r>
            <a:r>
              <a:rPr lang="en-IN" b="0" i="0" u="none" strike="noStrike" dirty="0">
                <a:effectLst/>
                <a:latin typeface="Arimo"/>
              </a:rPr>
              <a:t>+1.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0" i="0" u="none" strike="noStrike" dirty="0">
                <a:effectLst/>
                <a:latin typeface="Arimo"/>
              </a:rPr>
              <a:t>What is the actual bit string transmitted?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0" i="0" u="none" strike="noStrike" dirty="0">
                <a:effectLst/>
                <a:latin typeface="Arimo"/>
              </a:rPr>
              <a:t>Suppose the third bit from the left is inverted during transmission. How will receiver detect this error?</a:t>
            </a:r>
          </a:p>
          <a:p>
            <a:pPr algn="l">
              <a:spcBef>
                <a:spcPts val="300"/>
              </a:spcBef>
              <a:spcAft>
                <a:spcPts val="900"/>
              </a:spcAft>
            </a:pPr>
            <a:r>
              <a:rPr lang="en-IN" b="0" i="0" u="none" strike="noStrike" dirty="0">
                <a:solidFill>
                  <a:srgbClr val="C9C2B7"/>
                </a:solidFill>
                <a:effectLst/>
                <a:latin typeface="Arimo"/>
              </a:rPr>
              <a:t> 2.</a:t>
            </a:r>
            <a:r>
              <a:rPr lang="en-IN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Given the </a:t>
            </a:r>
            <a:r>
              <a:rPr lang="en-IN" b="0" i="0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dataword</a:t>
            </a:r>
            <a:r>
              <a:rPr lang="en-IN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 1010011110 and the divisor 10111, show the generation of the CRC codeword at the sender using binary division.</a:t>
            </a:r>
          </a:p>
          <a:p>
            <a:pPr algn="l"/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In a CRC error-detecting scheme, choose the generator polynomial as x</a:t>
            </a:r>
            <a:r>
              <a:rPr lang="en-IN" b="0" i="0" baseline="30000" dirty="0">
                <a:solidFill>
                  <a:srgbClr val="212529"/>
                </a:solidFill>
                <a:effectLst/>
                <a:latin typeface="-apple-system"/>
              </a:rPr>
              <a:t>4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+ x + 1 (10011). Encode the 11-bit sequence: 10010011011</a:t>
            </a:r>
          </a:p>
          <a:p>
            <a:pPr algn="l"/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or</a:t>
            </a:r>
          </a:p>
          <a:p>
            <a:pPr algn="l"/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Given a CRC generator x</a:t>
            </a:r>
            <a:r>
              <a:rPr lang="en-IN" b="0" i="0" baseline="30000" dirty="0">
                <a:solidFill>
                  <a:srgbClr val="212529"/>
                </a:solidFill>
                <a:effectLst/>
                <a:latin typeface="-apple-system"/>
              </a:rPr>
              <a:t>4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+ x + 1 (10011), calculate the CRC code for the message 10010011011. Show the steps clearly and derive the solution.</a:t>
            </a:r>
          </a:p>
          <a:p>
            <a:pPr algn="l"/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br>
              <a:rPr lang="en-IN" dirty="0"/>
            </a:br>
            <a:endParaRPr lang="en-IN" b="0" i="0" u="none" strike="noStrike" dirty="0">
              <a:solidFill>
                <a:srgbClr val="C9C2B7"/>
              </a:solidFill>
              <a:effectLst/>
              <a:latin typeface="Arimo"/>
            </a:endParaRP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08EFA-8E3C-1270-6D87-FE5E1445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77" y="4045058"/>
            <a:ext cx="10764644" cy="16118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BD2B37-DE9F-682E-6E89-79723946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5" y="5653133"/>
            <a:ext cx="8288312" cy="5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624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13FD-DA2C-ED8F-7767-0D71D5CD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DD01F-4AFC-10CC-6769-54DC028E0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Example Question:</a:t>
            </a:r>
            <a:endParaRPr lang="en-US"/>
          </a:p>
          <a:p>
            <a:br>
              <a:rPr lang="en-US" dirty="0"/>
            </a:br>
            <a:endParaRPr lang="en-US" dirty="0"/>
          </a:p>
          <a:p>
            <a:r>
              <a:rPr lang="en-US" b="1">
                <a:ea typeface="+mn-lt"/>
                <a:cs typeface="+mn-lt"/>
              </a:rPr>
              <a:t>? : A bit stream 10101110 is transmitted using CRC. X</a:t>
            </a:r>
            <a:r>
              <a:rPr lang="en-US" b="1" baseline="30000">
                <a:ea typeface="+mn-lt"/>
                <a:cs typeface="+mn-lt"/>
              </a:rPr>
              <a:t>3</a:t>
            </a:r>
            <a:r>
              <a:rPr lang="en-US" b="1">
                <a:ea typeface="+mn-lt"/>
                <a:cs typeface="+mn-lt"/>
              </a:rPr>
              <a:t>+1 is the generator polynomial used. Find out the codeword to be transmitted. Suppose during the transmission, due to some noise 5</a:t>
            </a:r>
            <a:r>
              <a:rPr lang="en-US" b="1" baseline="30000">
                <a:ea typeface="+mn-lt"/>
                <a:cs typeface="+mn-lt"/>
              </a:rPr>
              <a:t>th </a:t>
            </a:r>
            <a:r>
              <a:rPr lang="en-US" b="1">
                <a:ea typeface="+mn-lt"/>
                <a:cs typeface="+mn-lt"/>
              </a:rPr>
              <a:t>bit from left of the code word flipped. Show how CRC detects the error.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807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520B9C-22FB-7439-F1D7-00CACC45C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879" y="250984"/>
            <a:ext cx="7365271" cy="107950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305C46-CA5D-D298-EDE5-47EA4FEF2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4263" y="1629494"/>
            <a:ext cx="9713626" cy="481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412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3DD96629-0455-AA60-E4EE-1EA7DD36C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524561"/>
            <a:ext cx="9960428" cy="521142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5400" algn="just">
              <a:lnSpc>
                <a:spcPct val="100000"/>
              </a:lnSpc>
              <a:spcBef>
                <a:spcPts val="400"/>
              </a:spcBef>
              <a:tabLst>
                <a:tab pos="28194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Calibri"/>
                <a:cs typeface="Calibri"/>
              </a:rPr>
              <a:t>					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Hamming</a:t>
            </a:r>
            <a:r>
              <a:rPr sz="3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0000"/>
                </a:solidFill>
                <a:latin typeface="Calibri"/>
                <a:cs typeface="Calibri"/>
              </a:rPr>
              <a:t>Codes</a:t>
            </a:r>
            <a:endParaRPr sz="3600" dirty="0">
              <a:latin typeface="Calibri"/>
              <a:cs typeface="Calibri"/>
            </a:endParaRPr>
          </a:p>
          <a:p>
            <a:pPr marL="139700" lvl="1" indent="-114300" algn="just">
              <a:lnSpc>
                <a:spcPct val="150000"/>
              </a:lnSpc>
              <a:spcBef>
                <a:spcPts val="300"/>
              </a:spcBef>
              <a:buFont typeface="Arial MT"/>
              <a:buChar char="•"/>
              <a:tabLst>
                <a:tab pos="139700" algn="l"/>
              </a:tabLst>
            </a:pPr>
            <a:r>
              <a:rPr sz="2400" dirty="0">
                <a:latin typeface="Calibri"/>
                <a:cs typeface="Calibri"/>
              </a:rPr>
              <a:t>Hamming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702FA0"/>
                </a:solidFill>
                <a:latin typeface="Calibri"/>
                <a:cs typeface="Calibri"/>
              </a:rPr>
              <a:t>error-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correcting</a:t>
            </a:r>
            <a:r>
              <a:rPr sz="2400"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codes</a:t>
            </a:r>
            <a:endParaRPr sz="2400" dirty="0">
              <a:latin typeface="Calibri"/>
              <a:cs typeface="Calibri"/>
            </a:endParaRPr>
          </a:p>
          <a:p>
            <a:pPr marL="139700" marR="30480" lvl="1" indent="-114935" algn="just">
              <a:lnSpc>
                <a:spcPct val="150000"/>
              </a:lnSpc>
              <a:spcBef>
                <a:spcPts val="545"/>
              </a:spcBef>
              <a:buFont typeface="Arial MT"/>
              <a:buChar char="•"/>
              <a:tabLst>
                <a:tab pos="139700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originally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𝒅</a:t>
            </a:r>
            <a:r>
              <a:rPr sz="2400" baseline="-14492" dirty="0">
                <a:solidFill>
                  <a:srgbClr val="FF0000"/>
                </a:solidFill>
                <a:latin typeface="Cambria"/>
                <a:cs typeface="Cambria"/>
              </a:rPr>
              <a:t>𝒎𝒊𝒏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means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detect</a:t>
            </a:r>
            <a:r>
              <a:rPr sz="2400"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up</a:t>
            </a:r>
            <a:r>
              <a:rPr sz="2400"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two</a:t>
            </a:r>
            <a:r>
              <a:rPr sz="2400" spc="-4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02FA0"/>
                </a:solidFill>
                <a:latin typeface="Calibri"/>
                <a:cs typeface="Calibri"/>
              </a:rPr>
              <a:t>errors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02FA0"/>
                </a:solidFill>
                <a:latin typeface="Calibri"/>
                <a:cs typeface="Calibri"/>
              </a:rPr>
              <a:t>correct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02FA0"/>
                </a:solidFill>
                <a:latin typeface="Calibri"/>
                <a:cs typeface="Calibri"/>
              </a:rPr>
              <a:t>single</a:t>
            </a:r>
            <a:r>
              <a:rPr sz="2400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02FA0"/>
                </a:solidFill>
                <a:latin typeface="Calibri"/>
                <a:cs typeface="Calibri"/>
              </a:rPr>
              <a:t>error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39700" marR="31750" lvl="1" indent="-114935" algn="just">
              <a:lnSpc>
                <a:spcPct val="150000"/>
              </a:lnSpc>
              <a:spcBef>
                <a:spcPts val="500"/>
              </a:spcBef>
              <a:buFont typeface="Arial MT"/>
              <a:buChar char="•"/>
              <a:tabLst>
                <a:tab pos="139700" algn="l"/>
              </a:tabLst>
            </a:pP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Hamming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code.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integer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&gt;= 3.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 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5" dirty="0">
                <a:latin typeface="Cambria"/>
                <a:cs typeface="Cambria"/>
              </a:rPr>
              <a:t>2</a:t>
            </a:r>
            <a:r>
              <a:rPr sz="2400" spc="82" baseline="28985" dirty="0">
                <a:latin typeface="Cambria"/>
                <a:cs typeface="Cambria"/>
              </a:rPr>
              <a:t>m</a:t>
            </a:r>
            <a:r>
              <a:rPr sz="2400" spc="262" baseline="28985" dirty="0">
                <a:latin typeface="Cambria"/>
                <a:cs typeface="Cambria"/>
              </a:rPr>
              <a:t> </a:t>
            </a:r>
            <a:r>
              <a:rPr sz="2400" dirty="0">
                <a:latin typeface="Calibri"/>
                <a:cs typeface="Calibri"/>
              </a:rPr>
              <a:t>-1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 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m. 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 bits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=m.</a:t>
            </a:r>
            <a:endParaRPr sz="2400" dirty="0">
              <a:latin typeface="Calibri"/>
              <a:cs typeface="Calibri"/>
            </a:endParaRPr>
          </a:p>
          <a:p>
            <a:pPr marL="139700" marR="31750" lvl="1" indent="-11493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1397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=3,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=7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4.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Hamming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 </a:t>
            </a:r>
            <a:r>
              <a:rPr sz="2400" dirty="0">
                <a:latin typeface="Calibri"/>
                <a:cs typeface="Calibri"/>
              </a:rPr>
              <a:t>C(7,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4)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𝒅</a:t>
            </a:r>
            <a:r>
              <a:rPr sz="2400" baseline="-14492" dirty="0">
                <a:solidFill>
                  <a:srgbClr val="FF0000"/>
                </a:solidFill>
                <a:latin typeface="Cambria"/>
                <a:cs typeface="Cambria"/>
              </a:rPr>
              <a:t>𝒎𝒊𝒏</a:t>
            </a:r>
            <a:r>
              <a:rPr sz="2400" spc="240" baseline="-14492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latin typeface="Calibri"/>
                <a:cs typeface="Calibri"/>
              </a:rPr>
              <a:t>=3.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0331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E160-A5BF-FC50-8202-28D2CDDF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DE9B-3291-ECED-8AE3-4C51676BE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>
                <a:effectLst/>
                <a:latin typeface="Helvetica" pitchFamily="2" charset="0"/>
              </a:rPr>
              <a:t>Steps includes:</a:t>
            </a:r>
          </a:p>
          <a:p>
            <a:r>
              <a:rPr lang="en-IN" dirty="0">
                <a:effectLst/>
                <a:latin typeface="Helvetica" pitchFamily="2" charset="0"/>
              </a:rPr>
              <a:t>1) Calculate number of redundant bits.</a:t>
            </a:r>
          </a:p>
          <a:p>
            <a:r>
              <a:rPr lang="en-IN" dirty="0">
                <a:effectLst/>
                <a:latin typeface="Helvetica" pitchFamily="2" charset="0"/>
              </a:rPr>
              <a:t>2) Positioning the redundant bits.</a:t>
            </a:r>
          </a:p>
          <a:p>
            <a:r>
              <a:rPr lang="en-IN" dirty="0">
                <a:effectLst/>
                <a:latin typeface="Helvetica" pitchFamily="2" charset="0"/>
              </a:rPr>
              <a:t>3) Calculate the values of each redundant bits</a:t>
            </a:r>
          </a:p>
          <a:p>
            <a:r>
              <a:rPr lang="en-IN" dirty="0">
                <a:effectLst/>
                <a:latin typeface="Helvetica" pitchFamily="2" charset="0"/>
              </a:rPr>
              <a:t>2</a:t>
            </a:r>
            <a:r>
              <a:rPr lang="en-IN" baseline="30000" dirty="0">
                <a:effectLst/>
                <a:latin typeface="Helvetica" pitchFamily="2" charset="0"/>
              </a:rPr>
              <a:t>r</a:t>
            </a:r>
            <a:r>
              <a:rPr lang="en-IN" dirty="0">
                <a:effectLst/>
                <a:latin typeface="Helvetica" pitchFamily="2" charset="0"/>
              </a:rPr>
              <a:t> ≥d+r+1 ; r: no: of redundant bits</a:t>
            </a:r>
          </a:p>
          <a:p>
            <a:r>
              <a:rPr lang="en-IN" dirty="0">
                <a:effectLst/>
                <a:latin typeface="Helvetica" pitchFamily="2" charset="0"/>
              </a:rPr>
              <a:t>                  d: no: of data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Helvetica" pitchFamily="2" charset="0"/>
              </a:rPr>
              <a:t>﻿﻿Powers of two 1,2,4, 8...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Helvetica" pitchFamily="2" charset="0"/>
              </a:rPr>
              <a:t>﻿﻿Even Parity / Odd Parity.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659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9">
            <a:extLst>
              <a:ext uri="{FF2B5EF4-FFF2-40B4-BE49-F238E27FC236}">
                <a16:creationId xmlns:a16="http://schemas.microsoft.com/office/drawing/2014/main" id="{5D3F3363-4632-B4E2-5471-D6CD7F32AEFF}"/>
              </a:ext>
            </a:extLst>
          </p:cNvPr>
          <p:cNvSpPr txBox="1"/>
          <p:nvPr/>
        </p:nvSpPr>
        <p:spPr>
          <a:xfrm>
            <a:off x="1043409" y="719528"/>
            <a:ext cx="7500984" cy="1082348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93675" indent="-182880">
              <a:lnSpc>
                <a:spcPct val="100000"/>
              </a:lnSpc>
              <a:spcBef>
                <a:spcPts val="400"/>
              </a:spcBef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b="1" dirty="0">
                <a:solidFill>
                  <a:srgbClr val="BF0000"/>
                </a:solidFill>
                <a:latin typeface="Calibri"/>
                <a:cs typeface="Calibri"/>
              </a:rPr>
              <a:t>Hamming</a:t>
            </a:r>
            <a:r>
              <a:rPr sz="1600" b="1" spc="-5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BF0000"/>
                </a:solidFill>
                <a:latin typeface="Calibri"/>
                <a:cs typeface="Calibri"/>
              </a:rPr>
              <a:t>Code</a:t>
            </a:r>
            <a:r>
              <a:rPr sz="1600" b="1" spc="-2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BF0000"/>
                </a:solidFill>
                <a:latin typeface="Calibri"/>
                <a:cs typeface="Calibri"/>
              </a:rPr>
              <a:t>Structure</a:t>
            </a:r>
            <a:endParaRPr sz="1600" dirty="0">
              <a:latin typeface="Calibri"/>
              <a:cs typeface="Calibri"/>
            </a:endParaRPr>
          </a:p>
          <a:p>
            <a:pPr marL="127000" marR="5080" indent="-117475">
              <a:lnSpc>
                <a:spcPts val="1730"/>
              </a:lnSpc>
              <a:spcBef>
                <a:spcPts val="515"/>
              </a:spcBef>
              <a:buSzPct val="93750"/>
              <a:buFont typeface="Wingdings"/>
              <a:buChar char=""/>
              <a:tabLst>
                <a:tab pos="127000" algn="l"/>
                <a:tab pos="172720" algn="l"/>
              </a:tabLst>
            </a:pPr>
            <a:r>
              <a:rPr sz="1600" dirty="0">
                <a:latin typeface="Calibri"/>
                <a:cs typeface="Calibri"/>
              </a:rPr>
              <a:t>	All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positions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power</a:t>
            </a:r>
            <a:r>
              <a:rPr sz="1600" spc="9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of</a:t>
            </a:r>
            <a:r>
              <a:rPr sz="1600" spc="8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2</a:t>
            </a:r>
            <a:r>
              <a:rPr sz="1600" spc="9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marked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parity</a:t>
            </a:r>
            <a:r>
              <a:rPr sz="1600" spc="9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02FA0"/>
                </a:solidFill>
                <a:latin typeface="Calibri"/>
                <a:cs typeface="Calibri"/>
              </a:rPr>
              <a:t>bits </a:t>
            </a:r>
            <a:r>
              <a:rPr sz="1600" dirty="0">
                <a:latin typeface="Calibri"/>
                <a:cs typeface="Calibri"/>
              </a:rPr>
              <a:t>(1,2,4,8,…..)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Eg: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7</a:t>
            </a:r>
            <a:r>
              <a:rPr sz="1600" spc="-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bit</a:t>
            </a:r>
            <a:r>
              <a:rPr sz="1600"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/>
                <a:cs typeface="Calibri"/>
              </a:rPr>
              <a:t>hamming</a:t>
            </a:r>
            <a:r>
              <a:rPr sz="1600" spc="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02FA0"/>
                </a:solidFill>
                <a:latin typeface="Calibri"/>
                <a:cs typeface="Calibri"/>
              </a:rPr>
              <a:t>code</a:t>
            </a:r>
            <a:endParaRPr sz="1600" dirty="0">
              <a:latin typeface="Calibri"/>
              <a:cs typeface="Calibri"/>
            </a:endParaRPr>
          </a:p>
        </p:txBody>
      </p:sp>
      <p:graphicFrame>
        <p:nvGraphicFramePr>
          <p:cNvPr id="15" name="object 22">
            <a:extLst>
              <a:ext uri="{FF2B5EF4-FFF2-40B4-BE49-F238E27FC236}">
                <a16:creationId xmlns:a16="http://schemas.microsoft.com/office/drawing/2014/main" id="{9681BFAF-64A0-CB36-B4ED-4BD6E0C9F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144461"/>
              </p:ext>
            </p:extLst>
          </p:nvPr>
        </p:nvGraphicFramePr>
        <p:xfrm>
          <a:off x="1482852" y="2053653"/>
          <a:ext cx="5157792" cy="473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55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3006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D7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D6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D5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23">
            <a:extLst>
              <a:ext uri="{FF2B5EF4-FFF2-40B4-BE49-F238E27FC236}">
                <a16:creationId xmlns:a16="http://schemas.microsoft.com/office/drawing/2014/main" id="{5FC2AEB9-DC16-D1E4-1992-DA43BE19BA72}"/>
              </a:ext>
            </a:extLst>
          </p:cNvPr>
          <p:cNvSpPr txBox="1"/>
          <p:nvPr/>
        </p:nvSpPr>
        <p:spPr>
          <a:xfrm>
            <a:off x="1134858" y="3010707"/>
            <a:ext cx="1478280" cy="8318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Parity</a:t>
            </a:r>
            <a:r>
              <a:rPr sz="1600" b="1" spc="-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bit</a:t>
            </a:r>
            <a:r>
              <a:rPr sz="1600" b="1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values</a:t>
            </a:r>
            <a:r>
              <a:rPr sz="1600" b="1"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Eg: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1101</a:t>
            </a:r>
            <a:endParaRPr sz="1600">
              <a:latin typeface="Calibri"/>
              <a:cs typeface="Calibri"/>
            </a:endParaRPr>
          </a:p>
          <a:p>
            <a:pPr marL="454659">
              <a:lnSpc>
                <a:spcPct val="100000"/>
              </a:lnSpc>
              <a:spcBef>
                <a:spcPts val="680"/>
              </a:spcBef>
              <a:tabLst>
                <a:tab pos="810895" algn="l"/>
                <a:tab pos="1166495" algn="l"/>
              </a:tabLst>
            </a:pPr>
            <a:r>
              <a:rPr sz="1000" b="1" spc="-25" dirty="0">
                <a:solidFill>
                  <a:srgbClr val="702FA0"/>
                </a:solidFill>
                <a:latin typeface="Calibri"/>
                <a:cs typeface="Calibri"/>
              </a:rPr>
              <a:t>D7</a:t>
            </a:r>
            <a:r>
              <a:rPr sz="10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000" b="1" spc="-25" dirty="0">
                <a:solidFill>
                  <a:srgbClr val="702FA0"/>
                </a:solidFill>
                <a:latin typeface="Calibri"/>
                <a:cs typeface="Calibri"/>
              </a:rPr>
              <a:t>D6</a:t>
            </a:r>
            <a:r>
              <a:rPr sz="10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000" b="1" spc="-25" dirty="0">
                <a:solidFill>
                  <a:srgbClr val="702FA0"/>
                </a:solidFill>
                <a:latin typeface="Calibri"/>
                <a:cs typeface="Calibri"/>
              </a:rPr>
              <a:t>D5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556B086D-D225-3D2B-7928-6CF4F76263E3}"/>
              </a:ext>
            </a:extLst>
          </p:cNvPr>
          <p:cNvSpPr txBox="1"/>
          <p:nvPr/>
        </p:nvSpPr>
        <p:spPr>
          <a:xfrm>
            <a:off x="2636012" y="3665029"/>
            <a:ext cx="5181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1315" algn="l"/>
              </a:tabLst>
            </a:pP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P4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000" b="1" spc="-25" dirty="0">
                <a:solidFill>
                  <a:srgbClr val="702FA0"/>
                </a:solidFill>
                <a:latin typeface="Calibri"/>
                <a:cs typeface="Calibri"/>
              </a:rPr>
              <a:t>D3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7F6E8DA9-F35B-91E3-7765-408F80A2D9C8}"/>
              </a:ext>
            </a:extLst>
          </p:cNvPr>
          <p:cNvSpPr txBox="1"/>
          <p:nvPr/>
        </p:nvSpPr>
        <p:spPr>
          <a:xfrm>
            <a:off x="3362902" y="3665029"/>
            <a:ext cx="512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7665" algn="l"/>
              </a:tabLst>
            </a:pP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P2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P1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19" name="object 26">
            <a:extLst>
              <a:ext uri="{FF2B5EF4-FFF2-40B4-BE49-F238E27FC236}">
                <a16:creationId xmlns:a16="http://schemas.microsoft.com/office/drawing/2014/main" id="{9EC1D856-27C2-33FB-F2D5-FE3DB20D1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930884"/>
              </p:ext>
            </p:extLst>
          </p:nvPr>
        </p:nvGraphicFramePr>
        <p:xfrm>
          <a:off x="1482852" y="3901814"/>
          <a:ext cx="2488562" cy="34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4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6284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B48209ED-F7B7-6CD5-4E59-0E4C6C358918}"/>
              </a:ext>
            </a:extLst>
          </p:cNvPr>
          <p:cNvSpPr txBox="1"/>
          <p:nvPr/>
        </p:nvSpPr>
        <p:spPr>
          <a:xfrm>
            <a:off x="824459" y="877829"/>
            <a:ext cx="5441430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2775">
              <a:lnSpc>
                <a:spcPct val="115599"/>
              </a:lnSpc>
              <a:spcBef>
                <a:spcPts val="100"/>
              </a:spcBef>
            </a:pPr>
            <a:r>
              <a:rPr sz="1600" dirty="0">
                <a:solidFill>
                  <a:srgbClr val="BF0000"/>
                </a:solidFill>
                <a:latin typeface="Calibri"/>
                <a:cs typeface="Calibri"/>
              </a:rPr>
              <a:t>P1 :</a:t>
            </a:r>
            <a:r>
              <a:rPr sz="1600" spc="-1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 bit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skip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1bit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F0000"/>
                </a:solidFill>
                <a:latin typeface="Calibri"/>
                <a:cs typeface="Calibri"/>
              </a:rPr>
              <a:t>(</a:t>
            </a:r>
            <a:r>
              <a:rPr sz="1600" spc="-10" dirty="0">
                <a:solidFill>
                  <a:srgbClr val="BF0000"/>
                </a:solidFill>
                <a:latin typeface="Calibri"/>
                <a:cs typeface="Calibri"/>
              </a:rPr>
              <a:t> 1,3,5,7,9,……)</a:t>
            </a:r>
            <a:endParaRPr lang="en-US" sz="1600" spc="-10" dirty="0">
              <a:solidFill>
                <a:srgbClr val="BF0000"/>
              </a:solidFill>
              <a:latin typeface="Calibri"/>
              <a:cs typeface="Calibri"/>
            </a:endParaRPr>
          </a:p>
          <a:p>
            <a:pPr marL="12700" marR="612775">
              <a:lnSpc>
                <a:spcPct val="115599"/>
              </a:lnSpc>
              <a:spcBef>
                <a:spcPts val="100"/>
              </a:spcBef>
            </a:pPr>
            <a:r>
              <a:rPr sz="1600" dirty="0">
                <a:solidFill>
                  <a:srgbClr val="BF0000"/>
                </a:solidFill>
                <a:latin typeface="Calibri"/>
                <a:cs typeface="Calibri"/>
              </a:rPr>
              <a:t>P2 :</a:t>
            </a:r>
            <a:r>
              <a:rPr sz="1600" spc="-1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 2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skip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 bit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BF0000"/>
                </a:solidFill>
                <a:latin typeface="Calibri"/>
                <a:cs typeface="Calibri"/>
              </a:rPr>
              <a:t>(</a:t>
            </a:r>
            <a:r>
              <a:rPr sz="1600" spc="-10" dirty="0">
                <a:solidFill>
                  <a:srgbClr val="BF0000"/>
                </a:solidFill>
                <a:latin typeface="Calibri"/>
                <a:cs typeface="Calibri"/>
              </a:rPr>
              <a:t> 2,3,6,7,10,11,…)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solidFill>
                  <a:srgbClr val="BF0000"/>
                </a:solidFill>
                <a:latin typeface="Calibri"/>
                <a:cs typeface="Calibri"/>
              </a:rPr>
              <a:t>P4 :</a:t>
            </a:r>
            <a:r>
              <a:rPr sz="1600" spc="-1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 4 bit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skip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 bit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BF0000"/>
                </a:solidFill>
                <a:latin typeface="Calibri"/>
                <a:cs typeface="Calibri"/>
              </a:rPr>
              <a:t>(4,5,6,7,12,13,14,15,……)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17F51CBF-4E94-3EF2-51D9-DFBE1EF20C99}"/>
              </a:ext>
            </a:extLst>
          </p:cNvPr>
          <p:cNvSpPr txBox="1"/>
          <p:nvPr/>
        </p:nvSpPr>
        <p:spPr>
          <a:xfrm>
            <a:off x="1044993" y="2841061"/>
            <a:ext cx="1056640" cy="87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P1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D3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D5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D7 </a:t>
            </a:r>
            <a:r>
              <a:rPr sz="1600" dirty="0">
                <a:latin typeface="Calibri"/>
                <a:cs typeface="Calibri"/>
              </a:rPr>
              <a:t>P2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D3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D6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D7 </a:t>
            </a:r>
            <a:r>
              <a:rPr sz="1600" dirty="0">
                <a:latin typeface="Calibri"/>
                <a:cs typeface="Calibri"/>
              </a:rPr>
              <a:t>P4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D5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D6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D7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4F05C95-ACAE-57BE-A785-3FA512BADD0F}"/>
              </a:ext>
            </a:extLst>
          </p:cNvPr>
          <p:cNvSpPr txBox="1"/>
          <p:nvPr/>
        </p:nvSpPr>
        <p:spPr>
          <a:xfrm>
            <a:off x="2492205" y="2841061"/>
            <a:ext cx="586740" cy="8731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dirty="0">
                <a:latin typeface="Calibri"/>
                <a:cs typeface="Calibri"/>
              </a:rPr>
              <a:t>P1</a:t>
            </a:r>
            <a:r>
              <a:rPr sz="1600" spc="-25" dirty="0">
                <a:latin typeface="Calibri"/>
                <a:cs typeface="Calibri"/>
              </a:rPr>
              <a:t> 101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latin typeface="Calibri"/>
                <a:cs typeface="Calibri"/>
              </a:rPr>
              <a:t>P2</a:t>
            </a:r>
            <a:r>
              <a:rPr sz="1600" spc="-25" dirty="0">
                <a:latin typeface="Calibri"/>
                <a:cs typeface="Calibri"/>
              </a:rPr>
              <a:t> 111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latin typeface="Calibri"/>
                <a:cs typeface="Calibri"/>
              </a:rPr>
              <a:t>P4</a:t>
            </a:r>
            <a:r>
              <a:rPr sz="1600" spc="-25" dirty="0">
                <a:latin typeface="Calibri"/>
                <a:cs typeface="Calibri"/>
              </a:rPr>
              <a:t> 011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D05DBA34-5F6C-09C4-9E8E-324EF179AFFE}"/>
              </a:ext>
            </a:extLst>
          </p:cNvPr>
          <p:cNvSpPr txBox="1"/>
          <p:nvPr/>
        </p:nvSpPr>
        <p:spPr>
          <a:xfrm>
            <a:off x="3515385" y="2841061"/>
            <a:ext cx="529590" cy="8731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P1 =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P2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=1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P4 =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4">
            <a:extLst>
              <a:ext uri="{FF2B5EF4-FFF2-40B4-BE49-F238E27FC236}">
                <a16:creationId xmlns:a16="http://schemas.microsoft.com/office/drawing/2014/main" id="{D9D1B6BF-8C08-312A-7E7B-BE2995405E10}"/>
              </a:ext>
            </a:extLst>
          </p:cNvPr>
          <p:cNvGrpSpPr/>
          <p:nvPr/>
        </p:nvGrpSpPr>
        <p:grpSpPr>
          <a:xfrm>
            <a:off x="1456944" y="2157983"/>
            <a:ext cx="2516505" cy="1463040"/>
            <a:chOff x="1456944" y="2157983"/>
            <a:chExt cx="2516505" cy="1463040"/>
          </a:xfrm>
        </p:grpSpPr>
        <p:pic>
          <p:nvPicPr>
            <p:cNvPr id="12" name="object 15">
              <a:extLst>
                <a:ext uri="{FF2B5EF4-FFF2-40B4-BE49-F238E27FC236}">
                  <a16:creationId xmlns:a16="http://schemas.microsoft.com/office/drawing/2014/main" id="{78C94BB5-FE72-F4F3-8AAC-2AE678D7F4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6944" y="2157983"/>
              <a:ext cx="2516123" cy="574548"/>
            </a:xfrm>
            <a:prstGeom prst="rect">
              <a:avLst/>
            </a:prstGeom>
          </p:spPr>
        </p:pic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7AB5E866-8C6C-EDA9-4B9D-57CB32E7A75E}"/>
                </a:ext>
              </a:extLst>
            </p:cNvPr>
            <p:cNvSpPr/>
            <p:nvPr/>
          </p:nvSpPr>
          <p:spPr>
            <a:xfrm>
              <a:off x="2142744" y="2987039"/>
              <a:ext cx="1277620" cy="634365"/>
            </a:xfrm>
            <a:custGeom>
              <a:avLst/>
              <a:gdLst/>
              <a:ahLst/>
              <a:cxnLst/>
              <a:rect l="l" t="t" r="r" b="b"/>
              <a:pathLst>
                <a:path w="1277620" h="634364">
                  <a:moveTo>
                    <a:pt x="277368" y="605040"/>
                  </a:moveTo>
                  <a:lnTo>
                    <a:pt x="258064" y="595896"/>
                  </a:lnTo>
                  <a:lnTo>
                    <a:pt x="219456" y="577608"/>
                  </a:lnTo>
                  <a:lnTo>
                    <a:pt x="219456" y="595896"/>
                  </a:lnTo>
                  <a:lnTo>
                    <a:pt x="0" y="595896"/>
                  </a:lnTo>
                  <a:lnTo>
                    <a:pt x="0" y="615708"/>
                  </a:lnTo>
                  <a:lnTo>
                    <a:pt x="219456" y="615708"/>
                  </a:lnTo>
                  <a:lnTo>
                    <a:pt x="219456" y="633996"/>
                  </a:lnTo>
                  <a:lnTo>
                    <a:pt x="256032" y="615708"/>
                  </a:lnTo>
                  <a:lnTo>
                    <a:pt x="277368" y="605040"/>
                  </a:lnTo>
                  <a:close/>
                </a:path>
                <a:path w="1277620" h="634364">
                  <a:moveTo>
                    <a:pt x="277368" y="329196"/>
                  </a:moveTo>
                  <a:lnTo>
                    <a:pt x="256032" y="318528"/>
                  </a:lnTo>
                  <a:lnTo>
                    <a:pt x="219456" y="300240"/>
                  </a:lnTo>
                  <a:lnTo>
                    <a:pt x="219456" y="318528"/>
                  </a:lnTo>
                  <a:lnTo>
                    <a:pt x="0" y="318528"/>
                  </a:lnTo>
                  <a:lnTo>
                    <a:pt x="0" y="338340"/>
                  </a:lnTo>
                  <a:lnTo>
                    <a:pt x="219456" y="338340"/>
                  </a:lnTo>
                  <a:lnTo>
                    <a:pt x="219456" y="356628"/>
                  </a:lnTo>
                  <a:lnTo>
                    <a:pt x="258064" y="338340"/>
                  </a:lnTo>
                  <a:lnTo>
                    <a:pt x="277368" y="329196"/>
                  </a:lnTo>
                  <a:close/>
                </a:path>
                <a:path w="1277620" h="634364">
                  <a:moveTo>
                    <a:pt x="277368" y="28956"/>
                  </a:moveTo>
                  <a:lnTo>
                    <a:pt x="259080" y="19812"/>
                  </a:lnTo>
                  <a:lnTo>
                    <a:pt x="219456" y="0"/>
                  </a:lnTo>
                  <a:lnTo>
                    <a:pt x="219456" y="19812"/>
                  </a:lnTo>
                  <a:lnTo>
                    <a:pt x="0" y="19812"/>
                  </a:lnTo>
                  <a:lnTo>
                    <a:pt x="0" y="38100"/>
                  </a:lnTo>
                  <a:lnTo>
                    <a:pt x="219456" y="38100"/>
                  </a:lnTo>
                  <a:lnTo>
                    <a:pt x="219456" y="57912"/>
                  </a:lnTo>
                  <a:lnTo>
                    <a:pt x="259080" y="38100"/>
                  </a:lnTo>
                  <a:lnTo>
                    <a:pt x="277368" y="28956"/>
                  </a:lnTo>
                  <a:close/>
                </a:path>
                <a:path w="1277620" h="634364">
                  <a:moveTo>
                    <a:pt x="1277112" y="605040"/>
                  </a:moveTo>
                  <a:lnTo>
                    <a:pt x="1258316" y="595896"/>
                  </a:lnTo>
                  <a:lnTo>
                    <a:pt x="1220724" y="577608"/>
                  </a:lnTo>
                  <a:lnTo>
                    <a:pt x="1220724" y="595896"/>
                  </a:lnTo>
                  <a:lnTo>
                    <a:pt x="999744" y="595896"/>
                  </a:lnTo>
                  <a:lnTo>
                    <a:pt x="999744" y="615708"/>
                  </a:lnTo>
                  <a:lnTo>
                    <a:pt x="1220724" y="615708"/>
                  </a:lnTo>
                  <a:lnTo>
                    <a:pt x="1220724" y="633996"/>
                  </a:lnTo>
                  <a:lnTo>
                    <a:pt x="1256334" y="615708"/>
                  </a:lnTo>
                  <a:lnTo>
                    <a:pt x="1277112" y="605040"/>
                  </a:lnTo>
                  <a:close/>
                </a:path>
                <a:path w="1277620" h="634364">
                  <a:moveTo>
                    <a:pt x="1277112" y="332232"/>
                  </a:moveTo>
                  <a:lnTo>
                    <a:pt x="1256334" y="321564"/>
                  </a:lnTo>
                  <a:lnTo>
                    <a:pt x="1220724" y="303276"/>
                  </a:lnTo>
                  <a:lnTo>
                    <a:pt x="1220724" y="321564"/>
                  </a:lnTo>
                  <a:lnTo>
                    <a:pt x="999744" y="321564"/>
                  </a:lnTo>
                  <a:lnTo>
                    <a:pt x="999744" y="341376"/>
                  </a:lnTo>
                  <a:lnTo>
                    <a:pt x="1220724" y="341376"/>
                  </a:lnTo>
                  <a:lnTo>
                    <a:pt x="1220724" y="359664"/>
                  </a:lnTo>
                  <a:lnTo>
                    <a:pt x="1258316" y="341376"/>
                  </a:lnTo>
                  <a:lnTo>
                    <a:pt x="1277112" y="332232"/>
                  </a:lnTo>
                  <a:close/>
                </a:path>
                <a:path w="1277620" h="634364">
                  <a:moveTo>
                    <a:pt x="1277112" y="45732"/>
                  </a:moveTo>
                  <a:lnTo>
                    <a:pt x="1258316" y="36588"/>
                  </a:lnTo>
                  <a:lnTo>
                    <a:pt x="1220724" y="18300"/>
                  </a:lnTo>
                  <a:lnTo>
                    <a:pt x="1220724" y="36588"/>
                  </a:lnTo>
                  <a:lnTo>
                    <a:pt x="999744" y="36588"/>
                  </a:lnTo>
                  <a:lnTo>
                    <a:pt x="999744" y="56400"/>
                  </a:lnTo>
                  <a:lnTo>
                    <a:pt x="1220724" y="56400"/>
                  </a:lnTo>
                  <a:lnTo>
                    <a:pt x="1220724" y="74688"/>
                  </a:lnTo>
                  <a:lnTo>
                    <a:pt x="1256334" y="56400"/>
                  </a:lnTo>
                  <a:lnTo>
                    <a:pt x="1277112" y="45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id="{D7D8C647-3487-48A8-08DC-41E45265E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95577"/>
              </p:ext>
            </p:extLst>
          </p:nvPr>
        </p:nvGraphicFramePr>
        <p:xfrm>
          <a:off x="824459" y="4103609"/>
          <a:ext cx="4553083" cy="57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0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4548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0510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6">
            <a:extLst>
              <a:ext uri="{FF2B5EF4-FFF2-40B4-BE49-F238E27FC236}">
                <a16:creationId xmlns:a16="http://schemas.microsoft.com/office/drawing/2014/main" id="{A6A2CD26-0BDD-3EA2-B6B9-A40712CD42B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110771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ts val="400"/>
              </a:spcBef>
              <a:buSzPct val="90625"/>
              <a:buFont typeface="Wingdings"/>
              <a:buChar char=""/>
              <a:tabLst>
                <a:tab pos="180975" algn="l"/>
              </a:tabLst>
            </a:pP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DETECTING</a:t>
            </a:r>
            <a:r>
              <a:rPr sz="16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&amp;</a:t>
            </a:r>
            <a:r>
              <a:rPr sz="16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CORRECTING</a:t>
            </a:r>
            <a:r>
              <a:rPr sz="16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endParaRPr sz="16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latin typeface="Calibri"/>
                <a:cs typeface="Calibri"/>
              </a:rPr>
              <a:t>Suppose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receiver receives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702FA0"/>
                </a:solidFill>
                <a:latin typeface="Calibri"/>
                <a:cs typeface="Calibri"/>
              </a:rPr>
              <a:t>1011011</a:t>
            </a:r>
            <a:endParaRPr sz="1600" dirty="0">
              <a:latin typeface="Calibri"/>
              <a:cs typeface="Calibri"/>
            </a:endParaRPr>
          </a:p>
          <a:p>
            <a:pPr marL="170180" indent="0">
              <a:lnSpc>
                <a:spcPct val="100000"/>
              </a:lnSpc>
              <a:buNone/>
              <a:tabLst>
                <a:tab pos="753745" algn="l"/>
                <a:tab pos="1110615" algn="l"/>
                <a:tab pos="1450975" algn="l"/>
                <a:tab pos="1805305" algn="l"/>
                <a:tab pos="2176780" algn="l"/>
                <a:tab pos="2533015" algn="l"/>
              </a:tabLst>
            </a:pP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1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0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1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1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0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1</a:t>
            </a:r>
            <a:r>
              <a:rPr sz="16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600" b="1" spc="-50" dirty="0">
                <a:solidFill>
                  <a:srgbClr val="702FA0"/>
                </a:solidFill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  <a:p>
            <a:pPr marL="782955" marR="5080" indent="-783590">
              <a:lnSpc>
                <a:spcPct val="116300"/>
              </a:lnSpc>
              <a:spcBef>
                <a:spcPts val="1415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1: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1,3,5,7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P1)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P1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D3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D5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D7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1011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Odd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1s.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P1=1</a:t>
            </a:r>
            <a:endParaRPr sz="1600" dirty="0">
              <a:latin typeface="Calibri"/>
              <a:cs typeface="Calibri"/>
            </a:endParaRPr>
          </a:p>
          <a:p>
            <a:pPr marL="782955" marR="165100" indent="-783590">
              <a:lnSpc>
                <a:spcPts val="2230"/>
              </a:lnSpc>
              <a:spcBef>
                <a:spcPts val="114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2: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2,3,6,7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P2)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P2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D3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D6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D7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1001 </a:t>
            </a:r>
            <a:r>
              <a:rPr sz="1600" dirty="0">
                <a:latin typeface="Calibri"/>
                <a:cs typeface="Calibri"/>
              </a:rPr>
              <a:t>even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P2=0</a:t>
            </a:r>
            <a:endParaRPr sz="1600" dirty="0">
              <a:latin typeface="Calibri"/>
              <a:cs typeface="Calibri"/>
            </a:endParaRPr>
          </a:p>
          <a:p>
            <a:pPr marL="782955" marR="50800" indent="-783590">
              <a:lnSpc>
                <a:spcPts val="2220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3: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4,5,6,7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P4)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P4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D5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D6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D7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1101 </a:t>
            </a:r>
            <a:r>
              <a:rPr sz="1600" dirty="0">
                <a:latin typeface="Calibri"/>
                <a:cs typeface="Calibri"/>
              </a:rPr>
              <a:t>Odd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P4=1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25">
            <a:extLst>
              <a:ext uri="{FF2B5EF4-FFF2-40B4-BE49-F238E27FC236}">
                <a16:creationId xmlns:a16="http://schemas.microsoft.com/office/drawing/2014/main" id="{7850C8D6-8095-07EC-0F6F-9A6B3AAC2796}"/>
              </a:ext>
            </a:extLst>
          </p:cNvPr>
          <p:cNvSpPr/>
          <p:nvPr/>
        </p:nvSpPr>
        <p:spPr>
          <a:xfrm>
            <a:off x="999307" y="2503714"/>
            <a:ext cx="2701836" cy="384703"/>
          </a:xfrm>
          <a:custGeom>
            <a:avLst/>
            <a:gdLst/>
            <a:ahLst/>
            <a:cxnLst/>
            <a:rect l="l" t="t" r="r" b="b"/>
            <a:pathLst>
              <a:path w="2498090" h="350520">
                <a:moveTo>
                  <a:pt x="359664" y="0"/>
                </a:moveTo>
                <a:lnTo>
                  <a:pt x="359664" y="350520"/>
                </a:lnTo>
              </a:path>
              <a:path w="2498090" h="350520">
                <a:moveTo>
                  <a:pt x="714756" y="0"/>
                </a:moveTo>
                <a:lnTo>
                  <a:pt x="714756" y="350520"/>
                </a:lnTo>
              </a:path>
              <a:path w="2498090" h="350520">
                <a:moveTo>
                  <a:pt x="1071371" y="0"/>
                </a:moveTo>
                <a:lnTo>
                  <a:pt x="1071371" y="350520"/>
                </a:lnTo>
              </a:path>
              <a:path w="2498090" h="350520">
                <a:moveTo>
                  <a:pt x="1394460" y="0"/>
                </a:moveTo>
                <a:lnTo>
                  <a:pt x="1394460" y="350520"/>
                </a:lnTo>
              </a:path>
              <a:path w="2498090" h="350520">
                <a:moveTo>
                  <a:pt x="1783079" y="0"/>
                </a:moveTo>
                <a:lnTo>
                  <a:pt x="1783079" y="350520"/>
                </a:lnTo>
              </a:path>
              <a:path w="2498090" h="350520">
                <a:moveTo>
                  <a:pt x="2138171" y="0"/>
                </a:moveTo>
                <a:lnTo>
                  <a:pt x="2138171" y="350520"/>
                </a:lnTo>
              </a:path>
              <a:path w="2498090" h="350520">
                <a:moveTo>
                  <a:pt x="3048" y="0"/>
                </a:moveTo>
                <a:lnTo>
                  <a:pt x="3048" y="350520"/>
                </a:lnTo>
              </a:path>
              <a:path w="2498090" h="350520">
                <a:moveTo>
                  <a:pt x="2494787" y="0"/>
                </a:moveTo>
                <a:lnTo>
                  <a:pt x="2494787" y="350520"/>
                </a:lnTo>
              </a:path>
              <a:path w="2498090" h="350520">
                <a:moveTo>
                  <a:pt x="0" y="347472"/>
                </a:moveTo>
                <a:lnTo>
                  <a:pt x="2497836" y="347472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28615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8BF4063D-B069-A67C-A7C6-F5E768B694A1}"/>
              </a:ext>
            </a:extLst>
          </p:cNvPr>
          <p:cNvSpPr txBox="1"/>
          <p:nvPr/>
        </p:nvSpPr>
        <p:spPr>
          <a:xfrm>
            <a:off x="1919679" y="3660182"/>
            <a:ext cx="3119755" cy="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810" algn="l"/>
                <a:tab pos="708660" algn="l"/>
                <a:tab pos="1082040" algn="l"/>
                <a:tab pos="1404620" algn="l"/>
                <a:tab pos="1779270" algn="l"/>
                <a:tab pos="2152015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702FA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F0DC3633-F719-0998-C650-1A12CAEF3E1A}"/>
              </a:ext>
            </a:extLst>
          </p:cNvPr>
          <p:cNvGraphicFramePr>
            <a:graphicFrameLocks noGrp="1"/>
          </p:cNvGraphicFramePr>
          <p:nvPr/>
        </p:nvGraphicFramePr>
        <p:xfrm>
          <a:off x="2446019" y="1773935"/>
          <a:ext cx="1069340" cy="34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00" b="1" spc="-50" dirty="0">
                          <a:solidFill>
                            <a:srgbClr val="702FA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11">
            <a:extLst>
              <a:ext uri="{FF2B5EF4-FFF2-40B4-BE49-F238E27FC236}">
                <a16:creationId xmlns:a16="http://schemas.microsoft.com/office/drawing/2014/main" id="{9CDC6D96-0402-971F-F2E2-A16646E11FD0}"/>
              </a:ext>
            </a:extLst>
          </p:cNvPr>
          <p:cNvSpPr txBox="1"/>
          <p:nvPr/>
        </p:nvSpPr>
        <p:spPr>
          <a:xfrm>
            <a:off x="1006893" y="1068688"/>
            <a:ext cx="5773420" cy="20161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85"/>
              </a:spcBef>
            </a:pPr>
            <a:r>
              <a:rPr sz="1600" b="1" i="1" dirty="0">
                <a:solidFill>
                  <a:srgbClr val="BF0000"/>
                </a:solidFill>
                <a:latin typeface="Calibri"/>
                <a:cs typeface="Calibri"/>
              </a:rPr>
              <a:t>Correcting</a:t>
            </a:r>
            <a:r>
              <a:rPr sz="1600" b="1" i="1" spc="-5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BF0000"/>
                </a:solidFill>
                <a:latin typeface="Calibri"/>
                <a:cs typeface="Calibri"/>
              </a:rPr>
              <a:t>Error</a:t>
            </a:r>
            <a:endParaRPr sz="1600" dirty="0">
              <a:latin typeface="Calibri"/>
              <a:cs typeface="Calibri"/>
            </a:endParaRPr>
          </a:p>
          <a:p>
            <a:pPr marL="1528445">
              <a:lnSpc>
                <a:spcPct val="100000"/>
              </a:lnSpc>
              <a:spcBef>
                <a:spcPts val="790"/>
              </a:spcBef>
              <a:tabLst>
                <a:tab pos="1883410" algn="l"/>
                <a:tab pos="2240280" algn="l"/>
              </a:tabLst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P4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P2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P1</a:t>
            </a:r>
            <a:endParaRPr sz="1400" dirty="0">
              <a:latin typeface="Calibri"/>
              <a:cs typeface="Calibri"/>
            </a:endParaRPr>
          </a:p>
          <a:p>
            <a:pPr marL="165100" indent="-1143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165100" algn="l"/>
              </a:tabLst>
            </a:pP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=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Font typeface="Arial MT"/>
              <a:buChar char="•"/>
            </a:pPr>
            <a:endParaRPr sz="1600" dirty="0">
              <a:latin typeface="Calibri"/>
              <a:cs typeface="Calibri"/>
            </a:endParaRPr>
          </a:p>
          <a:p>
            <a:pPr marL="164465" marR="43180" indent="-114300">
              <a:lnSpc>
                <a:spcPts val="1730"/>
              </a:lnSpc>
              <a:buFont typeface="Arial MT"/>
              <a:buChar char="•"/>
              <a:tabLst>
                <a:tab pos="164465" algn="l"/>
              </a:tabLst>
            </a:pPr>
            <a:r>
              <a:rPr sz="1600" dirty="0">
                <a:latin typeface="Calibri"/>
                <a:cs typeface="Calibri"/>
              </a:rPr>
              <a:t>Decimal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6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600" spc="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575" baseline="26455" dirty="0">
                <a:latin typeface="Calibri"/>
                <a:cs typeface="Calibri"/>
              </a:rPr>
              <a:t>th</a:t>
            </a:r>
            <a:r>
              <a:rPr sz="1575" spc="345" baseline="264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bit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error.</a:t>
            </a:r>
            <a:endParaRPr sz="1600" dirty="0">
              <a:latin typeface="Calibri"/>
              <a:cs typeface="Calibri"/>
            </a:endParaRPr>
          </a:p>
          <a:p>
            <a:pPr marL="165100" indent="-1143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65100" algn="l"/>
              </a:tabLst>
            </a:pPr>
            <a:r>
              <a:rPr sz="1600" dirty="0">
                <a:latin typeface="Calibri"/>
                <a:cs typeface="Calibri"/>
              </a:rPr>
              <a:t>So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write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 </a:t>
            </a:r>
            <a:r>
              <a:rPr sz="1600" dirty="0">
                <a:latin typeface="Calibri"/>
                <a:cs typeface="Calibri"/>
              </a:rPr>
              <a:t>word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inverting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575" baseline="26455" dirty="0">
                <a:latin typeface="Calibri"/>
                <a:cs typeface="Calibri"/>
              </a:rPr>
              <a:t>th</a:t>
            </a:r>
            <a:r>
              <a:rPr sz="1575" spc="127" baseline="264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bit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7466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60830-62ED-4AD1-019F-60E9EB6B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" y="635429"/>
            <a:ext cx="10833316" cy="6137328"/>
          </a:xfrm>
        </p:spPr>
        <p:txBody>
          <a:bodyPr>
            <a:normAutofit fontScale="92500"/>
          </a:bodyPr>
          <a:lstStyle/>
          <a:p>
            <a:pPr algn="l"/>
            <a:r>
              <a:rPr lang="en-IN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CRC error-detecting scheme, choose the generator polynomial as x</a:t>
            </a:r>
            <a:r>
              <a:rPr lang="en-IN" b="0" i="0" baseline="30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+ x + 1 (10011). Encode the 11-bit sequence: 10010011011</a:t>
            </a:r>
          </a:p>
          <a:p>
            <a:pPr algn="l"/>
            <a:r>
              <a:rPr lang="en-IN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Given a CRC generator x</a:t>
            </a:r>
            <a:r>
              <a:rPr lang="en-IN" b="0" i="0" baseline="30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+ x + 1 (10011), calculate the CRC code for the message 10010011011. Show the steps clearly and derive the solution.</a:t>
            </a:r>
          </a:p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Justify answer using CRC for divisor: 1101 dividend: 100100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bit to be transmitted is 1011010, to be solved using the hamming code method.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 a binary word 11001 into the even parity hamming code.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us assume the even parity hamming code 111001101 is transmitted and the received code is 110001101). Now from the received code, let us detect and correct the error.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11001001 is to be transmitted using CRC polynomial x*+1 to protect it from errors. Find the  message that should be transmitted 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even parity Hamming code word for a data byte 1001101.</a:t>
            </a:r>
          </a:p>
          <a:p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effectLst/>
              <a:latin typeface="Times New Roman" panose="02020603050405020304" pitchFamily="18" charset="0"/>
            </a:endParaRPr>
          </a:p>
          <a:p>
            <a:pPr algn="l"/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8"/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8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968AE025085A4381B5FE55A4B7B3DB" ma:contentTypeVersion="3" ma:contentTypeDescription="Create a new document." ma:contentTypeScope="" ma:versionID="bd89c5ba67f969997ddc75c00e52ceb6">
  <xsd:schema xmlns:xsd="http://www.w3.org/2001/XMLSchema" xmlns:xs="http://www.w3.org/2001/XMLSchema" xmlns:p="http://schemas.microsoft.com/office/2006/metadata/properties" xmlns:ns2="9491888e-085e-4340-beca-492653a9b978" targetNamespace="http://schemas.microsoft.com/office/2006/metadata/properties" ma:root="true" ma:fieldsID="9456090e7249331ed3f7fa7a4e50cd65" ns2:_="">
    <xsd:import namespace="9491888e-085e-4340-beca-492653a9b9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1888e-085e-4340-beca-492653a9b9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2EE43C-0300-42B9-894A-17F29C85E01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050D2C2-FBC9-495F-AF6C-172E11D1578D}"/>
</file>

<file path=customXml/itemProps3.xml><?xml version="1.0" encoding="utf-8"?>
<ds:datastoreItem xmlns:ds="http://schemas.openxmlformats.org/officeDocument/2006/customXml" ds:itemID="{4067573D-19BF-46B6-8FAB-F7B9B93766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737</TotalTime>
  <Words>4075</Words>
  <Application>Microsoft Macintosh PowerPoint</Application>
  <PresentationFormat>Widescreen</PresentationFormat>
  <Paragraphs>389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9" baseType="lpstr">
      <vt:lpstr>-apple-system</vt:lpstr>
      <vt:lpstr>Aptos</vt:lpstr>
      <vt:lpstr>Aptos Display</vt:lpstr>
      <vt:lpstr>Arial</vt:lpstr>
      <vt:lpstr>Arial MT</vt:lpstr>
      <vt:lpstr>Arimo</vt:lpstr>
      <vt:lpstr>Calibri</vt:lpstr>
      <vt:lpstr>Cambria</vt:lpstr>
      <vt:lpstr>Helvetica</vt:lpstr>
      <vt:lpstr>Open Sans</vt:lpstr>
      <vt:lpstr>Times New Roman</vt:lpstr>
      <vt:lpstr>Wingdings</vt:lpstr>
      <vt:lpstr>office theme</vt:lpstr>
      <vt:lpstr>Computer Networks</vt:lpstr>
      <vt:lpstr>Data Link Layer Design Issues </vt:lpstr>
      <vt:lpstr>Functions of the Data Link Layer </vt:lpstr>
      <vt:lpstr>Services Provided to Network Layer</vt:lpstr>
      <vt:lpstr>Types of services provided to the Network Layer </vt:lpstr>
      <vt:lpstr>Unacknowledged Connectionless service </vt:lpstr>
      <vt:lpstr>Acknowledged Connectionless service </vt:lpstr>
      <vt:lpstr>Acknowledged Connection-oriented service </vt:lpstr>
      <vt:lpstr>Framing</vt:lpstr>
      <vt:lpstr>PowerPoint Presentation</vt:lpstr>
      <vt:lpstr>Byte Count </vt:lpstr>
      <vt:lpstr>Problem with byte count </vt:lpstr>
      <vt:lpstr>Framing with byte stuffing </vt:lpstr>
      <vt:lpstr>Problem in byte stuffing</vt:lpstr>
      <vt:lpstr>Framing with bit stuffing </vt:lpstr>
      <vt:lpstr>PowerPoint Presentation</vt:lpstr>
      <vt:lpstr>PowerPoint Presentation</vt:lpstr>
      <vt:lpstr>Bit stuffing</vt:lpstr>
      <vt:lpstr>Physical Layer Coding Violations </vt:lpstr>
      <vt:lpstr>PowerPoint Presentation</vt:lpstr>
      <vt:lpstr>PowerPoint Presentation</vt:lpstr>
      <vt:lpstr>Error Control </vt:lpstr>
      <vt:lpstr>Error Detection and Correction </vt:lpstr>
      <vt:lpstr>Error detecting code </vt:lpstr>
      <vt:lpstr>Type of Errors</vt:lpstr>
      <vt:lpstr>Type of Errors</vt:lpstr>
      <vt:lpstr>Type of Errors</vt:lpstr>
      <vt:lpstr>Type of Errors</vt:lpstr>
      <vt:lpstr>PowerPoint Presentation</vt:lpstr>
      <vt:lpstr>Error detection</vt:lpstr>
      <vt:lpstr>PowerPoint Presentation</vt:lpstr>
      <vt:lpstr>Parity </vt:lpstr>
      <vt:lpstr>Parity Examples - Using Even Parity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Detection -examples</vt:lpstr>
      <vt:lpstr>Detection – examples</vt:lpstr>
      <vt:lpstr>Detection – examples</vt:lpstr>
      <vt:lpstr>PowerPoint Presentation</vt:lpstr>
      <vt:lpstr>PowerPoint Presentation</vt:lpstr>
      <vt:lpstr>Two –Dimensional Parity Check</vt:lpstr>
      <vt:lpstr>PowerPoint Presentation</vt:lpstr>
      <vt:lpstr>PowerPoint Presentation</vt:lpstr>
      <vt:lpstr>Detection - example</vt:lpstr>
      <vt:lpstr>Detection</vt:lpstr>
      <vt:lpstr>Checksum</vt:lpstr>
      <vt:lpstr>PowerPoint Presentation</vt:lpstr>
      <vt:lpstr>Cyclic Redundancy Check (CRC)</vt:lpstr>
      <vt:lpstr>PowerPoint Presentation</vt:lpstr>
      <vt:lpstr>PowerPoint Presentation</vt:lpstr>
      <vt:lpstr>Generator</vt:lpstr>
      <vt:lpstr>The Technique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Detection</vt:lpstr>
      <vt:lpstr>Detection(cont’d)</vt:lpstr>
      <vt:lpstr>Detection(cont’d)</vt:lpstr>
      <vt:lpstr>Detection(cont’d)</vt:lpstr>
      <vt:lpstr>Using Polynomials</vt:lpstr>
      <vt:lpstr>Figure 10.21 A polynomial to represent a binary word</vt:lpstr>
      <vt:lpstr>PowerPoint Presentation</vt:lpstr>
      <vt:lpstr>Application</vt:lpstr>
      <vt:lpstr>PowerPoint Presentation</vt:lpstr>
      <vt:lpstr>PowerPoint Presentation</vt:lpstr>
      <vt:lpstr>PowerPoint Presentation</vt:lpstr>
      <vt:lpstr>     Hamming Codes Hamming codes are error-correcting codes These codes were originally designed with 𝒅𝒎𝒊𝒏= 3, which means that they can detect up to two errors or correct one single error. relationship between n and k in a Hamming code. We need to choose an integer m &gt;= 3. The values of n and k are then calculated from mas n = 2m -1 and k = n - m. The number of check bits r =m. For example, if m =3, then n =7 and k = 4. This is a Hamming code C(7, 4) with 𝒅𝒎𝒊𝒏 =3.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Dr. Anupama K N</cp:lastModifiedBy>
  <cp:revision>472</cp:revision>
  <dcterms:created xsi:type="dcterms:W3CDTF">2024-02-22T05:13:03Z</dcterms:created>
  <dcterms:modified xsi:type="dcterms:W3CDTF">2026-02-19T16:41:59Z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0x01010082968AE025085A4381B5FE55A4B7B3DB</vt:lpwstr>
  </property>
</Properties>
</file>