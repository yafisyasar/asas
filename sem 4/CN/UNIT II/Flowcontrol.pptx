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49"/>
  </p:handoutMasterIdLst>
  <p:sldIdLst>
    <p:sldId id="257" r:id="rId2"/>
    <p:sldId id="282" r:id="rId3"/>
    <p:sldId id="331" r:id="rId4"/>
    <p:sldId id="332" r:id="rId5"/>
    <p:sldId id="258" r:id="rId6"/>
    <p:sldId id="260" r:id="rId7"/>
    <p:sldId id="343" r:id="rId8"/>
    <p:sldId id="344" r:id="rId9"/>
    <p:sldId id="345" r:id="rId10"/>
    <p:sldId id="346" r:id="rId11"/>
    <p:sldId id="347" r:id="rId12"/>
    <p:sldId id="263" r:id="rId13"/>
    <p:sldId id="264" r:id="rId14"/>
    <p:sldId id="265" r:id="rId15"/>
    <p:sldId id="266" r:id="rId16"/>
    <p:sldId id="267" r:id="rId17"/>
    <p:sldId id="268" r:id="rId18"/>
    <p:sldId id="348" r:id="rId19"/>
    <p:sldId id="333" r:id="rId20"/>
    <p:sldId id="334" r:id="rId21"/>
    <p:sldId id="341" r:id="rId22"/>
    <p:sldId id="335" r:id="rId23"/>
    <p:sldId id="336" r:id="rId24"/>
    <p:sldId id="337" r:id="rId25"/>
    <p:sldId id="269" r:id="rId26"/>
    <p:sldId id="270" r:id="rId27"/>
    <p:sldId id="271" r:id="rId28"/>
    <p:sldId id="272" r:id="rId29"/>
    <p:sldId id="273" r:id="rId30"/>
    <p:sldId id="280" r:id="rId31"/>
    <p:sldId id="342" r:id="rId32"/>
    <p:sldId id="349" r:id="rId33"/>
    <p:sldId id="350" r:id="rId34"/>
    <p:sldId id="351" r:id="rId35"/>
    <p:sldId id="274" r:id="rId36"/>
    <p:sldId id="275" r:id="rId37"/>
    <p:sldId id="281" r:id="rId38"/>
    <p:sldId id="352" r:id="rId39"/>
    <p:sldId id="338" r:id="rId40"/>
    <p:sldId id="339" r:id="rId41"/>
    <p:sldId id="340" r:id="rId42"/>
    <p:sldId id="354" r:id="rId43"/>
    <p:sldId id="355" r:id="rId44"/>
    <p:sldId id="356" r:id="rId45"/>
    <p:sldId id="357" r:id="rId46"/>
    <p:sldId id="277" r:id="rId47"/>
    <p:sldId id="278" r:id="rId48"/>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760"/>
  </p:normalViewPr>
  <p:slideViewPr>
    <p:cSldViewPr>
      <p:cViewPr varScale="1">
        <p:scale>
          <a:sx n="113" d="100"/>
          <a:sy n="113" d="100"/>
        </p:scale>
        <p:origin x="1528"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8277BE-9BE9-A045-2D7B-31AB26522EA4}"/>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0975F117-AF87-8058-8947-8AEEC7E62ED4}"/>
              </a:ext>
            </a:extLst>
          </p:cNvPr>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FE9EE581-86FD-304D-8D73-1280D981B687}" type="datetimeFigureOut">
              <a:rPr lang="en-US"/>
              <a:pPr>
                <a:defRPr/>
              </a:pPr>
              <a:t>3/6/25</a:t>
            </a:fld>
            <a:endParaRPr lang="en-US"/>
          </a:p>
        </p:txBody>
      </p:sp>
      <p:sp>
        <p:nvSpPr>
          <p:cNvPr id="4" name="Footer Placeholder 3">
            <a:extLst>
              <a:ext uri="{FF2B5EF4-FFF2-40B4-BE49-F238E27FC236}">
                <a16:creationId xmlns:a16="http://schemas.microsoft.com/office/drawing/2014/main" id="{D887576D-9BF0-E0FE-B158-8DC1A9A4F0E6}"/>
              </a:ext>
            </a:extLst>
          </p:cNvPr>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E75847DD-3245-9B2F-D043-85C19ECA6850}"/>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a:defRPr sz="1200">
                <a:latin typeface="Calibri" panose="020F0502020204030204" pitchFamily="34" charset="0"/>
              </a:defRPr>
            </a:lvl1pPr>
          </a:lstStyle>
          <a:p>
            <a:fld id="{21C04A9E-0B17-E740-BB87-9C174C5EEA66}"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2EB236CB-27F3-76FF-8180-2A340A38205B}"/>
              </a:ext>
            </a:extLst>
          </p:cNvPr>
          <p:cNvSpPr>
            <a:spLocks noGrp="1"/>
          </p:cNvSpPr>
          <p:nvPr>
            <p:ph type="dt" sz="half" idx="10"/>
          </p:nvPr>
        </p:nvSpPr>
        <p:spPr/>
        <p:txBody>
          <a:bodyPr/>
          <a:lstStyle>
            <a:lvl1pPr>
              <a:defRPr/>
            </a:lvl1pPr>
          </a:lstStyle>
          <a:p>
            <a:pPr>
              <a:defRPr/>
            </a:pPr>
            <a:fld id="{DAC959BA-8D7D-C544-BA5B-CD63852AE6F6}" type="datetimeFigureOut">
              <a:rPr lang="en-US"/>
              <a:pPr>
                <a:defRPr/>
              </a:pPr>
              <a:t>3/6/25</a:t>
            </a:fld>
            <a:endParaRPr lang="en-US"/>
          </a:p>
        </p:txBody>
      </p:sp>
      <p:sp>
        <p:nvSpPr>
          <p:cNvPr id="5" name="Footer Placeholder 4">
            <a:extLst>
              <a:ext uri="{FF2B5EF4-FFF2-40B4-BE49-F238E27FC236}">
                <a16:creationId xmlns:a16="http://schemas.microsoft.com/office/drawing/2014/main" id="{7FFE3A01-E0BD-7DAF-C5FB-CF9C0C2CEA6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D77AC9-2257-54AB-B3CF-7F8B17F09CE1}"/>
              </a:ext>
            </a:extLst>
          </p:cNvPr>
          <p:cNvSpPr>
            <a:spLocks noGrp="1"/>
          </p:cNvSpPr>
          <p:nvPr>
            <p:ph type="sldNum" sz="quarter" idx="12"/>
          </p:nvPr>
        </p:nvSpPr>
        <p:spPr/>
        <p:txBody>
          <a:bodyPr/>
          <a:lstStyle>
            <a:lvl1pPr>
              <a:defRPr/>
            </a:lvl1pPr>
          </a:lstStyle>
          <a:p>
            <a:fld id="{A5A89E65-70A6-244B-9B1D-13523590603B}" type="slidenum">
              <a:rPr lang="en-US" altLang="en-US"/>
              <a:pPr/>
              <a:t>‹#›</a:t>
            </a:fld>
            <a:endParaRPr lang="en-US" altLang="en-US"/>
          </a:p>
        </p:txBody>
      </p:sp>
    </p:spTree>
    <p:extLst>
      <p:ext uri="{BB962C8B-B14F-4D97-AF65-F5344CB8AC3E}">
        <p14:creationId xmlns:p14="http://schemas.microsoft.com/office/powerpoint/2010/main" val="349536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CD018A-75C3-8722-9DE5-1BC12FFC61C4}"/>
              </a:ext>
            </a:extLst>
          </p:cNvPr>
          <p:cNvSpPr>
            <a:spLocks noGrp="1"/>
          </p:cNvSpPr>
          <p:nvPr>
            <p:ph type="dt" sz="half" idx="10"/>
          </p:nvPr>
        </p:nvSpPr>
        <p:spPr/>
        <p:txBody>
          <a:bodyPr/>
          <a:lstStyle>
            <a:lvl1pPr>
              <a:defRPr/>
            </a:lvl1pPr>
          </a:lstStyle>
          <a:p>
            <a:pPr>
              <a:defRPr/>
            </a:pPr>
            <a:fld id="{2E73D3B9-8803-194A-9B79-229CE4D50B1A}" type="datetimeFigureOut">
              <a:rPr lang="en-US"/>
              <a:pPr>
                <a:defRPr/>
              </a:pPr>
              <a:t>3/6/25</a:t>
            </a:fld>
            <a:endParaRPr lang="en-US"/>
          </a:p>
        </p:txBody>
      </p:sp>
      <p:sp>
        <p:nvSpPr>
          <p:cNvPr id="5" name="Footer Placeholder 4">
            <a:extLst>
              <a:ext uri="{FF2B5EF4-FFF2-40B4-BE49-F238E27FC236}">
                <a16:creationId xmlns:a16="http://schemas.microsoft.com/office/drawing/2014/main" id="{D7908A1A-12DA-E6A1-4A70-742B94C01B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2BD227A-57B8-C3CB-9D46-C88EC326667A}"/>
              </a:ext>
            </a:extLst>
          </p:cNvPr>
          <p:cNvSpPr>
            <a:spLocks noGrp="1"/>
          </p:cNvSpPr>
          <p:nvPr>
            <p:ph type="sldNum" sz="quarter" idx="12"/>
          </p:nvPr>
        </p:nvSpPr>
        <p:spPr/>
        <p:txBody>
          <a:bodyPr/>
          <a:lstStyle>
            <a:lvl1pPr>
              <a:defRPr/>
            </a:lvl1pPr>
          </a:lstStyle>
          <a:p>
            <a:fld id="{EB5FC016-3019-BE4E-85E0-57F638798EAE}" type="slidenum">
              <a:rPr lang="en-US" altLang="en-US"/>
              <a:pPr/>
              <a:t>‹#›</a:t>
            </a:fld>
            <a:endParaRPr lang="en-US" altLang="en-US"/>
          </a:p>
        </p:txBody>
      </p:sp>
    </p:spTree>
    <p:extLst>
      <p:ext uri="{BB962C8B-B14F-4D97-AF65-F5344CB8AC3E}">
        <p14:creationId xmlns:p14="http://schemas.microsoft.com/office/powerpoint/2010/main" val="4018855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413E2A-9461-9A2E-6B73-EBEFA916D547}"/>
              </a:ext>
            </a:extLst>
          </p:cNvPr>
          <p:cNvSpPr>
            <a:spLocks noGrp="1"/>
          </p:cNvSpPr>
          <p:nvPr>
            <p:ph type="dt" sz="half" idx="10"/>
          </p:nvPr>
        </p:nvSpPr>
        <p:spPr/>
        <p:txBody>
          <a:bodyPr/>
          <a:lstStyle>
            <a:lvl1pPr>
              <a:defRPr/>
            </a:lvl1pPr>
          </a:lstStyle>
          <a:p>
            <a:pPr>
              <a:defRPr/>
            </a:pPr>
            <a:fld id="{84F939D4-DAD9-A04B-91C1-6A709B3B9DE1}" type="datetimeFigureOut">
              <a:rPr lang="en-US"/>
              <a:pPr>
                <a:defRPr/>
              </a:pPr>
              <a:t>3/6/25</a:t>
            </a:fld>
            <a:endParaRPr lang="en-US"/>
          </a:p>
        </p:txBody>
      </p:sp>
      <p:sp>
        <p:nvSpPr>
          <p:cNvPr id="5" name="Footer Placeholder 4">
            <a:extLst>
              <a:ext uri="{FF2B5EF4-FFF2-40B4-BE49-F238E27FC236}">
                <a16:creationId xmlns:a16="http://schemas.microsoft.com/office/drawing/2014/main" id="{DE5B84CE-C58B-6497-E819-078B8CB26F3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EA07C12-0F6E-8AC5-E475-A2E824713122}"/>
              </a:ext>
            </a:extLst>
          </p:cNvPr>
          <p:cNvSpPr>
            <a:spLocks noGrp="1"/>
          </p:cNvSpPr>
          <p:nvPr>
            <p:ph type="sldNum" sz="quarter" idx="12"/>
          </p:nvPr>
        </p:nvSpPr>
        <p:spPr/>
        <p:txBody>
          <a:bodyPr/>
          <a:lstStyle>
            <a:lvl1pPr>
              <a:defRPr/>
            </a:lvl1pPr>
          </a:lstStyle>
          <a:p>
            <a:fld id="{611839FA-9C0B-7741-9BE5-73A678FD6AD0}" type="slidenum">
              <a:rPr lang="en-US" altLang="en-US"/>
              <a:pPr/>
              <a:t>‹#›</a:t>
            </a:fld>
            <a:endParaRPr lang="en-US" altLang="en-US"/>
          </a:p>
        </p:txBody>
      </p:sp>
    </p:spTree>
    <p:extLst>
      <p:ext uri="{BB962C8B-B14F-4D97-AF65-F5344CB8AC3E}">
        <p14:creationId xmlns:p14="http://schemas.microsoft.com/office/powerpoint/2010/main" val="2561501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36D1189-0705-A2DC-F432-9B3078B7B963}"/>
              </a:ext>
            </a:extLst>
          </p:cNvPr>
          <p:cNvSpPr>
            <a:spLocks noGrp="1"/>
          </p:cNvSpPr>
          <p:nvPr>
            <p:ph type="dt" sz="half" idx="10"/>
          </p:nvPr>
        </p:nvSpPr>
        <p:spPr/>
        <p:txBody>
          <a:bodyPr/>
          <a:lstStyle>
            <a:lvl1pPr>
              <a:defRPr/>
            </a:lvl1pPr>
          </a:lstStyle>
          <a:p>
            <a:pPr>
              <a:defRPr/>
            </a:pPr>
            <a:fld id="{DD3A2AFB-F2BB-0242-8B49-A530DBA5199A}" type="datetimeFigureOut">
              <a:rPr lang="en-US"/>
              <a:pPr>
                <a:defRPr/>
              </a:pPr>
              <a:t>3/6/25</a:t>
            </a:fld>
            <a:endParaRPr lang="en-US"/>
          </a:p>
        </p:txBody>
      </p:sp>
      <p:sp>
        <p:nvSpPr>
          <p:cNvPr id="6" name="Footer Placeholder 4">
            <a:extLst>
              <a:ext uri="{FF2B5EF4-FFF2-40B4-BE49-F238E27FC236}">
                <a16:creationId xmlns:a16="http://schemas.microsoft.com/office/drawing/2014/main" id="{E7733198-E3CC-6D64-A179-998B766A244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74A8A42-BB1F-F750-5AC3-5124A800D5F0}"/>
              </a:ext>
            </a:extLst>
          </p:cNvPr>
          <p:cNvSpPr>
            <a:spLocks noGrp="1"/>
          </p:cNvSpPr>
          <p:nvPr>
            <p:ph type="sldNum" sz="quarter" idx="12"/>
          </p:nvPr>
        </p:nvSpPr>
        <p:spPr/>
        <p:txBody>
          <a:bodyPr/>
          <a:lstStyle>
            <a:lvl1pPr>
              <a:defRPr/>
            </a:lvl1pPr>
          </a:lstStyle>
          <a:p>
            <a:fld id="{99284AC7-B2FE-0A44-9783-3D0BCDCCD77C}" type="slidenum">
              <a:rPr lang="en-US" altLang="en-US"/>
              <a:pPr/>
              <a:t>‹#›</a:t>
            </a:fld>
            <a:endParaRPr lang="en-US" altLang="en-US"/>
          </a:p>
        </p:txBody>
      </p:sp>
    </p:spTree>
    <p:extLst>
      <p:ext uri="{BB962C8B-B14F-4D97-AF65-F5344CB8AC3E}">
        <p14:creationId xmlns:p14="http://schemas.microsoft.com/office/powerpoint/2010/main" val="482595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680524D-26E8-AEDB-8B73-FEBE52ACF479}"/>
              </a:ext>
            </a:extLst>
          </p:cNvPr>
          <p:cNvSpPr>
            <a:spLocks noGrp="1"/>
          </p:cNvSpPr>
          <p:nvPr>
            <p:ph type="dt" sz="half" idx="10"/>
          </p:nvPr>
        </p:nvSpPr>
        <p:spPr/>
        <p:txBody>
          <a:bodyPr/>
          <a:lstStyle>
            <a:lvl1pPr>
              <a:defRPr/>
            </a:lvl1pPr>
          </a:lstStyle>
          <a:p>
            <a:pPr>
              <a:defRPr/>
            </a:pPr>
            <a:fld id="{F23213CD-44A5-9A43-A3C8-3C8771D3E709}" type="datetimeFigureOut">
              <a:rPr lang="en-US"/>
              <a:pPr>
                <a:defRPr/>
              </a:pPr>
              <a:t>3/6/25</a:t>
            </a:fld>
            <a:endParaRPr lang="en-US"/>
          </a:p>
        </p:txBody>
      </p:sp>
      <p:sp>
        <p:nvSpPr>
          <p:cNvPr id="8" name="Footer Placeholder 4">
            <a:extLst>
              <a:ext uri="{FF2B5EF4-FFF2-40B4-BE49-F238E27FC236}">
                <a16:creationId xmlns:a16="http://schemas.microsoft.com/office/drawing/2014/main" id="{C21A757E-B394-5545-8111-139048DE18C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5FADCFC-6BE0-1388-8BDC-C2CEB85E9035}"/>
              </a:ext>
            </a:extLst>
          </p:cNvPr>
          <p:cNvSpPr>
            <a:spLocks noGrp="1"/>
          </p:cNvSpPr>
          <p:nvPr>
            <p:ph type="sldNum" sz="quarter" idx="12"/>
          </p:nvPr>
        </p:nvSpPr>
        <p:spPr/>
        <p:txBody>
          <a:bodyPr/>
          <a:lstStyle>
            <a:lvl1pPr>
              <a:defRPr/>
            </a:lvl1pPr>
          </a:lstStyle>
          <a:p>
            <a:fld id="{943E48E8-0527-C74F-8C76-C1DC80DD7CC1}" type="slidenum">
              <a:rPr lang="en-US" altLang="en-US"/>
              <a:pPr/>
              <a:t>‹#›</a:t>
            </a:fld>
            <a:endParaRPr lang="en-US" altLang="en-US"/>
          </a:p>
        </p:txBody>
      </p:sp>
    </p:spTree>
    <p:extLst>
      <p:ext uri="{BB962C8B-B14F-4D97-AF65-F5344CB8AC3E}">
        <p14:creationId xmlns:p14="http://schemas.microsoft.com/office/powerpoint/2010/main" val="188937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7819D9C-BFB5-7D37-75E3-E9BF99CE38F2}"/>
              </a:ext>
            </a:extLst>
          </p:cNvPr>
          <p:cNvSpPr>
            <a:spLocks noGrp="1"/>
          </p:cNvSpPr>
          <p:nvPr>
            <p:ph type="dt" sz="half" idx="10"/>
          </p:nvPr>
        </p:nvSpPr>
        <p:spPr/>
        <p:txBody>
          <a:bodyPr/>
          <a:lstStyle>
            <a:lvl1pPr>
              <a:defRPr/>
            </a:lvl1pPr>
          </a:lstStyle>
          <a:p>
            <a:pPr>
              <a:defRPr/>
            </a:pPr>
            <a:fld id="{6FA83C05-9170-CE42-A77A-6711060562EC}" type="datetimeFigureOut">
              <a:rPr lang="en-US"/>
              <a:pPr>
                <a:defRPr/>
              </a:pPr>
              <a:t>3/6/25</a:t>
            </a:fld>
            <a:endParaRPr lang="en-US"/>
          </a:p>
        </p:txBody>
      </p:sp>
      <p:sp>
        <p:nvSpPr>
          <p:cNvPr id="4" name="Footer Placeholder 4">
            <a:extLst>
              <a:ext uri="{FF2B5EF4-FFF2-40B4-BE49-F238E27FC236}">
                <a16:creationId xmlns:a16="http://schemas.microsoft.com/office/drawing/2014/main" id="{77CF3738-CF03-0B1D-55B8-778B91C7185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F7F195F-3003-3994-133F-001B2E5B6C33}"/>
              </a:ext>
            </a:extLst>
          </p:cNvPr>
          <p:cNvSpPr>
            <a:spLocks noGrp="1"/>
          </p:cNvSpPr>
          <p:nvPr>
            <p:ph type="sldNum" sz="quarter" idx="12"/>
          </p:nvPr>
        </p:nvSpPr>
        <p:spPr/>
        <p:txBody>
          <a:bodyPr/>
          <a:lstStyle>
            <a:lvl1pPr>
              <a:defRPr/>
            </a:lvl1pPr>
          </a:lstStyle>
          <a:p>
            <a:fld id="{0BF3007B-ACCF-5D4F-B4AA-975004AE7EE7}" type="slidenum">
              <a:rPr lang="en-US" altLang="en-US"/>
              <a:pPr/>
              <a:t>‹#›</a:t>
            </a:fld>
            <a:endParaRPr lang="en-US" altLang="en-US"/>
          </a:p>
        </p:txBody>
      </p:sp>
    </p:spTree>
    <p:extLst>
      <p:ext uri="{BB962C8B-B14F-4D97-AF65-F5344CB8AC3E}">
        <p14:creationId xmlns:p14="http://schemas.microsoft.com/office/powerpoint/2010/main" val="1333352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CF4CEBC-9E0C-F857-6576-0706CCB6C80F}"/>
              </a:ext>
            </a:extLst>
          </p:cNvPr>
          <p:cNvSpPr>
            <a:spLocks noGrp="1"/>
          </p:cNvSpPr>
          <p:nvPr>
            <p:ph type="dt" sz="half" idx="10"/>
          </p:nvPr>
        </p:nvSpPr>
        <p:spPr/>
        <p:txBody>
          <a:bodyPr/>
          <a:lstStyle>
            <a:lvl1pPr>
              <a:defRPr/>
            </a:lvl1pPr>
          </a:lstStyle>
          <a:p>
            <a:pPr>
              <a:defRPr/>
            </a:pPr>
            <a:fld id="{984235E4-61C4-CF4F-99B5-41568DAE538B}" type="datetimeFigureOut">
              <a:rPr lang="en-US"/>
              <a:pPr>
                <a:defRPr/>
              </a:pPr>
              <a:t>3/6/25</a:t>
            </a:fld>
            <a:endParaRPr lang="en-US"/>
          </a:p>
        </p:txBody>
      </p:sp>
      <p:sp>
        <p:nvSpPr>
          <p:cNvPr id="3" name="Footer Placeholder 4">
            <a:extLst>
              <a:ext uri="{FF2B5EF4-FFF2-40B4-BE49-F238E27FC236}">
                <a16:creationId xmlns:a16="http://schemas.microsoft.com/office/drawing/2014/main" id="{58DEDD86-4BF3-733C-17E8-BC87DA9F00F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469E218A-4E43-4E05-87CF-1E0AA0EA51A9}"/>
              </a:ext>
            </a:extLst>
          </p:cNvPr>
          <p:cNvSpPr>
            <a:spLocks noGrp="1"/>
          </p:cNvSpPr>
          <p:nvPr>
            <p:ph type="sldNum" sz="quarter" idx="12"/>
          </p:nvPr>
        </p:nvSpPr>
        <p:spPr/>
        <p:txBody>
          <a:bodyPr/>
          <a:lstStyle>
            <a:lvl1pPr>
              <a:defRPr/>
            </a:lvl1pPr>
          </a:lstStyle>
          <a:p>
            <a:fld id="{FCE45AD4-2240-B84D-8968-5AA5855C0A94}" type="slidenum">
              <a:rPr lang="en-US" altLang="en-US"/>
              <a:pPr/>
              <a:t>‹#›</a:t>
            </a:fld>
            <a:endParaRPr lang="en-US" altLang="en-US"/>
          </a:p>
        </p:txBody>
      </p:sp>
    </p:spTree>
    <p:extLst>
      <p:ext uri="{BB962C8B-B14F-4D97-AF65-F5344CB8AC3E}">
        <p14:creationId xmlns:p14="http://schemas.microsoft.com/office/powerpoint/2010/main" val="409230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CCA4421-85AF-C492-96B1-27D497EBE866}"/>
              </a:ext>
            </a:extLst>
          </p:cNvPr>
          <p:cNvSpPr>
            <a:spLocks noGrp="1"/>
          </p:cNvSpPr>
          <p:nvPr>
            <p:ph type="dt" sz="half" idx="10"/>
          </p:nvPr>
        </p:nvSpPr>
        <p:spPr/>
        <p:txBody>
          <a:bodyPr/>
          <a:lstStyle>
            <a:lvl1pPr>
              <a:defRPr/>
            </a:lvl1pPr>
          </a:lstStyle>
          <a:p>
            <a:pPr>
              <a:defRPr/>
            </a:pPr>
            <a:fld id="{6AC1B3AA-3418-4E4C-91D5-D0F2310EB5FB}" type="datetimeFigureOut">
              <a:rPr lang="en-US"/>
              <a:pPr>
                <a:defRPr/>
              </a:pPr>
              <a:t>3/6/25</a:t>
            </a:fld>
            <a:endParaRPr lang="en-US"/>
          </a:p>
        </p:txBody>
      </p:sp>
      <p:sp>
        <p:nvSpPr>
          <p:cNvPr id="6" name="Footer Placeholder 4">
            <a:extLst>
              <a:ext uri="{FF2B5EF4-FFF2-40B4-BE49-F238E27FC236}">
                <a16:creationId xmlns:a16="http://schemas.microsoft.com/office/drawing/2014/main" id="{C8FD03BF-8990-5748-E500-BEC73DEAD90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FA00252-ACC5-4098-B16F-2286D2C1FE45}"/>
              </a:ext>
            </a:extLst>
          </p:cNvPr>
          <p:cNvSpPr>
            <a:spLocks noGrp="1"/>
          </p:cNvSpPr>
          <p:nvPr>
            <p:ph type="sldNum" sz="quarter" idx="12"/>
          </p:nvPr>
        </p:nvSpPr>
        <p:spPr/>
        <p:txBody>
          <a:bodyPr/>
          <a:lstStyle>
            <a:lvl1pPr>
              <a:defRPr/>
            </a:lvl1pPr>
          </a:lstStyle>
          <a:p>
            <a:fld id="{0135C39E-23E2-1C42-B909-8AB8FD2ACE1B}" type="slidenum">
              <a:rPr lang="en-US" altLang="en-US"/>
              <a:pPr/>
              <a:t>‹#›</a:t>
            </a:fld>
            <a:endParaRPr lang="en-US" altLang="en-US"/>
          </a:p>
        </p:txBody>
      </p:sp>
    </p:spTree>
    <p:extLst>
      <p:ext uri="{BB962C8B-B14F-4D97-AF65-F5344CB8AC3E}">
        <p14:creationId xmlns:p14="http://schemas.microsoft.com/office/powerpoint/2010/main" val="86356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93BFE34-1730-6CD8-D92C-6DF28AB955C7}"/>
              </a:ext>
            </a:extLst>
          </p:cNvPr>
          <p:cNvSpPr>
            <a:spLocks noGrp="1"/>
          </p:cNvSpPr>
          <p:nvPr>
            <p:ph type="dt" sz="half" idx="10"/>
          </p:nvPr>
        </p:nvSpPr>
        <p:spPr/>
        <p:txBody>
          <a:bodyPr/>
          <a:lstStyle>
            <a:lvl1pPr>
              <a:defRPr/>
            </a:lvl1pPr>
          </a:lstStyle>
          <a:p>
            <a:pPr>
              <a:defRPr/>
            </a:pPr>
            <a:fld id="{359BCEE1-8A6F-BD4F-8B76-15CCEECE8634}" type="datetimeFigureOut">
              <a:rPr lang="en-US"/>
              <a:pPr>
                <a:defRPr/>
              </a:pPr>
              <a:t>3/6/25</a:t>
            </a:fld>
            <a:endParaRPr lang="en-US"/>
          </a:p>
        </p:txBody>
      </p:sp>
      <p:sp>
        <p:nvSpPr>
          <p:cNvPr id="6" name="Footer Placeholder 4">
            <a:extLst>
              <a:ext uri="{FF2B5EF4-FFF2-40B4-BE49-F238E27FC236}">
                <a16:creationId xmlns:a16="http://schemas.microsoft.com/office/drawing/2014/main" id="{7D5C1561-AA0A-605A-FCDE-FCCE424062AF}"/>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AF81451-7B96-9B09-1E6B-77C90A810323}"/>
              </a:ext>
            </a:extLst>
          </p:cNvPr>
          <p:cNvSpPr>
            <a:spLocks noGrp="1"/>
          </p:cNvSpPr>
          <p:nvPr>
            <p:ph type="sldNum" sz="quarter" idx="12"/>
          </p:nvPr>
        </p:nvSpPr>
        <p:spPr/>
        <p:txBody>
          <a:bodyPr/>
          <a:lstStyle>
            <a:lvl1pPr>
              <a:defRPr/>
            </a:lvl1pPr>
          </a:lstStyle>
          <a:p>
            <a:fld id="{B8D70E5C-E975-1F4B-B89C-0CE45F4C29DD}" type="slidenum">
              <a:rPr lang="en-US" altLang="en-US"/>
              <a:pPr/>
              <a:t>‹#›</a:t>
            </a:fld>
            <a:endParaRPr lang="en-US" altLang="en-US"/>
          </a:p>
        </p:txBody>
      </p:sp>
    </p:spTree>
    <p:extLst>
      <p:ext uri="{BB962C8B-B14F-4D97-AF65-F5344CB8AC3E}">
        <p14:creationId xmlns:p14="http://schemas.microsoft.com/office/powerpoint/2010/main" val="3988733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2A3833-C93C-4B24-287D-34068D1CB9A0}"/>
              </a:ext>
            </a:extLst>
          </p:cNvPr>
          <p:cNvSpPr>
            <a:spLocks noGrp="1"/>
          </p:cNvSpPr>
          <p:nvPr>
            <p:ph type="dt" sz="half" idx="10"/>
          </p:nvPr>
        </p:nvSpPr>
        <p:spPr/>
        <p:txBody>
          <a:bodyPr/>
          <a:lstStyle>
            <a:lvl1pPr>
              <a:defRPr/>
            </a:lvl1pPr>
          </a:lstStyle>
          <a:p>
            <a:pPr>
              <a:defRPr/>
            </a:pPr>
            <a:fld id="{58EAC33E-9D07-1E45-B1C1-419A7814E8BF}" type="datetimeFigureOut">
              <a:rPr lang="en-US"/>
              <a:pPr>
                <a:defRPr/>
              </a:pPr>
              <a:t>3/6/25</a:t>
            </a:fld>
            <a:endParaRPr lang="en-US"/>
          </a:p>
        </p:txBody>
      </p:sp>
      <p:sp>
        <p:nvSpPr>
          <p:cNvPr id="5" name="Footer Placeholder 4">
            <a:extLst>
              <a:ext uri="{FF2B5EF4-FFF2-40B4-BE49-F238E27FC236}">
                <a16:creationId xmlns:a16="http://schemas.microsoft.com/office/drawing/2014/main" id="{EE63ECEF-CF99-8DF0-E15A-59C24A45C92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9E83ADA-C375-4FC7-5877-1F213C0D98CC}"/>
              </a:ext>
            </a:extLst>
          </p:cNvPr>
          <p:cNvSpPr>
            <a:spLocks noGrp="1"/>
          </p:cNvSpPr>
          <p:nvPr>
            <p:ph type="sldNum" sz="quarter" idx="12"/>
          </p:nvPr>
        </p:nvSpPr>
        <p:spPr/>
        <p:txBody>
          <a:bodyPr/>
          <a:lstStyle>
            <a:lvl1pPr>
              <a:defRPr/>
            </a:lvl1pPr>
          </a:lstStyle>
          <a:p>
            <a:fld id="{CA42F015-11B7-3946-A43D-B1B9B67D5A80}" type="slidenum">
              <a:rPr lang="en-US" altLang="en-US"/>
              <a:pPr/>
              <a:t>‹#›</a:t>
            </a:fld>
            <a:endParaRPr lang="en-US" altLang="en-US"/>
          </a:p>
        </p:txBody>
      </p:sp>
    </p:spTree>
    <p:extLst>
      <p:ext uri="{BB962C8B-B14F-4D97-AF65-F5344CB8AC3E}">
        <p14:creationId xmlns:p14="http://schemas.microsoft.com/office/powerpoint/2010/main" val="1525901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59B5A-9285-FE84-2FCA-D478672795AF}"/>
              </a:ext>
            </a:extLst>
          </p:cNvPr>
          <p:cNvSpPr>
            <a:spLocks noGrp="1"/>
          </p:cNvSpPr>
          <p:nvPr>
            <p:ph type="dt" sz="half" idx="10"/>
          </p:nvPr>
        </p:nvSpPr>
        <p:spPr/>
        <p:txBody>
          <a:bodyPr/>
          <a:lstStyle>
            <a:lvl1pPr>
              <a:defRPr/>
            </a:lvl1pPr>
          </a:lstStyle>
          <a:p>
            <a:pPr>
              <a:defRPr/>
            </a:pPr>
            <a:fld id="{AED0FFFC-2C95-1E47-B98D-36613F36AFBF}" type="datetimeFigureOut">
              <a:rPr lang="en-US"/>
              <a:pPr>
                <a:defRPr/>
              </a:pPr>
              <a:t>3/6/25</a:t>
            </a:fld>
            <a:endParaRPr lang="en-US"/>
          </a:p>
        </p:txBody>
      </p:sp>
      <p:sp>
        <p:nvSpPr>
          <p:cNvPr id="5" name="Footer Placeholder 4">
            <a:extLst>
              <a:ext uri="{FF2B5EF4-FFF2-40B4-BE49-F238E27FC236}">
                <a16:creationId xmlns:a16="http://schemas.microsoft.com/office/drawing/2014/main" id="{B914E019-009C-AA82-1BCA-8BCC1AC58DE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7935643-D4BF-6789-0E2E-1791BFCA00AE}"/>
              </a:ext>
            </a:extLst>
          </p:cNvPr>
          <p:cNvSpPr>
            <a:spLocks noGrp="1"/>
          </p:cNvSpPr>
          <p:nvPr>
            <p:ph type="sldNum" sz="quarter" idx="12"/>
          </p:nvPr>
        </p:nvSpPr>
        <p:spPr/>
        <p:txBody>
          <a:bodyPr/>
          <a:lstStyle>
            <a:lvl1pPr>
              <a:defRPr/>
            </a:lvl1pPr>
          </a:lstStyle>
          <a:p>
            <a:fld id="{90D4464F-D2D0-8B47-9837-00BAF05E11E0}" type="slidenum">
              <a:rPr lang="en-US" altLang="en-US"/>
              <a:pPr/>
              <a:t>‹#›</a:t>
            </a:fld>
            <a:endParaRPr lang="en-US" altLang="en-US"/>
          </a:p>
        </p:txBody>
      </p:sp>
    </p:spTree>
    <p:extLst>
      <p:ext uri="{BB962C8B-B14F-4D97-AF65-F5344CB8AC3E}">
        <p14:creationId xmlns:p14="http://schemas.microsoft.com/office/powerpoint/2010/main" val="200945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E0066BF-B523-DC86-C709-AE7AE12543E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645CF02-97E3-E1B6-FF1F-65E5363ECFD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C305484-7044-6D83-EAA3-5D6BC2D2F8D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ACE12A3-8DFE-694B-B032-121D1E8D7045}" type="datetimeFigureOut">
              <a:rPr lang="en-US"/>
              <a:pPr>
                <a:defRPr/>
              </a:pPr>
              <a:t>3/6/25</a:t>
            </a:fld>
            <a:endParaRPr lang="en-US"/>
          </a:p>
        </p:txBody>
      </p:sp>
      <p:sp>
        <p:nvSpPr>
          <p:cNvPr id="5" name="Footer Placeholder 4">
            <a:extLst>
              <a:ext uri="{FF2B5EF4-FFF2-40B4-BE49-F238E27FC236}">
                <a16:creationId xmlns:a16="http://schemas.microsoft.com/office/drawing/2014/main" id="{11A75285-677C-176B-09C4-31B052E2B77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B3EF2CC9-3E43-CFEA-9806-59A4D87ED44E}"/>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FD724488-B4D0-0340-ADCE-47FF7C041A7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78111-DD14-3075-FCA0-A859715B4C51}"/>
              </a:ext>
            </a:extLst>
          </p:cNvPr>
          <p:cNvSpPr>
            <a:spLocks noGrp="1"/>
          </p:cNvSpPr>
          <p:nvPr>
            <p:ph type="title"/>
          </p:nvPr>
        </p:nvSpPr>
        <p:spPr>
          <a:xfrm>
            <a:off x="628650" y="3013683"/>
            <a:ext cx="7886700" cy="994172"/>
          </a:xfrm>
        </p:spPr>
        <p:txBody>
          <a:bodyPr/>
          <a:lstStyle/>
          <a:p>
            <a:pPr algn="ctr"/>
            <a:r>
              <a:rPr lang="en-US" b="1" dirty="0"/>
              <a:t>FLOW CONTROL</a:t>
            </a:r>
            <a:endParaRPr lang="en-IN" b="1" dirty="0"/>
          </a:p>
        </p:txBody>
      </p:sp>
    </p:spTree>
    <p:extLst>
      <p:ext uri="{BB962C8B-B14F-4D97-AF65-F5344CB8AC3E}">
        <p14:creationId xmlns:p14="http://schemas.microsoft.com/office/powerpoint/2010/main" val="2637238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628650" y="1866356"/>
            <a:ext cx="7886700" cy="3623617"/>
          </a:xfrm>
        </p:spPr>
        <p:txBody>
          <a:bodyPr>
            <a:normAutofit/>
          </a:bodyPr>
          <a:lstStyle/>
          <a:p>
            <a:pPr algn="just"/>
            <a:r>
              <a:rPr lang="en-US" sz="2400" dirty="0"/>
              <a:t>Flow control in computer networks is defined as the process of managing the rate of data transmission between two systems(nodes), this mechanism ensures that the rate of data (transmitted by the sender) is within the receiving capacity of the receiver node.</a:t>
            </a:r>
          </a:p>
        </p:txBody>
      </p:sp>
    </p:spTree>
    <p:extLst>
      <p:ext uri="{BB962C8B-B14F-4D97-AF65-F5344CB8AC3E}">
        <p14:creationId xmlns:p14="http://schemas.microsoft.com/office/powerpoint/2010/main" val="1589921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7" name="Picture 3"/>
          <p:cNvPicPr>
            <a:picLocks noGrp="1" noChangeAspect="1" noChangeArrowheads="1"/>
          </p:cNvPicPr>
          <p:nvPr>
            <p:ph idx="1"/>
          </p:nvPr>
        </p:nvPicPr>
        <p:blipFill>
          <a:blip r:embed="rId2"/>
          <a:srcRect l="12587" t="21387" r="37791" b="15570"/>
          <a:stretch>
            <a:fillRect/>
          </a:stretch>
        </p:blipFill>
        <p:spPr bwMode="auto">
          <a:xfrm>
            <a:off x="597626" y="1278527"/>
            <a:ext cx="7886700" cy="4467497"/>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l="24739" t="17785" r="45218" b="20373"/>
          <a:stretch>
            <a:fillRect/>
          </a:stretch>
        </p:blipFill>
        <p:spPr bwMode="auto">
          <a:xfrm>
            <a:off x="1724298" y="1317716"/>
            <a:ext cx="5153297" cy="4105003"/>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D1A9-C358-6347-03CF-D0461A2B0A58}"/>
              </a:ext>
            </a:extLst>
          </p:cNvPr>
          <p:cNvSpPr>
            <a:spLocks noGrp="1"/>
          </p:cNvSpPr>
          <p:nvPr>
            <p:ph type="title"/>
          </p:nvPr>
        </p:nvSpPr>
        <p:spPr>
          <a:xfrm>
            <a:off x="457200" y="274638"/>
            <a:ext cx="8229600" cy="715962"/>
          </a:xfrm>
        </p:spPr>
        <p:txBody>
          <a:bodyPr rtlCol="0">
            <a:normAutofit fontScale="90000"/>
          </a:bodyPr>
          <a:lstStyle/>
          <a:p>
            <a:pPr eaLnBrk="1" fontAlgn="auto" hangingPunct="1">
              <a:spcAft>
                <a:spcPts val="0"/>
              </a:spcAft>
              <a:defRPr/>
            </a:pPr>
            <a:r>
              <a:rPr lang="en-US" dirty="0"/>
              <a:t>Flow Control</a:t>
            </a:r>
          </a:p>
        </p:txBody>
      </p:sp>
      <p:sp>
        <p:nvSpPr>
          <p:cNvPr id="3" name="Content Placeholder 2">
            <a:extLst>
              <a:ext uri="{FF2B5EF4-FFF2-40B4-BE49-F238E27FC236}">
                <a16:creationId xmlns:a16="http://schemas.microsoft.com/office/drawing/2014/main" id="{11722C78-CBB0-0288-37C0-07C30CA9C45C}"/>
              </a:ext>
            </a:extLst>
          </p:cNvPr>
          <p:cNvSpPr>
            <a:spLocks noGrp="1"/>
          </p:cNvSpPr>
          <p:nvPr>
            <p:ph idx="1"/>
          </p:nvPr>
        </p:nvSpPr>
        <p:spPr>
          <a:xfrm>
            <a:off x="457200" y="1143000"/>
            <a:ext cx="8382000" cy="5486400"/>
          </a:xfrm>
        </p:spPr>
        <p:txBody>
          <a:bodyPr rtlCol="0">
            <a:normAutofit fontScale="92500"/>
          </a:bodyPr>
          <a:lstStyle/>
          <a:p>
            <a:pPr eaLnBrk="1" fontAlgn="auto" hangingPunct="1">
              <a:spcAft>
                <a:spcPts val="0"/>
              </a:spcAft>
              <a:defRPr/>
            </a:pPr>
            <a:r>
              <a:rPr lang="en-US" sz="2400" dirty="0">
                <a:latin typeface="Book Antiqua" pitchFamily="18" charset="0"/>
              </a:rPr>
              <a:t>Flow control coordinates the amount of data that can be sent before receiving acknowledgement </a:t>
            </a:r>
          </a:p>
          <a:p>
            <a:pPr eaLnBrk="1" fontAlgn="auto" hangingPunct="1">
              <a:spcAft>
                <a:spcPts val="0"/>
              </a:spcAft>
              <a:defRPr/>
            </a:pPr>
            <a:r>
              <a:rPr lang="en-US" sz="2400" dirty="0">
                <a:latin typeface="Book Antiqua" pitchFamily="18" charset="0"/>
              </a:rPr>
              <a:t>It is one of the most important functions of data link layer.</a:t>
            </a:r>
          </a:p>
          <a:p>
            <a:pPr eaLnBrk="1" fontAlgn="auto" hangingPunct="1">
              <a:spcAft>
                <a:spcPts val="0"/>
              </a:spcAft>
              <a:defRPr/>
            </a:pPr>
            <a:r>
              <a:rPr lang="en-US" sz="2400" dirty="0">
                <a:latin typeface="Book Antiqua" pitchFamily="18" charset="0"/>
              </a:rPr>
              <a:t>Flow control is a set of procedures that tells the sender how much data it can transmit before it must wait for an acknowledgement from the receiver.</a:t>
            </a:r>
          </a:p>
          <a:p>
            <a:pPr eaLnBrk="1" fontAlgn="auto" hangingPunct="1">
              <a:spcAft>
                <a:spcPts val="0"/>
              </a:spcAft>
              <a:defRPr/>
            </a:pPr>
            <a:r>
              <a:rPr lang="en-US" sz="2400" dirty="0">
                <a:latin typeface="Book Antiqua" pitchFamily="18" charset="0"/>
              </a:rPr>
              <a:t>Receiver has a limited speed at which it can process incoming data and a limited amount of memory in which to store incoming data.</a:t>
            </a:r>
          </a:p>
          <a:p>
            <a:pPr eaLnBrk="1" fontAlgn="auto" hangingPunct="1">
              <a:spcAft>
                <a:spcPts val="0"/>
              </a:spcAft>
              <a:defRPr/>
            </a:pPr>
            <a:r>
              <a:rPr lang="en-US" sz="2400" dirty="0">
                <a:latin typeface="Book Antiqua" pitchFamily="18" charset="0"/>
              </a:rPr>
              <a:t>Receiver must inform the sender before the limits are reached and request that the transmitter to send fewer frames or stop temporarily.</a:t>
            </a:r>
          </a:p>
          <a:p>
            <a:pPr eaLnBrk="1" fontAlgn="auto" hangingPunct="1">
              <a:spcAft>
                <a:spcPts val="0"/>
              </a:spcAft>
              <a:defRPr/>
            </a:pPr>
            <a:r>
              <a:rPr lang="en-US" sz="2400" dirty="0">
                <a:latin typeface="Book Antiqua" pitchFamily="18" charset="0"/>
              </a:rPr>
              <a:t>Since the rate of processing is often slower than the rate of transmission, receiver has a block of memory (buffer) for storing incoming  data until they are processed.</a:t>
            </a:r>
          </a:p>
          <a:p>
            <a:pPr eaLnBrk="1" fontAlgn="auto" hangingPunct="1">
              <a:spcAft>
                <a:spcPts val="0"/>
              </a:spcAft>
              <a:defRPr/>
            </a:pPr>
            <a:endParaRPr lang="en-US" sz="2400" dirty="0"/>
          </a:p>
          <a:p>
            <a:pPr eaLnBrk="1" fontAlgn="auto" hangingPunct="1">
              <a:spcAft>
                <a:spcPts val="0"/>
              </a:spcAft>
              <a:defRP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0A8F1-8D18-28FB-FA99-F053E87E95D7}"/>
              </a:ext>
            </a:extLst>
          </p:cNvPr>
          <p:cNvSpPr>
            <a:spLocks noGrp="1"/>
          </p:cNvSpPr>
          <p:nvPr>
            <p:ph type="title"/>
          </p:nvPr>
        </p:nvSpPr>
        <p:spPr/>
        <p:txBody>
          <a:bodyPr rtlCol="0">
            <a:normAutofit/>
          </a:bodyPr>
          <a:lstStyle/>
          <a:p>
            <a:pPr eaLnBrk="1" fontAlgn="auto" hangingPunct="1">
              <a:spcAft>
                <a:spcPts val="0"/>
              </a:spcAft>
              <a:defRPr/>
            </a:pPr>
            <a:r>
              <a:rPr lang="en-US" dirty="0"/>
              <a:t>Flow Control Mechanisms</a:t>
            </a:r>
          </a:p>
        </p:txBody>
      </p:sp>
      <p:sp>
        <p:nvSpPr>
          <p:cNvPr id="5123" name="Content Placeholder 2">
            <a:extLst>
              <a:ext uri="{FF2B5EF4-FFF2-40B4-BE49-F238E27FC236}">
                <a16:creationId xmlns:a16="http://schemas.microsoft.com/office/drawing/2014/main" id="{38DD3EDD-389D-BC94-1541-457A7A02C5BB}"/>
              </a:ext>
            </a:extLst>
          </p:cNvPr>
          <p:cNvSpPr>
            <a:spLocks noGrp="1"/>
          </p:cNvSpPr>
          <p:nvPr>
            <p:ph idx="1"/>
          </p:nvPr>
        </p:nvSpPr>
        <p:spPr>
          <a:xfrm>
            <a:off x="1600200" y="1828800"/>
            <a:ext cx="5867400" cy="2057400"/>
          </a:xfrm>
        </p:spPr>
        <p:txBody>
          <a:bodyPr/>
          <a:lstStyle/>
          <a:p>
            <a:pPr eaLnBrk="1" hangingPunct="1"/>
            <a:r>
              <a:rPr lang="en-US" altLang="en-US" dirty="0"/>
              <a:t>Stop-and-Wait</a:t>
            </a:r>
          </a:p>
          <a:p>
            <a:pPr eaLnBrk="1" hangingPunct="1"/>
            <a:r>
              <a:rPr lang="en-US" altLang="en-US" dirty="0"/>
              <a:t>Sliding Window Protocol</a:t>
            </a:r>
          </a:p>
          <a:p>
            <a:pPr lvl="1" eaLnBrk="1" hangingPunct="1"/>
            <a:r>
              <a:rPr lang="en-US" altLang="en-US" dirty="0"/>
              <a:t>Go-Back-N ARQ</a:t>
            </a:r>
          </a:p>
          <a:p>
            <a:pPr lvl="1" eaLnBrk="1" hangingPunct="1"/>
            <a:r>
              <a:rPr lang="en-US" altLang="en-US" dirty="0"/>
              <a:t>Selective-Repeat ARQ</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0B7328C-6825-4341-1A95-0FFEDE5DE884}"/>
              </a:ext>
            </a:extLst>
          </p:cNvPr>
          <p:cNvPicPr>
            <a:picLocks noGrp="1" noChangeAspect="1"/>
          </p:cNvPicPr>
          <p:nvPr>
            <p:ph idx="1"/>
          </p:nvPr>
        </p:nvPicPr>
        <p:blipFill>
          <a:blip r:embed="rId2"/>
          <a:stretch>
            <a:fillRect/>
          </a:stretch>
        </p:blipFill>
        <p:spPr>
          <a:xfrm>
            <a:off x="457200" y="533400"/>
            <a:ext cx="8229600" cy="5791200"/>
          </a:xfrm>
          <a:prstGeom prst="rect">
            <a:avLst/>
          </a:prstGeom>
        </p:spPr>
      </p:pic>
    </p:spTree>
    <p:extLst>
      <p:ext uri="{BB962C8B-B14F-4D97-AF65-F5344CB8AC3E}">
        <p14:creationId xmlns:p14="http://schemas.microsoft.com/office/powerpoint/2010/main" val="4235841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A7FDBD-99AC-41B8-2949-00E4ECC09B2E}"/>
              </a:ext>
            </a:extLst>
          </p:cNvPr>
          <p:cNvPicPr>
            <a:picLocks noChangeAspect="1"/>
          </p:cNvPicPr>
          <p:nvPr/>
        </p:nvPicPr>
        <p:blipFill>
          <a:blip r:embed="rId2"/>
          <a:stretch>
            <a:fillRect/>
          </a:stretch>
        </p:blipFill>
        <p:spPr>
          <a:xfrm>
            <a:off x="685800" y="685800"/>
            <a:ext cx="7772400" cy="5257800"/>
          </a:xfrm>
          <a:prstGeom prst="rect">
            <a:avLst/>
          </a:prstGeom>
        </p:spPr>
      </p:pic>
    </p:spTree>
    <p:extLst>
      <p:ext uri="{BB962C8B-B14F-4D97-AF65-F5344CB8AC3E}">
        <p14:creationId xmlns:p14="http://schemas.microsoft.com/office/powerpoint/2010/main" val="3619122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A06F3B-51D3-57E3-D083-5A6A04791347}"/>
              </a:ext>
            </a:extLst>
          </p:cNvPr>
          <p:cNvPicPr>
            <a:picLocks noChangeAspect="1"/>
          </p:cNvPicPr>
          <p:nvPr/>
        </p:nvPicPr>
        <p:blipFill>
          <a:blip r:embed="rId2"/>
          <a:stretch>
            <a:fillRect/>
          </a:stretch>
        </p:blipFill>
        <p:spPr>
          <a:xfrm>
            <a:off x="685800" y="1364105"/>
            <a:ext cx="7772400" cy="4129790"/>
          </a:xfrm>
          <a:prstGeom prst="rect">
            <a:avLst/>
          </a:prstGeom>
        </p:spPr>
      </p:pic>
    </p:spTree>
    <p:extLst>
      <p:ext uri="{BB962C8B-B14F-4D97-AF65-F5344CB8AC3E}">
        <p14:creationId xmlns:p14="http://schemas.microsoft.com/office/powerpoint/2010/main" val="2248973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C2F10-3C88-7B6C-B9F2-AE8B3E5A3685}"/>
              </a:ext>
            </a:extLst>
          </p:cNvPr>
          <p:cNvPicPr>
            <a:picLocks noChangeAspect="1"/>
          </p:cNvPicPr>
          <p:nvPr/>
        </p:nvPicPr>
        <p:blipFill>
          <a:blip r:embed="rId2"/>
          <a:stretch>
            <a:fillRect/>
          </a:stretch>
        </p:blipFill>
        <p:spPr>
          <a:xfrm>
            <a:off x="685800" y="1388932"/>
            <a:ext cx="7772400" cy="4080136"/>
          </a:xfrm>
          <a:prstGeom prst="rect">
            <a:avLst/>
          </a:prstGeom>
        </p:spPr>
      </p:pic>
    </p:spTree>
    <p:extLst>
      <p:ext uri="{BB962C8B-B14F-4D97-AF65-F5344CB8AC3E}">
        <p14:creationId xmlns:p14="http://schemas.microsoft.com/office/powerpoint/2010/main" val="359698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3DD9AB-EB88-F9A1-7B88-BD30622FCB4C}"/>
              </a:ext>
            </a:extLst>
          </p:cNvPr>
          <p:cNvPicPr>
            <a:picLocks noChangeAspect="1"/>
          </p:cNvPicPr>
          <p:nvPr/>
        </p:nvPicPr>
        <p:blipFill>
          <a:blip r:embed="rId2"/>
          <a:stretch>
            <a:fillRect/>
          </a:stretch>
        </p:blipFill>
        <p:spPr>
          <a:xfrm>
            <a:off x="685800" y="1384814"/>
            <a:ext cx="7772400" cy="4088372"/>
          </a:xfrm>
          <a:prstGeom prst="rect">
            <a:avLst/>
          </a:prstGeom>
        </p:spPr>
      </p:pic>
    </p:spTree>
    <p:extLst>
      <p:ext uri="{BB962C8B-B14F-4D97-AF65-F5344CB8AC3E}">
        <p14:creationId xmlns:p14="http://schemas.microsoft.com/office/powerpoint/2010/main" val="3778534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BA59AF42-8751-FFE2-9677-E1E56633165B}"/>
              </a:ext>
            </a:extLst>
          </p:cNvPr>
          <p:cNvSpPr>
            <a:spLocks noGrp="1"/>
          </p:cNvSpPr>
          <p:nvPr>
            <p:ph type="title"/>
          </p:nvPr>
        </p:nvSpPr>
        <p:spPr>
          <a:xfrm>
            <a:off x="457200" y="273050"/>
            <a:ext cx="3008313" cy="641350"/>
          </a:xfrm>
        </p:spPr>
        <p:txBody>
          <a:bodyPr/>
          <a:lstStyle/>
          <a:p>
            <a:pPr eaLnBrk="1" hangingPunct="1"/>
            <a:r>
              <a:rPr lang="en-US" altLang="en-US" sz="3600"/>
              <a:t>Stop-and-Wait</a:t>
            </a:r>
          </a:p>
        </p:txBody>
      </p:sp>
      <p:sp>
        <p:nvSpPr>
          <p:cNvPr id="6147" name="Content Placeholder 2">
            <a:extLst>
              <a:ext uri="{FF2B5EF4-FFF2-40B4-BE49-F238E27FC236}">
                <a16:creationId xmlns:a16="http://schemas.microsoft.com/office/drawing/2014/main" id="{75EDE9FD-001C-D905-94ED-56E8190E2DDA}"/>
              </a:ext>
            </a:extLst>
          </p:cNvPr>
          <p:cNvSpPr>
            <a:spLocks noGrp="1"/>
          </p:cNvSpPr>
          <p:nvPr>
            <p:ph idx="1"/>
          </p:nvPr>
        </p:nvSpPr>
        <p:spPr>
          <a:xfrm>
            <a:off x="4038600" y="228600"/>
            <a:ext cx="4953000" cy="6477000"/>
          </a:xfrm>
        </p:spPr>
        <p:txBody>
          <a:bodyPr/>
          <a:lstStyle/>
          <a:p>
            <a:pPr eaLnBrk="1" hangingPunct="1">
              <a:buFont typeface="Wingdings" pitchFamily="2" charset="2"/>
              <a:buChar char="§"/>
            </a:pPr>
            <a:r>
              <a:rPr lang="en-US" altLang="en-US" sz="2000"/>
              <a:t>Sender keeps a copy of the last frame until it receives an acknowledgement.</a:t>
            </a:r>
          </a:p>
          <a:p>
            <a:pPr eaLnBrk="1" hangingPunct="1">
              <a:buFont typeface="Wingdings" pitchFamily="2" charset="2"/>
              <a:buChar char="§"/>
            </a:pPr>
            <a:r>
              <a:rPr lang="en-US" altLang="en-US" sz="2000"/>
              <a:t>For identification, both data frames and acknowledgements (ACK) frames are numbered alternatively 0 and 1.</a:t>
            </a:r>
          </a:p>
          <a:p>
            <a:pPr eaLnBrk="1" hangingPunct="1">
              <a:buFont typeface="Wingdings" pitchFamily="2" charset="2"/>
              <a:buChar char="§"/>
            </a:pPr>
            <a:r>
              <a:rPr lang="en-US" altLang="en-US" sz="2000"/>
              <a:t>Sender has a control variable (S) that holds the number of the recently sent frame. (0 or 1)</a:t>
            </a:r>
          </a:p>
          <a:p>
            <a:pPr eaLnBrk="1" hangingPunct="1">
              <a:buFont typeface="Wingdings" pitchFamily="2" charset="2"/>
              <a:buChar char="§"/>
            </a:pPr>
            <a:r>
              <a:rPr lang="en-US" altLang="en-US" sz="2000"/>
              <a:t>Receiver has a control variable ® that holds the number of the next frame expected (0 or 1).</a:t>
            </a:r>
          </a:p>
          <a:p>
            <a:pPr eaLnBrk="1" hangingPunct="1">
              <a:buFont typeface="Wingdings" pitchFamily="2" charset="2"/>
              <a:buChar char="§"/>
            </a:pPr>
            <a:r>
              <a:rPr lang="en-US" altLang="en-US" sz="2000"/>
              <a:t>Sender starts a timer when it sends a frame. If an ACK is not received within a allocated time period, the sender assumes that the frame was lost or damaged and resends it</a:t>
            </a:r>
          </a:p>
          <a:p>
            <a:pPr eaLnBrk="1" hangingPunct="1">
              <a:buFont typeface="Wingdings" pitchFamily="2" charset="2"/>
              <a:buChar char="§"/>
            </a:pPr>
            <a:r>
              <a:rPr lang="en-US" altLang="en-US" sz="2000"/>
              <a:t>Receiver send only positive ACK if the frame is intact.</a:t>
            </a:r>
          </a:p>
          <a:p>
            <a:pPr eaLnBrk="1" hangingPunct="1">
              <a:buFont typeface="Wingdings" pitchFamily="2" charset="2"/>
              <a:buChar char="§"/>
            </a:pPr>
            <a:r>
              <a:rPr lang="en-US" altLang="en-US" sz="2000"/>
              <a:t>ACK number always defines the number of the next expected frame</a:t>
            </a:r>
          </a:p>
        </p:txBody>
      </p:sp>
      <p:sp>
        <p:nvSpPr>
          <p:cNvPr id="6148" name="Text Placeholder 3">
            <a:extLst>
              <a:ext uri="{FF2B5EF4-FFF2-40B4-BE49-F238E27FC236}">
                <a16:creationId xmlns:a16="http://schemas.microsoft.com/office/drawing/2014/main" id="{69AE7978-EBDD-A113-4DD7-47BA6A932ACB}"/>
              </a:ext>
            </a:extLst>
          </p:cNvPr>
          <p:cNvSpPr>
            <a:spLocks noGrp="1"/>
          </p:cNvSpPr>
          <p:nvPr>
            <p:ph type="body" sz="half" idx="2"/>
          </p:nvPr>
        </p:nvSpPr>
        <p:spPr>
          <a:xfrm>
            <a:off x="304800" y="1219200"/>
            <a:ext cx="3352800" cy="4419600"/>
          </a:xfrm>
        </p:spPr>
        <p:txBody>
          <a:bodyPr/>
          <a:lstStyle/>
          <a:p>
            <a:pPr eaLnBrk="1" hangingPunct="1"/>
            <a:endParaRPr lang="en-US" altLang="en-US"/>
          </a:p>
        </p:txBody>
      </p:sp>
      <p:pic>
        <p:nvPicPr>
          <p:cNvPr id="6149" name="Picture 10">
            <a:extLst>
              <a:ext uri="{FF2B5EF4-FFF2-40B4-BE49-F238E27FC236}">
                <a16:creationId xmlns:a16="http://schemas.microsoft.com/office/drawing/2014/main" id="{50622DA1-579F-E1C2-ED68-F67E1D4EBE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43000"/>
            <a:ext cx="3657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E78B1CDC-B4C4-23E2-8B74-86227D49D24B}"/>
              </a:ext>
            </a:extLst>
          </p:cNvPr>
          <p:cNvSpPr>
            <a:spLocks noGrp="1"/>
          </p:cNvSpPr>
          <p:nvPr>
            <p:ph type="title"/>
          </p:nvPr>
        </p:nvSpPr>
        <p:spPr>
          <a:xfrm>
            <a:off x="457200" y="274638"/>
            <a:ext cx="8229600" cy="792162"/>
          </a:xfrm>
        </p:spPr>
        <p:txBody>
          <a:bodyPr/>
          <a:lstStyle/>
          <a:p>
            <a:pPr eaLnBrk="1" hangingPunct="1"/>
            <a:r>
              <a:rPr lang="en-US" altLang="en-US" dirty="0"/>
              <a:t>Stop-and-Wait ARQ, lost frame</a:t>
            </a:r>
          </a:p>
        </p:txBody>
      </p:sp>
      <p:sp>
        <p:nvSpPr>
          <p:cNvPr id="7171" name="Content Placeholder 2">
            <a:extLst>
              <a:ext uri="{FF2B5EF4-FFF2-40B4-BE49-F238E27FC236}">
                <a16:creationId xmlns:a16="http://schemas.microsoft.com/office/drawing/2014/main" id="{12FE7B58-1CE5-A36F-EA52-878B251BC18D}"/>
              </a:ext>
            </a:extLst>
          </p:cNvPr>
          <p:cNvSpPr>
            <a:spLocks noGrp="1"/>
          </p:cNvSpPr>
          <p:nvPr>
            <p:ph idx="1"/>
          </p:nvPr>
        </p:nvSpPr>
        <p:spPr>
          <a:xfrm>
            <a:off x="5410200" y="1752600"/>
            <a:ext cx="3429000" cy="4525963"/>
          </a:xfrm>
          <a:ln>
            <a:solidFill>
              <a:schemeClr val="tx1"/>
            </a:solidFill>
            <a:miter lim="800000"/>
            <a:headEnd/>
            <a:tailEnd/>
          </a:ln>
        </p:spPr>
        <p:txBody>
          <a:bodyPr/>
          <a:lstStyle/>
          <a:p>
            <a:pPr eaLnBrk="1" hangingPunct="1"/>
            <a:r>
              <a:rPr lang="en-US" altLang="en-US" sz="2400"/>
              <a:t>When a receiver receives a damaged frame, it discards it and keeps its value of R.</a:t>
            </a:r>
          </a:p>
          <a:p>
            <a:pPr eaLnBrk="1" hangingPunct="1"/>
            <a:r>
              <a:rPr lang="en-US" altLang="en-US" sz="2400"/>
              <a:t>After the timer at the sender expires, another copy of frame 1 is sent.</a:t>
            </a:r>
          </a:p>
        </p:txBody>
      </p:sp>
      <p:pic>
        <p:nvPicPr>
          <p:cNvPr id="7172" name="Picture 10">
            <a:extLst>
              <a:ext uri="{FF2B5EF4-FFF2-40B4-BE49-F238E27FC236}">
                <a16:creationId xmlns:a16="http://schemas.microsoft.com/office/drawing/2014/main" id="{166A10A7-BDDF-0F24-3A15-2B114D6D8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88" y="1371600"/>
            <a:ext cx="4760912"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6D82124-2B38-AEDC-3C3C-E0536DAB020E}"/>
              </a:ext>
            </a:extLst>
          </p:cNvPr>
          <p:cNvSpPr>
            <a:spLocks noGrp="1"/>
          </p:cNvSpPr>
          <p:nvPr>
            <p:ph type="title"/>
          </p:nvPr>
        </p:nvSpPr>
        <p:spPr>
          <a:xfrm>
            <a:off x="228600" y="152400"/>
            <a:ext cx="6019800" cy="685800"/>
          </a:xfrm>
        </p:spPr>
        <p:txBody>
          <a:bodyPr/>
          <a:lstStyle/>
          <a:p>
            <a:pPr eaLnBrk="1" hangingPunct="1"/>
            <a:r>
              <a:rPr lang="en-US" altLang="en-US" sz="3600"/>
              <a:t>Stop-and-Wait, lost ACK frame</a:t>
            </a:r>
          </a:p>
        </p:txBody>
      </p:sp>
      <p:sp>
        <p:nvSpPr>
          <p:cNvPr id="3" name="Content Placeholder 2">
            <a:extLst>
              <a:ext uri="{FF2B5EF4-FFF2-40B4-BE49-F238E27FC236}">
                <a16:creationId xmlns:a16="http://schemas.microsoft.com/office/drawing/2014/main" id="{7D8DC580-FF0A-10CE-673F-1354AEA55F43}"/>
              </a:ext>
            </a:extLst>
          </p:cNvPr>
          <p:cNvSpPr>
            <a:spLocks noGrp="1"/>
          </p:cNvSpPr>
          <p:nvPr>
            <p:ph idx="1"/>
          </p:nvPr>
        </p:nvSpPr>
        <p:spPr>
          <a:xfrm>
            <a:off x="5486400" y="1295400"/>
            <a:ext cx="3048000" cy="5029200"/>
          </a:xfrm>
          <a:ln>
            <a:solidFill>
              <a:schemeClr val="tx1"/>
            </a:solidFill>
          </a:ln>
        </p:spPr>
        <p:txBody>
          <a:bodyPr rtlCol="0">
            <a:normAutofit fontScale="92500"/>
          </a:bodyPr>
          <a:lstStyle/>
          <a:p>
            <a:pPr eaLnBrk="1" fontAlgn="auto" hangingPunct="1">
              <a:spcAft>
                <a:spcPts val="0"/>
              </a:spcAft>
              <a:defRPr/>
            </a:pPr>
            <a:r>
              <a:rPr lang="en-US" sz="2400" dirty="0"/>
              <a:t>If the sender receives a damaged ACK, it discards it.</a:t>
            </a:r>
          </a:p>
          <a:p>
            <a:pPr eaLnBrk="1" fontAlgn="auto" hangingPunct="1">
              <a:spcAft>
                <a:spcPts val="0"/>
              </a:spcAft>
              <a:defRPr/>
            </a:pPr>
            <a:r>
              <a:rPr lang="en-US" sz="2400" dirty="0"/>
              <a:t>When the timer of the sender expires, the sender retransmits frame 1.</a:t>
            </a:r>
          </a:p>
          <a:p>
            <a:pPr eaLnBrk="1" fontAlgn="auto" hangingPunct="1">
              <a:spcAft>
                <a:spcPts val="0"/>
              </a:spcAft>
              <a:defRPr/>
            </a:pPr>
            <a:r>
              <a:rPr lang="en-US" sz="2400" dirty="0"/>
              <a:t>Receiver has already received frame 1 and expecting to receive frame 0 (R=0). Therefore it discards the second copy of frame 1.</a:t>
            </a:r>
          </a:p>
        </p:txBody>
      </p:sp>
      <p:sp>
        <p:nvSpPr>
          <p:cNvPr id="8196" name="Text Placeholder 3">
            <a:extLst>
              <a:ext uri="{FF2B5EF4-FFF2-40B4-BE49-F238E27FC236}">
                <a16:creationId xmlns:a16="http://schemas.microsoft.com/office/drawing/2014/main" id="{205D21DA-5328-8E34-6F2D-F507385BB0AF}"/>
              </a:ext>
            </a:extLst>
          </p:cNvPr>
          <p:cNvSpPr>
            <a:spLocks noGrp="1"/>
          </p:cNvSpPr>
          <p:nvPr>
            <p:ph type="body" sz="half" idx="2"/>
          </p:nvPr>
        </p:nvSpPr>
        <p:spPr/>
        <p:txBody>
          <a:bodyPr/>
          <a:lstStyle/>
          <a:p>
            <a:pPr eaLnBrk="1" hangingPunct="1"/>
            <a:endParaRPr lang="en-US" altLang="en-US"/>
          </a:p>
        </p:txBody>
      </p:sp>
      <p:pic>
        <p:nvPicPr>
          <p:cNvPr id="8197" name="Picture 10">
            <a:extLst>
              <a:ext uri="{FF2B5EF4-FFF2-40B4-BE49-F238E27FC236}">
                <a16:creationId xmlns:a16="http://schemas.microsoft.com/office/drawing/2014/main" id="{3F215448-5C93-A6EA-B81E-E53162DAC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 y="1295400"/>
            <a:ext cx="505936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0005DACD-131A-7DD2-9322-4E6BBEE51ADA}"/>
              </a:ext>
            </a:extLst>
          </p:cNvPr>
          <p:cNvSpPr>
            <a:spLocks noGrp="1"/>
          </p:cNvSpPr>
          <p:nvPr>
            <p:ph type="title"/>
          </p:nvPr>
        </p:nvSpPr>
        <p:spPr>
          <a:xfrm>
            <a:off x="228600" y="152400"/>
            <a:ext cx="7086600" cy="685800"/>
          </a:xfrm>
        </p:spPr>
        <p:txBody>
          <a:bodyPr/>
          <a:lstStyle/>
          <a:p>
            <a:pPr eaLnBrk="1" hangingPunct="1"/>
            <a:r>
              <a:rPr lang="en-US" altLang="en-US" sz="3600"/>
              <a:t>Stop-and-Wait, delayed ACK frame</a:t>
            </a:r>
          </a:p>
        </p:txBody>
      </p:sp>
      <p:sp>
        <p:nvSpPr>
          <p:cNvPr id="3" name="Content Placeholder 2">
            <a:extLst>
              <a:ext uri="{FF2B5EF4-FFF2-40B4-BE49-F238E27FC236}">
                <a16:creationId xmlns:a16="http://schemas.microsoft.com/office/drawing/2014/main" id="{006624E4-CCE3-8136-52B1-DAB465028CE7}"/>
              </a:ext>
            </a:extLst>
          </p:cNvPr>
          <p:cNvSpPr>
            <a:spLocks noGrp="1"/>
          </p:cNvSpPr>
          <p:nvPr>
            <p:ph idx="1"/>
          </p:nvPr>
        </p:nvSpPr>
        <p:spPr>
          <a:xfrm>
            <a:off x="5486400" y="914400"/>
            <a:ext cx="3048000" cy="5029200"/>
          </a:xfrm>
          <a:ln>
            <a:solidFill>
              <a:schemeClr val="tx1"/>
            </a:solidFill>
          </a:ln>
        </p:spPr>
        <p:txBody>
          <a:bodyPr rtlCol="0">
            <a:normAutofit fontScale="92500" lnSpcReduction="20000"/>
          </a:bodyPr>
          <a:lstStyle/>
          <a:p>
            <a:pPr eaLnBrk="1" fontAlgn="auto" hangingPunct="1">
              <a:spcAft>
                <a:spcPts val="0"/>
              </a:spcAft>
              <a:defRPr/>
            </a:pPr>
            <a:r>
              <a:rPr lang="en-US" sz="2400" dirty="0"/>
              <a:t>The ACK can be delayed at the receiver or due to some problem</a:t>
            </a:r>
          </a:p>
          <a:p>
            <a:pPr eaLnBrk="1" fontAlgn="auto" hangingPunct="1">
              <a:spcAft>
                <a:spcPts val="0"/>
              </a:spcAft>
              <a:defRPr/>
            </a:pPr>
            <a:r>
              <a:rPr lang="en-US" sz="2400" dirty="0"/>
              <a:t>It is received after the timer for frame 0 has expired.</a:t>
            </a:r>
          </a:p>
          <a:p>
            <a:pPr eaLnBrk="1" fontAlgn="auto" hangingPunct="1">
              <a:spcAft>
                <a:spcPts val="0"/>
              </a:spcAft>
              <a:defRPr/>
            </a:pPr>
            <a:r>
              <a:rPr lang="en-US" sz="2400" dirty="0"/>
              <a:t>Sender retransmitted a copy of frame 0. However, R =1 means receiver expects to see frame 1. Receiver discards the duplicate frame 0.</a:t>
            </a:r>
          </a:p>
          <a:p>
            <a:pPr eaLnBrk="1" fontAlgn="auto" hangingPunct="1">
              <a:spcAft>
                <a:spcPts val="0"/>
              </a:spcAft>
              <a:defRPr/>
            </a:pPr>
            <a:r>
              <a:rPr lang="en-US" sz="2400" dirty="0"/>
              <a:t>Sender receives 2 ACKs, it discards the second ACK.</a:t>
            </a:r>
          </a:p>
          <a:p>
            <a:pPr eaLnBrk="1" fontAlgn="auto" hangingPunct="1">
              <a:spcAft>
                <a:spcPts val="0"/>
              </a:spcAft>
              <a:defRPr/>
            </a:pPr>
            <a:endParaRPr lang="en-US" sz="2400" dirty="0"/>
          </a:p>
          <a:p>
            <a:pPr eaLnBrk="1" fontAlgn="auto" hangingPunct="1">
              <a:spcAft>
                <a:spcPts val="0"/>
              </a:spcAft>
              <a:defRPr/>
            </a:pPr>
            <a:endParaRPr lang="en-US" sz="2400" dirty="0"/>
          </a:p>
        </p:txBody>
      </p:sp>
      <p:sp>
        <p:nvSpPr>
          <p:cNvPr id="9220" name="Text Placeholder 3">
            <a:extLst>
              <a:ext uri="{FF2B5EF4-FFF2-40B4-BE49-F238E27FC236}">
                <a16:creationId xmlns:a16="http://schemas.microsoft.com/office/drawing/2014/main" id="{27A95AE2-F72E-B980-7426-576642306688}"/>
              </a:ext>
            </a:extLst>
          </p:cNvPr>
          <p:cNvSpPr>
            <a:spLocks noGrp="1"/>
          </p:cNvSpPr>
          <p:nvPr>
            <p:ph type="body" sz="half" idx="2"/>
          </p:nvPr>
        </p:nvSpPr>
        <p:spPr/>
        <p:txBody>
          <a:bodyPr/>
          <a:lstStyle/>
          <a:p>
            <a:pPr eaLnBrk="1" hangingPunct="1"/>
            <a:endParaRPr lang="en-US" altLang="en-US"/>
          </a:p>
        </p:txBody>
      </p:sp>
      <p:pic>
        <p:nvPicPr>
          <p:cNvPr id="9221" name="Picture 10">
            <a:extLst>
              <a:ext uri="{FF2B5EF4-FFF2-40B4-BE49-F238E27FC236}">
                <a16:creationId xmlns:a16="http://schemas.microsoft.com/office/drawing/2014/main" id="{D5861600-3481-4892-3CF1-5FD37F0190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90600"/>
            <a:ext cx="5181600" cy="54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07F1077-7ABC-567C-121C-302E34784D23}"/>
              </a:ext>
            </a:extLst>
          </p:cNvPr>
          <p:cNvSpPr>
            <a:spLocks noGrp="1"/>
          </p:cNvSpPr>
          <p:nvPr>
            <p:ph type="title"/>
          </p:nvPr>
        </p:nvSpPr>
        <p:spPr>
          <a:xfrm>
            <a:off x="228600" y="152400"/>
            <a:ext cx="7086600" cy="685800"/>
          </a:xfrm>
        </p:spPr>
        <p:txBody>
          <a:bodyPr/>
          <a:lstStyle/>
          <a:p>
            <a:pPr eaLnBrk="1" hangingPunct="1"/>
            <a:r>
              <a:rPr lang="en-US" altLang="en-US" sz="3600"/>
              <a:t>Piggybacking</a:t>
            </a:r>
          </a:p>
        </p:txBody>
      </p:sp>
      <p:sp>
        <p:nvSpPr>
          <p:cNvPr id="3" name="Content Placeholder 2">
            <a:extLst>
              <a:ext uri="{FF2B5EF4-FFF2-40B4-BE49-F238E27FC236}">
                <a16:creationId xmlns:a16="http://schemas.microsoft.com/office/drawing/2014/main" id="{96BC4014-A27A-A418-020E-2A101806B510}"/>
              </a:ext>
            </a:extLst>
          </p:cNvPr>
          <p:cNvSpPr>
            <a:spLocks noGrp="1"/>
          </p:cNvSpPr>
          <p:nvPr>
            <p:ph idx="1"/>
          </p:nvPr>
        </p:nvSpPr>
        <p:spPr>
          <a:xfrm>
            <a:off x="5486400" y="914400"/>
            <a:ext cx="3048000" cy="5029200"/>
          </a:xfrm>
          <a:ln>
            <a:solidFill>
              <a:schemeClr val="tx1"/>
            </a:solidFill>
          </a:ln>
        </p:spPr>
        <p:txBody>
          <a:bodyPr rtlCol="0">
            <a:normAutofit fontScale="92500"/>
          </a:bodyPr>
          <a:lstStyle/>
          <a:p>
            <a:pPr eaLnBrk="1" fontAlgn="auto" hangingPunct="1">
              <a:spcAft>
                <a:spcPts val="0"/>
              </a:spcAft>
              <a:defRPr/>
            </a:pPr>
            <a:r>
              <a:rPr lang="en-US" sz="2400" dirty="0"/>
              <a:t>A method to combine a data frame with ACK. </a:t>
            </a:r>
          </a:p>
          <a:p>
            <a:pPr eaLnBrk="1" fontAlgn="auto" hangingPunct="1">
              <a:spcAft>
                <a:spcPts val="0"/>
              </a:spcAft>
              <a:defRPr/>
            </a:pPr>
            <a:r>
              <a:rPr lang="en-US" sz="2400" dirty="0"/>
              <a:t>Station A and B both have data to send.</a:t>
            </a:r>
          </a:p>
          <a:p>
            <a:pPr eaLnBrk="1" fontAlgn="auto" hangingPunct="1">
              <a:spcAft>
                <a:spcPts val="0"/>
              </a:spcAft>
              <a:defRPr/>
            </a:pPr>
            <a:r>
              <a:rPr lang="en-US" sz="2400" dirty="0"/>
              <a:t>Instead of sending separately, station A  sends a data frame that includes an ACK.</a:t>
            </a:r>
          </a:p>
          <a:p>
            <a:pPr eaLnBrk="1" fontAlgn="auto" hangingPunct="1">
              <a:spcAft>
                <a:spcPts val="0"/>
              </a:spcAft>
              <a:defRPr/>
            </a:pPr>
            <a:r>
              <a:rPr lang="en-US" sz="2400" dirty="0"/>
              <a:t>Station B does the same thing.</a:t>
            </a:r>
          </a:p>
          <a:p>
            <a:pPr eaLnBrk="1" fontAlgn="auto" hangingPunct="1">
              <a:spcAft>
                <a:spcPts val="0"/>
              </a:spcAft>
              <a:defRPr/>
            </a:pPr>
            <a:r>
              <a:rPr lang="en-US" sz="2400" dirty="0"/>
              <a:t>Piggybacking saves bandwidth.</a:t>
            </a:r>
          </a:p>
          <a:p>
            <a:pPr eaLnBrk="1" fontAlgn="auto" hangingPunct="1">
              <a:spcAft>
                <a:spcPts val="0"/>
              </a:spcAft>
              <a:defRPr/>
            </a:pPr>
            <a:endParaRPr lang="en-US" sz="2400" dirty="0"/>
          </a:p>
        </p:txBody>
      </p:sp>
      <p:sp>
        <p:nvSpPr>
          <p:cNvPr id="10244" name="Text Placeholder 3">
            <a:extLst>
              <a:ext uri="{FF2B5EF4-FFF2-40B4-BE49-F238E27FC236}">
                <a16:creationId xmlns:a16="http://schemas.microsoft.com/office/drawing/2014/main" id="{59BFD798-EB3C-D24D-8D5E-758CB5C6B4B3}"/>
              </a:ext>
            </a:extLst>
          </p:cNvPr>
          <p:cNvSpPr>
            <a:spLocks noGrp="1"/>
          </p:cNvSpPr>
          <p:nvPr>
            <p:ph type="body" sz="half" idx="2"/>
          </p:nvPr>
        </p:nvSpPr>
        <p:spPr/>
        <p:txBody>
          <a:bodyPr/>
          <a:lstStyle/>
          <a:p>
            <a:pPr eaLnBrk="1" hangingPunct="1"/>
            <a:endParaRPr lang="en-US" altLang="en-US"/>
          </a:p>
        </p:txBody>
      </p:sp>
      <p:pic>
        <p:nvPicPr>
          <p:cNvPr id="10245" name="Picture 10">
            <a:extLst>
              <a:ext uri="{FF2B5EF4-FFF2-40B4-BE49-F238E27FC236}">
                <a16:creationId xmlns:a16="http://schemas.microsoft.com/office/drawing/2014/main" id="{FC48D3F3-5431-151F-D5E7-653072650E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71600"/>
            <a:ext cx="51816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D8AF2F18-6F75-2F6C-9C2D-C94796AB37A5}"/>
              </a:ext>
            </a:extLst>
          </p:cNvPr>
          <p:cNvSpPr>
            <a:spLocks noGrp="1"/>
          </p:cNvSpPr>
          <p:nvPr>
            <p:ph type="title"/>
          </p:nvPr>
        </p:nvSpPr>
        <p:spPr/>
        <p:txBody>
          <a:bodyPr/>
          <a:lstStyle/>
          <a:p>
            <a:pPr eaLnBrk="1" hangingPunct="1"/>
            <a:r>
              <a:rPr lang="en-US" altLang="en-US"/>
              <a:t>Disadvantage of Stop-and-Wait</a:t>
            </a:r>
          </a:p>
        </p:txBody>
      </p:sp>
      <p:sp>
        <p:nvSpPr>
          <p:cNvPr id="3" name="Content Placeholder 2">
            <a:extLst>
              <a:ext uri="{FF2B5EF4-FFF2-40B4-BE49-F238E27FC236}">
                <a16:creationId xmlns:a16="http://schemas.microsoft.com/office/drawing/2014/main" id="{A22DDD5E-0363-F4C3-10A3-83D529DD74BA}"/>
              </a:ext>
            </a:extLst>
          </p:cNvPr>
          <p:cNvSpPr>
            <a:spLocks noGrp="1"/>
          </p:cNvSpPr>
          <p:nvPr>
            <p:ph idx="1"/>
          </p:nvPr>
        </p:nvSpPr>
        <p:spPr/>
        <p:txBody>
          <a:bodyPr rtlCol="0">
            <a:normAutofit fontScale="92500"/>
          </a:bodyPr>
          <a:lstStyle/>
          <a:p>
            <a:pPr eaLnBrk="1" fontAlgn="auto" hangingPunct="1">
              <a:spcAft>
                <a:spcPts val="0"/>
              </a:spcAft>
              <a:defRPr/>
            </a:pPr>
            <a:r>
              <a:rPr lang="en-US" dirty="0"/>
              <a:t>In stop-and-wait, at any point in time, there is only one frame that is sent and waiting to be acknowledged.</a:t>
            </a:r>
          </a:p>
          <a:p>
            <a:pPr eaLnBrk="1" fontAlgn="auto" hangingPunct="1">
              <a:spcAft>
                <a:spcPts val="0"/>
              </a:spcAft>
              <a:defRPr/>
            </a:pPr>
            <a:r>
              <a:rPr lang="en-US" dirty="0"/>
              <a:t>This is not a good use of transmission medium.</a:t>
            </a:r>
          </a:p>
          <a:p>
            <a:pPr eaLnBrk="1" fontAlgn="auto" hangingPunct="1">
              <a:spcAft>
                <a:spcPts val="0"/>
              </a:spcAft>
              <a:defRPr/>
            </a:pPr>
            <a:r>
              <a:rPr lang="en-US" dirty="0"/>
              <a:t>To improve efficiency, multiple frames should be in transition while waiting for ACK.</a:t>
            </a:r>
          </a:p>
          <a:p>
            <a:pPr eaLnBrk="1" fontAlgn="auto" hangingPunct="1">
              <a:spcAft>
                <a:spcPts val="0"/>
              </a:spcAft>
              <a:defRPr/>
            </a:pPr>
            <a:r>
              <a:rPr lang="en-US" dirty="0"/>
              <a:t>Two protocol use the above concept,</a:t>
            </a:r>
          </a:p>
          <a:p>
            <a:pPr lvl="1" eaLnBrk="1" fontAlgn="auto" hangingPunct="1">
              <a:spcAft>
                <a:spcPts val="0"/>
              </a:spcAft>
              <a:defRPr/>
            </a:pPr>
            <a:r>
              <a:rPr lang="en-US" b="1" dirty="0"/>
              <a:t>Go-Back-N ARQ</a:t>
            </a:r>
          </a:p>
          <a:p>
            <a:pPr lvl="1" eaLnBrk="1" fontAlgn="auto" hangingPunct="1">
              <a:spcAft>
                <a:spcPts val="0"/>
              </a:spcAft>
              <a:defRPr/>
            </a:pPr>
            <a:r>
              <a:rPr lang="en-US" b="1" dirty="0"/>
              <a:t>Selective Repeat ARQ</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AF12758-9854-35B5-00E1-D0E16BA452EC}"/>
              </a:ext>
            </a:extLst>
          </p:cNvPr>
          <p:cNvPicPr>
            <a:picLocks noGrp="1" noChangeAspect="1"/>
          </p:cNvPicPr>
          <p:nvPr>
            <p:ph idx="1"/>
          </p:nvPr>
        </p:nvPicPr>
        <p:blipFill>
          <a:blip r:embed="rId2"/>
          <a:stretch>
            <a:fillRect/>
          </a:stretch>
        </p:blipFill>
        <p:spPr>
          <a:xfrm>
            <a:off x="457200" y="846593"/>
            <a:ext cx="8229600" cy="5249407"/>
          </a:xfrm>
          <a:prstGeom prst="rect">
            <a:avLst/>
          </a:prstGeom>
        </p:spPr>
      </p:pic>
    </p:spTree>
    <p:extLst>
      <p:ext uri="{BB962C8B-B14F-4D97-AF65-F5344CB8AC3E}">
        <p14:creationId xmlns:p14="http://schemas.microsoft.com/office/powerpoint/2010/main" val="3471869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C83016D-193F-0343-ACDF-1B595B4AD098}"/>
              </a:ext>
            </a:extLst>
          </p:cNvPr>
          <p:cNvPicPr>
            <a:picLocks noGrp="1" noChangeAspect="1"/>
          </p:cNvPicPr>
          <p:nvPr>
            <p:ph idx="1"/>
          </p:nvPr>
        </p:nvPicPr>
        <p:blipFill>
          <a:blip r:embed="rId2"/>
          <a:stretch>
            <a:fillRect/>
          </a:stretch>
        </p:blipFill>
        <p:spPr>
          <a:xfrm>
            <a:off x="526561" y="1600200"/>
            <a:ext cx="8090877" cy="4525963"/>
          </a:xfrm>
          <a:prstGeom prst="rect">
            <a:avLst/>
          </a:prstGeom>
        </p:spPr>
      </p:pic>
    </p:spTree>
    <p:extLst>
      <p:ext uri="{BB962C8B-B14F-4D97-AF65-F5344CB8AC3E}">
        <p14:creationId xmlns:p14="http://schemas.microsoft.com/office/powerpoint/2010/main" val="3955941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2D35269-D343-277D-44A6-0DA2EB81F419}"/>
              </a:ext>
            </a:extLst>
          </p:cNvPr>
          <p:cNvPicPr>
            <a:picLocks noGrp="1" noChangeAspect="1"/>
          </p:cNvPicPr>
          <p:nvPr>
            <p:ph idx="1"/>
          </p:nvPr>
        </p:nvPicPr>
        <p:blipFill>
          <a:blip r:embed="rId2"/>
          <a:stretch>
            <a:fillRect/>
          </a:stretch>
        </p:blipFill>
        <p:spPr>
          <a:xfrm>
            <a:off x="683187" y="762000"/>
            <a:ext cx="7777625" cy="5364163"/>
          </a:xfrm>
          <a:prstGeom prst="rect">
            <a:avLst/>
          </a:prstGeom>
        </p:spPr>
      </p:pic>
    </p:spTree>
    <p:extLst>
      <p:ext uri="{BB962C8B-B14F-4D97-AF65-F5344CB8AC3E}">
        <p14:creationId xmlns:p14="http://schemas.microsoft.com/office/powerpoint/2010/main" val="4040847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178350-FDCF-A3DF-B600-118B6B337AC2}"/>
              </a:ext>
            </a:extLst>
          </p:cNvPr>
          <p:cNvPicPr>
            <a:picLocks noChangeAspect="1"/>
          </p:cNvPicPr>
          <p:nvPr/>
        </p:nvPicPr>
        <p:blipFill>
          <a:blip r:embed="rId2"/>
          <a:stretch>
            <a:fillRect/>
          </a:stretch>
        </p:blipFill>
        <p:spPr>
          <a:xfrm>
            <a:off x="685800" y="1414490"/>
            <a:ext cx="7772400" cy="4029019"/>
          </a:xfrm>
          <a:prstGeom prst="rect">
            <a:avLst/>
          </a:prstGeom>
        </p:spPr>
      </p:pic>
    </p:spTree>
    <p:extLst>
      <p:ext uri="{BB962C8B-B14F-4D97-AF65-F5344CB8AC3E}">
        <p14:creationId xmlns:p14="http://schemas.microsoft.com/office/powerpoint/2010/main" val="2376283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0476D2-3BDD-7BB6-8DF5-11591B99091B}"/>
              </a:ext>
            </a:extLst>
          </p:cNvPr>
          <p:cNvPicPr>
            <a:picLocks noChangeAspect="1"/>
          </p:cNvPicPr>
          <p:nvPr/>
        </p:nvPicPr>
        <p:blipFill>
          <a:blip r:embed="rId2"/>
          <a:stretch>
            <a:fillRect/>
          </a:stretch>
        </p:blipFill>
        <p:spPr>
          <a:xfrm>
            <a:off x="685800" y="1368317"/>
            <a:ext cx="7772400" cy="4121365"/>
          </a:xfrm>
          <a:prstGeom prst="rect">
            <a:avLst/>
          </a:prstGeom>
        </p:spPr>
      </p:pic>
    </p:spTree>
    <p:extLst>
      <p:ext uri="{BB962C8B-B14F-4D97-AF65-F5344CB8AC3E}">
        <p14:creationId xmlns:p14="http://schemas.microsoft.com/office/powerpoint/2010/main" val="468224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D1985E-B819-FE7F-51D3-2303B9F7AD3D}"/>
              </a:ext>
            </a:extLst>
          </p:cNvPr>
          <p:cNvPicPr>
            <a:picLocks noChangeAspect="1"/>
          </p:cNvPicPr>
          <p:nvPr/>
        </p:nvPicPr>
        <p:blipFill>
          <a:blip r:embed="rId2"/>
          <a:stretch>
            <a:fillRect/>
          </a:stretch>
        </p:blipFill>
        <p:spPr>
          <a:xfrm>
            <a:off x="685800" y="1309255"/>
            <a:ext cx="7772400" cy="4239490"/>
          </a:xfrm>
          <a:prstGeom prst="rect">
            <a:avLst/>
          </a:prstGeom>
        </p:spPr>
      </p:pic>
    </p:spTree>
    <p:extLst>
      <p:ext uri="{BB962C8B-B14F-4D97-AF65-F5344CB8AC3E}">
        <p14:creationId xmlns:p14="http://schemas.microsoft.com/office/powerpoint/2010/main" val="4208374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CB7FC50-ED38-6171-9CB6-D2BF3F0C458E}"/>
              </a:ext>
            </a:extLst>
          </p:cNvPr>
          <p:cNvPicPr>
            <a:picLocks noChangeAspect="1"/>
          </p:cNvPicPr>
          <p:nvPr/>
        </p:nvPicPr>
        <p:blipFill>
          <a:blip r:embed="rId2"/>
          <a:stretch>
            <a:fillRect/>
          </a:stretch>
        </p:blipFill>
        <p:spPr>
          <a:xfrm>
            <a:off x="685800" y="1364336"/>
            <a:ext cx="7772400" cy="4129328"/>
          </a:xfrm>
          <a:prstGeom prst="rect">
            <a:avLst/>
          </a:prstGeom>
        </p:spPr>
      </p:pic>
    </p:spTree>
    <p:extLst>
      <p:ext uri="{BB962C8B-B14F-4D97-AF65-F5344CB8AC3E}">
        <p14:creationId xmlns:p14="http://schemas.microsoft.com/office/powerpoint/2010/main" val="2424232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E7D571A5-F174-C577-C181-5D0F7A007A19}"/>
              </a:ext>
            </a:extLst>
          </p:cNvPr>
          <p:cNvSpPr>
            <a:spLocks noGrp="1"/>
          </p:cNvSpPr>
          <p:nvPr>
            <p:ph type="title"/>
          </p:nvPr>
        </p:nvSpPr>
        <p:spPr/>
        <p:txBody>
          <a:bodyPr/>
          <a:lstStyle/>
          <a:p>
            <a:pPr eaLnBrk="1" hangingPunct="1"/>
            <a:r>
              <a:rPr lang="en-US" altLang="en-US"/>
              <a:t>Go-Back-N ARQ</a:t>
            </a:r>
          </a:p>
        </p:txBody>
      </p:sp>
      <p:sp>
        <p:nvSpPr>
          <p:cNvPr id="12291" name="Content Placeholder 2">
            <a:extLst>
              <a:ext uri="{FF2B5EF4-FFF2-40B4-BE49-F238E27FC236}">
                <a16:creationId xmlns:a16="http://schemas.microsoft.com/office/drawing/2014/main" id="{0461D965-4BBF-3A07-2B3E-95086C4ABEAD}"/>
              </a:ext>
            </a:extLst>
          </p:cNvPr>
          <p:cNvSpPr>
            <a:spLocks noGrp="1"/>
          </p:cNvSpPr>
          <p:nvPr>
            <p:ph idx="1"/>
          </p:nvPr>
        </p:nvSpPr>
        <p:spPr/>
        <p:txBody>
          <a:bodyPr/>
          <a:lstStyle/>
          <a:p>
            <a:pPr eaLnBrk="1" hangingPunct="1"/>
            <a:r>
              <a:rPr lang="en-US" altLang="en-US"/>
              <a:t>We can send up to W frames before worrying about ACKs.</a:t>
            </a:r>
          </a:p>
          <a:p>
            <a:pPr eaLnBrk="1" hangingPunct="1"/>
            <a:r>
              <a:rPr lang="en-US" altLang="en-US"/>
              <a:t>We keep a copy of these frames until the ACKs arrive.</a:t>
            </a:r>
          </a:p>
          <a:p>
            <a:pPr eaLnBrk="1" hangingPunct="1"/>
            <a:r>
              <a:rPr lang="en-US" altLang="en-US"/>
              <a:t>This procedure requires additional features to be added to Stop-and-Wait ARQ.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AF3EF79-3779-37E2-3345-46661389DB7D}"/>
              </a:ext>
            </a:extLst>
          </p:cNvPr>
          <p:cNvSpPr>
            <a:spLocks noGrp="1"/>
          </p:cNvSpPr>
          <p:nvPr>
            <p:ph type="title"/>
          </p:nvPr>
        </p:nvSpPr>
        <p:spPr/>
        <p:txBody>
          <a:bodyPr/>
          <a:lstStyle/>
          <a:p>
            <a:pPr eaLnBrk="1" hangingPunct="1"/>
            <a:r>
              <a:rPr lang="en-US" altLang="en-US"/>
              <a:t>Sequence Numbers</a:t>
            </a:r>
          </a:p>
        </p:txBody>
      </p:sp>
      <p:sp>
        <p:nvSpPr>
          <p:cNvPr id="3" name="Content Placeholder 2">
            <a:extLst>
              <a:ext uri="{FF2B5EF4-FFF2-40B4-BE49-F238E27FC236}">
                <a16:creationId xmlns:a16="http://schemas.microsoft.com/office/drawing/2014/main" id="{77EED983-0E72-9F64-8F24-A9C013B602FC}"/>
              </a:ext>
            </a:extLst>
          </p:cNvPr>
          <p:cNvSpPr>
            <a:spLocks noGrp="1"/>
          </p:cNvSpPr>
          <p:nvPr>
            <p:ph idx="1"/>
          </p:nvPr>
        </p:nvSpPr>
        <p:spPr/>
        <p:txBody>
          <a:bodyPr rtlCol="0">
            <a:normAutofit fontScale="85000" lnSpcReduction="10000"/>
          </a:bodyPr>
          <a:lstStyle/>
          <a:p>
            <a:pPr eaLnBrk="1" fontAlgn="auto" hangingPunct="1">
              <a:spcAft>
                <a:spcPts val="0"/>
              </a:spcAft>
              <a:defRPr/>
            </a:pPr>
            <a:r>
              <a:rPr lang="en-US" dirty="0"/>
              <a:t>Frames from a sender are numbered sequentially.</a:t>
            </a:r>
          </a:p>
          <a:p>
            <a:pPr eaLnBrk="1" fontAlgn="auto" hangingPunct="1">
              <a:spcAft>
                <a:spcPts val="0"/>
              </a:spcAft>
              <a:defRPr/>
            </a:pPr>
            <a:r>
              <a:rPr lang="en-US" dirty="0"/>
              <a:t>We need to set a limit since we need to include the sequence number of each frame in the header.</a:t>
            </a:r>
          </a:p>
          <a:p>
            <a:pPr eaLnBrk="1" fontAlgn="auto" hangingPunct="1">
              <a:spcAft>
                <a:spcPts val="0"/>
              </a:spcAft>
              <a:defRPr/>
            </a:pPr>
            <a:r>
              <a:rPr lang="en-US" dirty="0"/>
              <a:t>If the header of the frame allows m bits for sequence number, the sequence numbers range from 0 to 2 </a:t>
            </a:r>
            <a:r>
              <a:rPr lang="en-US" baseline="30000" dirty="0"/>
              <a:t>m</a:t>
            </a:r>
            <a:r>
              <a:rPr lang="en-US" dirty="0"/>
              <a:t> – 1. for m = 3, sequence numbers are: 1, 2, 3, 4, 5, 6, 7.</a:t>
            </a:r>
          </a:p>
          <a:p>
            <a:pPr eaLnBrk="1" fontAlgn="auto" hangingPunct="1">
              <a:spcAft>
                <a:spcPts val="0"/>
              </a:spcAft>
              <a:defRPr/>
            </a:pPr>
            <a:r>
              <a:rPr lang="en-US" dirty="0"/>
              <a:t>We can repeat the sequence number.</a:t>
            </a:r>
          </a:p>
          <a:p>
            <a:pPr eaLnBrk="1" fontAlgn="auto" hangingPunct="1">
              <a:spcAft>
                <a:spcPts val="0"/>
              </a:spcAft>
              <a:defRPr/>
            </a:pPr>
            <a:r>
              <a:rPr lang="en-US" dirty="0"/>
              <a:t>Sequence numbers are:</a:t>
            </a:r>
          </a:p>
          <a:p>
            <a:pPr eaLnBrk="1" fontAlgn="auto" hangingPunct="1">
              <a:spcAft>
                <a:spcPts val="0"/>
              </a:spcAft>
              <a:buFont typeface="Arial" panose="020B0604020202020204" pitchFamily="34" charset="0"/>
              <a:buNone/>
              <a:defRPr/>
            </a:pPr>
            <a:r>
              <a:rPr lang="en-US" dirty="0"/>
              <a:t>	0, 1, 2, 3, 4, 5, 6, 7, 0, 1, 2, 3, 4, 5, 6, 7, 0, 1,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E16DFC4A-B1AF-0627-C407-7EF939B5832C}"/>
              </a:ext>
            </a:extLst>
          </p:cNvPr>
          <p:cNvSpPr>
            <a:spLocks noGrp="1"/>
          </p:cNvSpPr>
          <p:nvPr>
            <p:ph type="title"/>
          </p:nvPr>
        </p:nvSpPr>
        <p:spPr>
          <a:xfrm>
            <a:off x="457200" y="152400"/>
            <a:ext cx="5562600" cy="641350"/>
          </a:xfrm>
        </p:spPr>
        <p:txBody>
          <a:bodyPr/>
          <a:lstStyle/>
          <a:p>
            <a:pPr eaLnBrk="1" hangingPunct="1"/>
            <a:r>
              <a:rPr lang="en-US" altLang="en-US" sz="3600"/>
              <a:t>Sender Sliding Window</a:t>
            </a:r>
          </a:p>
        </p:txBody>
      </p:sp>
      <p:pic>
        <p:nvPicPr>
          <p:cNvPr id="14339" name="Picture 11">
            <a:extLst>
              <a:ext uri="{FF2B5EF4-FFF2-40B4-BE49-F238E27FC236}">
                <a16:creationId xmlns:a16="http://schemas.microsoft.com/office/drawing/2014/main" id="{C5251515-4508-B5DD-B1A4-1C9F31114C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86200" y="1828800"/>
            <a:ext cx="5111750" cy="2855913"/>
          </a:xfrm>
          <a:noFill/>
        </p:spPr>
      </p:pic>
      <p:sp>
        <p:nvSpPr>
          <p:cNvPr id="14340" name="Content Placeholder 2">
            <a:extLst>
              <a:ext uri="{FF2B5EF4-FFF2-40B4-BE49-F238E27FC236}">
                <a16:creationId xmlns:a16="http://schemas.microsoft.com/office/drawing/2014/main" id="{6A8FDFBD-0C61-F147-8EE9-B41A8C91E802}"/>
              </a:ext>
            </a:extLst>
          </p:cNvPr>
          <p:cNvSpPr txBox="1">
            <a:spLocks/>
          </p:cNvSpPr>
          <p:nvPr/>
        </p:nvSpPr>
        <p:spPr bwMode="auto">
          <a:xfrm>
            <a:off x="152400" y="838200"/>
            <a:ext cx="36576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At the sending site, to hold the outstanding frames until they are acknowledged, we use the concept of a window.</a:t>
            </a:r>
          </a:p>
          <a:p>
            <a:pPr eaLnBrk="1" hangingPunct="1">
              <a:spcBef>
                <a:spcPct val="20000"/>
              </a:spcBef>
              <a:buFont typeface="Arial" panose="020B0604020202020204" pitchFamily="34" charset="0"/>
              <a:buChar char="•"/>
            </a:pPr>
            <a:r>
              <a:rPr lang="en-US" altLang="en-US" sz="2400">
                <a:latin typeface="Calibri" panose="020F0502020204030204" pitchFamily="34" charset="0"/>
              </a:rPr>
              <a:t>The size of the window is at most 2</a:t>
            </a:r>
            <a:r>
              <a:rPr lang="en-US" altLang="en-US" sz="2400" baseline="30000">
                <a:latin typeface="Calibri" panose="020F0502020204030204" pitchFamily="34" charset="0"/>
              </a:rPr>
              <a:t>m</a:t>
            </a:r>
            <a:r>
              <a:rPr lang="en-US" altLang="en-US" sz="2400">
                <a:latin typeface="Calibri" panose="020F0502020204030204" pitchFamily="34" charset="0"/>
              </a:rPr>
              <a:t> -1 where m is the number of bits for the sequence number.</a:t>
            </a:r>
          </a:p>
          <a:p>
            <a:pPr eaLnBrk="1" hangingPunct="1">
              <a:spcBef>
                <a:spcPct val="20000"/>
              </a:spcBef>
              <a:buFont typeface="Arial" panose="020B0604020202020204" pitchFamily="34" charset="0"/>
              <a:buChar char="•"/>
            </a:pPr>
            <a:r>
              <a:rPr lang="en-US" altLang="en-US" sz="2400">
                <a:latin typeface="Calibri" panose="020F0502020204030204" pitchFamily="34" charset="0"/>
              </a:rPr>
              <a:t>Size of the window can be variable, e.g. TCP.</a:t>
            </a:r>
          </a:p>
          <a:p>
            <a:pPr eaLnBrk="1" hangingPunct="1">
              <a:spcBef>
                <a:spcPct val="20000"/>
              </a:spcBef>
              <a:buFont typeface="Arial" panose="020B0604020202020204" pitchFamily="34" charset="0"/>
              <a:buChar char="•"/>
            </a:pPr>
            <a:r>
              <a:rPr lang="en-US" altLang="en-US" sz="2400">
                <a:latin typeface="Calibri" panose="020F0502020204030204" pitchFamily="34" charset="0"/>
              </a:rPr>
              <a:t>The window slides to include new unsent frames when the correct ACKs are received</a:t>
            </a:r>
          </a:p>
          <a:p>
            <a:pPr eaLnBrk="1" hangingPunct="1">
              <a:spcBef>
                <a:spcPct val="20000"/>
              </a:spcBef>
              <a:buFont typeface="Arial" panose="020B0604020202020204" pitchFamily="34" charset="0"/>
              <a:buChar char="•"/>
            </a:pPr>
            <a:endParaRPr lang="en-US" altLang="en-US" sz="2400">
              <a:latin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A5B8AEF-5AF1-E58E-A3E1-BC965EC27B70}"/>
              </a:ext>
            </a:extLst>
          </p:cNvPr>
          <p:cNvSpPr>
            <a:spLocks noGrp="1"/>
          </p:cNvSpPr>
          <p:nvPr>
            <p:ph type="title"/>
          </p:nvPr>
        </p:nvSpPr>
        <p:spPr>
          <a:xfrm>
            <a:off x="457200" y="273050"/>
            <a:ext cx="5562600" cy="641350"/>
          </a:xfrm>
        </p:spPr>
        <p:txBody>
          <a:bodyPr/>
          <a:lstStyle/>
          <a:p>
            <a:pPr eaLnBrk="1" hangingPunct="1"/>
            <a:r>
              <a:rPr lang="en-US" altLang="en-US" sz="3600"/>
              <a:t>Receiver Sliding Window</a:t>
            </a:r>
          </a:p>
        </p:txBody>
      </p:sp>
      <p:sp>
        <p:nvSpPr>
          <p:cNvPr id="15363" name="Content Placeholder 2">
            <a:extLst>
              <a:ext uri="{FF2B5EF4-FFF2-40B4-BE49-F238E27FC236}">
                <a16:creationId xmlns:a16="http://schemas.microsoft.com/office/drawing/2014/main" id="{262BC978-3983-1808-51CD-BF6429B188D6}"/>
              </a:ext>
            </a:extLst>
          </p:cNvPr>
          <p:cNvSpPr txBox="1">
            <a:spLocks/>
          </p:cNvSpPr>
          <p:nvPr/>
        </p:nvSpPr>
        <p:spPr bwMode="auto">
          <a:xfrm>
            <a:off x="152400" y="914400"/>
            <a:ext cx="3505200" cy="5715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Size of the window at the receiving site is always 1 in this protocol.</a:t>
            </a:r>
          </a:p>
          <a:p>
            <a:pPr eaLnBrk="1" hangingPunct="1">
              <a:spcBef>
                <a:spcPct val="20000"/>
              </a:spcBef>
              <a:buFont typeface="Arial" panose="020B0604020202020204" pitchFamily="34" charset="0"/>
              <a:buChar char="•"/>
            </a:pPr>
            <a:r>
              <a:rPr lang="en-US" altLang="en-US" sz="2400">
                <a:latin typeface="Calibri" panose="020F0502020204030204" pitchFamily="34" charset="0"/>
              </a:rPr>
              <a:t>Receiver is always looking for a specific frame to arrive in a specific order.</a:t>
            </a:r>
          </a:p>
          <a:p>
            <a:pPr eaLnBrk="1" hangingPunct="1">
              <a:spcBef>
                <a:spcPct val="20000"/>
              </a:spcBef>
              <a:buFont typeface="Arial" panose="020B0604020202020204" pitchFamily="34" charset="0"/>
              <a:buChar char="•"/>
            </a:pPr>
            <a:r>
              <a:rPr lang="en-US" altLang="en-US" sz="2400">
                <a:latin typeface="Calibri" panose="020F0502020204030204" pitchFamily="34" charset="0"/>
              </a:rPr>
              <a:t>Any frame arriving out of order is discarded and needs to be resent.</a:t>
            </a:r>
          </a:p>
          <a:p>
            <a:pPr eaLnBrk="1" hangingPunct="1">
              <a:spcBef>
                <a:spcPct val="20000"/>
              </a:spcBef>
              <a:buFont typeface="Arial" panose="020B0604020202020204" pitchFamily="34" charset="0"/>
              <a:buChar char="•"/>
            </a:pPr>
            <a:r>
              <a:rPr lang="en-US" altLang="en-US" sz="2400">
                <a:latin typeface="Calibri" panose="020F0502020204030204" pitchFamily="34" charset="0"/>
              </a:rPr>
              <a:t>Receiver window slides as shown in fig. Receiver is waiting for frame 0 in part a.</a:t>
            </a:r>
          </a:p>
          <a:p>
            <a:pPr eaLnBrk="1" hangingPunct="1">
              <a:spcBef>
                <a:spcPct val="20000"/>
              </a:spcBef>
              <a:buFont typeface="Arial" panose="020B0604020202020204" pitchFamily="34" charset="0"/>
              <a:buChar char="•"/>
            </a:pPr>
            <a:endParaRPr lang="en-US" altLang="en-US" sz="2400">
              <a:latin typeface="Calibri" panose="020F0502020204030204" pitchFamily="34" charset="0"/>
            </a:endParaRPr>
          </a:p>
        </p:txBody>
      </p:sp>
      <p:pic>
        <p:nvPicPr>
          <p:cNvPr id="15364" name="Picture 10">
            <a:extLst>
              <a:ext uri="{FF2B5EF4-FFF2-40B4-BE49-F238E27FC236}">
                <a16:creationId xmlns:a16="http://schemas.microsoft.com/office/drawing/2014/main" id="{0C93E718-2106-A878-3D5E-7B81EBC344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33800" y="2514600"/>
            <a:ext cx="5111750" cy="2173288"/>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05CCCC4-F19D-74AB-6861-D0CAC8824333}"/>
              </a:ext>
            </a:extLst>
          </p:cNvPr>
          <p:cNvSpPr>
            <a:spLocks noGrp="1"/>
          </p:cNvSpPr>
          <p:nvPr>
            <p:ph type="title"/>
          </p:nvPr>
        </p:nvSpPr>
        <p:spPr>
          <a:xfrm>
            <a:off x="457200" y="152400"/>
            <a:ext cx="5562600" cy="457200"/>
          </a:xfrm>
        </p:spPr>
        <p:txBody>
          <a:bodyPr/>
          <a:lstStyle/>
          <a:p>
            <a:pPr eaLnBrk="1" hangingPunct="1"/>
            <a:r>
              <a:rPr lang="en-US" altLang="en-US" sz="3600"/>
              <a:t>Control Variables</a:t>
            </a:r>
          </a:p>
        </p:txBody>
      </p:sp>
      <p:sp>
        <p:nvSpPr>
          <p:cNvPr id="16387" name="Content Placeholder 2">
            <a:extLst>
              <a:ext uri="{FF2B5EF4-FFF2-40B4-BE49-F238E27FC236}">
                <a16:creationId xmlns:a16="http://schemas.microsoft.com/office/drawing/2014/main" id="{46E482DF-C302-983C-8A5B-6954D2F3DA1C}"/>
              </a:ext>
            </a:extLst>
          </p:cNvPr>
          <p:cNvSpPr txBox="1">
            <a:spLocks/>
          </p:cNvSpPr>
          <p:nvPr/>
        </p:nvSpPr>
        <p:spPr bwMode="auto">
          <a:xfrm>
            <a:off x="152400" y="685800"/>
            <a:ext cx="8686800" cy="2895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Sender has 3 variables: S, S</a:t>
            </a:r>
            <a:r>
              <a:rPr lang="en-US" altLang="en-US" sz="2400" baseline="-25000">
                <a:latin typeface="Calibri" panose="020F0502020204030204" pitchFamily="34" charset="0"/>
              </a:rPr>
              <a:t>F</a:t>
            </a:r>
            <a:r>
              <a:rPr lang="en-US" altLang="en-US" sz="2400">
                <a:latin typeface="Calibri" panose="020F0502020204030204" pitchFamily="34" charset="0"/>
              </a:rPr>
              <a:t>, and S</a:t>
            </a:r>
            <a:r>
              <a:rPr lang="en-US" altLang="en-US" sz="2400" baseline="-25000">
                <a:latin typeface="Calibri" panose="020F0502020204030204" pitchFamily="34" charset="0"/>
              </a:rPr>
              <a:t>L</a:t>
            </a:r>
            <a:endParaRPr lang="en-US" altLang="en-US" sz="2400">
              <a:latin typeface="Calibri" panose="020F0502020204030204" pitchFamily="34" charset="0"/>
            </a:endParaRPr>
          </a:p>
          <a:p>
            <a:pPr eaLnBrk="1" hangingPunct="1">
              <a:spcBef>
                <a:spcPct val="20000"/>
              </a:spcBef>
              <a:buFont typeface="Arial" panose="020B0604020202020204" pitchFamily="34" charset="0"/>
              <a:buChar char="•"/>
            </a:pPr>
            <a:r>
              <a:rPr lang="en-US" altLang="en-US" sz="2400">
                <a:latin typeface="Calibri" panose="020F0502020204030204" pitchFamily="34" charset="0"/>
              </a:rPr>
              <a:t>S holds the sequence number of recently sent frame</a:t>
            </a:r>
          </a:p>
          <a:p>
            <a:pPr eaLnBrk="1" hangingPunct="1">
              <a:spcBef>
                <a:spcPct val="20000"/>
              </a:spcBef>
              <a:buFont typeface="Arial" panose="020B0604020202020204" pitchFamily="34" charset="0"/>
              <a:buChar char="•"/>
            </a:pPr>
            <a:r>
              <a:rPr lang="en-US" altLang="en-US" sz="2400">
                <a:latin typeface="Calibri" panose="020F0502020204030204" pitchFamily="34" charset="0"/>
              </a:rPr>
              <a:t>S</a:t>
            </a:r>
            <a:r>
              <a:rPr lang="en-US" altLang="en-US" sz="2400" baseline="-25000">
                <a:latin typeface="Calibri" panose="020F0502020204030204" pitchFamily="34" charset="0"/>
              </a:rPr>
              <a:t>F</a:t>
            </a:r>
            <a:r>
              <a:rPr lang="en-US" altLang="en-US" sz="2400">
                <a:latin typeface="Calibri" panose="020F0502020204030204" pitchFamily="34" charset="0"/>
              </a:rPr>
              <a:t> holds the sequence number of the first frame</a:t>
            </a:r>
          </a:p>
          <a:p>
            <a:pPr eaLnBrk="1" hangingPunct="1">
              <a:spcBef>
                <a:spcPct val="20000"/>
              </a:spcBef>
              <a:buFont typeface="Arial" panose="020B0604020202020204" pitchFamily="34" charset="0"/>
              <a:buChar char="•"/>
            </a:pPr>
            <a:r>
              <a:rPr lang="en-US" altLang="en-US" sz="2400">
                <a:latin typeface="Calibri" panose="020F0502020204030204" pitchFamily="34" charset="0"/>
              </a:rPr>
              <a:t>S</a:t>
            </a:r>
            <a:r>
              <a:rPr lang="en-US" altLang="en-US" sz="2400" baseline="-25000">
                <a:latin typeface="Calibri" panose="020F0502020204030204" pitchFamily="34" charset="0"/>
              </a:rPr>
              <a:t>L</a:t>
            </a:r>
            <a:r>
              <a:rPr lang="en-US" altLang="en-US" sz="2400">
                <a:latin typeface="Calibri" panose="020F0502020204030204" pitchFamily="34" charset="0"/>
              </a:rPr>
              <a:t> holds the sequence number of the last frame</a:t>
            </a:r>
          </a:p>
          <a:p>
            <a:pPr eaLnBrk="1" hangingPunct="1">
              <a:spcBef>
                <a:spcPct val="20000"/>
              </a:spcBef>
              <a:buFont typeface="Arial" panose="020B0604020202020204" pitchFamily="34" charset="0"/>
              <a:buChar char="•"/>
            </a:pPr>
            <a:r>
              <a:rPr lang="en-US" altLang="en-US" sz="2400">
                <a:latin typeface="Calibri" panose="020F0502020204030204" pitchFamily="34" charset="0"/>
              </a:rPr>
              <a:t>Receiver only has the one variable, R, that holds the sequence number of the frame it expects to receive. If the seq. no. is the same as the value of R, the frame is accepted, otherwise rejected.</a:t>
            </a:r>
          </a:p>
        </p:txBody>
      </p:sp>
      <p:pic>
        <p:nvPicPr>
          <p:cNvPr id="16388" name="Picture 10">
            <a:extLst>
              <a:ext uri="{FF2B5EF4-FFF2-40B4-BE49-F238E27FC236}">
                <a16:creationId xmlns:a16="http://schemas.microsoft.com/office/drawing/2014/main" id="{50277103-7964-2466-6A6C-A8DC1C9EF0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8600" y="3962400"/>
            <a:ext cx="8534400" cy="2787650"/>
          </a:xfr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9CD0CEF7-CE5E-4073-EECC-BDFB71CF9A3A}"/>
              </a:ext>
            </a:extLst>
          </p:cNvPr>
          <p:cNvSpPr>
            <a:spLocks noGrp="1"/>
          </p:cNvSpPr>
          <p:nvPr>
            <p:ph type="title"/>
          </p:nvPr>
        </p:nvSpPr>
        <p:spPr>
          <a:xfrm>
            <a:off x="457200" y="228600"/>
            <a:ext cx="8229600" cy="715963"/>
          </a:xfrm>
        </p:spPr>
        <p:txBody>
          <a:bodyPr/>
          <a:lstStyle/>
          <a:p>
            <a:r>
              <a:rPr lang="en-US" altLang="en-US"/>
              <a:t>Acknowledgement</a:t>
            </a:r>
          </a:p>
        </p:txBody>
      </p:sp>
      <p:sp>
        <p:nvSpPr>
          <p:cNvPr id="17411" name="Content Placeholder 2">
            <a:extLst>
              <a:ext uri="{FF2B5EF4-FFF2-40B4-BE49-F238E27FC236}">
                <a16:creationId xmlns:a16="http://schemas.microsoft.com/office/drawing/2014/main" id="{3E228033-65BD-63F7-C40A-D4BFF7A54945}"/>
              </a:ext>
            </a:extLst>
          </p:cNvPr>
          <p:cNvSpPr>
            <a:spLocks noGrp="1"/>
          </p:cNvSpPr>
          <p:nvPr>
            <p:ph idx="1"/>
          </p:nvPr>
        </p:nvSpPr>
        <p:spPr>
          <a:xfrm>
            <a:off x="228600" y="990600"/>
            <a:ext cx="8763000" cy="5562600"/>
          </a:xfrm>
        </p:spPr>
        <p:txBody>
          <a:bodyPr/>
          <a:lstStyle/>
          <a:p>
            <a:r>
              <a:rPr lang="en-US" altLang="en-US" sz="2400"/>
              <a:t>Receiver sends positive ACK if a frame arrived safe and in order. </a:t>
            </a:r>
          </a:p>
          <a:p>
            <a:r>
              <a:rPr lang="en-US" altLang="en-US" sz="2400"/>
              <a:t>If the frames are damaged/out of order, receiver is silent and discard all subsequent frames until it receives the one it is expecting.</a:t>
            </a:r>
          </a:p>
          <a:p>
            <a:r>
              <a:rPr lang="en-US" altLang="en-US" sz="2400"/>
              <a:t>The silence of the receiver causes the timer of the unacknowledged frame to expire.</a:t>
            </a:r>
          </a:p>
          <a:p>
            <a:r>
              <a:rPr lang="en-US" altLang="en-US" sz="2400"/>
              <a:t>Then the sender resends all frames, beginning with the one with the expired timer.</a:t>
            </a:r>
          </a:p>
          <a:p>
            <a:r>
              <a:rPr lang="en-US" altLang="en-US" sz="2400"/>
              <a:t>For example, suppose the sender has sent frame 6, but the timer for frame 3 expires (i.e. frame 3 has not been acknowledged), then the sender goes back and sends frames 3, 4, 5, 6 again. Thus it is called Go-Back-N-ARQ</a:t>
            </a:r>
          </a:p>
          <a:p>
            <a:r>
              <a:rPr lang="en-US" altLang="en-US" sz="2400"/>
              <a:t>The receiver does not have to acknowledge each frame received, it can send one cumulative ACK for several frames.</a:t>
            </a:r>
          </a:p>
          <a:p>
            <a:endParaRPr lang="en-US" altLang="en-US"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BC45B6D-ED4C-B02E-0B44-082967123FAA}"/>
              </a:ext>
            </a:extLst>
          </p:cNvPr>
          <p:cNvPicPr>
            <a:picLocks noGrp="1" noChangeAspect="1"/>
          </p:cNvPicPr>
          <p:nvPr>
            <p:ph idx="1"/>
          </p:nvPr>
        </p:nvPicPr>
        <p:blipFill>
          <a:blip r:embed="rId2"/>
          <a:stretch>
            <a:fillRect/>
          </a:stretch>
        </p:blipFill>
        <p:spPr>
          <a:xfrm>
            <a:off x="457200" y="1704793"/>
            <a:ext cx="8229600" cy="4316777"/>
          </a:xfrm>
          <a:prstGeom prst="rect">
            <a:avLst/>
          </a:prstGeom>
        </p:spPr>
      </p:pic>
    </p:spTree>
    <p:extLst>
      <p:ext uri="{BB962C8B-B14F-4D97-AF65-F5344CB8AC3E}">
        <p14:creationId xmlns:p14="http://schemas.microsoft.com/office/powerpoint/2010/main" val="42554558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4AEBABD-390B-BE26-8446-5ADC1A1ACF39}"/>
              </a:ext>
            </a:extLst>
          </p:cNvPr>
          <p:cNvPicPr>
            <a:picLocks noGrp="1" noChangeAspect="1"/>
          </p:cNvPicPr>
          <p:nvPr>
            <p:ph idx="1"/>
          </p:nvPr>
        </p:nvPicPr>
        <p:blipFill>
          <a:blip r:embed="rId2"/>
          <a:stretch>
            <a:fillRect/>
          </a:stretch>
        </p:blipFill>
        <p:spPr>
          <a:xfrm>
            <a:off x="457200" y="1703109"/>
            <a:ext cx="8229600" cy="4320145"/>
          </a:xfrm>
          <a:prstGeom prst="rect">
            <a:avLst/>
          </a:prstGeom>
        </p:spPr>
      </p:pic>
    </p:spTree>
    <p:extLst>
      <p:ext uri="{BB962C8B-B14F-4D97-AF65-F5344CB8AC3E}">
        <p14:creationId xmlns:p14="http://schemas.microsoft.com/office/powerpoint/2010/main" val="2663887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E7777B-FD1F-56AC-7761-80B0ADD8DF2F}"/>
              </a:ext>
            </a:extLst>
          </p:cNvPr>
          <p:cNvPicPr>
            <a:picLocks noChangeAspect="1"/>
          </p:cNvPicPr>
          <p:nvPr/>
        </p:nvPicPr>
        <p:blipFill>
          <a:blip r:embed="rId2"/>
          <a:stretch>
            <a:fillRect/>
          </a:stretch>
        </p:blipFill>
        <p:spPr>
          <a:xfrm>
            <a:off x="685800" y="1374654"/>
            <a:ext cx="7772400" cy="4108692"/>
          </a:xfrm>
          <a:prstGeom prst="rect">
            <a:avLst/>
          </a:prstGeom>
        </p:spPr>
      </p:pic>
    </p:spTree>
    <p:extLst>
      <p:ext uri="{BB962C8B-B14F-4D97-AF65-F5344CB8AC3E}">
        <p14:creationId xmlns:p14="http://schemas.microsoft.com/office/powerpoint/2010/main" val="1202974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020899-1678-0DF1-7AA6-3FD1B89C0B16}"/>
              </a:ext>
            </a:extLst>
          </p:cNvPr>
          <p:cNvPicPr>
            <a:picLocks noChangeAspect="1"/>
          </p:cNvPicPr>
          <p:nvPr/>
        </p:nvPicPr>
        <p:blipFill>
          <a:blip r:embed="rId2"/>
          <a:stretch>
            <a:fillRect/>
          </a:stretch>
        </p:blipFill>
        <p:spPr>
          <a:xfrm>
            <a:off x="685800" y="1376194"/>
            <a:ext cx="7772400" cy="4105612"/>
          </a:xfrm>
          <a:prstGeom prst="rect">
            <a:avLst/>
          </a:prstGeom>
        </p:spPr>
      </p:pic>
    </p:spTree>
    <p:extLst>
      <p:ext uri="{BB962C8B-B14F-4D97-AF65-F5344CB8AC3E}">
        <p14:creationId xmlns:p14="http://schemas.microsoft.com/office/powerpoint/2010/main" val="1363376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0CBC5C5-0FC2-0813-0E45-7542C035492B}"/>
              </a:ext>
            </a:extLst>
          </p:cNvPr>
          <p:cNvSpPr>
            <a:spLocks noGrp="1"/>
          </p:cNvSpPr>
          <p:nvPr>
            <p:ph type="title"/>
          </p:nvPr>
        </p:nvSpPr>
        <p:spPr>
          <a:xfrm>
            <a:off x="457200" y="152400"/>
            <a:ext cx="7467600" cy="533400"/>
          </a:xfrm>
        </p:spPr>
        <p:txBody>
          <a:bodyPr/>
          <a:lstStyle/>
          <a:p>
            <a:pPr eaLnBrk="1" hangingPunct="1"/>
            <a:r>
              <a:rPr lang="en-US" altLang="en-US" sz="3600"/>
              <a:t>Go-Back-N ARQ, normal operation</a:t>
            </a:r>
          </a:p>
        </p:txBody>
      </p:sp>
      <p:pic>
        <p:nvPicPr>
          <p:cNvPr id="18435" name="Picture 10">
            <a:extLst>
              <a:ext uri="{FF2B5EF4-FFF2-40B4-BE49-F238E27FC236}">
                <a16:creationId xmlns:a16="http://schemas.microsoft.com/office/drawing/2014/main" id="{722992EE-0FDD-8139-3625-0F77EE41A7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133600"/>
            <a:ext cx="6629400"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Content Placeholder 2">
            <a:extLst>
              <a:ext uri="{FF2B5EF4-FFF2-40B4-BE49-F238E27FC236}">
                <a16:creationId xmlns:a16="http://schemas.microsoft.com/office/drawing/2014/main" id="{5052208D-B02B-36FA-A108-95A6B10D60AB}"/>
              </a:ext>
            </a:extLst>
          </p:cNvPr>
          <p:cNvSpPr txBox="1">
            <a:spLocks/>
          </p:cNvSpPr>
          <p:nvPr/>
        </p:nvSpPr>
        <p:spPr bwMode="auto">
          <a:xfrm>
            <a:off x="457200" y="762000"/>
            <a:ext cx="7696200" cy="838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The sender keeps track of the outstanding frames and updates the variables and windows as the ACKs arrive.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4088C291-215D-34A7-58C0-4A883C8BFB16}"/>
              </a:ext>
            </a:extLst>
          </p:cNvPr>
          <p:cNvSpPr>
            <a:spLocks noGrp="1"/>
          </p:cNvSpPr>
          <p:nvPr>
            <p:ph type="title"/>
          </p:nvPr>
        </p:nvSpPr>
        <p:spPr>
          <a:xfrm>
            <a:off x="457200" y="152400"/>
            <a:ext cx="5562600" cy="609600"/>
          </a:xfrm>
        </p:spPr>
        <p:txBody>
          <a:bodyPr/>
          <a:lstStyle/>
          <a:p>
            <a:pPr eaLnBrk="1" hangingPunct="1"/>
            <a:r>
              <a:rPr lang="en-US" altLang="en-US" sz="3600"/>
              <a:t>Go-Back-N ARQ, lost frame</a:t>
            </a:r>
          </a:p>
        </p:txBody>
      </p:sp>
      <p:sp>
        <p:nvSpPr>
          <p:cNvPr id="19459" name="Content Placeholder 2">
            <a:extLst>
              <a:ext uri="{FF2B5EF4-FFF2-40B4-BE49-F238E27FC236}">
                <a16:creationId xmlns:a16="http://schemas.microsoft.com/office/drawing/2014/main" id="{F36D7467-2E13-4203-4983-2AE9C6BC3700}"/>
              </a:ext>
            </a:extLst>
          </p:cNvPr>
          <p:cNvSpPr txBox="1">
            <a:spLocks/>
          </p:cNvSpPr>
          <p:nvPr/>
        </p:nvSpPr>
        <p:spPr bwMode="auto">
          <a:xfrm>
            <a:off x="6248400" y="609600"/>
            <a:ext cx="2667000" cy="6096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Frame 2 is lost</a:t>
            </a:r>
          </a:p>
          <a:p>
            <a:pPr eaLnBrk="1" hangingPunct="1">
              <a:spcBef>
                <a:spcPct val="20000"/>
              </a:spcBef>
              <a:buFont typeface="Arial" panose="020B0604020202020204" pitchFamily="34" charset="0"/>
              <a:buChar char="•"/>
            </a:pPr>
            <a:r>
              <a:rPr lang="en-US" altLang="en-US" sz="2400">
                <a:latin typeface="Calibri" panose="020F0502020204030204" pitchFamily="34" charset="0"/>
              </a:rPr>
              <a:t>When the receiver receives frame 3, it discards frame 3 as it is expecting frame 2 (according to window).</a:t>
            </a:r>
          </a:p>
          <a:p>
            <a:pPr eaLnBrk="1" hangingPunct="1">
              <a:spcBef>
                <a:spcPct val="20000"/>
              </a:spcBef>
              <a:buFont typeface="Arial" panose="020B0604020202020204" pitchFamily="34" charset="0"/>
              <a:buChar char="•"/>
            </a:pPr>
            <a:r>
              <a:rPr lang="en-US" altLang="en-US" sz="2400">
                <a:latin typeface="Calibri" panose="020F0502020204030204" pitchFamily="34" charset="0"/>
              </a:rPr>
              <a:t>After the timer for frame 2 expires at the sender site, the sender sends frame 2 and 3. (go back to 2)</a:t>
            </a:r>
          </a:p>
        </p:txBody>
      </p:sp>
      <p:pic>
        <p:nvPicPr>
          <p:cNvPr id="19460" name="Picture 10">
            <a:extLst>
              <a:ext uri="{FF2B5EF4-FFF2-40B4-BE49-F238E27FC236}">
                <a16:creationId xmlns:a16="http://schemas.microsoft.com/office/drawing/2014/main" id="{160C7047-4ED7-DFB0-DACE-8B2E67C87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838200"/>
            <a:ext cx="6143625" cy="558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2A43BE5-08F9-2FC1-7EC7-D42000A61023}"/>
              </a:ext>
            </a:extLst>
          </p:cNvPr>
          <p:cNvSpPr>
            <a:spLocks noGrp="1"/>
          </p:cNvSpPr>
          <p:nvPr>
            <p:ph type="title"/>
          </p:nvPr>
        </p:nvSpPr>
        <p:spPr>
          <a:xfrm>
            <a:off x="304800" y="304800"/>
            <a:ext cx="8686800" cy="609600"/>
          </a:xfrm>
        </p:spPr>
        <p:txBody>
          <a:bodyPr/>
          <a:lstStyle/>
          <a:p>
            <a:pPr eaLnBrk="1" hangingPunct="1"/>
            <a:r>
              <a:rPr lang="en-US" altLang="en-US" sz="3600"/>
              <a:t>Go-Back-N ARQ, damaged/lost/delayed ACK</a:t>
            </a:r>
          </a:p>
        </p:txBody>
      </p:sp>
      <p:sp>
        <p:nvSpPr>
          <p:cNvPr id="20483" name="Content Placeholder 2">
            <a:extLst>
              <a:ext uri="{FF2B5EF4-FFF2-40B4-BE49-F238E27FC236}">
                <a16:creationId xmlns:a16="http://schemas.microsoft.com/office/drawing/2014/main" id="{999F12CB-608E-9ADC-BBCF-0F7A88FE0786}"/>
              </a:ext>
            </a:extLst>
          </p:cNvPr>
          <p:cNvSpPr txBox="1">
            <a:spLocks/>
          </p:cNvSpPr>
          <p:nvPr/>
        </p:nvSpPr>
        <p:spPr bwMode="auto">
          <a:xfrm>
            <a:off x="838200" y="1371600"/>
            <a:ext cx="7620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400">
                <a:latin typeface="Calibri" panose="020F0502020204030204" pitchFamily="34" charset="0"/>
              </a:rPr>
              <a:t>If an ACK is damaged/lost, we can have two situations:</a:t>
            </a:r>
          </a:p>
          <a:p>
            <a:pPr eaLnBrk="1" hangingPunct="1">
              <a:spcBef>
                <a:spcPct val="20000"/>
              </a:spcBef>
              <a:buFont typeface="Arial" panose="020B0604020202020204" pitchFamily="34" charset="0"/>
              <a:buChar char="•"/>
            </a:pPr>
            <a:r>
              <a:rPr lang="en-US" altLang="en-US" sz="2400">
                <a:latin typeface="Calibri" panose="020F0502020204030204" pitchFamily="34" charset="0"/>
              </a:rPr>
              <a:t>If the next ACK arrives before the expiration of any timer, there is no need for retransmission of frames because ACKs are cumulative in this protocol.</a:t>
            </a:r>
          </a:p>
          <a:p>
            <a:pPr eaLnBrk="1" hangingPunct="1">
              <a:spcBef>
                <a:spcPct val="20000"/>
              </a:spcBef>
              <a:buFont typeface="Arial" panose="020B0604020202020204" pitchFamily="34" charset="0"/>
              <a:buChar char="•"/>
            </a:pPr>
            <a:r>
              <a:rPr lang="en-US" altLang="en-US" sz="2400">
                <a:latin typeface="Calibri" panose="020F0502020204030204" pitchFamily="34" charset="0"/>
              </a:rPr>
              <a:t>If ACK1, ACK2, and ACk3 are lost, ACK4 covers them if it arrives before the timer expires.</a:t>
            </a:r>
          </a:p>
          <a:p>
            <a:pPr eaLnBrk="1" hangingPunct="1">
              <a:spcBef>
                <a:spcPct val="20000"/>
              </a:spcBef>
              <a:buFont typeface="Arial" panose="020B0604020202020204" pitchFamily="34" charset="0"/>
              <a:buChar char="•"/>
            </a:pPr>
            <a:r>
              <a:rPr lang="en-US" altLang="en-US" sz="2400">
                <a:latin typeface="Calibri" panose="020F0502020204030204" pitchFamily="34" charset="0"/>
              </a:rPr>
              <a:t>If ACK4 arrives after time-out, the last frame and all the frames after that are resent.</a:t>
            </a:r>
          </a:p>
          <a:p>
            <a:pPr eaLnBrk="1" hangingPunct="1">
              <a:spcBef>
                <a:spcPct val="20000"/>
              </a:spcBef>
              <a:buFont typeface="Arial" panose="020B0604020202020204" pitchFamily="34" charset="0"/>
              <a:buChar char="•"/>
            </a:pPr>
            <a:r>
              <a:rPr lang="en-US" altLang="en-US" sz="2400">
                <a:latin typeface="Calibri" panose="020F0502020204030204" pitchFamily="34" charset="0"/>
              </a:rPr>
              <a:t>Receiver never resends an ACK.</a:t>
            </a:r>
          </a:p>
          <a:p>
            <a:pPr eaLnBrk="1" hangingPunct="1">
              <a:spcBef>
                <a:spcPct val="20000"/>
              </a:spcBef>
              <a:buFont typeface="Arial" panose="020B0604020202020204" pitchFamily="34" charset="0"/>
              <a:buChar char="•"/>
            </a:pPr>
            <a:r>
              <a:rPr lang="en-US" altLang="en-US" sz="2400">
                <a:latin typeface="Calibri" panose="020F0502020204030204" pitchFamily="34" charset="0"/>
              </a:rPr>
              <a:t>A delayed ACK also triggers the resending of frames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D63756-13D8-A564-39ED-BC781F7D545C}"/>
              </a:ext>
            </a:extLst>
          </p:cNvPr>
          <p:cNvPicPr>
            <a:picLocks noChangeAspect="1"/>
          </p:cNvPicPr>
          <p:nvPr/>
        </p:nvPicPr>
        <p:blipFill>
          <a:blip r:embed="rId2"/>
          <a:stretch>
            <a:fillRect/>
          </a:stretch>
        </p:blipFill>
        <p:spPr>
          <a:xfrm>
            <a:off x="685800" y="1555096"/>
            <a:ext cx="7772400" cy="3747808"/>
          </a:xfrm>
          <a:prstGeom prst="rect">
            <a:avLst/>
          </a:prstGeom>
        </p:spPr>
      </p:pic>
    </p:spTree>
    <p:extLst>
      <p:ext uri="{BB962C8B-B14F-4D97-AF65-F5344CB8AC3E}">
        <p14:creationId xmlns:p14="http://schemas.microsoft.com/office/powerpoint/2010/main" val="3488709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645053-8B35-CED3-88CD-E444F341D93F}"/>
              </a:ext>
            </a:extLst>
          </p:cNvPr>
          <p:cNvPicPr>
            <a:picLocks noChangeAspect="1"/>
          </p:cNvPicPr>
          <p:nvPr/>
        </p:nvPicPr>
        <p:blipFill>
          <a:blip r:embed="rId2"/>
          <a:stretch>
            <a:fillRect/>
          </a:stretch>
        </p:blipFill>
        <p:spPr>
          <a:xfrm>
            <a:off x="685800" y="1318793"/>
            <a:ext cx="7772400" cy="4220413"/>
          </a:xfrm>
          <a:prstGeom prst="rect">
            <a:avLst/>
          </a:prstGeom>
        </p:spPr>
      </p:pic>
    </p:spTree>
    <p:extLst>
      <p:ext uri="{BB962C8B-B14F-4D97-AF65-F5344CB8AC3E}">
        <p14:creationId xmlns:p14="http://schemas.microsoft.com/office/powerpoint/2010/main" val="3161314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15BB66-84BF-0A43-A260-F1BAEBFD0C27}"/>
              </a:ext>
            </a:extLst>
          </p:cNvPr>
          <p:cNvPicPr>
            <a:picLocks noChangeAspect="1"/>
          </p:cNvPicPr>
          <p:nvPr/>
        </p:nvPicPr>
        <p:blipFill>
          <a:blip r:embed="rId2"/>
          <a:stretch>
            <a:fillRect/>
          </a:stretch>
        </p:blipFill>
        <p:spPr>
          <a:xfrm>
            <a:off x="685800" y="1693454"/>
            <a:ext cx="7772400" cy="3471092"/>
          </a:xfrm>
          <a:prstGeom prst="rect">
            <a:avLst/>
          </a:prstGeom>
        </p:spPr>
      </p:pic>
    </p:spTree>
    <p:extLst>
      <p:ext uri="{BB962C8B-B14F-4D97-AF65-F5344CB8AC3E}">
        <p14:creationId xmlns:p14="http://schemas.microsoft.com/office/powerpoint/2010/main" val="2563120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ABF0FB-4E41-8C8E-275C-2C5118D76695}"/>
              </a:ext>
            </a:extLst>
          </p:cNvPr>
          <p:cNvPicPr>
            <a:picLocks noChangeAspect="1"/>
          </p:cNvPicPr>
          <p:nvPr/>
        </p:nvPicPr>
        <p:blipFill>
          <a:blip r:embed="rId2"/>
          <a:stretch>
            <a:fillRect/>
          </a:stretch>
        </p:blipFill>
        <p:spPr>
          <a:xfrm>
            <a:off x="685800" y="1339330"/>
            <a:ext cx="7772400" cy="4179340"/>
          </a:xfrm>
          <a:prstGeom prst="rect">
            <a:avLst/>
          </a:prstGeom>
        </p:spPr>
      </p:pic>
    </p:spTree>
    <p:extLst>
      <p:ext uri="{BB962C8B-B14F-4D97-AF65-F5344CB8AC3E}">
        <p14:creationId xmlns:p14="http://schemas.microsoft.com/office/powerpoint/2010/main" val="2310687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8BD49-6D40-D8D8-A098-A6D87333341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DAB98D7-4176-D6B1-77F7-B937F3980227}"/>
              </a:ext>
            </a:extLst>
          </p:cNvPr>
          <p:cNvPicPr>
            <a:picLocks noChangeAspect="1"/>
          </p:cNvPicPr>
          <p:nvPr/>
        </p:nvPicPr>
        <p:blipFill>
          <a:blip r:embed="rId2"/>
          <a:stretch>
            <a:fillRect/>
          </a:stretch>
        </p:blipFill>
        <p:spPr>
          <a:xfrm>
            <a:off x="685800" y="1377117"/>
            <a:ext cx="7772400" cy="4103766"/>
          </a:xfrm>
          <a:prstGeom prst="rect">
            <a:avLst/>
          </a:prstGeom>
        </p:spPr>
      </p:pic>
    </p:spTree>
    <p:extLst>
      <p:ext uri="{BB962C8B-B14F-4D97-AF65-F5344CB8AC3E}">
        <p14:creationId xmlns:p14="http://schemas.microsoft.com/office/powerpoint/2010/main" val="736645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DD67B1-0409-4DDC-FFFE-1DC2C4BC0762}"/>
              </a:ext>
            </a:extLst>
          </p:cNvPr>
          <p:cNvPicPr>
            <a:picLocks noChangeAspect="1"/>
          </p:cNvPicPr>
          <p:nvPr/>
        </p:nvPicPr>
        <p:blipFill>
          <a:blip r:embed="rId2"/>
          <a:stretch>
            <a:fillRect/>
          </a:stretch>
        </p:blipFill>
        <p:spPr>
          <a:xfrm>
            <a:off x="685800" y="1407278"/>
            <a:ext cx="7772400" cy="4043444"/>
          </a:xfrm>
          <a:prstGeom prst="rect">
            <a:avLst/>
          </a:prstGeom>
        </p:spPr>
      </p:pic>
    </p:spTree>
    <p:extLst>
      <p:ext uri="{BB962C8B-B14F-4D97-AF65-F5344CB8AC3E}">
        <p14:creationId xmlns:p14="http://schemas.microsoft.com/office/powerpoint/2010/main" val="2229804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FF16DB-C1B4-E829-84AA-A1153C177D82}"/>
              </a:ext>
            </a:extLst>
          </p:cNvPr>
          <p:cNvPicPr>
            <a:picLocks noChangeAspect="1"/>
          </p:cNvPicPr>
          <p:nvPr/>
        </p:nvPicPr>
        <p:blipFill>
          <a:blip r:embed="rId2"/>
          <a:stretch>
            <a:fillRect/>
          </a:stretch>
        </p:blipFill>
        <p:spPr>
          <a:xfrm>
            <a:off x="685800" y="1389487"/>
            <a:ext cx="7772400" cy="4079026"/>
          </a:xfrm>
          <a:prstGeom prst="rect">
            <a:avLst/>
          </a:prstGeom>
        </p:spPr>
      </p:pic>
    </p:spTree>
    <p:extLst>
      <p:ext uri="{BB962C8B-B14F-4D97-AF65-F5344CB8AC3E}">
        <p14:creationId xmlns:p14="http://schemas.microsoft.com/office/powerpoint/2010/main" val="893515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4733F9-3571-C790-9975-A62A40CA5FA5}"/>
              </a:ext>
            </a:extLst>
          </p:cNvPr>
          <p:cNvPicPr>
            <a:picLocks noChangeAspect="1"/>
          </p:cNvPicPr>
          <p:nvPr/>
        </p:nvPicPr>
        <p:blipFill>
          <a:blip r:embed="rId2"/>
          <a:stretch>
            <a:fillRect/>
          </a:stretch>
        </p:blipFill>
        <p:spPr>
          <a:xfrm>
            <a:off x="685800" y="1391069"/>
            <a:ext cx="7772400" cy="4075861"/>
          </a:xfrm>
          <a:prstGeom prst="rect">
            <a:avLst/>
          </a:prstGeom>
        </p:spPr>
      </p:pic>
    </p:spTree>
    <p:extLst>
      <p:ext uri="{BB962C8B-B14F-4D97-AF65-F5344CB8AC3E}">
        <p14:creationId xmlns:p14="http://schemas.microsoft.com/office/powerpoint/2010/main" val="1556092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1D1D8E5-618E-EE77-E470-ABC0DD25D59E}"/>
              </a:ext>
            </a:extLst>
          </p:cNvPr>
          <p:cNvSpPr>
            <a:spLocks noGrp="1"/>
          </p:cNvSpPr>
          <p:nvPr>
            <p:ph type="title"/>
          </p:nvPr>
        </p:nvSpPr>
        <p:spPr>
          <a:xfrm>
            <a:off x="0" y="0"/>
            <a:ext cx="9144000" cy="685800"/>
          </a:xfrm>
        </p:spPr>
        <p:txBody>
          <a:bodyPr/>
          <a:lstStyle/>
          <a:p>
            <a:pPr eaLnBrk="1" hangingPunct="1"/>
            <a:r>
              <a:rPr lang="en-US" altLang="en-US" sz="3200"/>
              <a:t>Selective Repeat ARQ, sender and receiver windows</a:t>
            </a:r>
          </a:p>
        </p:txBody>
      </p:sp>
      <p:pic>
        <p:nvPicPr>
          <p:cNvPr id="22531" name="Picture 10">
            <a:extLst>
              <a:ext uri="{FF2B5EF4-FFF2-40B4-BE49-F238E27FC236}">
                <a16:creationId xmlns:a16="http://schemas.microsoft.com/office/drawing/2014/main" id="{5DB1E9DA-5BC0-B521-F7D5-9ED98D5DEA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038600"/>
            <a:ext cx="8866188"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Content Placeholder 2">
            <a:extLst>
              <a:ext uri="{FF2B5EF4-FFF2-40B4-BE49-F238E27FC236}">
                <a16:creationId xmlns:a16="http://schemas.microsoft.com/office/drawing/2014/main" id="{91F4766C-EC22-C9DD-FA71-E838CF9B7912}"/>
              </a:ext>
            </a:extLst>
          </p:cNvPr>
          <p:cNvSpPr txBox="1">
            <a:spLocks/>
          </p:cNvSpPr>
          <p:nvPr/>
        </p:nvSpPr>
        <p:spPr bwMode="auto">
          <a:xfrm>
            <a:off x="304800" y="685800"/>
            <a:ext cx="8610600" cy="2971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000">
                <a:latin typeface="Calibri" panose="020F0502020204030204" pitchFamily="34" charset="0"/>
              </a:rPr>
              <a:t>Go-Back-N ARQ simplifies the process at the receiver site. Receiver only keeps track of only one variable, and there is no need to buffer out-of-order frames, they are simply discarded.</a:t>
            </a:r>
          </a:p>
          <a:p>
            <a:pPr eaLnBrk="1" hangingPunct="1">
              <a:spcBef>
                <a:spcPct val="20000"/>
              </a:spcBef>
              <a:buFont typeface="Arial" panose="020B0604020202020204" pitchFamily="34" charset="0"/>
              <a:buChar char="•"/>
            </a:pPr>
            <a:r>
              <a:rPr lang="en-US" altLang="en-US" sz="2000">
                <a:latin typeface="Calibri" panose="020F0502020204030204" pitchFamily="34" charset="0"/>
              </a:rPr>
              <a:t>However, Go-Back-N ARQ protocol is inefficient for noisy link. It bandwidth inefficient and slows down the transmission.</a:t>
            </a:r>
          </a:p>
          <a:p>
            <a:pPr eaLnBrk="1" hangingPunct="1">
              <a:spcBef>
                <a:spcPct val="20000"/>
              </a:spcBef>
              <a:buFont typeface="Arial" panose="020B0604020202020204" pitchFamily="34" charset="0"/>
              <a:buChar char="•"/>
            </a:pPr>
            <a:r>
              <a:rPr lang="en-US" altLang="en-US" sz="2000">
                <a:latin typeface="Calibri" panose="020F0502020204030204" pitchFamily="34" charset="0"/>
              </a:rPr>
              <a:t>In Selective Repeat ARQ, only the damaged frame is resent. More bandwidth efficient  but more complex processing at receiver.</a:t>
            </a:r>
          </a:p>
          <a:p>
            <a:pPr eaLnBrk="1" hangingPunct="1">
              <a:spcBef>
                <a:spcPct val="20000"/>
              </a:spcBef>
              <a:buFont typeface="Arial" panose="020B0604020202020204" pitchFamily="34" charset="0"/>
              <a:buChar char="•"/>
            </a:pPr>
            <a:r>
              <a:rPr lang="en-US" altLang="en-US" sz="2000">
                <a:latin typeface="Calibri" panose="020F0502020204030204" pitchFamily="34" charset="0"/>
              </a:rPr>
              <a:t>It defines a negative ACK (NAK) to report the sequence number of a damaged frame before the timer expires.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253DFD94-E4FF-4113-3FD4-1628891FEE7E}"/>
              </a:ext>
            </a:extLst>
          </p:cNvPr>
          <p:cNvSpPr>
            <a:spLocks noGrp="1"/>
          </p:cNvSpPr>
          <p:nvPr>
            <p:ph type="title"/>
          </p:nvPr>
        </p:nvSpPr>
        <p:spPr>
          <a:xfrm>
            <a:off x="228600" y="152400"/>
            <a:ext cx="7086600" cy="533400"/>
          </a:xfrm>
        </p:spPr>
        <p:txBody>
          <a:bodyPr/>
          <a:lstStyle/>
          <a:p>
            <a:pPr eaLnBrk="1" hangingPunct="1"/>
            <a:r>
              <a:rPr lang="en-US" altLang="en-US" sz="3200"/>
              <a:t>Selective Repeat ARQ, lost frame</a:t>
            </a:r>
          </a:p>
        </p:txBody>
      </p:sp>
      <p:sp>
        <p:nvSpPr>
          <p:cNvPr id="23555" name="Content Placeholder 2">
            <a:extLst>
              <a:ext uri="{FF2B5EF4-FFF2-40B4-BE49-F238E27FC236}">
                <a16:creationId xmlns:a16="http://schemas.microsoft.com/office/drawing/2014/main" id="{7A4781D5-61FA-934A-0F57-24D685BF3E34}"/>
              </a:ext>
            </a:extLst>
          </p:cNvPr>
          <p:cNvSpPr txBox="1">
            <a:spLocks/>
          </p:cNvSpPr>
          <p:nvPr/>
        </p:nvSpPr>
        <p:spPr bwMode="auto">
          <a:xfrm>
            <a:off x="6781800" y="228600"/>
            <a:ext cx="2209800" cy="6172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 typeface="Arial" panose="020B0604020202020204" pitchFamily="34" charset="0"/>
              <a:buChar char="•"/>
            </a:pPr>
            <a:r>
              <a:rPr lang="en-US" altLang="en-US" sz="2000">
                <a:latin typeface="Calibri" panose="020F0502020204030204" pitchFamily="34" charset="0"/>
              </a:rPr>
              <a:t>Frames 0 and 1 are accepted when received because they are in the range specified by the receiver window. Same for frame 3.</a:t>
            </a:r>
          </a:p>
          <a:p>
            <a:pPr eaLnBrk="1" hangingPunct="1">
              <a:spcBef>
                <a:spcPct val="20000"/>
              </a:spcBef>
              <a:buFont typeface="Arial" panose="020B0604020202020204" pitchFamily="34" charset="0"/>
              <a:buChar char="•"/>
            </a:pPr>
            <a:r>
              <a:rPr lang="en-US" altLang="en-US" sz="2000">
                <a:latin typeface="Calibri" panose="020F0502020204030204" pitchFamily="34" charset="0"/>
              </a:rPr>
              <a:t>Receiver sends a NAK2 to show that frame 2 has not been received and then sender resends only frame 2 and it is accepted as it is in the range of the window.</a:t>
            </a:r>
          </a:p>
        </p:txBody>
      </p:sp>
      <p:pic>
        <p:nvPicPr>
          <p:cNvPr id="23556" name="Picture 10">
            <a:extLst>
              <a:ext uri="{FF2B5EF4-FFF2-40B4-BE49-F238E27FC236}">
                <a16:creationId xmlns:a16="http://schemas.microsoft.com/office/drawing/2014/main" id="{99F0A9C1-2F5B-544A-3E27-964A9B280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90600"/>
            <a:ext cx="5859463" cy="567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968AE025085A4381B5FE55A4B7B3DB" ma:contentTypeVersion="7" ma:contentTypeDescription="Create a new document." ma:contentTypeScope="" ma:versionID="31de623e5626863d0b5c4090fe406d6f">
  <xsd:schema xmlns:xsd="http://www.w3.org/2001/XMLSchema" xmlns:xs="http://www.w3.org/2001/XMLSchema" xmlns:p="http://schemas.microsoft.com/office/2006/metadata/properties" xmlns:ns2="9491888e-085e-4340-beca-492653a9b978" targetNamespace="http://schemas.microsoft.com/office/2006/metadata/properties" ma:root="true" ma:fieldsID="26764ac781bc3413c846df6670963504" ns2:_="">
    <xsd:import namespace="9491888e-085e-4340-beca-492653a9b97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91888e-085e-4340-beca-492653a9b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768A7F6-72B6-4D71-926C-8DCED8EE205E}"/>
</file>

<file path=customXml/itemProps2.xml><?xml version="1.0" encoding="utf-8"?>
<ds:datastoreItem xmlns:ds="http://schemas.openxmlformats.org/officeDocument/2006/customXml" ds:itemID="{4D3FD974-6DA3-4AA9-B43F-140F0E7FDF64}"/>
</file>

<file path=customXml/itemProps3.xml><?xml version="1.0" encoding="utf-8"?>
<ds:datastoreItem xmlns:ds="http://schemas.openxmlformats.org/officeDocument/2006/customXml" ds:itemID="{DDB87380-61F5-4537-B9E2-BF0EB1B018E9}"/>
</file>

<file path=docProps/app.xml><?xml version="1.0" encoding="utf-8"?>
<Properties xmlns="http://schemas.openxmlformats.org/officeDocument/2006/extended-properties" xmlns:vt="http://schemas.openxmlformats.org/officeDocument/2006/docPropsVTypes">
  <TotalTime>326</TotalTime>
  <Words>1503</Words>
  <Application>Microsoft Macintosh PowerPoint</Application>
  <PresentationFormat>On-screen Show (4:3)</PresentationFormat>
  <Paragraphs>102</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Book Antiqua</vt:lpstr>
      <vt:lpstr>Calibri</vt:lpstr>
      <vt:lpstr>Wingdings</vt:lpstr>
      <vt:lpstr>Office Theme</vt:lpstr>
      <vt:lpstr>FLOW CONTROL</vt:lpstr>
      <vt:lpstr>PowerPoint Presentation</vt:lpstr>
      <vt:lpstr>PowerPoint Presentation</vt:lpstr>
      <vt:lpstr>PowerPoint Presentation</vt:lpstr>
      <vt:lpstr>Flow Control</vt:lpstr>
      <vt:lpstr>Flow Control Mechanisms</vt:lpstr>
      <vt:lpstr>PowerPoint Presentation</vt:lpstr>
      <vt:lpstr>PowerPoint Presentation</vt:lpstr>
      <vt:lpstr>PowerPoint Presentation</vt:lpstr>
      <vt:lpstr>PowerPoint Presentation</vt:lpstr>
      <vt:lpstr>PowerPoint Presentation</vt:lpstr>
      <vt:lpstr>Stop-and-Wait</vt:lpstr>
      <vt:lpstr>Stop-and-Wait ARQ, lost frame</vt:lpstr>
      <vt:lpstr>Stop-and-Wait, lost ACK frame</vt:lpstr>
      <vt:lpstr>Stop-and-Wait, delayed ACK frame</vt:lpstr>
      <vt:lpstr>Piggybacking</vt:lpstr>
      <vt:lpstr>Disadvantage of Stop-and-Wait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Go-Back-N ARQ</vt:lpstr>
      <vt:lpstr>Sequence Numbers</vt:lpstr>
      <vt:lpstr>Sender Sliding Window</vt:lpstr>
      <vt:lpstr>Receiver Sliding Window</vt:lpstr>
      <vt:lpstr>Control Variables</vt:lpstr>
      <vt:lpstr>Acknowledgement</vt:lpstr>
      <vt:lpstr>PowerPoint Presentation</vt:lpstr>
      <vt:lpstr>PowerPoint Presentation</vt:lpstr>
      <vt:lpstr>PowerPoint Presentation</vt:lpstr>
      <vt:lpstr>PowerPoint Presentation</vt:lpstr>
      <vt:lpstr>Go-Back-N ARQ, normal operation</vt:lpstr>
      <vt:lpstr>Go-Back-N ARQ, lost frame</vt:lpstr>
      <vt:lpstr>Go-Back-N ARQ, damaged/lost/delayed 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Selective Repeat ARQ, sender and receiver windows</vt:lpstr>
      <vt:lpstr>Selective Repeat ARQ, lost frame</vt:lpstr>
    </vt:vector>
  </TitlesOfParts>
  <Company>Cleveland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IST</dc:creator>
  <cp:lastModifiedBy>Anupama K N</cp:lastModifiedBy>
  <cp:revision>89</cp:revision>
  <dcterms:created xsi:type="dcterms:W3CDTF">2008-02-11T20:33:11Z</dcterms:created>
  <dcterms:modified xsi:type="dcterms:W3CDTF">2025-03-06T03:32:22Z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0x01010082968AE025085A4381B5FE55A4B7B3DB</vt:lpwstr>
  </property>
</Properties>
</file>