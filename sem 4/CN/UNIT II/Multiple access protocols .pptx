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4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93" r:id="rId20"/>
    <p:sldId id="274" r:id="rId21"/>
    <p:sldId id="275" r:id="rId22"/>
    <p:sldId id="294" r:id="rId23"/>
    <p:sldId id="480" r:id="rId24"/>
    <p:sldId id="276" r:id="rId25"/>
    <p:sldId id="278" r:id="rId26"/>
    <p:sldId id="279" r:id="rId27"/>
    <p:sldId id="280" r:id="rId28"/>
    <p:sldId id="281" r:id="rId29"/>
    <p:sldId id="4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518" r:id="rId42"/>
    <p:sldId id="482" r:id="rId43"/>
    <p:sldId id="524" r:id="rId44"/>
    <p:sldId id="519" r:id="rId45"/>
    <p:sldId id="517" r:id="rId46"/>
    <p:sldId id="520" r:id="rId47"/>
    <p:sldId id="514" r:id="rId48"/>
    <p:sldId id="510" r:id="rId49"/>
    <p:sldId id="492" r:id="rId50"/>
    <p:sldId id="522" r:id="rId51"/>
    <p:sldId id="521" r:id="rId52"/>
    <p:sldId id="484" r:id="rId53"/>
    <p:sldId id="515" r:id="rId54"/>
    <p:sldId id="523" r:id="rId5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40"/>
  </p:normalViewPr>
  <p:slideViewPr>
    <p:cSldViewPr>
      <p:cViewPr varScale="1">
        <p:scale>
          <a:sx n="67" d="100"/>
          <a:sy n="67" d="100"/>
        </p:scale>
        <p:origin x="-1138" y="-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customXml" Target="../customXml/item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C9BC71-3A51-5143-967D-385A25B3EADE}" type="datetimeFigureOut">
              <a:rPr lang="en-US" smtClean="0"/>
              <a:pPr/>
              <a:t>3/26/2025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02134-1C8A-3244-A1E8-18830D6C81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803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DAF9E5-060A-48B0-8E7A-FBB134B978C3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xmlns="" id="{15EA25EA-2278-B315-AE41-A222DE665F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3AA588D2-7145-6C4B-90C0-79531175D9E9}" type="slidenum">
              <a:rPr lang="en-US" altLang="en-US" sz="1200">
                <a:latin typeface="Times New Roman" panose="02020603050405020304" pitchFamily="18" charset="0"/>
              </a:rPr>
              <a:pPr/>
              <a:t>48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xmlns="" id="{B106BECE-442D-EBF8-1E78-D7DCF1E18D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xmlns="" id="{458D18E8-A3D3-482D-90A5-233DB995AE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xmlns="" id="{38FBE308-22FB-34F7-BC8E-E8710568C7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fld id="{D9E0D086-5172-3943-B7D4-FC47EEBAC83A}" type="slidenum">
              <a:rPr lang="en-US" altLang="en-US" sz="1200">
                <a:latin typeface="Times New Roman" panose="02020603050405020304" pitchFamily="18" charset="0"/>
              </a:rPr>
              <a:pPr/>
              <a:t>53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xmlns="" id="{A72BDB77-D52F-5BE6-F679-AF21483091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xmlns="" id="{E23B9B87-D624-4906-DFE7-DA9113027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" y="70104"/>
            <a:ext cx="9014460" cy="669112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770" y="70098"/>
            <a:ext cx="9014460" cy="6691630"/>
          </a:xfrm>
          <a:custGeom>
            <a:avLst/>
            <a:gdLst/>
            <a:ahLst/>
            <a:cxnLst/>
            <a:rect l="l" t="t" r="r" b="b"/>
            <a:pathLst>
              <a:path w="9014460" h="6691630">
                <a:moveTo>
                  <a:pt x="0" y="329806"/>
                </a:moveTo>
                <a:lnTo>
                  <a:pt x="3576" y="281070"/>
                </a:lnTo>
                <a:lnTo>
                  <a:pt x="13963" y="234555"/>
                </a:lnTo>
                <a:lnTo>
                  <a:pt x="30653" y="190769"/>
                </a:lnTo>
                <a:lnTo>
                  <a:pt x="53134" y="150224"/>
                </a:lnTo>
                <a:lnTo>
                  <a:pt x="80897" y="113430"/>
                </a:lnTo>
                <a:lnTo>
                  <a:pt x="113430" y="80897"/>
                </a:lnTo>
                <a:lnTo>
                  <a:pt x="150224" y="53134"/>
                </a:lnTo>
                <a:lnTo>
                  <a:pt x="190769" y="30653"/>
                </a:lnTo>
                <a:lnTo>
                  <a:pt x="234555" y="13963"/>
                </a:lnTo>
                <a:lnTo>
                  <a:pt x="281070" y="3576"/>
                </a:lnTo>
                <a:lnTo>
                  <a:pt x="329806" y="0"/>
                </a:lnTo>
                <a:lnTo>
                  <a:pt x="8684653" y="0"/>
                </a:lnTo>
                <a:lnTo>
                  <a:pt x="8733389" y="3576"/>
                </a:lnTo>
                <a:lnTo>
                  <a:pt x="8779904" y="13963"/>
                </a:lnTo>
                <a:lnTo>
                  <a:pt x="8823690" y="30653"/>
                </a:lnTo>
                <a:lnTo>
                  <a:pt x="8864235" y="53134"/>
                </a:lnTo>
                <a:lnTo>
                  <a:pt x="8901029" y="80897"/>
                </a:lnTo>
                <a:lnTo>
                  <a:pt x="8933562" y="113430"/>
                </a:lnTo>
                <a:lnTo>
                  <a:pt x="8961325" y="150224"/>
                </a:lnTo>
                <a:lnTo>
                  <a:pt x="8983806" y="190769"/>
                </a:lnTo>
                <a:lnTo>
                  <a:pt x="9000496" y="234555"/>
                </a:lnTo>
                <a:lnTo>
                  <a:pt x="9010883" y="281070"/>
                </a:lnTo>
                <a:lnTo>
                  <a:pt x="9014460" y="329806"/>
                </a:lnTo>
                <a:lnTo>
                  <a:pt x="9014460" y="6361328"/>
                </a:lnTo>
                <a:lnTo>
                  <a:pt x="9010883" y="6410063"/>
                </a:lnTo>
                <a:lnTo>
                  <a:pt x="9000496" y="6456578"/>
                </a:lnTo>
                <a:lnTo>
                  <a:pt x="8983806" y="6500362"/>
                </a:lnTo>
                <a:lnTo>
                  <a:pt x="8961325" y="6540905"/>
                </a:lnTo>
                <a:lnTo>
                  <a:pt x="8933562" y="6577698"/>
                </a:lnTo>
                <a:lnTo>
                  <a:pt x="8901029" y="6610230"/>
                </a:lnTo>
                <a:lnTo>
                  <a:pt x="8864235" y="6637991"/>
                </a:lnTo>
                <a:lnTo>
                  <a:pt x="8823690" y="6660470"/>
                </a:lnTo>
                <a:lnTo>
                  <a:pt x="8779904" y="6677159"/>
                </a:lnTo>
                <a:lnTo>
                  <a:pt x="8733389" y="6687546"/>
                </a:lnTo>
                <a:lnTo>
                  <a:pt x="8684653" y="6691122"/>
                </a:lnTo>
                <a:lnTo>
                  <a:pt x="329806" y="6691122"/>
                </a:lnTo>
                <a:lnTo>
                  <a:pt x="281070" y="6687546"/>
                </a:lnTo>
                <a:lnTo>
                  <a:pt x="234555" y="6677159"/>
                </a:lnTo>
                <a:lnTo>
                  <a:pt x="190769" y="6660470"/>
                </a:lnTo>
                <a:lnTo>
                  <a:pt x="150224" y="6637991"/>
                </a:lnTo>
                <a:lnTo>
                  <a:pt x="113430" y="6610230"/>
                </a:lnTo>
                <a:lnTo>
                  <a:pt x="80897" y="6577698"/>
                </a:lnTo>
                <a:lnTo>
                  <a:pt x="53134" y="6540905"/>
                </a:lnTo>
                <a:lnTo>
                  <a:pt x="30653" y="6500362"/>
                </a:lnTo>
                <a:lnTo>
                  <a:pt x="13963" y="6456578"/>
                </a:lnTo>
                <a:lnTo>
                  <a:pt x="3576" y="6410063"/>
                </a:lnTo>
                <a:lnTo>
                  <a:pt x="0" y="6361328"/>
                </a:lnTo>
                <a:lnTo>
                  <a:pt x="0" y="32980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3246" y="1396746"/>
            <a:ext cx="9020810" cy="121285"/>
          </a:xfrm>
          <a:custGeom>
            <a:avLst/>
            <a:gdLst/>
            <a:ahLst/>
            <a:cxnLst/>
            <a:rect l="l" t="t" r="r" b="b"/>
            <a:pathLst>
              <a:path w="9020810" h="121284">
                <a:moveTo>
                  <a:pt x="9020556" y="0"/>
                </a:moveTo>
                <a:lnTo>
                  <a:pt x="0" y="0"/>
                </a:lnTo>
                <a:lnTo>
                  <a:pt x="0" y="121158"/>
                </a:lnTo>
                <a:lnTo>
                  <a:pt x="9020556" y="121158"/>
                </a:lnTo>
                <a:lnTo>
                  <a:pt x="9020556" y="0"/>
                </a:lnTo>
                <a:close/>
              </a:path>
            </a:pathLst>
          </a:custGeom>
          <a:solidFill>
            <a:srgbClr val="E6B1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3246" y="2976371"/>
            <a:ext cx="9020810" cy="111760"/>
          </a:xfrm>
          <a:custGeom>
            <a:avLst/>
            <a:gdLst/>
            <a:ahLst/>
            <a:cxnLst/>
            <a:rect l="l" t="t" r="r" b="b"/>
            <a:pathLst>
              <a:path w="9020810" h="111760">
                <a:moveTo>
                  <a:pt x="9020556" y="0"/>
                </a:moveTo>
                <a:lnTo>
                  <a:pt x="0" y="0"/>
                </a:lnTo>
                <a:lnTo>
                  <a:pt x="0" y="111251"/>
                </a:lnTo>
                <a:lnTo>
                  <a:pt x="9020556" y="111251"/>
                </a:lnTo>
                <a:lnTo>
                  <a:pt x="9020556" y="0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943" y="1517903"/>
            <a:ext cx="9024112" cy="145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B9899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B9899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B9899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B9899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246" y="70101"/>
            <a:ext cx="9014460" cy="6692900"/>
          </a:xfrm>
          <a:custGeom>
            <a:avLst/>
            <a:gdLst/>
            <a:ahLst/>
            <a:cxnLst/>
            <a:rect l="l" t="t" r="r" b="b"/>
            <a:pathLst>
              <a:path w="9014460" h="6692900">
                <a:moveTo>
                  <a:pt x="0" y="329882"/>
                </a:moveTo>
                <a:lnTo>
                  <a:pt x="3576" y="281136"/>
                </a:lnTo>
                <a:lnTo>
                  <a:pt x="13966" y="234610"/>
                </a:lnTo>
                <a:lnTo>
                  <a:pt x="30659" y="190815"/>
                </a:lnTo>
                <a:lnTo>
                  <a:pt x="53144" y="150261"/>
                </a:lnTo>
                <a:lnTo>
                  <a:pt x="80912" y="113458"/>
                </a:lnTo>
                <a:lnTo>
                  <a:pt x="113453" y="80917"/>
                </a:lnTo>
                <a:lnTo>
                  <a:pt x="150255" y="53148"/>
                </a:lnTo>
                <a:lnTo>
                  <a:pt x="190810" y="30661"/>
                </a:lnTo>
                <a:lnTo>
                  <a:pt x="234606" y="13967"/>
                </a:lnTo>
                <a:lnTo>
                  <a:pt x="281133" y="3576"/>
                </a:lnTo>
                <a:lnTo>
                  <a:pt x="329882" y="0"/>
                </a:lnTo>
                <a:lnTo>
                  <a:pt x="8684577" y="0"/>
                </a:lnTo>
                <a:lnTo>
                  <a:pt x="8733326" y="3576"/>
                </a:lnTo>
                <a:lnTo>
                  <a:pt x="8779853" y="13967"/>
                </a:lnTo>
                <a:lnTo>
                  <a:pt x="8823649" y="30661"/>
                </a:lnTo>
                <a:lnTo>
                  <a:pt x="8864204" y="53148"/>
                </a:lnTo>
                <a:lnTo>
                  <a:pt x="8901006" y="80917"/>
                </a:lnTo>
                <a:lnTo>
                  <a:pt x="8933547" y="113458"/>
                </a:lnTo>
                <a:lnTo>
                  <a:pt x="8961315" y="150261"/>
                </a:lnTo>
                <a:lnTo>
                  <a:pt x="8983800" y="190815"/>
                </a:lnTo>
                <a:lnTo>
                  <a:pt x="9000493" y="234610"/>
                </a:lnTo>
                <a:lnTo>
                  <a:pt x="9010883" y="281136"/>
                </a:lnTo>
                <a:lnTo>
                  <a:pt x="9014460" y="329882"/>
                </a:lnTo>
                <a:lnTo>
                  <a:pt x="9014460" y="6362763"/>
                </a:lnTo>
                <a:lnTo>
                  <a:pt x="9010883" y="6411512"/>
                </a:lnTo>
                <a:lnTo>
                  <a:pt x="9000493" y="6458039"/>
                </a:lnTo>
                <a:lnTo>
                  <a:pt x="8983800" y="6501835"/>
                </a:lnTo>
                <a:lnTo>
                  <a:pt x="8961315" y="6542390"/>
                </a:lnTo>
                <a:lnTo>
                  <a:pt x="8933547" y="6579192"/>
                </a:lnTo>
                <a:lnTo>
                  <a:pt x="8901006" y="6611733"/>
                </a:lnTo>
                <a:lnTo>
                  <a:pt x="8864204" y="6639501"/>
                </a:lnTo>
                <a:lnTo>
                  <a:pt x="8823649" y="6661986"/>
                </a:lnTo>
                <a:lnTo>
                  <a:pt x="8779853" y="6678679"/>
                </a:lnTo>
                <a:lnTo>
                  <a:pt x="8733326" y="6689069"/>
                </a:lnTo>
                <a:lnTo>
                  <a:pt x="8684577" y="6692646"/>
                </a:lnTo>
                <a:lnTo>
                  <a:pt x="329882" y="6692646"/>
                </a:lnTo>
                <a:lnTo>
                  <a:pt x="281133" y="6689069"/>
                </a:lnTo>
                <a:lnTo>
                  <a:pt x="234606" y="6678679"/>
                </a:lnTo>
                <a:lnTo>
                  <a:pt x="190810" y="6661986"/>
                </a:lnTo>
                <a:lnTo>
                  <a:pt x="150255" y="6639501"/>
                </a:lnTo>
                <a:lnTo>
                  <a:pt x="113453" y="6611733"/>
                </a:lnTo>
                <a:lnTo>
                  <a:pt x="80912" y="6579192"/>
                </a:lnTo>
                <a:lnTo>
                  <a:pt x="53144" y="6542390"/>
                </a:lnTo>
                <a:lnTo>
                  <a:pt x="30659" y="6501835"/>
                </a:lnTo>
                <a:lnTo>
                  <a:pt x="13966" y="6458039"/>
                </a:lnTo>
                <a:lnTo>
                  <a:pt x="3576" y="6411512"/>
                </a:lnTo>
                <a:lnTo>
                  <a:pt x="0" y="6362763"/>
                </a:lnTo>
                <a:lnTo>
                  <a:pt x="0" y="329882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688658"/>
            <a:ext cx="5523865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B9899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404619"/>
            <a:ext cx="7614920" cy="3427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2209800"/>
            <a:ext cx="7848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 err="1">
                <a:solidFill>
                  <a:srgbClr val="696464"/>
                </a:solidFill>
                <a:latin typeface="Times New Roman"/>
                <a:cs typeface="Times New Roman"/>
              </a:rPr>
              <a:t>Mutiple</a:t>
            </a:r>
            <a:r>
              <a:rPr sz="3600" b="1" spc="-125" dirty="0">
                <a:solidFill>
                  <a:srgbClr val="696464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696464"/>
                </a:solidFill>
                <a:latin typeface="Times New Roman"/>
                <a:cs typeface="Times New Roman"/>
              </a:rPr>
              <a:t>access</a:t>
            </a:r>
            <a:r>
              <a:rPr lang="en-US" sz="3600" b="1" dirty="0">
                <a:solidFill>
                  <a:srgbClr val="696464"/>
                </a:solidFill>
                <a:latin typeface="Times New Roman"/>
                <a:cs typeface="Times New Roman"/>
              </a:rPr>
              <a:t>/Media Access</a:t>
            </a:r>
            <a:r>
              <a:rPr sz="3600" b="1" spc="-90" dirty="0">
                <a:solidFill>
                  <a:srgbClr val="696464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696464"/>
                </a:solidFill>
                <a:latin typeface="Times New Roman"/>
                <a:cs typeface="Times New Roman"/>
              </a:rPr>
              <a:t>protocols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1437385"/>
            <a:ext cx="7624445" cy="427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22605" indent="-274320">
              <a:lnSpc>
                <a:spcPct val="100000"/>
              </a:lnSpc>
              <a:spcBef>
                <a:spcPts val="1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00" dirty="0">
                <a:latin typeface="Times New Roman"/>
                <a:cs typeface="Times New Roman"/>
              </a:rPr>
              <a:t>There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are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two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types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network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links: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point-</a:t>
            </a:r>
            <a:r>
              <a:rPr sz="2400" spc="-55" dirty="0">
                <a:latin typeface="Times New Roman"/>
                <a:cs typeface="Times New Roman"/>
              </a:rPr>
              <a:t>to-</a:t>
            </a:r>
            <a:r>
              <a:rPr sz="2400" spc="-85" dirty="0">
                <a:latin typeface="Times New Roman"/>
                <a:cs typeface="Times New Roman"/>
              </a:rPr>
              <a:t>point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links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125" dirty="0">
                <a:latin typeface="Times New Roman"/>
                <a:cs typeface="Times New Roman"/>
              </a:rPr>
              <a:t>broadcast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links.</a:t>
            </a:r>
            <a:endParaRPr sz="2400" dirty="0">
              <a:latin typeface="Times New Roman"/>
              <a:cs typeface="Times New Roman"/>
            </a:endParaRPr>
          </a:p>
          <a:p>
            <a:pPr marL="286385" marR="15240" indent="-274320">
              <a:lnSpc>
                <a:spcPct val="100000"/>
              </a:lnSpc>
              <a:spcBef>
                <a:spcPts val="600"/>
              </a:spcBef>
              <a:buChar char="⚫"/>
              <a:tabLst>
                <a:tab pos="286385" algn="l"/>
                <a:tab pos="332105" algn="l"/>
              </a:tabLst>
            </a:pPr>
            <a:r>
              <a:rPr sz="2050" dirty="0">
                <a:solidFill>
                  <a:srgbClr val="D34817"/>
                </a:solidFill>
                <a:latin typeface="Segoe UI Symbol"/>
                <a:cs typeface="Segoe UI Symbol"/>
              </a:rPr>
              <a:t>	</a:t>
            </a: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point-</a:t>
            </a:r>
            <a:r>
              <a:rPr sz="2400" spc="-55" dirty="0">
                <a:latin typeface="Times New Roman"/>
                <a:cs typeface="Times New Roman"/>
              </a:rPr>
              <a:t>to-</a:t>
            </a:r>
            <a:r>
              <a:rPr sz="2400" spc="-60" dirty="0">
                <a:latin typeface="Times New Roman"/>
                <a:cs typeface="Times New Roman"/>
              </a:rPr>
              <a:t>point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link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consists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single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sender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one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end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30" dirty="0">
                <a:latin typeface="Times New Roman"/>
                <a:cs typeface="Times New Roman"/>
              </a:rPr>
              <a:t>link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single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receiver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other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end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link.</a:t>
            </a:r>
            <a:endParaRPr sz="2400" dirty="0">
              <a:latin typeface="Times New Roman"/>
              <a:cs typeface="Times New Roman"/>
            </a:endParaRPr>
          </a:p>
          <a:p>
            <a:pPr marL="286385" marR="15240" indent="-274320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6385" algn="l"/>
                <a:tab pos="796925" algn="l"/>
                <a:tab pos="1983105" algn="l"/>
                <a:tab pos="3168650" algn="l"/>
                <a:tab pos="3643629" algn="l"/>
                <a:tab pos="5368925" algn="l"/>
                <a:tab pos="6106795" algn="l"/>
                <a:tab pos="6604000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20" dirty="0">
                <a:latin typeface="Times New Roman"/>
                <a:cs typeface="Times New Roman"/>
              </a:rPr>
              <a:t>link-</a:t>
            </a:r>
            <a:r>
              <a:rPr sz="2400" spc="-20" dirty="0">
                <a:latin typeface="Times New Roman"/>
                <a:cs typeface="Times New Roman"/>
              </a:rPr>
              <a:t>layer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protocols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90" dirty="0">
                <a:latin typeface="Times New Roman"/>
                <a:cs typeface="Times New Roman"/>
              </a:rPr>
              <a:t>point-</a:t>
            </a:r>
            <a:r>
              <a:rPr sz="2400" spc="-55" dirty="0">
                <a:latin typeface="Times New Roman"/>
                <a:cs typeface="Times New Roman"/>
              </a:rPr>
              <a:t>to-</a:t>
            </a:r>
            <a:r>
              <a:rPr sz="2400" spc="-10" dirty="0">
                <a:latin typeface="Times New Roman"/>
                <a:cs typeface="Times New Roman"/>
              </a:rPr>
              <a:t>point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links;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90" dirty="0">
                <a:latin typeface="Times New Roman"/>
                <a:cs typeface="Times New Roman"/>
              </a:rPr>
              <a:t>point-</a:t>
            </a:r>
            <a:r>
              <a:rPr sz="2400" spc="-40" dirty="0">
                <a:latin typeface="Times New Roman"/>
                <a:cs typeface="Times New Roman"/>
              </a:rPr>
              <a:t>to- </a:t>
            </a:r>
            <a:r>
              <a:rPr sz="2400" spc="-90" dirty="0">
                <a:latin typeface="Times New Roman"/>
                <a:cs typeface="Times New Roman"/>
              </a:rPr>
              <a:t>point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protocol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(PPP)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endParaRPr lang="en-US" sz="2400" spc="-30" dirty="0">
              <a:latin typeface="Times New Roman"/>
              <a:cs typeface="Times New Roman"/>
            </a:endParaRPr>
          </a:p>
          <a:p>
            <a:pPr marL="286385" marR="15240" indent="-274320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6385" algn="l"/>
                <a:tab pos="796925" algn="l"/>
                <a:tab pos="1983105" algn="l"/>
                <a:tab pos="3168650" algn="l"/>
                <a:tab pos="3643629" algn="l"/>
                <a:tab pos="5368925" algn="l"/>
                <a:tab pos="6106795" algn="l"/>
                <a:tab pos="6604000" algn="l"/>
              </a:tabLst>
            </a:pP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broadcast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link,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have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multiple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sending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receiving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nodes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all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connected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to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same,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single,</a:t>
            </a:r>
            <a:r>
              <a:rPr sz="2400" spc="-130" dirty="0">
                <a:latin typeface="Times New Roman"/>
                <a:cs typeface="Times New Roman"/>
              </a:rPr>
              <a:t> shared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broadcast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channel,</a:t>
            </a:r>
            <a:r>
              <a:rPr sz="2400" spc="-130" dirty="0">
                <a:latin typeface="Times New Roman"/>
                <a:cs typeface="Times New Roman"/>
              </a:rPr>
              <a:t> The</a:t>
            </a:r>
            <a:r>
              <a:rPr sz="2400" spc="-35" dirty="0">
                <a:latin typeface="Times New Roman"/>
                <a:cs typeface="Times New Roman"/>
              </a:rPr>
              <a:t> term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broadcast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is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used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because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when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any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one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node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transmits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frame,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channel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broadcasts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the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frame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and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each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of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other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nodes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receives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copy.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Eg: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Ethernet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wireless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29" dirty="0">
                <a:latin typeface="Times New Roman"/>
                <a:cs typeface="Times New Roman"/>
              </a:rPr>
              <a:t>LANs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446785"/>
            <a:ext cx="8158480" cy="467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15875" indent="-272415" algn="just">
              <a:lnSpc>
                <a:spcPct val="100000"/>
              </a:lnSpc>
              <a:spcBef>
                <a:spcPts val="1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750" algn="l"/>
              </a:tabLst>
            </a:pPr>
            <a:r>
              <a:rPr sz="2400" dirty="0">
                <a:latin typeface="Times New Roman"/>
                <a:cs typeface="Times New Roman"/>
              </a:rPr>
              <a:t>Computer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protocols</a:t>
            </a:r>
            <a:r>
              <a:rPr sz="2400" spc="4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44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so-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44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access 	</a:t>
            </a:r>
            <a:r>
              <a:rPr sz="2400" spc="-75" dirty="0">
                <a:latin typeface="Times New Roman"/>
                <a:cs typeface="Times New Roman"/>
              </a:rPr>
              <a:t>protocols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which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nodes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regulate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their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transmission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into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shared 	</a:t>
            </a:r>
            <a:r>
              <a:rPr sz="2400" spc="-125" dirty="0">
                <a:latin typeface="Times New Roman"/>
                <a:cs typeface="Times New Roman"/>
              </a:rPr>
              <a:t>broadcast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channel.</a:t>
            </a:r>
            <a:endParaRPr sz="2400" dirty="0">
              <a:latin typeface="Times New Roman"/>
              <a:cs typeface="Times New Roman"/>
            </a:endParaRPr>
          </a:p>
          <a:p>
            <a:pPr marL="285115" marR="15875" indent="-273050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60" dirty="0">
                <a:latin typeface="Times New Roman"/>
                <a:cs typeface="Times New Roman"/>
              </a:rPr>
              <a:t>Multiple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access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protocols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required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variety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network </a:t>
            </a:r>
            <a:r>
              <a:rPr sz="2400" spc="-50" dirty="0">
                <a:latin typeface="Times New Roman"/>
                <a:cs typeface="Times New Roman"/>
              </a:rPr>
              <a:t>settings,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including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wireless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local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area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networks,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100" dirty="0">
                <a:latin typeface="Times New Roman"/>
                <a:cs typeface="Times New Roman"/>
              </a:rPr>
              <a:t>satellite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networks.</a:t>
            </a:r>
            <a:endParaRPr sz="2400" dirty="0">
              <a:latin typeface="Times New Roman"/>
              <a:cs typeface="Times New Roman"/>
            </a:endParaRPr>
          </a:p>
          <a:p>
            <a:pPr marL="285115" marR="16510" indent="-273050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35" dirty="0">
                <a:latin typeface="Times New Roman"/>
                <a:cs typeface="Times New Roman"/>
              </a:rPr>
              <a:t>Because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nodes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capable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transmitting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frames,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than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two </a:t>
            </a:r>
            <a:r>
              <a:rPr sz="2400" spc="-100" dirty="0">
                <a:latin typeface="Times New Roman"/>
                <a:cs typeface="Times New Roman"/>
              </a:rPr>
              <a:t>nodes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can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transmit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frames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same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time.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When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this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happens,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all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frames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time;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is,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85" dirty="0">
                <a:latin typeface="Times New Roman"/>
                <a:cs typeface="Times New Roman"/>
              </a:rPr>
              <a:t>transmitted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frames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collide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receivers.</a:t>
            </a:r>
            <a:endParaRPr sz="2400" dirty="0">
              <a:latin typeface="Times New Roman"/>
              <a:cs typeface="Times New Roman"/>
            </a:endParaRPr>
          </a:p>
          <a:p>
            <a:pPr marL="284480" marR="5080" indent="-272415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4480" algn="l"/>
              </a:tabLst>
            </a:pPr>
            <a:r>
              <a:rPr sz="2400" spc="-105" dirty="0">
                <a:latin typeface="Times New Roman"/>
                <a:cs typeface="Times New Roman"/>
              </a:rPr>
              <a:t>Normally,</a:t>
            </a:r>
            <a:r>
              <a:rPr sz="2400" spc="-45" dirty="0">
                <a:latin typeface="Times New Roman"/>
                <a:cs typeface="Times New Roman"/>
              </a:rPr>
              <a:t> when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collision,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receiving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nodes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can </a:t>
            </a:r>
            <a:r>
              <a:rPr sz="2400" spc="-140" dirty="0">
                <a:latin typeface="Times New Roman"/>
                <a:cs typeface="Times New Roman"/>
              </a:rPr>
              <a:t>make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any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sense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of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any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of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frames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that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were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transmitted</a:t>
            </a:r>
            <a:r>
              <a:rPr lang="en-US" sz="2400" spc="-6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751585"/>
            <a:ext cx="7627620" cy="4411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 algn="just">
              <a:lnSpc>
                <a:spcPct val="100000"/>
              </a:lnSpc>
              <a:spcBef>
                <a:spcPts val="1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750" algn="l"/>
              </a:tabLst>
            </a:pPr>
            <a:r>
              <a:rPr sz="2400" spc="-150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this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4" dirty="0">
                <a:latin typeface="Times New Roman"/>
                <a:cs typeface="Times New Roman"/>
              </a:rPr>
              <a:t>way,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the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frames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involved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collision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lost,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spc="-100" dirty="0">
                <a:latin typeface="Times New Roman"/>
                <a:cs typeface="Times New Roman"/>
              </a:rPr>
              <a:t>broadcast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channel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wasted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during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collision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interval.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Clearly, 	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want</a:t>
            </a:r>
            <a:r>
              <a:rPr sz="2400" spc="5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transmit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frames</a:t>
            </a:r>
            <a:r>
              <a:rPr sz="2400" spc="5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frequently,</a:t>
            </a:r>
            <a:r>
              <a:rPr sz="2400" spc="4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many 	</a:t>
            </a:r>
            <a:r>
              <a:rPr sz="2400" spc="-125" dirty="0">
                <a:latin typeface="Times New Roman"/>
                <a:cs typeface="Times New Roman"/>
              </a:rPr>
              <a:t>transmissions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will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result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collisions,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much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of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bandwidth 	</a:t>
            </a:r>
            <a:r>
              <a:rPr sz="2400" spc="-155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broadcast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channel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will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be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wasted.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70"/>
              </a:spcBef>
              <a:buFont typeface="Segoe UI Symbol"/>
              <a:buChar char="⚫"/>
            </a:pPr>
            <a:endParaRPr sz="2400">
              <a:latin typeface="Times New Roman"/>
              <a:cs typeface="Times New Roman"/>
            </a:endParaRPr>
          </a:p>
          <a:p>
            <a:pPr marL="283210" marR="5080" indent="-271145" algn="just">
              <a:lnSpc>
                <a:spcPct val="100000"/>
              </a:lnSpc>
              <a:spcBef>
                <a:spcPts val="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85" dirty="0">
                <a:latin typeface="Times New Roman"/>
                <a:cs typeface="Times New Roman"/>
              </a:rPr>
              <a:t>In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order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ensure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that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broadcast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channel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performs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useful 	</a:t>
            </a:r>
            <a:r>
              <a:rPr sz="2600" dirty="0">
                <a:latin typeface="Times New Roman"/>
                <a:cs typeface="Times New Roman"/>
              </a:rPr>
              <a:t>work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when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multiple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nodes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active,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necessary</a:t>
            </a:r>
            <a:r>
              <a:rPr sz="2600" spc="15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 	</a:t>
            </a:r>
            <a:r>
              <a:rPr sz="2600" spc="-110" dirty="0">
                <a:latin typeface="Times New Roman"/>
                <a:cs typeface="Times New Roman"/>
              </a:rPr>
              <a:t>somehow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coordinate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transmissions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active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nodes. 	</a:t>
            </a:r>
            <a:r>
              <a:rPr sz="2600" spc="-65" dirty="0">
                <a:latin typeface="Times New Roman"/>
                <a:cs typeface="Times New Roman"/>
              </a:rPr>
              <a:t>This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coordination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responsibility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multiple 	</a:t>
            </a:r>
            <a:r>
              <a:rPr sz="2600" b="1" dirty="0">
                <a:latin typeface="Times New Roman"/>
                <a:cs typeface="Times New Roman"/>
              </a:rPr>
              <a:t>access</a:t>
            </a:r>
            <a:r>
              <a:rPr sz="2600" b="1" spc="-135" dirty="0">
                <a:latin typeface="Times New Roman"/>
                <a:cs typeface="Times New Roman"/>
              </a:rPr>
              <a:t> </a:t>
            </a:r>
            <a:r>
              <a:rPr sz="2600" b="1" spc="35" dirty="0">
                <a:latin typeface="Times New Roman"/>
                <a:cs typeface="Times New Roman"/>
              </a:rPr>
              <a:t>protocol</a:t>
            </a:r>
            <a:r>
              <a:rPr sz="2600" spc="3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856" y="725790"/>
            <a:ext cx="7630619" cy="4778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39979"/>
            <a:ext cx="511302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30" dirty="0">
                <a:solidFill>
                  <a:srgbClr val="696464"/>
                </a:solidFill>
              </a:rPr>
              <a:t>Random</a:t>
            </a:r>
            <a:r>
              <a:rPr sz="2500" spc="-125" dirty="0">
                <a:solidFill>
                  <a:srgbClr val="696464"/>
                </a:solidFill>
              </a:rPr>
              <a:t> </a:t>
            </a:r>
            <a:r>
              <a:rPr sz="2500" spc="-20" dirty="0">
                <a:solidFill>
                  <a:srgbClr val="696464"/>
                </a:solidFill>
              </a:rPr>
              <a:t>Access</a:t>
            </a:r>
            <a:r>
              <a:rPr sz="2500" spc="-114" dirty="0">
                <a:solidFill>
                  <a:srgbClr val="696464"/>
                </a:solidFill>
              </a:rPr>
              <a:t> </a:t>
            </a:r>
            <a:r>
              <a:rPr sz="2500" spc="-25" dirty="0">
                <a:solidFill>
                  <a:srgbClr val="696464"/>
                </a:solidFill>
              </a:rPr>
              <a:t>Protocols(Contention)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59740" y="800353"/>
            <a:ext cx="6795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115" algn="l"/>
                <a:tab pos="646430" algn="l"/>
                <a:tab pos="1642745" algn="l"/>
                <a:tab pos="2446020" algn="l"/>
                <a:tab pos="2834005" algn="l"/>
                <a:tab pos="4163060" algn="l"/>
                <a:tab pos="5322570" algn="l"/>
                <a:tab pos="5744845" algn="l"/>
                <a:tab pos="6617970" algn="l"/>
              </a:tabLst>
            </a:pP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random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access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contention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methods,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no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3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15555" y="800353"/>
            <a:ext cx="1320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230" algn="l"/>
              </a:tabLst>
            </a:pPr>
            <a:r>
              <a:rPr sz="2400" spc="-10" dirty="0">
                <a:latin typeface="Times New Roman"/>
                <a:cs typeface="Times New Roman"/>
              </a:rPr>
              <a:t>superior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1089914"/>
            <a:ext cx="8376920" cy="500634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5115" algn="just">
              <a:lnSpc>
                <a:spcPct val="100000"/>
              </a:lnSpc>
              <a:spcBef>
                <a:spcPts val="409"/>
              </a:spcBef>
            </a:pPr>
            <a:r>
              <a:rPr sz="2400" spc="-90" dirty="0">
                <a:latin typeface="Times New Roman"/>
                <a:cs typeface="Times New Roman"/>
              </a:rPr>
              <a:t>another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station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none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assigned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84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control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over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another.</a:t>
            </a:r>
            <a:endParaRPr sz="2400">
              <a:latin typeface="Times New Roman"/>
              <a:cs typeface="Times New Roman"/>
            </a:endParaRPr>
          </a:p>
          <a:p>
            <a:pPr marL="284480" marR="6350" indent="-272415" algn="just">
              <a:lnSpc>
                <a:spcPts val="2590"/>
              </a:lnSpc>
              <a:spcBef>
                <a:spcPts val="64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4480" algn="l"/>
              </a:tabLst>
            </a:pPr>
            <a:r>
              <a:rPr sz="2400" spc="-145" dirty="0">
                <a:latin typeface="Times New Roman"/>
                <a:cs typeface="Times New Roman"/>
              </a:rPr>
              <a:t>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each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instance,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station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that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has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data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send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uses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61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procedure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defined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by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protocol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to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make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95" dirty="0">
                <a:latin typeface="Times New Roman"/>
                <a:cs typeface="Times New Roman"/>
              </a:rPr>
              <a:t>a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decision</a:t>
            </a:r>
            <a:r>
              <a:rPr sz="2400" spc="7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on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whether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or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not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to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send.(depends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state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medium)</a:t>
            </a:r>
            <a:endParaRPr sz="2400">
              <a:latin typeface="Times New Roman"/>
              <a:cs typeface="Times New Roman"/>
            </a:endParaRPr>
          </a:p>
          <a:p>
            <a:pPr marL="284480" marR="5080" indent="-272415" algn="just">
              <a:lnSpc>
                <a:spcPct val="100000"/>
              </a:lnSpc>
              <a:spcBef>
                <a:spcPts val="495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750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scheduled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station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transmit.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Transmission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	</a:t>
            </a:r>
            <a:r>
              <a:rPr sz="2400" spc="-114" dirty="0">
                <a:latin typeface="Times New Roman"/>
                <a:cs typeface="Times New Roman"/>
              </a:rPr>
              <a:t>random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among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 </a:t>
            </a:r>
            <a:r>
              <a:rPr sz="2400" spc="-70" dirty="0">
                <a:latin typeface="Times New Roman"/>
                <a:cs typeface="Times New Roman"/>
              </a:rPr>
              <a:t>stations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215" dirty="0">
                <a:latin typeface="Times New Roman"/>
                <a:cs typeface="Times New Roman"/>
              </a:rPr>
              <a:t>(r</a:t>
            </a:r>
            <a:r>
              <a:rPr sz="2400" i="1" spc="-215" dirty="0">
                <a:latin typeface="Times New Roman"/>
                <a:cs typeface="Times New Roman"/>
              </a:rPr>
              <a:t>andom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i="1" spc="-315" dirty="0">
                <a:latin typeface="Times New Roman"/>
                <a:cs typeface="Times New Roman"/>
              </a:rPr>
              <a:t>access)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SzPct val="85416"/>
              <a:buFont typeface="Segoe UI Symbol"/>
              <a:buChar char="⚫"/>
              <a:tabLst>
                <a:tab pos="285115" algn="l"/>
                <a:tab pos="353060" algn="l"/>
              </a:tabLst>
            </a:pPr>
            <a:r>
              <a:rPr sz="2400" dirty="0">
                <a:solidFill>
                  <a:srgbClr val="D34817"/>
                </a:solidFill>
                <a:latin typeface="Times New Roman"/>
                <a:cs typeface="Times New Roman"/>
              </a:rPr>
              <a:t>	</a:t>
            </a:r>
            <a:r>
              <a:rPr sz="2400" i="1" spc="-280" dirty="0">
                <a:latin typeface="Times New Roman"/>
                <a:cs typeface="Times New Roman"/>
              </a:rPr>
              <a:t>Second,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i="1" spc="-295" dirty="0">
                <a:latin typeface="Times New Roman"/>
                <a:cs typeface="Times New Roman"/>
              </a:rPr>
              <a:t>no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i="1" spc="-245" dirty="0">
                <a:latin typeface="Times New Roman"/>
                <a:cs typeface="Times New Roman"/>
              </a:rPr>
              <a:t>rules</a:t>
            </a:r>
            <a:r>
              <a:rPr sz="2400" i="1" spc="95" dirty="0">
                <a:latin typeface="Times New Roman"/>
                <a:cs typeface="Times New Roman"/>
              </a:rPr>
              <a:t> </a:t>
            </a:r>
            <a:r>
              <a:rPr sz="2400" i="1" spc="-240" dirty="0">
                <a:latin typeface="Times New Roman"/>
                <a:cs typeface="Times New Roman"/>
              </a:rPr>
              <a:t>specify</a:t>
            </a:r>
            <a:r>
              <a:rPr sz="2400" i="1" spc="90" dirty="0">
                <a:latin typeface="Times New Roman"/>
                <a:cs typeface="Times New Roman"/>
              </a:rPr>
              <a:t> </a:t>
            </a:r>
            <a:r>
              <a:rPr sz="2400" i="1" spc="-260" dirty="0">
                <a:latin typeface="Times New Roman"/>
                <a:cs typeface="Times New Roman"/>
              </a:rPr>
              <a:t>which</a:t>
            </a:r>
            <a:r>
              <a:rPr sz="2400" i="1" spc="110" dirty="0">
                <a:latin typeface="Times New Roman"/>
                <a:cs typeface="Times New Roman"/>
              </a:rPr>
              <a:t> </a:t>
            </a:r>
            <a:r>
              <a:rPr sz="2400" i="1" spc="-185" dirty="0">
                <a:latin typeface="Times New Roman"/>
                <a:cs typeface="Times New Roman"/>
              </a:rPr>
              <a:t>station</a:t>
            </a:r>
            <a:r>
              <a:rPr sz="2400" i="1" spc="35" dirty="0">
                <a:latin typeface="Times New Roman"/>
                <a:cs typeface="Times New Roman"/>
              </a:rPr>
              <a:t> </a:t>
            </a:r>
            <a:r>
              <a:rPr sz="2400" i="1" spc="-254" dirty="0">
                <a:latin typeface="Times New Roman"/>
                <a:cs typeface="Times New Roman"/>
              </a:rPr>
              <a:t>should</a:t>
            </a:r>
            <a:r>
              <a:rPr sz="2400" i="1" spc="105" dirty="0">
                <a:latin typeface="Times New Roman"/>
                <a:cs typeface="Times New Roman"/>
              </a:rPr>
              <a:t> </a:t>
            </a:r>
            <a:r>
              <a:rPr sz="2400" i="1" spc="-295" dirty="0">
                <a:latin typeface="Times New Roman"/>
                <a:cs typeface="Times New Roman"/>
              </a:rPr>
              <a:t>send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i="1" spc="-204" dirty="0">
                <a:latin typeface="Times New Roman"/>
                <a:cs typeface="Times New Roman"/>
              </a:rPr>
              <a:t>next.</a:t>
            </a:r>
            <a:r>
              <a:rPr sz="2400" i="1" spc="55" dirty="0">
                <a:latin typeface="Times New Roman"/>
                <a:cs typeface="Times New Roman"/>
              </a:rPr>
              <a:t> </a:t>
            </a:r>
            <a:r>
              <a:rPr sz="2400" i="1" spc="-195" dirty="0">
                <a:latin typeface="Times New Roman"/>
                <a:cs typeface="Times New Roman"/>
              </a:rPr>
              <a:t>Stations</a:t>
            </a:r>
            <a:r>
              <a:rPr sz="2400" i="1" spc="4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compete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another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access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medium. </a:t>
            </a:r>
            <a:r>
              <a:rPr sz="2400" spc="-45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why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these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methods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also </a:t>
            </a:r>
            <a:r>
              <a:rPr sz="2400" spc="-125" dirty="0">
                <a:latin typeface="Times New Roman"/>
                <a:cs typeface="Times New Roman"/>
              </a:rPr>
              <a:t>called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i="1" spc="-215" dirty="0">
                <a:latin typeface="Times New Roman"/>
                <a:cs typeface="Times New Roman"/>
              </a:rPr>
              <a:t>contention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spc="-110" dirty="0">
                <a:latin typeface="Times New Roman"/>
                <a:cs typeface="Times New Roman"/>
              </a:rPr>
              <a:t>methods.</a:t>
            </a:r>
            <a:endParaRPr sz="2400">
              <a:latin typeface="Times New Roman"/>
              <a:cs typeface="Times New Roman"/>
            </a:endParaRPr>
          </a:p>
          <a:p>
            <a:pPr marL="285115" marR="6350" indent="-273050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random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access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method,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each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station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has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right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medium </a:t>
            </a:r>
            <a:r>
              <a:rPr sz="2400" spc="-80" dirty="0">
                <a:latin typeface="Times New Roman"/>
                <a:cs typeface="Times New Roman"/>
              </a:rPr>
              <a:t>without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being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controlled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70" dirty="0">
                <a:latin typeface="Times New Roman"/>
                <a:cs typeface="Times New Roman"/>
              </a:rPr>
              <a:t>by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229" dirty="0">
                <a:latin typeface="Times New Roman"/>
                <a:cs typeface="Times New Roman"/>
              </a:rPr>
              <a:t>any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other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station.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However,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if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more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than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one </a:t>
            </a:r>
            <a:r>
              <a:rPr sz="2400" dirty="0">
                <a:latin typeface="Times New Roman"/>
                <a:cs typeface="Times New Roman"/>
              </a:rPr>
              <a:t>station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tries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send,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access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conflict—</a:t>
            </a:r>
            <a:r>
              <a:rPr sz="2400" spc="-114" dirty="0">
                <a:latin typeface="Times New Roman"/>
                <a:cs typeface="Times New Roman"/>
              </a:rPr>
              <a:t>collision—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40" dirty="0">
                <a:latin typeface="Times New Roman"/>
                <a:cs typeface="Times New Roman"/>
              </a:rPr>
              <a:t>frames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will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be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either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destroyed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modified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rgbClr val="212121"/>
                </a:solidFill>
              </a:rPr>
              <a:t>Random</a:t>
            </a:r>
            <a:r>
              <a:rPr spc="-190" dirty="0">
                <a:solidFill>
                  <a:srgbClr val="212121"/>
                </a:solidFill>
              </a:rPr>
              <a:t> </a:t>
            </a:r>
            <a:r>
              <a:rPr spc="-10" dirty="0">
                <a:solidFill>
                  <a:srgbClr val="212121"/>
                </a:solidFill>
              </a:rPr>
              <a:t>Access</a:t>
            </a:r>
            <a:r>
              <a:rPr spc="-210" dirty="0">
                <a:solidFill>
                  <a:srgbClr val="212121"/>
                </a:solidFill>
              </a:rPr>
              <a:t> </a:t>
            </a:r>
            <a:r>
              <a:rPr spc="-45" dirty="0">
                <a:solidFill>
                  <a:srgbClr val="212121"/>
                </a:solidFill>
              </a:rPr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0538"/>
            <a:ext cx="8072120" cy="334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 marR="5715" indent="-271145" algn="just">
              <a:lnSpc>
                <a:spcPct val="100000"/>
              </a:lnSpc>
              <a:spcBef>
                <a:spcPts val="9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65" dirty="0">
                <a:latin typeface="Times New Roman"/>
                <a:cs typeface="Times New Roman"/>
              </a:rPr>
              <a:t>Random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access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methods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have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evolved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 protocol </a:t>
            </a:r>
            <a:r>
              <a:rPr sz="2600" spc="-65" dirty="0">
                <a:latin typeface="Times New Roman"/>
                <a:cs typeface="Times New Roman"/>
              </a:rPr>
              <a:t>called 	</a:t>
            </a:r>
            <a:r>
              <a:rPr sz="2600" dirty="0">
                <a:latin typeface="Times New Roman"/>
                <a:cs typeface="Times New Roman"/>
              </a:rPr>
              <a:t>ALOHA</a:t>
            </a:r>
            <a:r>
              <a:rPr sz="2600" spc="5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which</a:t>
            </a:r>
            <a:r>
              <a:rPr sz="2600" spc="5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uses</a:t>
            </a:r>
            <a:r>
              <a:rPr sz="2600" spc="5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simple</a:t>
            </a:r>
            <a:r>
              <a:rPr sz="2600" spc="5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procedure</a:t>
            </a:r>
            <a:r>
              <a:rPr sz="2600" spc="5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called</a:t>
            </a:r>
            <a:r>
              <a:rPr sz="2600" spc="52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Multiple 	</a:t>
            </a:r>
            <a:r>
              <a:rPr sz="2600" spc="-100" dirty="0">
                <a:latin typeface="Times New Roman"/>
                <a:cs typeface="Times New Roman"/>
              </a:rPr>
              <a:t>Access(MA)</a:t>
            </a:r>
            <a:endParaRPr sz="2600">
              <a:latin typeface="Times New Roman"/>
              <a:cs typeface="Times New Roman"/>
            </a:endParaRPr>
          </a:p>
          <a:p>
            <a:pPr marL="283210" marR="5080" indent="-271145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60" dirty="0">
                <a:latin typeface="Times New Roman"/>
                <a:cs typeface="Times New Roman"/>
              </a:rPr>
              <a:t>This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method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was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improved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with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addition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of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procedure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that</a:t>
            </a:r>
            <a:r>
              <a:rPr sz="2600" spc="-80" dirty="0">
                <a:latin typeface="Times New Roman"/>
                <a:cs typeface="Times New Roman"/>
              </a:rPr>
              <a:t> 	</a:t>
            </a:r>
            <a:r>
              <a:rPr sz="2600" spc="-130" dirty="0">
                <a:latin typeface="Times New Roman"/>
                <a:cs typeface="Times New Roman"/>
              </a:rPr>
              <a:t>forces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station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to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sense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medium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before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transmitting.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This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120" dirty="0">
                <a:latin typeface="Times New Roman"/>
                <a:cs typeface="Times New Roman"/>
              </a:rPr>
              <a:t> 	</a:t>
            </a:r>
            <a:r>
              <a:rPr sz="2600" spc="-140" dirty="0">
                <a:latin typeface="Times New Roman"/>
                <a:cs typeface="Times New Roman"/>
              </a:rPr>
              <a:t>called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20" dirty="0">
                <a:latin typeface="Times New Roman"/>
                <a:cs typeface="Times New Roman"/>
              </a:rPr>
              <a:t>CSMA.</a:t>
            </a:r>
            <a:endParaRPr sz="2600">
              <a:latin typeface="Times New Roman"/>
              <a:cs typeface="Times New Roman"/>
            </a:endParaRPr>
          </a:p>
          <a:p>
            <a:pPr marL="283210" marR="6985" indent="-271145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65" dirty="0">
                <a:latin typeface="Times New Roman"/>
                <a:cs typeface="Times New Roman"/>
              </a:rPr>
              <a:t>This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method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later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evolved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two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other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methods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CSMA/CA 	</a:t>
            </a:r>
            <a:r>
              <a:rPr sz="2600" spc="-160" dirty="0">
                <a:latin typeface="Times New Roman"/>
                <a:cs typeface="Times New Roman"/>
              </a:rPr>
              <a:t>and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CSMA/CD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63144"/>
            <a:ext cx="1311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25" dirty="0">
                <a:solidFill>
                  <a:srgbClr val="212121"/>
                </a:solidFill>
              </a:rPr>
              <a:t>ALOHA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16589" y="1327438"/>
            <a:ext cx="8555355" cy="3949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 marR="655955" indent="-27559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44000"/>
              <a:buFont typeface="Wingdings"/>
              <a:buChar char=""/>
              <a:tabLst>
                <a:tab pos="287655" algn="l"/>
              </a:tabLst>
            </a:pP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Developed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at</a:t>
            </a:r>
            <a:r>
              <a:rPr sz="25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University</a:t>
            </a:r>
            <a:r>
              <a:rPr sz="25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Hawaii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for</a:t>
            </a:r>
            <a:r>
              <a:rPr sz="25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packet</a:t>
            </a:r>
            <a:r>
              <a:rPr sz="25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radio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networks,</a:t>
            </a:r>
            <a:r>
              <a:rPr sz="2500" spc="-6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applicable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5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any</a:t>
            </a:r>
            <a:r>
              <a:rPr sz="25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shared</a:t>
            </a:r>
            <a:r>
              <a:rPr sz="2500" spc="-6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medium</a:t>
            </a:r>
            <a:endParaRPr sz="2500" dirty="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SzPct val="44000"/>
              <a:buFont typeface="Wingdings"/>
              <a:buChar char=""/>
              <a:tabLst>
                <a:tab pos="287655" algn="l"/>
                <a:tab pos="4685665" algn="l"/>
              </a:tabLst>
            </a:pP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Pure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ALOHA-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original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ALOHA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protocol</a:t>
            </a:r>
            <a:endParaRPr sz="2500" dirty="0">
              <a:latin typeface="Georgia"/>
              <a:cs typeface="Georgia"/>
            </a:endParaRPr>
          </a:p>
          <a:p>
            <a:pPr marL="572135" lvl="1" indent="-240665">
              <a:lnSpc>
                <a:spcPct val="100000"/>
              </a:lnSpc>
              <a:spcBef>
                <a:spcPts val="715"/>
              </a:spcBef>
              <a:buClr>
                <a:srgbClr val="000000"/>
              </a:buClr>
              <a:buFont typeface="Times New Roman"/>
              <a:buChar char="–"/>
              <a:tabLst>
                <a:tab pos="572135" algn="l"/>
              </a:tabLst>
            </a:pP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Station</a:t>
            </a:r>
            <a:r>
              <a:rPr sz="20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can</a:t>
            </a:r>
            <a:r>
              <a:rPr sz="20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transmit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frame</a:t>
            </a:r>
            <a:r>
              <a:rPr sz="20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at</a:t>
            </a:r>
            <a:r>
              <a:rPr sz="20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any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77216F"/>
                </a:solidFill>
                <a:latin typeface="Georgia"/>
                <a:cs typeface="Georgia"/>
              </a:rPr>
              <a:t>time</a:t>
            </a:r>
            <a:endParaRPr sz="2000" dirty="0">
              <a:latin typeface="Georgia"/>
              <a:cs typeface="Georgia"/>
            </a:endParaRPr>
          </a:p>
          <a:p>
            <a:pPr marL="572135" marR="529590" lvl="1" indent="-24066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3405" algn="l"/>
              </a:tabLst>
            </a:pP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Then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listens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for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an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amount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time</a:t>
            </a:r>
            <a:r>
              <a:rPr sz="20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equal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0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0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maximum</a:t>
            </a:r>
            <a:r>
              <a:rPr sz="2000" spc="-10" dirty="0">
                <a:solidFill>
                  <a:srgbClr val="77216F"/>
                </a:solidFill>
                <a:latin typeface="Georgia"/>
                <a:cs typeface="Georgia"/>
              </a:rPr>
              <a:t> possible 	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round</a:t>
            </a:r>
            <a:r>
              <a:rPr sz="20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trip</a:t>
            </a:r>
            <a:r>
              <a:rPr sz="20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propagation</a:t>
            </a:r>
            <a:r>
              <a:rPr sz="20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spc="-20" dirty="0">
                <a:solidFill>
                  <a:srgbClr val="77216F"/>
                </a:solidFill>
                <a:latin typeface="Georgia"/>
                <a:cs typeface="Georgia"/>
              </a:rPr>
              <a:t>delay</a:t>
            </a:r>
            <a:endParaRPr sz="2000" dirty="0">
              <a:latin typeface="Georgia"/>
              <a:cs typeface="Georgia"/>
            </a:endParaRPr>
          </a:p>
          <a:p>
            <a:pPr marL="572135" lvl="1" indent="-240665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Font typeface="Times New Roman"/>
              <a:buChar char="–"/>
              <a:tabLst>
                <a:tab pos="572135" algn="l"/>
              </a:tabLst>
            </a:pP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an</a:t>
            </a:r>
            <a:r>
              <a:rPr sz="20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ACK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come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during</a:t>
            </a:r>
            <a:r>
              <a:rPr sz="20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that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time,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OK,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else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resends</a:t>
            </a:r>
            <a:r>
              <a:rPr sz="20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77216F"/>
                </a:solidFill>
                <a:latin typeface="Georgia"/>
                <a:cs typeface="Georgia"/>
              </a:rPr>
              <a:t>frame</a:t>
            </a:r>
            <a:endParaRPr sz="2000" dirty="0">
              <a:latin typeface="Georgia"/>
              <a:cs typeface="Georgia"/>
            </a:endParaRPr>
          </a:p>
          <a:p>
            <a:pPr marL="572135" lvl="1" indent="-24066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2135" algn="l"/>
              </a:tabLst>
            </a:pP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station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fails</a:t>
            </a:r>
            <a:r>
              <a:rPr sz="20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receive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ACK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after</a:t>
            </a:r>
            <a:r>
              <a:rPr sz="20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repeated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transmissions,</a:t>
            </a:r>
            <a:r>
              <a:rPr sz="20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it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gives</a:t>
            </a:r>
            <a:r>
              <a:rPr sz="20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up</a:t>
            </a:r>
            <a:endParaRPr sz="2000" dirty="0">
              <a:latin typeface="Georgia"/>
              <a:cs typeface="Georgia"/>
            </a:endParaRPr>
          </a:p>
          <a:p>
            <a:pPr marL="572135" lvl="1" indent="-24066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Font typeface="Times New Roman"/>
              <a:buChar char="–"/>
              <a:tabLst>
                <a:tab pos="572135" algn="l"/>
              </a:tabLst>
            </a:pP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two</a:t>
            </a:r>
            <a:r>
              <a:rPr sz="20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stations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transmits</a:t>
            </a:r>
            <a:r>
              <a:rPr sz="2000" spc="-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at</a:t>
            </a:r>
            <a:r>
              <a:rPr sz="20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a</a:t>
            </a:r>
            <a:r>
              <a:rPr sz="20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time,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b="1" spc="-10" dirty="0">
                <a:solidFill>
                  <a:srgbClr val="77216F"/>
                </a:solidFill>
                <a:latin typeface="Georgia"/>
                <a:cs typeface="Georgia"/>
              </a:rPr>
              <a:t>collision</a:t>
            </a:r>
            <a:endParaRPr sz="2000" dirty="0">
              <a:latin typeface="Georgia"/>
              <a:cs typeface="Georgia"/>
            </a:endParaRPr>
          </a:p>
          <a:p>
            <a:pPr marL="572135" lvl="1" indent="-240665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Font typeface="Times New Roman"/>
              <a:buChar char="–"/>
              <a:tabLst>
                <a:tab pos="572135" algn="l"/>
              </a:tabLst>
            </a:pP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20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0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received</a:t>
            </a:r>
            <a:r>
              <a:rPr sz="20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frame</a:t>
            </a:r>
            <a:r>
              <a:rPr sz="20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0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invalid,</a:t>
            </a:r>
            <a:r>
              <a:rPr sz="20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77216F"/>
                </a:solidFill>
                <a:latin typeface="Georgia"/>
                <a:cs typeface="Georgia"/>
              </a:rPr>
              <a:t>simply</a:t>
            </a:r>
            <a:r>
              <a:rPr sz="20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77216F"/>
                </a:solidFill>
                <a:latin typeface="Georgia"/>
                <a:cs typeface="Georgia"/>
              </a:rPr>
              <a:t>ignores</a:t>
            </a:r>
            <a:endParaRPr sz="20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906" y="228600"/>
            <a:ext cx="8284082" cy="57374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13585"/>
            <a:ext cx="8084184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18415" indent="-273050" algn="just">
              <a:lnSpc>
                <a:spcPct val="100000"/>
              </a:lnSpc>
              <a:spcBef>
                <a:spcPts val="1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resend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frames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been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destroyed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during </a:t>
            </a:r>
            <a:r>
              <a:rPr sz="2400" spc="-120" dirty="0">
                <a:latin typeface="Times New Roman"/>
                <a:cs typeface="Times New Roman"/>
              </a:rPr>
              <a:t>transmission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5115" indent="-272415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135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pure</a:t>
            </a:r>
            <a:r>
              <a:rPr sz="2400" spc="-215" dirty="0">
                <a:latin typeface="Times New Roman"/>
                <a:cs typeface="Times New Roman"/>
              </a:rPr>
              <a:t> ALOHA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relies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acknowledgements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receiver.</a:t>
            </a:r>
            <a:endParaRPr sz="2400">
              <a:latin typeface="Times New Roman"/>
              <a:cs typeface="Times New Roman"/>
            </a:endParaRPr>
          </a:p>
          <a:p>
            <a:pPr marL="285115" marR="17145" indent="-273050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85" dirty="0">
                <a:latin typeface="Times New Roman"/>
                <a:cs typeface="Times New Roman"/>
              </a:rPr>
              <a:t>After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sending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frame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sender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waits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acknowledgement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if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 </a:t>
            </a:r>
            <a:r>
              <a:rPr sz="2400" spc="-135" dirty="0">
                <a:latin typeface="Times New Roman"/>
                <a:cs typeface="Times New Roman"/>
              </a:rPr>
              <a:t>does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not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receive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,then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after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timeout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period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resends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frame.</a:t>
            </a:r>
            <a:endParaRPr sz="2400">
              <a:latin typeface="Times New Roman"/>
              <a:cs typeface="Times New Roman"/>
            </a:endParaRPr>
          </a:p>
          <a:p>
            <a:pPr marL="285115" marR="17780" indent="-273050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collision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involves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two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or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more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stations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.If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all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these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stations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tries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resend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their </a:t>
            </a:r>
            <a:r>
              <a:rPr sz="2400" spc="-135" dirty="0">
                <a:latin typeface="Times New Roman"/>
                <a:cs typeface="Times New Roman"/>
              </a:rPr>
              <a:t>frames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after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time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out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frames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will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collide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again.</a:t>
            </a:r>
            <a:endParaRPr sz="240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5416"/>
              <a:buFont typeface="Segoe UI Symbol"/>
              <a:buChar char="⚫"/>
              <a:tabLst>
                <a:tab pos="285115" algn="l"/>
              </a:tabLst>
            </a:pPr>
            <a:r>
              <a:rPr sz="2400" dirty="0">
                <a:latin typeface="Times New Roman"/>
                <a:cs typeface="Times New Roman"/>
              </a:rPr>
              <a:t>Pure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ALOHA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dictates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period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passes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each </a:t>
            </a:r>
            <a:r>
              <a:rPr sz="2400" spc="-75" dirty="0">
                <a:latin typeface="Times New Roman"/>
                <a:cs typeface="Times New Roman"/>
              </a:rPr>
              <a:t>station </a:t>
            </a:r>
            <a:r>
              <a:rPr sz="2400" spc="-95" dirty="0">
                <a:latin typeface="Times New Roman"/>
                <a:cs typeface="Times New Roman"/>
              </a:rPr>
              <a:t>waits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random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amount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of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before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resending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frame. </a:t>
            </a:r>
            <a:r>
              <a:rPr sz="2400" spc="-13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randomness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85" dirty="0">
                <a:latin typeface="Times New Roman"/>
                <a:cs typeface="Times New Roman"/>
              </a:rPr>
              <a:t>avoids</a:t>
            </a:r>
            <a:r>
              <a:rPr sz="2400" spc="-50" dirty="0">
                <a:latin typeface="Times New Roman"/>
                <a:cs typeface="Times New Roman"/>
              </a:rPr>
              <a:t> further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collisions.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876109"/>
            <a:ext cx="21729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/>
              <a:t>Slotted</a:t>
            </a:r>
            <a:r>
              <a:rPr sz="2800" spc="-114" dirty="0"/>
              <a:t> </a:t>
            </a:r>
            <a:r>
              <a:rPr sz="2800" spc="-80" dirty="0"/>
              <a:t>ALOHA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 marR="5080" indent="-271145" algn="just">
              <a:lnSpc>
                <a:spcPct val="100000"/>
              </a:lnSpc>
              <a:spcBef>
                <a:spcPts val="9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pc="-50" dirty="0"/>
              <a:t>In</a:t>
            </a:r>
            <a:r>
              <a:rPr spc="-125" dirty="0"/>
              <a:t> </a:t>
            </a:r>
            <a:r>
              <a:rPr spc="-45" dirty="0"/>
              <a:t>Pure</a:t>
            </a:r>
            <a:r>
              <a:rPr spc="-114" dirty="0"/>
              <a:t> </a:t>
            </a:r>
            <a:r>
              <a:rPr spc="-210" dirty="0"/>
              <a:t>ALOHA</a:t>
            </a:r>
            <a:r>
              <a:rPr spc="45" dirty="0"/>
              <a:t> </a:t>
            </a:r>
            <a:r>
              <a:rPr spc="-25" dirty="0"/>
              <a:t>there</a:t>
            </a:r>
            <a:r>
              <a:rPr spc="-135" dirty="0"/>
              <a:t> </a:t>
            </a:r>
            <a:r>
              <a:rPr spc="-65" dirty="0"/>
              <a:t>is</a:t>
            </a:r>
            <a:r>
              <a:rPr spc="-100" dirty="0"/>
              <a:t> </a:t>
            </a:r>
            <a:r>
              <a:rPr dirty="0"/>
              <a:t>no</a:t>
            </a:r>
            <a:r>
              <a:rPr spc="-110" dirty="0"/>
              <a:t> </a:t>
            </a:r>
            <a:r>
              <a:rPr dirty="0"/>
              <a:t>rule</a:t>
            </a:r>
            <a:r>
              <a:rPr spc="-80" dirty="0"/>
              <a:t> </a:t>
            </a:r>
            <a:r>
              <a:rPr spc="-35" dirty="0"/>
              <a:t>that</a:t>
            </a:r>
            <a:r>
              <a:rPr spc="-80" dirty="0"/>
              <a:t> </a:t>
            </a:r>
            <a:r>
              <a:rPr spc="-125" dirty="0"/>
              <a:t>defines</a:t>
            </a:r>
            <a:r>
              <a:rPr spc="-35" dirty="0"/>
              <a:t> </a:t>
            </a:r>
            <a:r>
              <a:rPr spc="-100" dirty="0"/>
              <a:t>when</a:t>
            </a:r>
            <a:r>
              <a:rPr spc="-6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60" dirty="0"/>
              <a:t>station 	</a:t>
            </a:r>
            <a:r>
              <a:rPr spc="-55" dirty="0"/>
              <a:t>can</a:t>
            </a:r>
            <a:r>
              <a:rPr spc="-110" dirty="0"/>
              <a:t> </a:t>
            </a:r>
            <a:r>
              <a:rPr spc="-50" dirty="0"/>
              <a:t>send.</a:t>
            </a:r>
            <a:r>
              <a:rPr spc="-110" dirty="0"/>
              <a:t> </a:t>
            </a:r>
            <a:r>
              <a:rPr spc="-340" dirty="0"/>
              <a:t>A</a:t>
            </a:r>
            <a:r>
              <a:rPr spc="175" dirty="0"/>
              <a:t> </a:t>
            </a:r>
            <a:r>
              <a:rPr spc="-60" dirty="0"/>
              <a:t>station</a:t>
            </a:r>
            <a:r>
              <a:rPr spc="-100" dirty="0"/>
              <a:t> </a:t>
            </a:r>
            <a:r>
              <a:rPr spc="-160" dirty="0"/>
              <a:t>may</a:t>
            </a:r>
            <a:r>
              <a:rPr spc="-5" dirty="0"/>
              <a:t> </a:t>
            </a:r>
            <a:r>
              <a:rPr spc="-60" dirty="0"/>
              <a:t>send</a:t>
            </a:r>
            <a:r>
              <a:rPr spc="-100" dirty="0"/>
              <a:t> </a:t>
            </a:r>
            <a:r>
              <a:rPr spc="-65" dirty="0"/>
              <a:t>soon</a:t>
            </a:r>
            <a:r>
              <a:rPr spc="-100" dirty="0"/>
              <a:t> </a:t>
            </a:r>
            <a:r>
              <a:rPr spc="-20" dirty="0"/>
              <a:t>after</a:t>
            </a:r>
            <a:r>
              <a:rPr spc="-135" dirty="0"/>
              <a:t> </a:t>
            </a:r>
            <a:r>
              <a:rPr spc="-50" dirty="0"/>
              <a:t>another </a:t>
            </a:r>
            <a:r>
              <a:rPr spc="-60" dirty="0"/>
              <a:t>station</a:t>
            </a:r>
            <a:r>
              <a:rPr spc="-50" dirty="0"/>
              <a:t> </a:t>
            </a:r>
            <a:r>
              <a:rPr spc="-85" dirty="0"/>
              <a:t>has 	</a:t>
            </a:r>
            <a:r>
              <a:rPr spc="-60" dirty="0"/>
              <a:t>started</a:t>
            </a:r>
            <a:r>
              <a:rPr spc="-80" dirty="0"/>
              <a:t> </a:t>
            </a:r>
            <a:r>
              <a:rPr dirty="0"/>
              <a:t>or</a:t>
            </a:r>
            <a:r>
              <a:rPr spc="-65" dirty="0"/>
              <a:t> </a:t>
            </a:r>
            <a:r>
              <a:rPr spc="-150" dirty="0"/>
              <a:t>soon</a:t>
            </a:r>
            <a:r>
              <a:rPr spc="-70" dirty="0"/>
              <a:t> </a:t>
            </a:r>
            <a:r>
              <a:rPr spc="-95" dirty="0"/>
              <a:t>after</a:t>
            </a:r>
            <a:r>
              <a:rPr spc="-60" dirty="0"/>
              <a:t> </a:t>
            </a:r>
            <a:r>
              <a:rPr spc="-100" dirty="0"/>
              <a:t>another</a:t>
            </a:r>
            <a:r>
              <a:rPr spc="-60" dirty="0"/>
              <a:t> </a:t>
            </a:r>
            <a:r>
              <a:rPr spc="-110" dirty="0"/>
              <a:t>station</a:t>
            </a:r>
            <a:r>
              <a:rPr spc="-55" dirty="0"/>
              <a:t> </a:t>
            </a:r>
            <a:r>
              <a:rPr spc="-200" dirty="0"/>
              <a:t>has</a:t>
            </a:r>
            <a:r>
              <a:rPr spc="-70" dirty="0"/>
              <a:t> </a:t>
            </a:r>
            <a:r>
              <a:rPr spc="-10" dirty="0"/>
              <a:t>finished.</a:t>
            </a:r>
          </a:p>
          <a:p>
            <a:pPr marL="283210" marR="5080" indent="-271145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pc="-45" dirty="0"/>
              <a:t>Slotted</a:t>
            </a:r>
            <a:r>
              <a:rPr dirty="0"/>
              <a:t> </a:t>
            </a:r>
            <a:r>
              <a:rPr spc="-145" dirty="0"/>
              <a:t>ALOHA</a:t>
            </a:r>
            <a:r>
              <a:rPr spc="15" dirty="0"/>
              <a:t> </a:t>
            </a:r>
            <a:r>
              <a:rPr spc="-45" dirty="0"/>
              <a:t>was</a:t>
            </a:r>
            <a:r>
              <a:rPr spc="15" dirty="0"/>
              <a:t> </a:t>
            </a:r>
            <a:r>
              <a:rPr spc="-80" dirty="0"/>
              <a:t>invented</a:t>
            </a:r>
            <a:r>
              <a:rPr dirty="0"/>
              <a:t> to</a:t>
            </a:r>
            <a:r>
              <a:rPr spc="10" dirty="0"/>
              <a:t> </a:t>
            </a:r>
            <a:r>
              <a:rPr spc="-85" dirty="0"/>
              <a:t>improve</a:t>
            </a:r>
            <a:r>
              <a:rPr spc="1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114" dirty="0"/>
              <a:t>efficiency</a:t>
            </a:r>
            <a:r>
              <a:rPr dirty="0"/>
              <a:t> </a:t>
            </a:r>
            <a:r>
              <a:rPr spc="-25" dirty="0"/>
              <a:t>of 	</a:t>
            </a:r>
            <a:r>
              <a:rPr spc="-95" dirty="0"/>
              <a:t>pure</a:t>
            </a:r>
            <a:r>
              <a:rPr spc="-229" dirty="0"/>
              <a:t> </a:t>
            </a:r>
            <a:r>
              <a:rPr spc="-10" dirty="0"/>
              <a:t>ALOHA.</a:t>
            </a:r>
          </a:p>
          <a:p>
            <a:pPr marL="283210" marR="5080" indent="-271145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pc="-204" dirty="0"/>
              <a:t>In</a:t>
            </a:r>
            <a:r>
              <a:rPr spc="40" dirty="0"/>
              <a:t> </a:t>
            </a:r>
            <a:r>
              <a:rPr spc="-85" dirty="0"/>
              <a:t>slotted</a:t>
            </a:r>
            <a:r>
              <a:rPr spc="-75" dirty="0"/>
              <a:t> </a:t>
            </a:r>
            <a:r>
              <a:rPr spc="-254" dirty="0"/>
              <a:t>ALOHA</a:t>
            </a:r>
            <a:r>
              <a:rPr spc="90" dirty="0"/>
              <a:t> </a:t>
            </a:r>
            <a:r>
              <a:rPr spc="-215" dirty="0"/>
              <a:t>we</a:t>
            </a:r>
            <a:r>
              <a:rPr spc="55" dirty="0"/>
              <a:t> </a:t>
            </a:r>
            <a:r>
              <a:rPr spc="-145" dirty="0"/>
              <a:t>divide</a:t>
            </a:r>
            <a:r>
              <a:rPr spc="-20" dirty="0"/>
              <a:t> </a:t>
            </a:r>
            <a:r>
              <a:rPr spc="-70" dirty="0"/>
              <a:t>the</a:t>
            </a:r>
            <a:r>
              <a:rPr spc="-90" dirty="0"/>
              <a:t> </a:t>
            </a:r>
            <a:r>
              <a:rPr spc="-80" dirty="0"/>
              <a:t>time</a:t>
            </a:r>
            <a:r>
              <a:rPr spc="-85" dirty="0"/>
              <a:t> </a:t>
            </a:r>
            <a:r>
              <a:rPr spc="-75" dirty="0"/>
              <a:t>into</a:t>
            </a:r>
            <a:r>
              <a:rPr spc="-20" dirty="0"/>
              <a:t> </a:t>
            </a:r>
            <a:r>
              <a:rPr spc="-130" dirty="0"/>
              <a:t>slots</a:t>
            </a:r>
            <a:r>
              <a:rPr spc="-10" dirty="0"/>
              <a:t> </a:t>
            </a:r>
            <a:r>
              <a:rPr spc="-175" dirty="0"/>
              <a:t>and</a:t>
            </a:r>
            <a:r>
              <a:rPr spc="15" dirty="0"/>
              <a:t> </a:t>
            </a:r>
            <a:r>
              <a:rPr spc="-110" dirty="0"/>
              <a:t>force</a:t>
            </a:r>
            <a:r>
              <a:rPr spc="-15" dirty="0"/>
              <a:t> </a:t>
            </a:r>
            <a:r>
              <a:rPr spc="-25" dirty="0"/>
              <a:t>the 	</a:t>
            </a:r>
            <a:r>
              <a:rPr spc="-110" dirty="0"/>
              <a:t>station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45" dirty="0"/>
              <a:t>send</a:t>
            </a:r>
            <a:r>
              <a:rPr spc="-70" dirty="0"/>
              <a:t> </a:t>
            </a:r>
            <a:r>
              <a:rPr spc="-160" dirty="0"/>
              <a:t>only</a:t>
            </a:r>
            <a:r>
              <a:rPr spc="-55" dirty="0"/>
              <a:t> </a:t>
            </a:r>
            <a:r>
              <a:rPr spc="-105" dirty="0"/>
              <a:t>at</a:t>
            </a:r>
            <a:r>
              <a:rPr spc="-55" dirty="0"/>
              <a:t> </a:t>
            </a:r>
            <a:r>
              <a:rPr spc="-80" dirty="0"/>
              <a:t>the</a:t>
            </a:r>
            <a:r>
              <a:rPr spc="-55" dirty="0"/>
              <a:t> </a:t>
            </a:r>
            <a:r>
              <a:rPr spc="-150" dirty="0"/>
              <a:t>beginning</a:t>
            </a:r>
            <a:r>
              <a:rPr spc="-55" dirty="0"/>
              <a:t> </a:t>
            </a:r>
            <a:r>
              <a:rPr spc="-160" dirty="0"/>
              <a:t>of</a:t>
            </a:r>
            <a:r>
              <a:rPr spc="-55" dirty="0"/>
              <a:t> </a:t>
            </a:r>
            <a:r>
              <a:rPr spc="-85" dirty="0"/>
              <a:t>the</a:t>
            </a:r>
            <a:r>
              <a:rPr spc="-65" dirty="0"/>
              <a:t> </a:t>
            </a:r>
            <a:r>
              <a:rPr spc="-85" dirty="0"/>
              <a:t>time</a:t>
            </a:r>
            <a:r>
              <a:rPr spc="-40" dirty="0"/>
              <a:t> </a:t>
            </a:r>
            <a:r>
              <a:rPr spc="-10" dirty="0"/>
              <a:t>slot.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455420"/>
            <a:ext cx="8129765" cy="41833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1434338"/>
            <a:ext cx="7613650" cy="2555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 marR="5080" indent="-271145" algn="just">
              <a:lnSpc>
                <a:spcPct val="100000"/>
              </a:lnSpc>
              <a:spcBef>
                <a:spcPts val="9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4480" algn="l"/>
              </a:tabLst>
            </a:pPr>
            <a:r>
              <a:rPr sz="2600" spc="-195" dirty="0">
                <a:latin typeface="Times New Roman"/>
                <a:cs typeface="Times New Roman"/>
              </a:rPr>
              <a:t>Because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station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is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allowed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send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only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beginning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20" dirty="0">
                <a:latin typeface="Times New Roman"/>
                <a:cs typeface="Times New Roman"/>
              </a:rPr>
              <a:t> 	</a:t>
            </a:r>
            <a:r>
              <a:rPr sz="2600" spc="-90" dirty="0">
                <a:latin typeface="Times New Roman"/>
                <a:cs typeface="Times New Roman"/>
              </a:rPr>
              <a:t>time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slot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,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if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station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misses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this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moment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it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should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wait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until</a:t>
            </a:r>
            <a:r>
              <a:rPr sz="2600" spc="-95" dirty="0">
                <a:latin typeface="Times New Roman"/>
                <a:cs typeface="Times New Roman"/>
              </a:rPr>
              <a:t> 	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beginning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of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next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slot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  <a:buClr>
                <a:srgbClr val="D34817"/>
              </a:buClr>
              <a:buFont typeface="Segoe UI Symbol"/>
              <a:buChar char="⚫"/>
            </a:pPr>
            <a:endParaRPr sz="2600">
              <a:latin typeface="Times New Roman"/>
              <a:cs typeface="Times New Roman"/>
            </a:endParaRPr>
          </a:p>
          <a:p>
            <a:pPr marL="283210" marR="5080" indent="-271145" algn="just">
              <a:lnSpc>
                <a:spcPct val="100000"/>
              </a:lnSpc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55" dirty="0">
                <a:latin typeface="Times New Roman"/>
                <a:cs typeface="Times New Roman"/>
              </a:rPr>
              <a:t>But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there</a:t>
            </a:r>
            <a:r>
              <a:rPr sz="2600" spc="-120" dirty="0">
                <a:latin typeface="Times New Roman"/>
                <a:cs typeface="Times New Roman"/>
              </a:rPr>
              <a:t> is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still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possibility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collision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,if</a:t>
            </a:r>
            <a:r>
              <a:rPr sz="2600" spc="-60" dirty="0">
                <a:latin typeface="Times New Roman"/>
                <a:cs typeface="Times New Roman"/>
              </a:rPr>
              <a:t> two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stations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tries 	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send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beginning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same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time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slot.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706" y="823722"/>
            <a:ext cx="7753349" cy="50771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781685"/>
            <a:ext cx="30892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Slotted</a:t>
            </a:r>
            <a:r>
              <a:rPr spc="-200" dirty="0"/>
              <a:t> </a:t>
            </a:r>
            <a:r>
              <a:rPr spc="-125" dirty="0"/>
              <a:t>ALOHA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789" y="1500209"/>
            <a:ext cx="8420735" cy="36957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795"/>
              </a:spcBef>
              <a:buClr>
                <a:srgbClr val="000000"/>
              </a:buClr>
              <a:buSzPct val="44000"/>
              <a:buFont typeface="Wingdings"/>
              <a:buChar char=""/>
              <a:tabLst>
                <a:tab pos="287655" algn="l"/>
              </a:tabLst>
            </a:pP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Time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on</a:t>
            </a:r>
            <a:r>
              <a:rPr sz="25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5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channel</a:t>
            </a:r>
            <a:r>
              <a:rPr sz="25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5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organized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into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uniform</a:t>
            </a:r>
            <a:r>
              <a:rPr sz="25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slots</a:t>
            </a:r>
            <a:endParaRPr sz="25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44000"/>
              <a:buFont typeface="Wingdings"/>
              <a:buChar char=""/>
              <a:tabLst>
                <a:tab pos="287655" algn="l"/>
              </a:tabLst>
            </a:pP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Size</a:t>
            </a:r>
            <a:r>
              <a:rPr sz="25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slots</a:t>
            </a:r>
            <a:r>
              <a:rPr sz="25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equal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5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frame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transmission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77216F"/>
                </a:solidFill>
                <a:latin typeface="Georgia"/>
                <a:cs typeface="Georgia"/>
              </a:rPr>
              <a:t>time</a:t>
            </a:r>
            <a:endParaRPr sz="25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4000"/>
              <a:buFont typeface="Wingdings"/>
              <a:buChar char=""/>
              <a:tabLst>
                <a:tab pos="287655" algn="l"/>
              </a:tabLst>
            </a:pP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Central</a:t>
            </a:r>
            <a:r>
              <a:rPr sz="25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clock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5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used</a:t>
            </a:r>
            <a:r>
              <a:rPr sz="25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for</a:t>
            </a:r>
            <a:r>
              <a:rPr sz="25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synchronize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stations</a:t>
            </a:r>
            <a:endParaRPr sz="2500">
              <a:latin typeface="Georgia"/>
              <a:cs typeface="Georgia"/>
            </a:endParaRPr>
          </a:p>
          <a:p>
            <a:pPr marL="287020" marR="5080" indent="-274955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SzPct val="44000"/>
              <a:buFont typeface="Wingdings"/>
              <a:buChar char=""/>
              <a:tabLst>
                <a:tab pos="287020" algn="l"/>
                <a:tab pos="2385695" algn="l"/>
                <a:tab pos="2805430" algn="l"/>
                <a:tab pos="4388485" algn="l"/>
                <a:tab pos="4857750" algn="l"/>
                <a:tab pos="5821045" algn="l"/>
                <a:tab pos="6615430" algn="l"/>
                <a:tab pos="7074534" algn="l"/>
                <a:tab pos="7899400" algn="l"/>
              </a:tabLst>
            </a:pP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Transmission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permitted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begin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500" spc="-20" dirty="0">
                <a:solidFill>
                  <a:srgbClr val="77216F"/>
                </a:solidFill>
                <a:latin typeface="Georgia"/>
                <a:cs typeface="Georgia"/>
              </a:rPr>
              <a:t>only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at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500" spc="-20" dirty="0">
                <a:solidFill>
                  <a:srgbClr val="77216F"/>
                </a:solidFill>
                <a:latin typeface="Georgia"/>
                <a:cs typeface="Georgia"/>
              </a:rPr>
              <a:t>time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500" spc="-20" dirty="0">
                <a:solidFill>
                  <a:srgbClr val="77216F"/>
                </a:solidFill>
                <a:latin typeface="Georgia"/>
                <a:cs typeface="Georgia"/>
              </a:rPr>
              <a:t>slot 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boundary</a:t>
            </a:r>
            <a:endParaRPr sz="25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44000"/>
              <a:buFont typeface="Wingdings"/>
              <a:buChar char=""/>
              <a:tabLst>
                <a:tab pos="287655" algn="l"/>
              </a:tabLst>
            </a:pP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Frames</a:t>
            </a:r>
            <a:r>
              <a:rPr sz="25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overlaps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either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totally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or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77216F"/>
                </a:solidFill>
                <a:latin typeface="Georgia"/>
                <a:cs typeface="Georgia"/>
              </a:rPr>
              <a:t>not.</a:t>
            </a:r>
            <a:endParaRPr sz="25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4000"/>
              <a:buFont typeface="Wingdings"/>
              <a:buChar char=""/>
              <a:tabLst>
                <a:tab pos="287655" algn="l"/>
              </a:tabLst>
            </a:pP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Utilization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increases</a:t>
            </a:r>
            <a:r>
              <a:rPr sz="25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37%</a:t>
            </a:r>
            <a:r>
              <a:rPr sz="25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than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18%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5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Pure</a:t>
            </a:r>
            <a:r>
              <a:rPr sz="25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ALOHA</a:t>
            </a:r>
            <a:endParaRPr sz="25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SzPct val="44000"/>
              <a:buFont typeface="Wingdings"/>
              <a:buChar char=""/>
              <a:tabLst>
                <a:tab pos="287655" algn="l"/>
              </a:tabLst>
            </a:pP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Poor</a:t>
            </a:r>
            <a:r>
              <a:rPr sz="2500" spc="-7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utilization</a:t>
            </a:r>
            <a:r>
              <a:rPr sz="25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5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channel</a:t>
            </a:r>
            <a:r>
              <a:rPr sz="25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capacity</a:t>
            </a:r>
            <a:r>
              <a:rPr sz="25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in</a:t>
            </a:r>
            <a:r>
              <a:rPr sz="25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77216F"/>
                </a:solidFill>
                <a:latin typeface="Georgia"/>
                <a:cs typeface="Georgia"/>
              </a:rPr>
              <a:t>ALOHA</a:t>
            </a:r>
            <a:r>
              <a:rPr sz="25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500" spc="-10" dirty="0">
                <a:solidFill>
                  <a:srgbClr val="77216F"/>
                </a:solidFill>
                <a:latin typeface="Georgia"/>
                <a:cs typeface="Georgia"/>
              </a:rPr>
              <a:t>methods.</a:t>
            </a:r>
            <a:endParaRPr sz="25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63144"/>
            <a:ext cx="5749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12121"/>
                </a:solidFill>
              </a:rPr>
              <a:t>Carrier</a:t>
            </a:r>
            <a:r>
              <a:rPr sz="3600" spc="-160" dirty="0">
                <a:solidFill>
                  <a:srgbClr val="212121"/>
                </a:solidFill>
              </a:rPr>
              <a:t> </a:t>
            </a:r>
            <a:r>
              <a:rPr sz="3600" dirty="0">
                <a:solidFill>
                  <a:srgbClr val="212121"/>
                </a:solidFill>
              </a:rPr>
              <a:t>Sense</a:t>
            </a:r>
            <a:r>
              <a:rPr sz="3600" spc="-145" dirty="0">
                <a:solidFill>
                  <a:srgbClr val="212121"/>
                </a:solidFill>
              </a:rPr>
              <a:t> </a:t>
            </a:r>
            <a:r>
              <a:rPr sz="3600" spc="-10" dirty="0">
                <a:solidFill>
                  <a:srgbClr val="212121"/>
                </a:solidFill>
              </a:rPr>
              <a:t>Multiple</a:t>
            </a:r>
            <a:r>
              <a:rPr sz="3600" spc="-165" dirty="0">
                <a:solidFill>
                  <a:srgbClr val="212121"/>
                </a:solidFill>
              </a:rPr>
              <a:t> </a:t>
            </a:r>
            <a:r>
              <a:rPr sz="3600" spc="-10" dirty="0">
                <a:solidFill>
                  <a:srgbClr val="212121"/>
                </a:solidFill>
              </a:rPr>
              <a:t>Access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45189" y="1086646"/>
            <a:ext cx="8269605" cy="540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6985" indent="-27495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020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</a:t>
            </a:r>
            <a:r>
              <a:rPr sz="2400" spc="3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station</a:t>
            </a:r>
            <a:r>
              <a:rPr sz="2400" spc="3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wishing</a:t>
            </a:r>
            <a:r>
              <a:rPr sz="2400" spc="36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400" spc="3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transmit</a:t>
            </a:r>
            <a:r>
              <a:rPr sz="2400" spc="3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first</a:t>
            </a:r>
            <a:r>
              <a:rPr sz="2400" spc="36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listens</a:t>
            </a:r>
            <a:r>
              <a:rPr sz="2400" spc="36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400" spc="3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medium</a:t>
            </a:r>
            <a:r>
              <a:rPr sz="2400" spc="3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77216F"/>
                </a:solidFill>
                <a:latin typeface="Georgia"/>
                <a:cs typeface="Georgia"/>
              </a:rPr>
              <a:t>to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determine</a:t>
            </a:r>
            <a:r>
              <a:rPr sz="24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another</a:t>
            </a:r>
            <a:r>
              <a:rPr sz="24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transmission</a:t>
            </a:r>
            <a:r>
              <a:rPr sz="24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4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in</a:t>
            </a:r>
            <a:r>
              <a:rPr sz="24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progress.</a:t>
            </a:r>
            <a:endParaRPr sz="24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This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process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400" spc="-6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called</a:t>
            </a:r>
            <a:r>
              <a:rPr sz="24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b="1" dirty="0">
                <a:solidFill>
                  <a:srgbClr val="77216F"/>
                </a:solidFill>
                <a:latin typeface="Georgia"/>
                <a:cs typeface="Georgia"/>
              </a:rPr>
              <a:t>carrier</a:t>
            </a:r>
            <a:r>
              <a:rPr sz="2400" b="1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b="1" spc="-10" dirty="0">
                <a:solidFill>
                  <a:srgbClr val="77216F"/>
                </a:solidFill>
                <a:latin typeface="Georgia"/>
                <a:cs typeface="Georgia"/>
              </a:rPr>
              <a:t>sense.</a:t>
            </a:r>
            <a:endParaRPr sz="2400">
              <a:latin typeface="Georgia"/>
              <a:cs typeface="Georgia"/>
            </a:endParaRPr>
          </a:p>
          <a:p>
            <a:pPr marL="287655" marR="6985" indent="-27559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2400" spc="2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400" spc="2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medium</a:t>
            </a:r>
            <a:r>
              <a:rPr sz="2400" spc="229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400" spc="229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in</a:t>
            </a:r>
            <a:r>
              <a:rPr sz="2400" spc="2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use,</a:t>
            </a:r>
            <a:r>
              <a:rPr sz="2400" spc="229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DC2300"/>
                </a:solidFill>
                <a:latin typeface="Georgia"/>
                <a:cs typeface="Georgia"/>
              </a:rPr>
              <a:t>station</a:t>
            </a:r>
            <a:r>
              <a:rPr sz="2400" spc="229" dirty="0">
                <a:solidFill>
                  <a:srgbClr val="DC23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DC2300"/>
                </a:solidFill>
                <a:latin typeface="Georgia"/>
                <a:cs typeface="Georgia"/>
              </a:rPr>
              <a:t>will</a:t>
            </a:r>
            <a:r>
              <a:rPr sz="2400" spc="229" dirty="0">
                <a:solidFill>
                  <a:srgbClr val="DC23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DC2300"/>
                </a:solidFill>
                <a:latin typeface="Georgia"/>
                <a:cs typeface="Georgia"/>
              </a:rPr>
              <a:t>wait</a:t>
            </a:r>
            <a:r>
              <a:rPr sz="2400" spc="235" dirty="0">
                <a:solidFill>
                  <a:srgbClr val="DC23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else</a:t>
            </a:r>
            <a:r>
              <a:rPr sz="2400" spc="229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station</a:t>
            </a:r>
            <a:r>
              <a:rPr sz="2400" spc="2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77216F"/>
                </a:solidFill>
                <a:latin typeface="Georgia"/>
                <a:cs typeface="Georgia"/>
              </a:rPr>
              <a:t>may </a:t>
            </a:r>
            <a:r>
              <a:rPr sz="2400" spc="-10" dirty="0">
                <a:solidFill>
                  <a:srgbClr val="008000"/>
                </a:solidFill>
                <a:latin typeface="Georgia"/>
                <a:cs typeface="Georgia"/>
              </a:rPr>
              <a:t>transmit.</a:t>
            </a:r>
            <a:endParaRPr sz="2400">
              <a:latin typeface="Georgia"/>
              <a:cs typeface="Georgia"/>
            </a:endParaRPr>
          </a:p>
          <a:p>
            <a:pPr marL="287020" marR="5080" indent="-27495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020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2400" spc="2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more</a:t>
            </a:r>
            <a:r>
              <a:rPr sz="2400" spc="229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than</a:t>
            </a:r>
            <a:r>
              <a:rPr sz="2400" spc="2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one</a:t>
            </a:r>
            <a:r>
              <a:rPr sz="2400" spc="2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station</a:t>
            </a:r>
            <a:r>
              <a:rPr sz="2400" spc="2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attempt</a:t>
            </a:r>
            <a:r>
              <a:rPr sz="2400" spc="2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400" spc="229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transmit</a:t>
            </a:r>
            <a:r>
              <a:rPr sz="2400" spc="2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at</a:t>
            </a:r>
            <a:r>
              <a:rPr sz="2400" spc="2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about</a:t>
            </a:r>
            <a:r>
              <a:rPr sz="2400" spc="2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77216F"/>
                </a:solidFill>
                <a:latin typeface="Georgia"/>
                <a:cs typeface="Georgia"/>
              </a:rPr>
              <a:t>the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same</a:t>
            </a:r>
            <a:r>
              <a:rPr sz="2400" spc="-6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time,</a:t>
            </a:r>
            <a:r>
              <a:rPr sz="2400" spc="-6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Georgia"/>
                <a:cs typeface="Georgia"/>
              </a:rPr>
              <a:t>Collision.</a:t>
            </a:r>
            <a:endParaRPr sz="2400">
              <a:latin typeface="Georgia"/>
              <a:cs typeface="Georgia"/>
            </a:endParaRPr>
          </a:p>
          <a:p>
            <a:pPr marL="287655" marR="5715" indent="-27559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  <a:tab pos="1127125" algn="l"/>
                <a:tab pos="2971800" algn="l"/>
                <a:tab pos="3799840" algn="l"/>
                <a:tab pos="4840605" algn="l"/>
                <a:tab pos="5928360" algn="l"/>
                <a:tab pos="6791959" algn="l"/>
              </a:tabLst>
            </a:pP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After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transmitting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data,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source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station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waits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reasonable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amount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4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time.</a:t>
            </a:r>
            <a:endParaRPr sz="2400">
              <a:latin typeface="Georgia"/>
              <a:cs typeface="Georgia"/>
            </a:endParaRPr>
          </a:p>
          <a:p>
            <a:pPr marL="287655" marR="5080" indent="-27559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  <a:tab pos="1529715" algn="l"/>
                <a:tab pos="2311400" algn="l"/>
                <a:tab pos="2972435" algn="l"/>
                <a:tab pos="3463925" algn="l"/>
                <a:tab pos="5014595" algn="l"/>
                <a:tab pos="6614159" algn="l"/>
              </a:tabLst>
            </a:pP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Waiting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20" dirty="0">
                <a:solidFill>
                  <a:srgbClr val="77216F"/>
                </a:solidFill>
                <a:latin typeface="Georgia"/>
                <a:cs typeface="Georgia"/>
              </a:rPr>
              <a:t>time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20" dirty="0">
                <a:solidFill>
                  <a:srgbClr val="77216F"/>
                </a:solidFill>
                <a:latin typeface="Georgia"/>
                <a:cs typeface="Georgia"/>
              </a:rPr>
              <a:t>will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25" dirty="0">
                <a:solidFill>
                  <a:srgbClr val="77216F"/>
                </a:solidFill>
                <a:latin typeface="Georgia"/>
                <a:cs typeface="Georgia"/>
              </a:rPr>
              <a:t>be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maximum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round-</a:t>
            </a:r>
            <a:r>
              <a:rPr sz="2400" spc="-20" dirty="0">
                <a:solidFill>
                  <a:srgbClr val="77216F"/>
                </a:solidFill>
                <a:latin typeface="Georgia"/>
                <a:cs typeface="Georgia"/>
              </a:rPr>
              <a:t>trip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propagation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delay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+</a:t>
            </a:r>
            <a:r>
              <a:rPr sz="24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time</a:t>
            </a:r>
            <a:r>
              <a:rPr sz="24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required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by</a:t>
            </a:r>
            <a:r>
              <a:rPr sz="24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destination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station</a:t>
            </a:r>
            <a:r>
              <a:rPr sz="24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get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medium</a:t>
            </a:r>
            <a:endParaRPr sz="24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24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there</a:t>
            </a:r>
            <a:r>
              <a:rPr sz="24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4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no</a:t>
            </a:r>
            <a:r>
              <a:rPr sz="24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Ack,</a:t>
            </a:r>
            <a:r>
              <a:rPr sz="24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collision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hence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retransmission</a:t>
            </a:r>
            <a:endParaRPr sz="24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Maximum</a:t>
            </a:r>
            <a:r>
              <a:rPr sz="24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utilization</a:t>
            </a:r>
            <a:r>
              <a:rPr sz="24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can</a:t>
            </a:r>
            <a:r>
              <a:rPr sz="24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be</a:t>
            </a:r>
            <a:r>
              <a:rPr sz="24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much</a:t>
            </a:r>
            <a:r>
              <a:rPr sz="24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better</a:t>
            </a:r>
            <a:r>
              <a:rPr sz="24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than</a:t>
            </a:r>
            <a:r>
              <a:rPr sz="24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ALOHA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884" y="345663"/>
            <a:ext cx="75228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9060" algn="l"/>
              </a:tabLst>
            </a:pPr>
            <a:r>
              <a:rPr sz="2800" spc="-50" dirty="0">
                <a:solidFill>
                  <a:srgbClr val="696464"/>
                </a:solidFill>
              </a:rPr>
              <a:t>What</a:t>
            </a:r>
            <a:r>
              <a:rPr sz="2800" spc="-125" dirty="0">
                <a:solidFill>
                  <a:srgbClr val="696464"/>
                </a:solidFill>
              </a:rPr>
              <a:t> </a:t>
            </a:r>
            <a:r>
              <a:rPr sz="2800" dirty="0">
                <a:solidFill>
                  <a:srgbClr val="696464"/>
                </a:solidFill>
              </a:rPr>
              <a:t>happens</a:t>
            </a:r>
            <a:r>
              <a:rPr sz="2800" spc="-105" dirty="0">
                <a:solidFill>
                  <a:srgbClr val="696464"/>
                </a:solidFill>
              </a:rPr>
              <a:t> </a:t>
            </a:r>
            <a:r>
              <a:rPr sz="2800" spc="-25" dirty="0">
                <a:solidFill>
                  <a:srgbClr val="696464"/>
                </a:solidFill>
              </a:rPr>
              <a:t>if</a:t>
            </a:r>
            <a:r>
              <a:rPr sz="2800" dirty="0">
                <a:solidFill>
                  <a:srgbClr val="696464"/>
                </a:solidFill>
              </a:rPr>
              <a:t>	</a:t>
            </a:r>
            <a:r>
              <a:rPr sz="2800" spc="-10" dirty="0">
                <a:solidFill>
                  <a:srgbClr val="696464"/>
                </a:solidFill>
              </a:rPr>
              <a:t>station</a:t>
            </a:r>
            <a:r>
              <a:rPr sz="2800" spc="-110" dirty="0">
                <a:solidFill>
                  <a:srgbClr val="696464"/>
                </a:solidFill>
              </a:rPr>
              <a:t> </a:t>
            </a:r>
            <a:r>
              <a:rPr sz="2800" dirty="0">
                <a:solidFill>
                  <a:srgbClr val="696464"/>
                </a:solidFill>
              </a:rPr>
              <a:t>finds</a:t>
            </a:r>
            <a:r>
              <a:rPr sz="2800" spc="-95" dirty="0">
                <a:solidFill>
                  <a:srgbClr val="696464"/>
                </a:solidFill>
              </a:rPr>
              <a:t> </a:t>
            </a:r>
            <a:r>
              <a:rPr sz="2800" dirty="0">
                <a:solidFill>
                  <a:srgbClr val="696464"/>
                </a:solidFill>
              </a:rPr>
              <a:t>the</a:t>
            </a:r>
            <a:r>
              <a:rPr sz="2800" spc="-80" dirty="0">
                <a:solidFill>
                  <a:srgbClr val="696464"/>
                </a:solidFill>
              </a:rPr>
              <a:t> </a:t>
            </a:r>
            <a:r>
              <a:rPr sz="2800" spc="-65" dirty="0">
                <a:solidFill>
                  <a:srgbClr val="696464"/>
                </a:solidFill>
              </a:rPr>
              <a:t>medium</a:t>
            </a:r>
            <a:r>
              <a:rPr sz="2800" spc="-100" dirty="0">
                <a:solidFill>
                  <a:srgbClr val="696464"/>
                </a:solidFill>
              </a:rPr>
              <a:t> </a:t>
            </a:r>
            <a:r>
              <a:rPr sz="2800" dirty="0">
                <a:solidFill>
                  <a:srgbClr val="696464"/>
                </a:solidFill>
              </a:rPr>
              <a:t>is</a:t>
            </a:r>
            <a:r>
              <a:rPr sz="2800" spc="-95" dirty="0">
                <a:solidFill>
                  <a:srgbClr val="696464"/>
                </a:solidFill>
              </a:rPr>
              <a:t> </a:t>
            </a:r>
            <a:r>
              <a:rPr sz="2800" spc="-20" dirty="0">
                <a:solidFill>
                  <a:srgbClr val="696464"/>
                </a:solidFill>
              </a:rPr>
              <a:t>busy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71839" y="862329"/>
            <a:ext cx="8268970" cy="47599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98145" indent="-396875">
              <a:lnSpc>
                <a:spcPct val="100000"/>
              </a:lnSpc>
              <a:spcBef>
                <a:spcPts val="860"/>
              </a:spcBef>
              <a:buSzPct val="92857"/>
              <a:buAutoNum type="arabicParenBoth"/>
              <a:tabLst>
                <a:tab pos="398145" algn="l"/>
              </a:tabLst>
            </a:pPr>
            <a:r>
              <a:rPr sz="2800" spc="-145" dirty="0">
                <a:latin typeface="Times New Roman"/>
                <a:cs typeface="Times New Roman"/>
              </a:rPr>
              <a:t>Non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imes New Roman"/>
                <a:cs typeface="Times New Roman"/>
              </a:rPr>
              <a:t>persistent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65" dirty="0">
                <a:latin typeface="Times New Roman"/>
                <a:cs typeface="Times New Roman"/>
              </a:rPr>
              <a:t>CSMA</a:t>
            </a:r>
            <a:r>
              <a:rPr sz="2600" spc="-265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41630" marR="758190" indent="-10795">
              <a:lnSpc>
                <a:spcPct val="100000"/>
              </a:lnSpc>
              <a:spcBef>
                <a:spcPts val="655"/>
              </a:spcBef>
            </a:pP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station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wishing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transmit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listens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medium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obeys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45" dirty="0">
                <a:latin typeface="Times New Roman"/>
                <a:cs typeface="Times New Roman"/>
              </a:rPr>
              <a:t>following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rules</a:t>
            </a:r>
            <a:endParaRPr sz="2400">
              <a:latin typeface="Times New Roman"/>
              <a:cs typeface="Times New Roman"/>
            </a:endParaRPr>
          </a:p>
          <a:p>
            <a:pPr marL="297180" lvl="1" indent="-28448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97180" algn="l"/>
              </a:tabLst>
            </a:pPr>
            <a:r>
              <a:rPr sz="2400" spc="-190" dirty="0">
                <a:latin typeface="Times New Roman"/>
                <a:cs typeface="Times New Roman"/>
              </a:rPr>
              <a:t>If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medium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idle,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transmit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else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go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step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297180" lvl="1" indent="-28448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97180" algn="l"/>
                <a:tab pos="3467100" algn="l"/>
                <a:tab pos="5116195" algn="l"/>
                <a:tab pos="6280785" algn="l"/>
              </a:tabLst>
            </a:pPr>
            <a:r>
              <a:rPr sz="2400" spc="-19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medium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busy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,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wait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55" dirty="0">
                <a:latin typeface="Times New Roman"/>
                <a:cs typeface="Times New Roman"/>
              </a:rPr>
              <a:t>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amount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85" dirty="0">
                <a:latin typeface="Times New Roman"/>
                <a:cs typeface="Times New Roman"/>
              </a:rPr>
              <a:t>time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85" dirty="0">
                <a:latin typeface="Times New Roman"/>
                <a:cs typeface="Times New Roman"/>
              </a:rPr>
              <a:t>repeat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step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80" dirty="0">
                <a:latin typeface="Times New Roman"/>
                <a:cs typeface="Times New Roman"/>
              </a:rPr>
              <a:t>(2)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1-</a:t>
            </a:r>
            <a:r>
              <a:rPr sz="2400" spc="-110" dirty="0">
                <a:latin typeface="Times New Roman"/>
                <a:cs typeface="Times New Roman"/>
              </a:rPr>
              <a:t>Persistant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CSMA:</a:t>
            </a:r>
            <a:endParaRPr sz="2400">
              <a:latin typeface="Times New Roman"/>
              <a:cs typeface="Times New Roman"/>
            </a:endParaRPr>
          </a:p>
          <a:p>
            <a:pPr marL="341630" marR="826769" indent="-79375">
              <a:lnSpc>
                <a:spcPct val="100000"/>
              </a:lnSpc>
              <a:spcBef>
                <a:spcPts val="600"/>
              </a:spcBef>
            </a:pPr>
            <a:r>
              <a:rPr sz="2400" spc="-315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station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wishing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transmit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listens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medium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obeys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45" dirty="0">
                <a:latin typeface="Times New Roman"/>
                <a:cs typeface="Times New Roman"/>
              </a:rPr>
              <a:t>following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rules</a:t>
            </a:r>
            <a:endParaRPr sz="24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97180" algn="l"/>
              </a:tabLst>
            </a:pPr>
            <a:r>
              <a:rPr sz="2400" spc="-190" dirty="0">
                <a:latin typeface="Times New Roman"/>
                <a:cs typeface="Times New Roman"/>
              </a:rPr>
              <a:t>If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medium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idle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,transmit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else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65" dirty="0">
                <a:latin typeface="Times New Roman"/>
                <a:cs typeface="Times New Roman"/>
              </a:rPr>
              <a:t>go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step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296545" marR="5080" indent="-28448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41630" algn="l"/>
              </a:tabLst>
            </a:pPr>
            <a:r>
              <a:rPr sz="2400" spc="-19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medium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75" dirty="0">
                <a:latin typeface="Times New Roman"/>
                <a:cs typeface="Times New Roman"/>
              </a:rPr>
              <a:t>busy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,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continue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listen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until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channel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sensed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idle, 	</a:t>
            </a:r>
            <a:r>
              <a:rPr sz="2400" spc="-85" dirty="0">
                <a:latin typeface="Times New Roman"/>
                <a:cs typeface="Times New Roman"/>
              </a:rPr>
              <a:t>then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transmit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immediately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412" y="596138"/>
            <a:ext cx="8606155" cy="6030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marR="375920" indent="-13970" algn="just">
              <a:lnSpc>
                <a:spcPct val="100000"/>
              </a:lnSpc>
              <a:spcBef>
                <a:spcPts val="95"/>
              </a:spcBef>
            </a:pPr>
            <a:r>
              <a:rPr sz="2600" spc="-190" dirty="0">
                <a:latin typeface="Times New Roman"/>
                <a:cs typeface="Times New Roman"/>
              </a:rPr>
              <a:t>This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method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35" dirty="0">
                <a:latin typeface="Times New Roman"/>
                <a:cs typeface="Times New Roman"/>
              </a:rPr>
              <a:t>is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used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when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channel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Times New Roman"/>
                <a:cs typeface="Times New Roman"/>
              </a:rPr>
              <a:t>has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time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slots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such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that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time </a:t>
            </a:r>
            <a:r>
              <a:rPr sz="2600" spc="-100" dirty="0">
                <a:latin typeface="Times New Roman"/>
                <a:cs typeface="Times New Roman"/>
              </a:rPr>
              <a:t>slot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duration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35" dirty="0">
                <a:latin typeface="Times New Roman"/>
                <a:cs typeface="Times New Roman"/>
              </a:rPr>
              <a:t>is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equal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greater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than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maximum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propagation </a:t>
            </a:r>
            <a:r>
              <a:rPr sz="2600" spc="-180" dirty="0">
                <a:latin typeface="Times New Roman"/>
                <a:cs typeface="Times New Roman"/>
              </a:rPr>
              <a:t>delay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time.</a:t>
            </a:r>
            <a:endParaRPr sz="2600">
              <a:latin typeface="Times New Roman"/>
              <a:cs typeface="Times New Roman"/>
            </a:endParaRPr>
          </a:p>
          <a:p>
            <a:pPr marL="161290" indent="-148590">
              <a:lnSpc>
                <a:spcPct val="100000"/>
              </a:lnSpc>
              <a:spcBef>
                <a:spcPts val="600"/>
              </a:spcBef>
              <a:buChar char="•"/>
              <a:tabLst>
                <a:tab pos="161290" algn="l"/>
              </a:tabLst>
            </a:pPr>
            <a:r>
              <a:rPr sz="2600" spc="-130" dirty="0">
                <a:latin typeface="Times New Roman"/>
                <a:cs typeface="Times New Roman"/>
              </a:rPr>
              <a:t>Whenever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station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becomes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ready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send,</a:t>
            </a:r>
            <a:r>
              <a:rPr sz="2600" spc="-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senses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channel.</a:t>
            </a:r>
            <a:endParaRPr sz="2600">
              <a:latin typeface="Times New Roman"/>
              <a:cs typeface="Times New Roman"/>
            </a:endParaRPr>
          </a:p>
          <a:p>
            <a:pPr marL="201930" indent="-189230">
              <a:lnSpc>
                <a:spcPct val="100000"/>
              </a:lnSpc>
              <a:spcBef>
                <a:spcPts val="605"/>
              </a:spcBef>
              <a:buChar char="•"/>
              <a:tabLst>
                <a:tab pos="201930" algn="l"/>
              </a:tabLst>
            </a:pPr>
            <a:r>
              <a:rPr sz="2600" spc="-200" dirty="0">
                <a:latin typeface="Times New Roman"/>
                <a:cs typeface="Times New Roman"/>
              </a:rPr>
              <a:t>If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channel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busy,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station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waits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until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next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slot.</a:t>
            </a:r>
            <a:endParaRPr sz="2600">
              <a:latin typeface="Times New Roman"/>
              <a:cs typeface="Times New Roman"/>
            </a:endParaRPr>
          </a:p>
          <a:p>
            <a:pPr marL="201930" indent="-189230">
              <a:lnSpc>
                <a:spcPct val="100000"/>
              </a:lnSpc>
              <a:spcBef>
                <a:spcPts val="600"/>
              </a:spcBef>
              <a:buChar char="•"/>
              <a:tabLst>
                <a:tab pos="201930" algn="l"/>
              </a:tabLst>
            </a:pPr>
            <a:r>
              <a:rPr sz="2600" spc="-200" dirty="0">
                <a:latin typeface="Times New Roman"/>
                <a:cs typeface="Times New Roman"/>
              </a:rPr>
              <a:t>If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channel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idle,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transmits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with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probability</a:t>
            </a:r>
            <a:r>
              <a:rPr sz="2600" spc="-25" dirty="0">
                <a:latin typeface="Times New Roman"/>
                <a:cs typeface="Times New Roman"/>
              </a:rPr>
              <a:t> p.</a:t>
            </a:r>
            <a:endParaRPr sz="2600">
              <a:latin typeface="Times New Roman"/>
              <a:cs typeface="Times New Roman"/>
            </a:endParaRPr>
          </a:p>
          <a:p>
            <a:pPr marL="207010" marR="5080" indent="-194945">
              <a:lnSpc>
                <a:spcPct val="100000"/>
              </a:lnSpc>
              <a:spcBef>
                <a:spcPts val="600"/>
              </a:spcBef>
              <a:buChar char="•"/>
              <a:tabLst>
                <a:tab pos="285750" algn="l"/>
              </a:tabLst>
            </a:pPr>
            <a:r>
              <a:rPr sz="2600" spc="-85" dirty="0">
                <a:latin typeface="Times New Roman"/>
                <a:cs typeface="Times New Roman"/>
              </a:rPr>
              <a:t>With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probability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q=l-</a:t>
            </a:r>
            <a:r>
              <a:rPr sz="2600" spc="-35" dirty="0">
                <a:latin typeface="Times New Roman"/>
                <a:cs typeface="Times New Roman"/>
              </a:rPr>
              <a:t>p,</a:t>
            </a:r>
            <a:r>
              <a:rPr sz="2600" spc="-13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station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waits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for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beginning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of 	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75" dirty="0">
                <a:latin typeface="Times New Roman"/>
                <a:cs typeface="Times New Roman"/>
              </a:rPr>
              <a:t>next</a:t>
            </a:r>
            <a:r>
              <a:rPr sz="2600" spc="-85" dirty="0">
                <a:latin typeface="Times New Roman"/>
                <a:cs typeface="Times New Roman"/>
              </a:rPr>
              <a:t> time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slot.</a:t>
            </a:r>
            <a:endParaRPr sz="2600">
              <a:latin typeface="Times New Roman"/>
              <a:cs typeface="Times New Roman"/>
            </a:endParaRPr>
          </a:p>
          <a:p>
            <a:pPr marL="257175" marR="7620" indent="-244475">
              <a:lnSpc>
                <a:spcPct val="100000"/>
              </a:lnSpc>
              <a:spcBef>
                <a:spcPts val="600"/>
              </a:spcBef>
              <a:buChar char="•"/>
              <a:tabLst>
                <a:tab pos="285115" algn="l"/>
                <a:tab pos="558165" algn="l"/>
                <a:tab pos="1062990" algn="l"/>
                <a:tab pos="1722755" algn="l"/>
                <a:tab pos="2282825" algn="l"/>
                <a:tab pos="2590800" algn="l"/>
                <a:tab pos="3174365" algn="l"/>
                <a:tab pos="4121150" algn="l"/>
                <a:tab pos="4949190" algn="l"/>
                <a:tab pos="6179185" algn="l"/>
                <a:tab pos="6572884" algn="l"/>
                <a:tab pos="7315834" algn="l"/>
                <a:tab pos="8052434" algn="l"/>
              </a:tabLst>
            </a:pPr>
            <a:r>
              <a:rPr sz="2600" spc="-25" dirty="0">
                <a:latin typeface="Times New Roman"/>
                <a:cs typeface="Times New Roman"/>
              </a:rPr>
              <a:t>If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next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slot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also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idle, it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either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transmits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or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waits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again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14" dirty="0">
                <a:latin typeface="Times New Roman"/>
                <a:cs typeface="Times New Roman"/>
              </a:rPr>
              <a:t>with 	</a:t>
            </a:r>
            <a:r>
              <a:rPr sz="2600" spc="-125" dirty="0">
                <a:latin typeface="Times New Roman"/>
                <a:cs typeface="Times New Roman"/>
              </a:rPr>
              <a:t>probabilities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p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q.</a:t>
            </a:r>
            <a:endParaRPr sz="2600">
              <a:latin typeface="Times New Roman"/>
              <a:cs typeface="Times New Roman"/>
            </a:endParaRPr>
          </a:p>
          <a:p>
            <a:pPr marL="285115" marR="6350" indent="-14604" algn="just">
              <a:lnSpc>
                <a:spcPct val="100000"/>
              </a:lnSpc>
              <a:spcBef>
                <a:spcPts val="600"/>
              </a:spcBef>
            </a:pPr>
            <a:r>
              <a:rPr sz="2600" spc="-160" dirty="0">
                <a:latin typeface="Times New Roman"/>
                <a:cs typeface="Times New Roman"/>
              </a:rPr>
              <a:t>This</a:t>
            </a:r>
            <a:r>
              <a:rPr sz="2600" spc="46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process</a:t>
            </a:r>
            <a:r>
              <a:rPr sz="2600" spc="46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is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repeated</a:t>
            </a:r>
            <a:r>
              <a:rPr sz="2600" spc="46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till</a:t>
            </a:r>
            <a:r>
              <a:rPr sz="2600" spc="47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either</a:t>
            </a:r>
            <a:r>
              <a:rPr sz="2600" spc="459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frame</a:t>
            </a:r>
            <a:r>
              <a:rPr sz="2600" spc="465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has</a:t>
            </a:r>
            <a:r>
              <a:rPr sz="2600" spc="4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been</a:t>
            </a:r>
            <a:r>
              <a:rPr sz="2600" spc="459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transmitted</a:t>
            </a:r>
            <a:r>
              <a:rPr sz="2600" spc="4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or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another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station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has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begun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transmitting.</a:t>
            </a:r>
            <a:r>
              <a:rPr sz="2600" spc="54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In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case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transmission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by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another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station,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station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acts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though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collision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95" dirty="0">
                <a:latin typeface="Times New Roman"/>
                <a:cs typeface="Times New Roman"/>
              </a:rPr>
              <a:t>has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occurred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it </a:t>
            </a:r>
            <a:r>
              <a:rPr sz="2600" spc="-140" dirty="0">
                <a:latin typeface="Times New Roman"/>
                <a:cs typeface="Times New Roman"/>
              </a:rPr>
              <a:t>waits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10" dirty="0">
                <a:latin typeface="Times New Roman"/>
                <a:cs typeface="Times New Roman"/>
              </a:rPr>
              <a:t>a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random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amount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of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time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and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starts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again.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0339" y="179323"/>
            <a:ext cx="1690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(3) </a:t>
            </a:r>
            <a:r>
              <a:rPr sz="1800" b="1" spc="-10" dirty="0">
                <a:solidFill>
                  <a:srgbClr val="000000"/>
                </a:solidFill>
                <a:latin typeface="Arial"/>
                <a:cs typeface="Arial"/>
              </a:rPr>
              <a:t>P-persistent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remyanair\Desktop\Flow+diagram+for+three+persistence+methods.jpg">
            <a:extLst>
              <a:ext uri="{FF2B5EF4-FFF2-40B4-BE49-F238E27FC236}">
                <a16:creationId xmlns:a16="http://schemas.microsoft.com/office/drawing/2014/main" xmlns="" id="{717B4881-DDD0-D092-9347-EA2886251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228350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275829"/>
            <a:ext cx="7543798" cy="62343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505460"/>
            <a:ext cx="21463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CSMA/CD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8526" y="1359696"/>
            <a:ext cx="8157845" cy="503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 marR="243204" indent="-27559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When</a:t>
            </a:r>
            <a:r>
              <a:rPr sz="2400" spc="-5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two</a:t>
            </a:r>
            <a:r>
              <a:rPr sz="2400" spc="-4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frames</a:t>
            </a:r>
            <a:r>
              <a:rPr sz="2400" spc="-45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collide,</a:t>
            </a:r>
            <a:r>
              <a:rPr sz="2400" spc="-4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medium</a:t>
            </a:r>
            <a:r>
              <a:rPr sz="2400" spc="-55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remains</a:t>
            </a:r>
            <a:r>
              <a:rPr sz="2400" spc="-4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Georgia"/>
                <a:cs typeface="Georgia"/>
              </a:rPr>
              <a:t>unstable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for</a:t>
            </a:r>
            <a:r>
              <a:rPr sz="2400" spc="-45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duration</a:t>
            </a:r>
            <a:r>
              <a:rPr sz="2400" spc="-55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of</a:t>
            </a:r>
            <a:r>
              <a:rPr sz="2400" spc="-55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transmission</a:t>
            </a:r>
            <a:r>
              <a:rPr sz="2400" spc="-5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of</a:t>
            </a:r>
            <a:r>
              <a:rPr sz="2400" spc="-4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both</a:t>
            </a:r>
            <a:r>
              <a:rPr sz="2400" spc="-4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damaged</a:t>
            </a:r>
            <a:r>
              <a:rPr sz="2400" spc="-45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Georgia"/>
                <a:cs typeface="Georgia"/>
              </a:rPr>
              <a:t>frames</a:t>
            </a:r>
            <a:endParaRPr sz="24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Hence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an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alternate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method,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where</a:t>
            </a:r>
            <a:endParaRPr sz="2400">
              <a:latin typeface="Georgia"/>
              <a:cs typeface="Georgia"/>
            </a:endParaRPr>
          </a:p>
          <a:p>
            <a:pPr marL="574675" marR="988694" lvl="1" indent="-24384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4675" algn="l"/>
              </a:tabLst>
            </a:pP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A</a:t>
            </a:r>
            <a:r>
              <a:rPr sz="2400" spc="-3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station</a:t>
            </a:r>
            <a:r>
              <a:rPr sz="2400" spc="-45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continues</a:t>
            </a:r>
            <a:r>
              <a:rPr sz="2400" spc="-4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to</a:t>
            </a:r>
            <a:r>
              <a:rPr sz="2400" spc="-3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listen</a:t>
            </a:r>
            <a:r>
              <a:rPr sz="2400" spc="-4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to</a:t>
            </a:r>
            <a:r>
              <a:rPr sz="2400" spc="-3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the</a:t>
            </a:r>
            <a:r>
              <a:rPr sz="2400" spc="-25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8000"/>
                </a:solidFill>
                <a:latin typeface="Georgia"/>
                <a:cs typeface="Georgia"/>
              </a:rPr>
              <a:t>medium</a:t>
            </a:r>
            <a:r>
              <a:rPr sz="2400" spc="-40" dirty="0">
                <a:solidFill>
                  <a:srgbClr val="008000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8000"/>
                </a:solidFill>
                <a:latin typeface="Georgia"/>
                <a:cs typeface="Georgia"/>
              </a:rPr>
              <a:t>while transmitting</a:t>
            </a:r>
            <a:endParaRPr sz="24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b="1" u="sng" dirty="0">
                <a:solidFill>
                  <a:srgbClr val="77216F"/>
                </a:solidFill>
                <a:uFill>
                  <a:solidFill>
                    <a:srgbClr val="77216F"/>
                  </a:solidFill>
                </a:uFill>
                <a:latin typeface="Georgia"/>
                <a:cs typeface="Georgia"/>
              </a:rPr>
              <a:t>Rules</a:t>
            </a:r>
            <a:r>
              <a:rPr sz="2400" b="1" u="sng" spc="-30" dirty="0">
                <a:solidFill>
                  <a:srgbClr val="77216F"/>
                </a:solidFill>
                <a:uFill>
                  <a:solidFill>
                    <a:srgbClr val="77216F"/>
                  </a:solidFill>
                </a:uFill>
                <a:latin typeface="Georgia"/>
                <a:cs typeface="Georgia"/>
              </a:rPr>
              <a:t> </a:t>
            </a:r>
            <a:r>
              <a:rPr sz="2400" b="1" u="sng" dirty="0">
                <a:solidFill>
                  <a:srgbClr val="77216F"/>
                </a:solidFill>
                <a:uFill>
                  <a:solidFill>
                    <a:srgbClr val="77216F"/>
                  </a:solidFill>
                </a:uFill>
                <a:latin typeface="Georgia"/>
                <a:cs typeface="Georgia"/>
              </a:rPr>
              <a:t>of</a:t>
            </a:r>
            <a:r>
              <a:rPr sz="2400" b="1" u="sng" spc="-25" dirty="0">
                <a:solidFill>
                  <a:srgbClr val="77216F"/>
                </a:solidFill>
                <a:uFill>
                  <a:solidFill>
                    <a:srgbClr val="77216F"/>
                  </a:solidFill>
                </a:uFill>
                <a:latin typeface="Georgia"/>
                <a:cs typeface="Georgia"/>
              </a:rPr>
              <a:t> </a:t>
            </a:r>
            <a:r>
              <a:rPr sz="2400" b="1" u="sng" spc="-10" dirty="0">
                <a:solidFill>
                  <a:srgbClr val="77216F"/>
                </a:solidFill>
                <a:uFill>
                  <a:solidFill>
                    <a:srgbClr val="77216F"/>
                  </a:solidFill>
                </a:uFill>
                <a:latin typeface="Georgia"/>
                <a:cs typeface="Georgia"/>
              </a:rPr>
              <a:t>CSMA/CD</a:t>
            </a:r>
            <a:endParaRPr sz="2400">
              <a:latin typeface="Georgia"/>
              <a:cs typeface="Georgia"/>
            </a:endParaRPr>
          </a:p>
          <a:p>
            <a:pPr marL="574675" lvl="1" indent="-24384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Times New Roman"/>
              <a:buChar char="–"/>
              <a:tabLst>
                <a:tab pos="574675" algn="l"/>
              </a:tabLst>
            </a:pP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medium</a:t>
            </a:r>
            <a:r>
              <a:rPr sz="1800" spc="-1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idle,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77216F"/>
                </a:solidFill>
                <a:latin typeface="Georgia"/>
                <a:cs typeface="Georgia"/>
              </a:rPr>
              <a:t>transmit</a:t>
            </a:r>
            <a:endParaRPr sz="1800">
              <a:latin typeface="Georgia"/>
              <a:cs typeface="Georgia"/>
            </a:endParaRPr>
          </a:p>
          <a:p>
            <a:pPr marL="574675" marR="508000" lvl="1" indent="-243840" algn="just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4675" algn="l"/>
              </a:tabLst>
            </a:pP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18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medium</a:t>
            </a:r>
            <a:r>
              <a:rPr sz="1800" spc="-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busy,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continue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listen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until</a:t>
            </a:r>
            <a:r>
              <a:rPr sz="18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channel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idle;</a:t>
            </a:r>
            <a:r>
              <a:rPr sz="18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then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transmit</a:t>
            </a:r>
            <a:r>
              <a:rPr sz="18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77216F"/>
                </a:solidFill>
                <a:latin typeface="Georgia"/>
                <a:cs typeface="Georgia"/>
              </a:rPr>
              <a:t>immediately</a:t>
            </a:r>
            <a:endParaRPr sz="1800">
              <a:latin typeface="Georgia"/>
              <a:cs typeface="Georgia"/>
            </a:endParaRPr>
          </a:p>
          <a:p>
            <a:pPr marL="574675" marR="455930" lvl="1" indent="-243840" algn="just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4675" algn="l"/>
              </a:tabLst>
            </a:pP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If</a:t>
            </a:r>
            <a:r>
              <a:rPr sz="18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</a:t>
            </a:r>
            <a:r>
              <a:rPr sz="18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collision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detected</a:t>
            </a:r>
            <a:r>
              <a:rPr sz="1800" spc="-1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during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transmission,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transmit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</a:t>
            </a:r>
            <a:r>
              <a:rPr sz="18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brief</a:t>
            </a:r>
            <a:r>
              <a:rPr sz="18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77216F"/>
                </a:solidFill>
                <a:latin typeface="Georgia"/>
                <a:cs typeface="Georgia"/>
              </a:rPr>
              <a:t>jamming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signal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18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assure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that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all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stations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know</a:t>
            </a:r>
            <a:r>
              <a:rPr sz="1800" spc="-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that</a:t>
            </a:r>
            <a:r>
              <a:rPr sz="18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there</a:t>
            </a:r>
            <a:r>
              <a:rPr sz="1800" spc="-1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collision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and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 then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cease</a:t>
            </a:r>
            <a:r>
              <a:rPr sz="18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77216F"/>
                </a:solidFill>
                <a:latin typeface="Georgia"/>
                <a:cs typeface="Georgia"/>
              </a:rPr>
              <a:t>transmission</a:t>
            </a:r>
            <a:endParaRPr sz="1800">
              <a:latin typeface="Georgia"/>
              <a:cs typeface="Georgia"/>
            </a:endParaRPr>
          </a:p>
          <a:p>
            <a:pPr marL="574675" marR="5080" lvl="1" indent="-243840" algn="just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4675" algn="l"/>
              </a:tabLst>
            </a:pP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After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transmitting</a:t>
            </a:r>
            <a:r>
              <a:rPr sz="18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jamming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signal,</a:t>
            </a:r>
            <a:r>
              <a:rPr sz="18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wait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random</a:t>
            </a:r>
            <a:r>
              <a:rPr sz="18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amount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time,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77216F"/>
                </a:solidFill>
                <a:latin typeface="Georgia"/>
                <a:cs typeface="Georgia"/>
              </a:rPr>
              <a:t>referred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as</a:t>
            </a:r>
            <a:r>
              <a:rPr sz="18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2300DC"/>
                </a:solidFill>
                <a:latin typeface="Georgia"/>
                <a:cs typeface="Georgia"/>
              </a:rPr>
              <a:t>backoff</a:t>
            </a:r>
            <a:r>
              <a:rPr sz="1800" b="1" spc="-45" dirty="0">
                <a:solidFill>
                  <a:srgbClr val="2300DC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then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attempt</a:t>
            </a:r>
            <a:r>
              <a:rPr sz="1800" spc="-2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77216F"/>
                </a:solidFill>
                <a:latin typeface="Georgia"/>
                <a:cs typeface="Georgia"/>
              </a:rPr>
              <a:t>transmit</a:t>
            </a:r>
            <a:r>
              <a:rPr sz="18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77216F"/>
                </a:solidFill>
                <a:latin typeface="Georgia"/>
                <a:cs typeface="Georgia"/>
              </a:rPr>
              <a:t>again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14F7EAE2-92CD-69DC-EA5D-6CA535ACE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7543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723701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xmlns="" id="{DF0B8F98-C8B4-A634-C77E-D41E27C8C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7772400" cy="685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/>
              <a:t>Maximum Propagation Delay</a:t>
            </a:r>
          </a:p>
        </p:txBody>
      </p:sp>
      <p:sp>
        <p:nvSpPr>
          <p:cNvPr id="6147" name="AutoShape 3">
            <a:extLst>
              <a:ext uri="{FF2B5EF4-FFF2-40B4-BE49-F238E27FC236}">
                <a16:creationId xmlns:a16="http://schemas.microsoft.com/office/drawing/2014/main" xmlns="" id="{53D9CE7F-89A4-7867-188B-694A9C5D0FF8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533400" y="1066800"/>
            <a:ext cx="7772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propagation delay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time it takes for a bit of  a frame to travel between the </a:t>
            </a:r>
            <a:r>
              <a:rPr lang="en-US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most widely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 stations.</a:t>
            </a:r>
          </a:p>
        </p:txBody>
      </p:sp>
      <p:sp>
        <p:nvSpPr>
          <p:cNvPr id="6148" name="Text Box 6">
            <a:extLst>
              <a:ext uri="{FF2B5EF4-FFF2-40B4-BE49-F238E27FC236}">
                <a16:creationId xmlns:a16="http://schemas.microsoft.com/office/drawing/2014/main" xmlns="" id="{1EB7F2E5-481C-1F32-1F7C-6E0E67516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962400"/>
            <a:ext cx="2057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6149" name="Picture 7">
            <a:extLst>
              <a:ext uri="{FF2B5EF4-FFF2-40B4-BE49-F238E27FC236}">
                <a16:creationId xmlns:a16="http://schemas.microsoft.com/office/drawing/2014/main" xmlns="" id="{9AC4F01F-02BE-EAB1-6311-EFC225144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14600"/>
            <a:ext cx="543242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Line 8">
            <a:extLst>
              <a:ext uri="{FF2B5EF4-FFF2-40B4-BE49-F238E27FC236}">
                <a16:creationId xmlns:a16="http://schemas.microsoft.com/office/drawing/2014/main" xmlns="" id="{AF51EC0B-EE79-27C2-9862-2BC2873478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2743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Text Box 9">
            <a:extLst>
              <a:ext uri="{FF2B5EF4-FFF2-40B4-BE49-F238E27FC236}">
                <a16:creationId xmlns:a16="http://schemas.microsoft.com/office/drawing/2014/main" xmlns="" id="{6FEBC5F8-6BD2-807F-BCD2-75BF49215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438400"/>
            <a:ext cx="1752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The farthest station</a:t>
            </a:r>
          </a:p>
        </p:txBody>
      </p:sp>
      <p:pic>
        <p:nvPicPr>
          <p:cNvPr id="6152" name="Picture 10">
            <a:extLst>
              <a:ext uri="{FF2B5EF4-FFF2-40B4-BE49-F238E27FC236}">
                <a16:creationId xmlns:a16="http://schemas.microsoft.com/office/drawing/2014/main" xmlns="" id="{669D60BC-3668-022D-78F1-097EC8AE7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286000"/>
            <a:ext cx="29718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3" name="Text Box 11">
            <a:extLst>
              <a:ext uri="{FF2B5EF4-FFF2-40B4-BE49-F238E27FC236}">
                <a16:creationId xmlns:a16="http://schemas.microsoft.com/office/drawing/2014/main" xmlns="" id="{26F4DAE5-CFB4-0AC7-2C14-C0D8ED492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962400"/>
            <a:ext cx="1066800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300" b="1">
                <a:latin typeface="Times New Roman" panose="02020603050405020304" pitchFamily="18" charset="0"/>
              </a:rPr>
              <a:t>Station B receives the first bit of the frame at time t= t</a:t>
            </a:r>
            <a:r>
              <a:rPr lang="en-US" altLang="en-US" sz="1300" b="1" baseline="-25000">
                <a:latin typeface="Times New Roman" panose="02020603050405020304" pitchFamily="18" charset="0"/>
              </a:rPr>
              <a:t>prop</a:t>
            </a:r>
          </a:p>
        </p:txBody>
      </p:sp>
      <p:sp>
        <p:nvSpPr>
          <p:cNvPr id="6154" name="Rectangle 13">
            <a:extLst>
              <a:ext uri="{FF2B5EF4-FFF2-40B4-BE49-F238E27FC236}">
                <a16:creationId xmlns:a16="http://schemas.microsoft.com/office/drawing/2014/main" xmlns="" id="{074947B8-BB4A-06D1-B0E1-327C7DBD6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600"/>
            <a:ext cx="6096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1679" y="443151"/>
            <a:ext cx="6963966" cy="61862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Exponential</a:t>
            </a:r>
            <a:r>
              <a:rPr spc="-185" dirty="0"/>
              <a:t> </a:t>
            </a:r>
            <a:r>
              <a:rPr spc="-25" dirty="0"/>
              <a:t>Backoff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3210" marR="5080" indent="-271145" algn="just">
              <a:lnSpc>
                <a:spcPts val="2810"/>
              </a:lnSpc>
              <a:spcBef>
                <a:spcPts val="45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pc="-65" dirty="0"/>
              <a:t>Backoff</a:t>
            </a:r>
            <a:r>
              <a:rPr spc="340" dirty="0"/>
              <a:t> </a:t>
            </a:r>
            <a:r>
              <a:rPr dirty="0"/>
              <a:t>is</a:t>
            </a:r>
            <a:r>
              <a:rPr spc="335" dirty="0"/>
              <a:t> </a:t>
            </a:r>
            <a:r>
              <a:rPr dirty="0"/>
              <a:t>the</a:t>
            </a:r>
            <a:r>
              <a:rPr spc="335" dirty="0"/>
              <a:t> </a:t>
            </a:r>
            <a:r>
              <a:rPr dirty="0"/>
              <a:t>process</a:t>
            </a:r>
            <a:r>
              <a:rPr spc="335" dirty="0"/>
              <a:t> </a:t>
            </a:r>
            <a:r>
              <a:rPr dirty="0"/>
              <a:t>by</a:t>
            </a:r>
            <a:r>
              <a:rPr spc="345" dirty="0"/>
              <a:t> </a:t>
            </a:r>
            <a:r>
              <a:rPr dirty="0"/>
              <a:t>which</a:t>
            </a:r>
            <a:r>
              <a:rPr spc="335" dirty="0"/>
              <a:t> </a:t>
            </a:r>
            <a:r>
              <a:rPr dirty="0"/>
              <a:t>a</a:t>
            </a:r>
            <a:r>
              <a:rPr spc="340" dirty="0"/>
              <a:t> </a:t>
            </a:r>
            <a:r>
              <a:rPr spc="-10" dirty="0"/>
              <a:t>transmitting</a:t>
            </a:r>
            <a:r>
              <a:rPr spc="345" dirty="0"/>
              <a:t> </a:t>
            </a:r>
            <a:r>
              <a:rPr spc="-70" dirty="0"/>
              <a:t>station 	</a:t>
            </a:r>
            <a:r>
              <a:rPr spc="-30" dirty="0"/>
              <a:t>determines</a:t>
            </a:r>
            <a:r>
              <a:rPr spc="70" dirty="0"/>
              <a:t> </a:t>
            </a:r>
            <a:r>
              <a:rPr dirty="0"/>
              <a:t>how</a:t>
            </a:r>
            <a:r>
              <a:rPr spc="70" dirty="0"/>
              <a:t> </a:t>
            </a:r>
            <a:r>
              <a:rPr dirty="0"/>
              <a:t>long</a:t>
            </a:r>
            <a:r>
              <a:rPr spc="80" dirty="0"/>
              <a:t> </a:t>
            </a:r>
            <a:r>
              <a:rPr dirty="0"/>
              <a:t>to</a:t>
            </a:r>
            <a:r>
              <a:rPr spc="70" dirty="0"/>
              <a:t> </a:t>
            </a:r>
            <a:r>
              <a:rPr dirty="0"/>
              <a:t>wait</a:t>
            </a:r>
            <a:r>
              <a:rPr spc="75" dirty="0"/>
              <a:t> </a:t>
            </a:r>
            <a:r>
              <a:rPr spc="-90" dirty="0"/>
              <a:t>following</a:t>
            </a:r>
            <a:r>
              <a:rPr spc="7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spc="-65" dirty="0"/>
              <a:t>collision</a:t>
            </a:r>
            <a:r>
              <a:rPr spc="70" dirty="0"/>
              <a:t> </a:t>
            </a:r>
            <a:r>
              <a:rPr spc="-65" dirty="0"/>
              <a:t>before 	</a:t>
            </a:r>
            <a:r>
              <a:rPr spc="-110" dirty="0"/>
              <a:t>attempting</a:t>
            </a:r>
            <a:r>
              <a:rPr spc="-3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90" dirty="0"/>
              <a:t>retransmit</a:t>
            </a:r>
            <a:r>
              <a:rPr spc="-35" dirty="0"/>
              <a:t> </a:t>
            </a:r>
            <a:r>
              <a:rPr spc="-85" dirty="0"/>
              <a:t>the</a:t>
            </a:r>
            <a:r>
              <a:rPr spc="-65" dirty="0"/>
              <a:t> </a:t>
            </a:r>
            <a:r>
              <a:rPr spc="-10" dirty="0"/>
              <a:t>frame.</a:t>
            </a:r>
          </a:p>
          <a:p>
            <a:pPr marL="283210" marR="5080" indent="-271145" algn="just">
              <a:lnSpc>
                <a:spcPts val="2810"/>
              </a:lnSpc>
              <a:spcBef>
                <a:spcPts val="59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dirty="0"/>
              <a:t>If</a:t>
            </a:r>
            <a:r>
              <a:rPr spc="495" dirty="0"/>
              <a:t> </a:t>
            </a:r>
            <a:r>
              <a:rPr dirty="0"/>
              <a:t>all</a:t>
            </a:r>
            <a:r>
              <a:rPr spc="505" dirty="0"/>
              <a:t> </a:t>
            </a:r>
            <a:r>
              <a:rPr dirty="0"/>
              <a:t>stations</a:t>
            </a:r>
            <a:r>
              <a:rPr spc="495" dirty="0"/>
              <a:t> </a:t>
            </a:r>
            <a:r>
              <a:rPr dirty="0"/>
              <a:t>waited</a:t>
            </a:r>
            <a:r>
              <a:rPr spc="500" dirty="0"/>
              <a:t> </a:t>
            </a:r>
            <a:r>
              <a:rPr dirty="0"/>
              <a:t>the</a:t>
            </a:r>
            <a:r>
              <a:rPr spc="490" dirty="0"/>
              <a:t> </a:t>
            </a:r>
            <a:r>
              <a:rPr dirty="0"/>
              <a:t>same</a:t>
            </a:r>
            <a:r>
              <a:rPr spc="500" dirty="0"/>
              <a:t> </a:t>
            </a:r>
            <a:r>
              <a:rPr dirty="0"/>
              <a:t>length</a:t>
            </a:r>
            <a:r>
              <a:rPr spc="505" dirty="0"/>
              <a:t> </a:t>
            </a:r>
            <a:r>
              <a:rPr dirty="0"/>
              <a:t>of</a:t>
            </a:r>
            <a:r>
              <a:rPr spc="495" dirty="0"/>
              <a:t> </a:t>
            </a:r>
            <a:r>
              <a:rPr dirty="0"/>
              <a:t>time</a:t>
            </a:r>
            <a:r>
              <a:rPr spc="500" dirty="0"/>
              <a:t> </a:t>
            </a:r>
            <a:r>
              <a:rPr spc="-70" dirty="0"/>
              <a:t>before 	</a:t>
            </a:r>
            <a:r>
              <a:rPr spc="-110" dirty="0"/>
              <a:t>retransmission, </a:t>
            </a:r>
            <a:r>
              <a:rPr spc="-90" dirty="0"/>
              <a:t>then</a:t>
            </a:r>
            <a:r>
              <a:rPr spc="-20" dirty="0"/>
              <a:t> </a:t>
            </a:r>
            <a:r>
              <a:rPr spc="-100" dirty="0"/>
              <a:t>another</a:t>
            </a:r>
            <a:r>
              <a:rPr spc="-15" dirty="0"/>
              <a:t> </a:t>
            </a:r>
            <a:r>
              <a:rPr spc="-140" dirty="0"/>
              <a:t>collision</a:t>
            </a:r>
            <a:r>
              <a:rPr spc="-15" dirty="0"/>
              <a:t> </a:t>
            </a:r>
            <a:r>
              <a:rPr spc="-150" dirty="0"/>
              <a:t>would</a:t>
            </a:r>
            <a:r>
              <a:rPr spc="-20" dirty="0"/>
              <a:t> </a:t>
            </a:r>
            <a:r>
              <a:rPr spc="-155" dirty="0"/>
              <a:t>inevitably</a:t>
            </a:r>
            <a:r>
              <a:rPr spc="10" dirty="0"/>
              <a:t> </a:t>
            </a:r>
            <a:r>
              <a:rPr spc="-45" dirty="0"/>
              <a:t>occur.</a:t>
            </a:r>
          </a:p>
          <a:p>
            <a:pPr marL="283210" marR="5080" indent="-271145" algn="just">
              <a:lnSpc>
                <a:spcPts val="2810"/>
              </a:lnSpc>
              <a:spcBef>
                <a:spcPts val="59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dirty="0"/>
              <a:t>This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spc="-90" dirty="0"/>
              <a:t>avoided</a:t>
            </a:r>
            <a:r>
              <a:rPr spc="-10" dirty="0"/>
              <a:t> </a:t>
            </a:r>
            <a:r>
              <a:rPr dirty="0"/>
              <a:t>by</a:t>
            </a:r>
            <a:r>
              <a:rPr spc="-10" dirty="0"/>
              <a:t> </a:t>
            </a:r>
            <a:r>
              <a:rPr spc="-105" dirty="0"/>
              <a:t>having</a:t>
            </a:r>
            <a:r>
              <a:rPr spc="-10" dirty="0"/>
              <a:t> </a:t>
            </a:r>
            <a:r>
              <a:rPr dirty="0"/>
              <a:t>each</a:t>
            </a:r>
            <a:r>
              <a:rPr spc="-15" dirty="0"/>
              <a:t> </a:t>
            </a:r>
            <a:r>
              <a:rPr spc="-20" dirty="0"/>
              <a:t>station</a:t>
            </a:r>
            <a:r>
              <a:rPr spc="-5" dirty="0"/>
              <a:t> </a:t>
            </a:r>
            <a:r>
              <a:rPr spc="-30" dirty="0"/>
              <a:t>generate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-65" dirty="0"/>
              <a:t>random 	</a:t>
            </a:r>
            <a:r>
              <a:rPr spc="-25" dirty="0"/>
              <a:t>number</a:t>
            </a:r>
            <a:r>
              <a:rPr spc="-30" dirty="0"/>
              <a:t> </a:t>
            </a:r>
            <a:r>
              <a:rPr spc="-60" dirty="0"/>
              <a:t>which</a:t>
            </a:r>
            <a:r>
              <a:rPr spc="-20" dirty="0"/>
              <a:t> </a:t>
            </a:r>
            <a:r>
              <a:rPr spc="-45" dirty="0"/>
              <a:t>determines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35" dirty="0"/>
              <a:t>length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time</a:t>
            </a:r>
            <a:r>
              <a:rPr spc="-15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must</a:t>
            </a:r>
            <a:r>
              <a:rPr spc="-15" dirty="0"/>
              <a:t> </a:t>
            </a:r>
            <a:r>
              <a:rPr spc="-45" dirty="0"/>
              <a:t>wait 	</a:t>
            </a:r>
            <a:r>
              <a:rPr spc="-65" dirty="0"/>
              <a:t>before</a:t>
            </a:r>
            <a:r>
              <a:rPr spc="-100" dirty="0"/>
              <a:t> </a:t>
            </a:r>
            <a:r>
              <a:rPr spc="-60" dirty="0"/>
              <a:t>testing</a:t>
            </a:r>
            <a:r>
              <a:rPr spc="-100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spc="-45" dirty="0"/>
              <a:t>carrier.</a:t>
            </a:r>
            <a:r>
              <a:rPr spc="-120" dirty="0"/>
              <a:t> </a:t>
            </a:r>
            <a:r>
              <a:rPr spc="-85" dirty="0"/>
              <a:t>This</a:t>
            </a:r>
            <a:r>
              <a:rPr spc="-75" dirty="0"/>
              <a:t> </a:t>
            </a:r>
            <a:r>
              <a:rPr dirty="0"/>
              <a:t>time</a:t>
            </a:r>
            <a:r>
              <a:rPr spc="-80" dirty="0"/>
              <a:t> </a:t>
            </a:r>
            <a:r>
              <a:rPr spc="-35" dirty="0"/>
              <a:t>period</a:t>
            </a:r>
            <a:r>
              <a:rPr spc="-90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spc="-95" dirty="0"/>
              <a:t>known</a:t>
            </a:r>
            <a:r>
              <a:rPr spc="-65" dirty="0"/>
              <a:t> </a:t>
            </a:r>
            <a:r>
              <a:rPr spc="-50" dirty="0"/>
              <a:t>as</a:t>
            </a:r>
            <a:r>
              <a:rPr spc="-90" dirty="0"/>
              <a:t> </a:t>
            </a:r>
            <a:r>
              <a:rPr spc="-25" dirty="0"/>
              <a:t>the 	</a:t>
            </a:r>
            <a:r>
              <a:rPr spc="-114" dirty="0"/>
              <a:t>station's</a:t>
            </a:r>
            <a:r>
              <a:rPr spc="-45" dirty="0"/>
              <a:t> </a:t>
            </a:r>
            <a:r>
              <a:rPr spc="-10" dirty="0"/>
              <a:t>"</a:t>
            </a:r>
            <a:r>
              <a:rPr b="1" spc="-10" dirty="0">
                <a:latin typeface="Times New Roman"/>
                <a:cs typeface="Times New Roman"/>
              </a:rPr>
              <a:t>backoff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delay</a:t>
            </a:r>
            <a:r>
              <a:rPr spc="-10" dirty="0"/>
              <a:t>".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29260"/>
            <a:ext cx="20897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CSMA/CA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8526" y="1270542"/>
            <a:ext cx="8235315" cy="41281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020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CSMA/CD</a:t>
            </a:r>
            <a:r>
              <a:rPr sz="24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detecting</a:t>
            </a:r>
            <a:r>
              <a:rPr sz="2400" spc="-6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collisions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while</a:t>
            </a:r>
            <a:r>
              <a:rPr sz="24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transmitting</a:t>
            </a:r>
            <a:r>
              <a:rPr sz="2400" spc="-6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77216F"/>
                </a:solidFill>
                <a:latin typeface="Georgia"/>
                <a:cs typeface="Georgia"/>
              </a:rPr>
              <a:t>data</a:t>
            </a:r>
            <a:endParaRPr sz="2400">
              <a:latin typeface="Georgia"/>
              <a:cs typeface="Georg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Collisions</a:t>
            </a:r>
            <a:r>
              <a:rPr sz="2400" spc="3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can</a:t>
            </a:r>
            <a:r>
              <a:rPr sz="2400" spc="3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be</a:t>
            </a:r>
            <a:r>
              <a:rPr sz="2400" spc="3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detected</a:t>
            </a:r>
            <a:r>
              <a:rPr sz="2400" spc="3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with</a:t>
            </a:r>
            <a:r>
              <a:rPr sz="2400" spc="3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400" spc="3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help</a:t>
            </a:r>
            <a:r>
              <a:rPr sz="2400" spc="3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400" spc="3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energy</a:t>
            </a:r>
            <a:r>
              <a:rPr sz="2400" spc="3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400" spc="32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77216F"/>
                </a:solidFill>
                <a:latin typeface="Georgia"/>
                <a:cs typeface="Georgia"/>
              </a:rPr>
              <a:t>the 	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signal</a:t>
            </a:r>
            <a:endParaRPr sz="2400">
              <a:latin typeface="Georgia"/>
              <a:cs typeface="Georgia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In</a:t>
            </a:r>
            <a:r>
              <a:rPr sz="2400" spc="4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wired</a:t>
            </a:r>
            <a:r>
              <a:rPr sz="2400" spc="4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network,</a:t>
            </a:r>
            <a:r>
              <a:rPr sz="2400" spc="4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energy</a:t>
            </a:r>
            <a:r>
              <a:rPr sz="2400" spc="459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400" spc="4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the</a:t>
            </a:r>
            <a:r>
              <a:rPr sz="2400" spc="4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signal</a:t>
            </a:r>
            <a:r>
              <a:rPr sz="2400" spc="4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400" spc="4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almost</a:t>
            </a:r>
            <a:r>
              <a:rPr sz="2400" spc="4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double 	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when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collision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occurs,</a:t>
            </a:r>
            <a:r>
              <a:rPr sz="2400" spc="-6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hence</a:t>
            </a:r>
            <a:r>
              <a:rPr sz="2400" spc="-4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easy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detection</a:t>
            </a:r>
            <a:endParaRPr sz="2400">
              <a:latin typeface="Georgia"/>
              <a:cs typeface="Georg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But</a:t>
            </a:r>
            <a:r>
              <a:rPr sz="2400" spc="150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in</a:t>
            </a:r>
            <a:r>
              <a:rPr sz="2400" spc="15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wireless</a:t>
            </a:r>
            <a:r>
              <a:rPr sz="2400" spc="15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communication,</a:t>
            </a:r>
            <a:r>
              <a:rPr sz="2400" spc="15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energy</a:t>
            </a:r>
            <a:r>
              <a:rPr sz="2400" spc="15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level</a:t>
            </a:r>
            <a:r>
              <a:rPr sz="2400" spc="150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may</a:t>
            </a:r>
            <a:r>
              <a:rPr sz="2400" spc="150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spc="-25" dirty="0">
                <a:solidFill>
                  <a:srgbClr val="77216F"/>
                </a:solidFill>
                <a:latin typeface="Georgia"/>
                <a:cs typeface="Georgia"/>
              </a:rPr>
              <a:t>not 	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increase</a:t>
            </a:r>
            <a:r>
              <a:rPr sz="2400" spc="9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400" spc="9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</a:t>
            </a:r>
            <a:r>
              <a:rPr sz="2400" spc="100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considerable</a:t>
            </a:r>
            <a:r>
              <a:rPr sz="2400" spc="9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level</a:t>
            </a:r>
            <a:r>
              <a:rPr sz="2400" spc="9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when</a:t>
            </a:r>
            <a:r>
              <a:rPr sz="2400" spc="9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collision</a:t>
            </a:r>
            <a:r>
              <a:rPr sz="2400" spc="95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occurs, 	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hence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less</a:t>
            </a:r>
            <a:r>
              <a:rPr sz="24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chance</a:t>
            </a:r>
            <a:r>
              <a:rPr sz="24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to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detect</a:t>
            </a:r>
            <a:r>
              <a:rPr sz="2400" spc="-4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collisions</a:t>
            </a:r>
            <a:endParaRPr sz="2400">
              <a:latin typeface="Georgia"/>
              <a:cs typeface="Georgi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020" algn="l"/>
              </a:tabLst>
            </a:pP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Collision</a:t>
            </a:r>
            <a:r>
              <a:rPr sz="2400" spc="430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avoidance</a:t>
            </a:r>
            <a:r>
              <a:rPr sz="2400" spc="434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is</a:t>
            </a:r>
            <a:r>
              <a:rPr sz="2400" spc="434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better</a:t>
            </a:r>
            <a:r>
              <a:rPr sz="2400" spc="440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method</a:t>
            </a:r>
            <a:r>
              <a:rPr sz="2400" spc="440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than</a:t>
            </a:r>
            <a:r>
              <a:rPr sz="2400" spc="430" dirty="0">
                <a:solidFill>
                  <a:srgbClr val="77216F"/>
                </a:solidFill>
                <a:latin typeface="Georgia"/>
                <a:cs typeface="Georgia"/>
              </a:rPr>
              <a:t> 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collision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detection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in</a:t>
            </a:r>
            <a:r>
              <a:rPr sz="2400" spc="-5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these</a:t>
            </a:r>
            <a:r>
              <a:rPr sz="2400" spc="-3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type</a:t>
            </a:r>
            <a:r>
              <a:rPr sz="2400" spc="-35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77216F"/>
                </a:solidFill>
                <a:latin typeface="Georgia"/>
                <a:cs typeface="Georgia"/>
              </a:rPr>
              <a:t>of</a:t>
            </a:r>
            <a:r>
              <a:rPr sz="2400" spc="-50" dirty="0">
                <a:solidFill>
                  <a:srgbClr val="77216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77216F"/>
                </a:solidFill>
                <a:latin typeface="Georgia"/>
                <a:cs typeface="Georgia"/>
              </a:rPr>
              <a:t>networks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67538"/>
            <a:ext cx="7626984" cy="4644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 marR="173355" indent="-271145" algn="just">
              <a:lnSpc>
                <a:spcPct val="100000"/>
              </a:lnSpc>
              <a:spcBef>
                <a:spcPts val="95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150" dirty="0">
                <a:latin typeface="Times New Roman"/>
                <a:cs typeface="Times New Roman"/>
              </a:rPr>
              <a:t>Collisions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avoided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through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use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of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200" dirty="0">
                <a:latin typeface="Times New Roman"/>
                <a:cs typeface="Times New Roman"/>
              </a:rPr>
              <a:t>CSMA/CA’s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three 	</a:t>
            </a:r>
            <a:r>
              <a:rPr sz="2600" spc="-110" dirty="0">
                <a:latin typeface="Times New Roman"/>
                <a:cs typeface="Times New Roman"/>
              </a:rPr>
              <a:t>strategies: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interframe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space,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contention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window,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and 	</a:t>
            </a:r>
            <a:r>
              <a:rPr sz="2600" spc="-70" dirty="0">
                <a:latin typeface="Times New Roman"/>
                <a:cs typeface="Times New Roman"/>
              </a:rPr>
              <a:t>acknowledgments.</a:t>
            </a:r>
            <a:endParaRPr sz="2600" dirty="0">
              <a:latin typeface="Times New Roman"/>
              <a:cs typeface="Times New Roman"/>
            </a:endParaRPr>
          </a:p>
          <a:p>
            <a:pPr marL="283845" indent="-271145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b="1" i="1" dirty="0">
                <a:latin typeface="Times New Roman"/>
                <a:cs typeface="Times New Roman"/>
              </a:rPr>
              <a:t>Interfra</a:t>
            </a:r>
            <a:r>
              <a:rPr lang="en-US" sz="2600" b="1" i="1" dirty="0">
                <a:latin typeface="Times New Roman"/>
                <a:cs typeface="Times New Roman"/>
              </a:rPr>
              <a:t>me S</a:t>
            </a:r>
            <a:r>
              <a:rPr sz="2600" b="1" i="1" dirty="0">
                <a:latin typeface="Times New Roman"/>
                <a:cs typeface="Times New Roman"/>
              </a:rPr>
              <a:t>pace</a:t>
            </a:r>
            <a:r>
              <a:rPr sz="2600" b="1" i="1" spc="75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Times New Roman"/>
                <a:cs typeface="Times New Roman"/>
              </a:rPr>
              <a:t>(IF</a:t>
            </a:r>
            <a:r>
              <a:rPr lang="en-US" sz="2600" b="1" i="1" spc="-10" dirty="0">
                <a:latin typeface="Times New Roman"/>
                <a:cs typeface="Times New Roman"/>
              </a:rPr>
              <a:t>S</a:t>
            </a:r>
            <a:r>
              <a:rPr sz="2600" b="1" i="1" spc="-10" dirty="0">
                <a:latin typeface="Times New Roman"/>
                <a:cs typeface="Times New Roman"/>
              </a:rPr>
              <a:t>)</a:t>
            </a:r>
            <a:endParaRPr sz="2600" dirty="0">
              <a:latin typeface="Times New Roman"/>
              <a:cs typeface="Times New Roman"/>
            </a:endParaRPr>
          </a:p>
          <a:p>
            <a:pPr marL="283210" marR="16510" indent="-271145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spc="-60" dirty="0">
                <a:latin typeface="Times New Roman"/>
                <a:cs typeface="Times New Roman"/>
              </a:rPr>
              <a:t>First,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collisions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are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avoided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90" dirty="0">
                <a:latin typeface="Times New Roman"/>
                <a:cs typeface="Times New Roman"/>
              </a:rPr>
              <a:t>by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deferring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transmission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even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if 	</a:t>
            </a:r>
            <a:r>
              <a:rPr sz="2600" spc="-35" dirty="0">
                <a:latin typeface="Times New Roman"/>
                <a:cs typeface="Times New Roman"/>
              </a:rPr>
              <a:t>the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channel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is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found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idle.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When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idle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channel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is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found,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	</a:t>
            </a:r>
            <a:r>
              <a:rPr sz="2600" spc="-45" dirty="0">
                <a:latin typeface="Times New Roman"/>
                <a:cs typeface="Times New Roman"/>
              </a:rPr>
              <a:t>station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does</a:t>
            </a:r>
            <a:r>
              <a:rPr sz="2600" dirty="0">
                <a:latin typeface="Times New Roman"/>
                <a:cs typeface="Times New Roman"/>
              </a:rPr>
              <a:t> not </a:t>
            </a:r>
            <a:r>
              <a:rPr sz="2600" spc="-25" dirty="0">
                <a:latin typeface="Times New Roman"/>
                <a:cs typeface="Times New Roman"/>
              </a:rPr>
              <a:t>send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immediately.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waits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a </a:t>
            </a:r>
            <a:r>
              <a:rPr sz="2600" spc="-10" dirty="0">
                <a:latin typeface="Times New Roman"/>
                <a:cs typeface="Times New Roman"/>
              </a:rPr>
              <a:t>period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of 	</a:t>
            </a:r>
            <a:r>
              <a:rPr sz="2600" spc="-85" dirty="0">
                <a:latin typeface="Times New Roman"/>
                <a:cs typeface="Times New Roman"/>
              </a:rPr>
              <a:t>time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called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interframe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space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or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IFS.</a:t>
            </a:r>
            <a:endParaRPr sz="2600" dirty="0">
              <a:latin typeface="Times New Roman"/>
              <a:cs typeface="Times New Roman"/>
            </a:endParaRPr>
          </a:p>
          <a:p>
            <a:pPr marL="284480" marR="17145" indent="-272415" algn="just">
              <a:lnSpc>
                <a:spcPct val="100000"/>
              </a:lnSpc>
              <a:spcBef>
                <a:spcPts val="600"/>
              </a:spcBef>
              <a:buSzPct val="84615"/>
              <a:buFont typeface="Segoe UI Symbol"/>
              <a:buChar char="⚫"/>
              <a:tabLst>
                <a:tab pos="284480" algn="l"/>
                <a:tab pos="357505" algn="l"/>
              </a:tabLst>
            </a:pPr>
            <a:r>
              <a:rPr sz="2600" dirty="0">
                <a:solidFill>
                  <a:srgbClr val="D34817"/>
                </a:solidFill>
                <a:latin typeface="Times New Roman"/>
                <a:cs typeface="Times New Roman"/>
              </a:rPr>
              <a:t>	</a:t>
            </a:r>
            <a:r>
              <a:rPr sz="2600" b="1" dirty="0">
                <a:latin typeface="Times New Roman"/>
                <a:cs typeface="Times New Roman"/>
              </a:rPr>
              <a:t>Even</a:t>
            </a:r>
            <a:r>
              <a:rPr sz="2600" b="1" spc="1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though</a:t>
            </a:r>
            <a:r>
              <a:rPr sz="2600" b="1" spc="1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the</a:t>
            </a:r>
            <a:r>
              <a:rPr sz="2600" b="1" spc="16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channel</a:t>
            </a:r>
            <a:r>
              <a:rPr sz="2600" b="1" spc="1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may</a:t>
            </a:r>
            <a:r>
              <a:rPr sz="2600" b="1" spc="1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appear</a:t>
            </a:r>
            <a:r>
              <a:rPr sz="2600" spc="1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idle</a:t>
            </a:r>
            <a:r>
              <a:rPr sz="2600" spc="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when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1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sensed,</a:t>
            </a:r>
            <a:r>
              <a:rPr sz="2600" spc="114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60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distant</a:t>
            </a:r>
            <a:r>
              <a:rPr sz="2600" spc="15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station</a:t>
            </a:r>
            <a:r>
              <a:rPr sz="2600" spc="15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may</a:t>
            </a:r>
            <a:r>
              <a:rPr sz="2600" spc="15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have</a:t>
            </a:r>
            <a:r>
              <a:rPr sz="2600" spc="155" dirty="0">
                <a:latin typeface="Times New Roman"/>
                <a:cs typeface="Times New Roman"/>
              </a:rPr>
              <a:t>  </a:t>
            </a:r>
            <a:r>
              <a:rPr sz="2600" dirty="0">
                <a:latin typeface="Times New Roman"/>
                <a:cs typeface="Times New Roman"/>
              </a:rPr>
              <a:t>already</a:t>
            </a:r>
            <a:r>
              <a:rPr sz="2600" spc="160" dirty="0">
                <a:latin typeface="Times New Roman"/>
                <a:cs typeface="Times New Roman"/>
              </a:rPr>
              <a:t>  </a:t>
            </a:r>
            <a:r>
              <a:rPr sz="2600" spc="-30" dirty="0">
                <a:latin typeface="Times New Roman"/>
                <a:cs typeface="Times New Roman"/>
              </a:rPr>
              <a:t>started transmitting.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38633"/>
            <a:ext cx="7614284" cy="61829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3845" indent="-271145" algn="just">
              <a:lnSpc>
                <a:spcPct val="100000"/>
              </a:lnSpc>
              <a:spcBef>
                <a:spcPts val="7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3845" algn="l"/>
              </a:tabLst>
            </a:pPr>
            <a:r>
              <a:rPr sz="2600" b="1" i="1" spc="-30" dirty="0">
                <a:latin typeface="Times New Roman"/>
                <a:cs typeface="Times New Roman"/>
              </a:rPr>
              <a:t>ContentionWindow</a:t>
            </a:r>
            <a:endParaRPr sz="2600">
              <a:latin typeface="Times New Roman"/>
              <a:cs typeface="Times New Roman"/>
            </a:endParaRPr>
          </a:p>
          <a:p>
            <a:pPr marL="283210" marR="5080" indent="-271145" algn="just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contention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window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amount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divided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into 	</a:t>
            </a:r>
            <a:r>
              <a:rPr sz="2600" dirty="0">
                <a:latin typeface="Times New Roman"/>
                <a:cs typeface="Times New Roman"/>
              </a:rPr>
              <a:t>slots.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spc="-340" dirty="0">
                <a:latin typeface="Times New Roman"/>
                <a:cs typeface="Times New Roman"/>
              </a:rPr>
              <a:t>A</a:t>
            </a:r>
            <a:r>
              <a:rPr sz="2600" spc="2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station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ready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send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chooses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3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random 	</a:t>
            </a:r>
            <a:r>
              <a:rPr sz="2600" spc="-110" dirty="0">
                <a:latin typeface="Times New Roman"/>
                <a:cs typeface="Times New Roman"/>
              </a:rPr>
              <a:t>number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slots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its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wait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time.</a:t>
            </a:r>
            <a:endParaRPr sz="2600">
              <a:latin typeface="Times New Roman"/>
              <a:cs typeface="Times New Roman"/>
            </a:endParaRPr>
          </a:p>
          <a:p>
            <a:pPr marL="283210" marR="5715" indent="-271145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set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one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slot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first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time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and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then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doubles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each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time 	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station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cannot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detect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idle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channel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after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80" dirty="0">
                <a:latin typeface="Times New Roman"/>
                <a:cs typeface="Times New Roman"/>
              </a:rPr>
              <a:t>IFS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time.</a:t>
            </a:r>
            <a:endParaRPr sz="2600">
              <a:latin typeface="Times New Roman"/>
              <a:cs typeface="Times New Roman"/>
            </a:endParaRPr>
          </a:p>
          <a:p>
            <a:pPr marL="283210" marR="5080" indent="-271145">
              <a:lnSpc>
                <a:spcPct val="119200"/>
              </a:lnSpc>
              <a:buClr>
                <a:srgbClr val="D34817"/>
              </a:buClr>
              <a:buSzPct val="84615"/>
              <a:buFont typeface="Segoe UI Symbol"/>
              <a:buChar char="⚫"/>
              <a:tabLst>
                <a:tab pos="285750" algn="l"/>
                <a:tab pos="1217930" algn="l"/>
                <a:tab pos="1736089" algn="l"/>
                <a:tab pos="2843530" algn="l"/>
                <a:tab pos="3160395" algn="l"/>
                <a:tab pos="3730625" algn="l"/>
                <a:tab pos="4480560" algn="l"/>
                <a:tab pos="4999355" algn="l"/>
                <a:tab pos="5801995" algn="l"/>
                <a:tab pos="6367780" algn="l"/>
                <a:tab pos="7402830" algn="l"/>
              </a:tabLst>
            </a:pPr>
            <a:r>
              <a:rPr sz="2600" spc="-160" dirty="0">
                <a:latin typeface="Times New Roman"/>
                <a:cs typeface="Times New Roman"/>
              </a:rPr>
              <a:t>However,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if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station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finds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channel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busy,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does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not 	</a:t>
            </a:r>
            <a:r>
              <a:rPr sz="2600" spc="-10" dirty="0">
                <a:latin typeface="Times New Roman"/>
                <a:cs typeface="Times New Roman"/>
              </a:rPr>
              <a:t>restart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process;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just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stops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timer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restarts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it</a:t>
            </a:r>
            <a:endParaRPr sz="2600">
              <a:latin typeface="Times New Roman"/>
              <a:cs typeface="Times New Roman"/>
            </a:endParaRPr>
          </a:p>
          <a:p>
            <a:pPr marL="285750" marR="5080">
              <a:lnSpc>
                <a:spcPct val="100000"/>
              </a:lnSpc>
            </a:pPr>
            <a:r>
              <a:rPr sz="2600" spc="-100" dirty="0">
                <a:latin typeface="Times New Roman"/>
                <a:cs typeface="Times New Roman"/>
              </a:rPr>
              <a:t>when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channel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is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sensed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as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idle.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This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gives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priority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spc="-110" dirty="0">
                <a:latin typeface="Times New Roman"/>
                <a:cs typeface="Times New Roman"/>
              </a:rPr>
              <a:t>station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with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longest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waiting</a:t>
            </a:r>
            <a:r>
              <a:rPr sz="2600" spc="-10" dirty="0">
                <a:latin typeface="Times New Roman"/>
                <a:cs typeface="Times New Roman"/>
              </a:rPr>
              <a:t> time.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i="1" spc="-10" dirty="0">
                <a:latin typeface="Times New Roman"/>
                <a:cs typeface="Times New Roman"/>
              </a:rPr>
              <a:t>Acknowledg</a:t>
            </a:r>
            <a:r>
              <a:rPr sz="2600" b="1" i="1" cap="small" spc="-10" dirty="0">
                <a:latin typeface="Times New Roman"/>
                <a:cs typeface="Times New Roman"/>
              </a:rPr>
              <a:t>e</a:t>
            </a:r>
            <a:r>
              <a:rPr sz="2600" b="1" i="1" spc="-10" dirty="0">
                <a:latin typeface="Times New Roman"/>
                <a:cs typeface="Times New Roman"/>
              </a:rPr>
              <a:t>ent</a:t>
            </a:r>
            <a:endParaRPr sz="2600">
              <a:latin typeface="Times New Roman"/>
              <a:cs typeface="Times New Roman"/>
            </a:endParaRPr>
          </a:p>
          <a:p>
            <a:pPr marL="283210" marR="434340" indent="-271145">
              <a:lnSpc>
                <a:spcPct val="100000"/>
              </a:lnSpc>
              <a:spcBef>
                <a:spcPts val="600"/>
              </a:spcBef>
              <a:buClr>
                <a:srgbClr val="D34817"/>
              </a:buClr>
              <a:buSzPct val="84615"/>
              <a:buFont typeface="Segoe UI Symbol"/>
              <a:buChar char="⚫"/>
              <a:tabLst>
                <a:tab pos="285115" algn="l"/>
                <a:tab pos="3997960" algn="l"/>
              </a:tabLst>
            </a:pPr>
            <a:r>
              <a:rPr sz="2600" spc="-14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positive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acknowledgment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25" dirty="0">
                <a:latin typeface="Times New Roman"/>
                <a:cs typeface="Times New Roman"/>
              </a:rPr>
              <a:t>guarantee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that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receiver 	</a:t>
            </a:r>
            <a:r>
              <a:rPr sz="2600" spc="-200" dirty="0">
                <a:latin typeface="Times New Roman"/>
                <a:cs typeface="Times New Roman"/>
              </a:rPr>
              <a:t>has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received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frame.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C19ABAFE-52DE-C0D2-08B6-DF9FA45DF96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609003"/>
            <a:ext cx="7772400" cy="363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71937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" y="649223"/>
            <a:ext cx="4447032" cy="1118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781685"/>
            <a:ext cx="38112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212121"/>
                </a:solidFill>
              </a:rPr>
              <a:t>Controlled</a:t>
            </a:r>
            <a:r>
              <a:rPr spc="-195" dirty="0">
                <a:solidFill>
                  <a:srgbClr val="212121"/>
                </a:solidFill>
              </a:rPr>
              <a:t> </a:t>
            </a:r>
            <a:r>
              <a:rPr spc="-20" dirty="0">
                <a:solidFill>
                  <a:srgbClr val="212121"/>
                </a:solidFill>
              </a:rPr>
              <a:t>Access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589" y="1358172"/>
            <a:ext cx="8378825" cy="40055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655" marR="5080" indent="-27559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SzPct val="44827"/>
              <a:buFont typeface="Wingdings"/>
              <a:buChar char=""/>
              <a:tabLst>
                <a:tab pos="287655" algn="l"/>
              </a:tabLst>
            </a:pP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Stations</a:t>
            </a:r>
            <a:r>
              <a:rPr sz="29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consult</a:t>
            </a:r>
            <a:r>
              <a:rPr sz="29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one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another</a:t>
            </a:r>
            <a:r>
              <a:rPr sz="29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to</a:t>
            </a:r>
            <a:r>
              <a:rPr sz="29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find</a:t>
            </a:r>
            <a:r>
              <a:rPr sz="29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which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spc="-10" dirty="0">
                <a:solidFill>
                  <a:srgbClr val="314004"/>
                </a:solidFill>
                <a:latin typeface="Georgia"/>
                <a:cs typeface="Georgia"/>
              </a:rPr>
              <a:t>station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has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the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right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to</a:t>
            </a:r>
            <a:r>
              <a:rPr sz="29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spc="-20" dirty="0">
                <a:solidFill>
                  <a:srgbClr val="314004"/>
                </a:solidFill>
                <a:latin typeface="Georgia"/>
                <a:cs typeface="Georgia"/>
              </a:rPr>
              <a:t>send</a:t>
            </a:r>
            <a:endParaRPr sz="2900">
              <a:latin typeface="Georgia"/>
              <a:cs typeface="Georgia"/>
            </a:endParaRPr>
          </a:p>
          <a:p>
            <a:pPr marL="287655" marR="1611630" indent="-275590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SzPct val="44827"/>
              <a:buFont typeface="Wingdings"/>
              <a:buChar char=""/>
              <a:tabLst>
                <a:tab pos="287655" algn="l"/>
              </a:tabLst>
            </a:pP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A</a:t>
            </a:r>
            <a:r>
              <a:rPr sz="2900" spc="-2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station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cannot</a:t>
            </a:r>
            <a:r>
              <a:rPr sz="2900" spc="-1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send</a:t>
            </a:r>
            <a:r>
              <a:rPr sz="29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unless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it</a:t>
            </a:r>
            <a:r>
              <a:rPr sz="29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has</a:t>
            </a:r>
            <a:r>
              <a:rPr sz="29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spc="-20" dirty="0">
                <a:solidFill>
                  <a:srgbClr val="314004"/>
                </a:solidFill>
                <a:latin typeface="Georgia"/>
                <a:cs typeface="Georgia"/>
              </a:rPr>
              <a:t>been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authorized</a:t>
            </a:r>
            <a:r>
              <a:rPr sz="29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by</a:t>
            </a:r>
            <a:r>
              <a:rPr sz="29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other</a:t>
            </a:r>
            <a:r>
              <a:rPr sz="29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spc="-10" dirty="0">
                <a:solidFill>
                  <a:srgbClr val="314004"/>
                </a:solidFill>
                <a:latin typeface="Georgia"/>
                <a:cs typeface="Georgia"/>
              </a:rPr>
              <a:t>stations</a:t>
            </a:r>
            <a:endParaRPr sz="29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44827"/>
              <a:buFont typeface="Wingdings"/>
              <a:buChar char=""/>
              <a:tabLst>
                <a:tab pos="287655" algn="l"/>
              </a:tabLst>
            </a:pP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Three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controlled</a:t>
            </a:r>
            <a:r>
              <a:rPr sz="29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access</a:t>
            </a:r>
            <a:r>
              <a:rPr sz="29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spc="-10" dirty="0">
                <a:solidFill>
                  <a:srgbClr val="314004"/>
                </a:solidFill>
                <a:latin typeface="Georgia"/>
                <a:cs typeface="Georgia"/>
              </a:rPr>
              <a:t>methods</a:t>
            </a:r>
            <a:endParaRPr sz="2900">
              <a:latin typeface="Georgia"/>
              <a:cs typeface="Georgia"/>
            </a:endParaRPr>
          </a:p>
          <a:p>
            <a:pPr marL="578485" lvl="1" indent="-24701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8485" algn="l"/>
              </a:tabLst>
            </a:pPr>
            <a:r>
              <a:rPr sz="2900" b="1" spc="-10" dirty="0">
                <a:solidFill>
                  <a:srgbClr val="314004"/>
                </a:solidFill>
                <a:latin typeface="Georgia"/>
                <a:cs typeface="Georgia"/>
              </a:rPr>
              <a:t>Reservation</a:t>
            </a:r>
            <a:endParaRPr sz="2900">
              <a:latin typeface="Georgia"/>
              <a:cs typeface="Georgia"/>
            </a:endParaRPr>
          </a:p>
          <a:p>
            <a:pPr marL="578485" lvl="1" indent="-247015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Font typeface="Times New Roman"/>
              <a:buChar char="–"/>
              <a:tabLst>
                <a:tab pos="578485" algn="l"/>
              </a:tabLst>
            </a:pPr>
            <a:r>
              <a:rPr sz="2900" b="1" spc="-10" dirty="0">
                <a:solidFill>
                  <a:srgbClr val="314004"/>
                </a:solidFill>
                <a:latin typeface="Georgia"/>
                <a:cs typeface="Georgia"/>
              </a:rPr>
              <a:t>Polling</a:t>
            </a:r>
            <a:endParaRPr sz="2900">
              <a:latin typeface="Georgia"/>
              <a:cs typeface="Georgia"/>
            </a:endParaRPr>
          </a:p>
          <a:p>
            <a:pPr marL="578485" lvl="1" indent="-24701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Font typeface="Times New Roman"/>
              <a:buChar char="–"/>
              <a:tabLst>
                <a:tab pos="578485" algn="l"/>
              </a:tabLst>
            </a:pPr>
            <a:r>
              <a:rPr sz="2900" b="1" dirty="0">
                <a:solidFill>
                  <a:srgbClr val="314004"/>
                </a:solidFill>
                <a:latin typeface="Georgia"/>
                <a:cs typeface="Georgia"/>
              </a:rPr>
              <a:t>Token</a:t>
            </a:r>
            <a:r>
              <a:rPr sz="2900" b="1" spc="-9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b="1" spc="-10" dirty="0">
                <a:solidFill>
                  <a:srgbClr val="314004"/>
                </a:solidFill>
                <a:latin typeface="Georgia"/>
                <a:cs typeface="Georgia"/>
              </a:rPr>
              <a:t>Passing</a:t>
            </a:r>
            <a:endParaRPr sz="29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6489" y="111315"/>
            <a:ext cx="41675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696464"/>
                </a:solidFill>
                <a:latin typeface="Times New Roman"/>
                <a:cs typeface="Times New Roman"/>
              </a:rPr>
              <a:t>1-</a:t>
            </a:r>
            <a:r>
              <a:rPr sz="2800" dirty="0">
                <a:solidFill>
                  <a:srgbClr val="696464"/>
                </a:solidFill>
                <a:latin typeface="Times New Roman"/>
                <a:cs typeface="Times New Roman"/>
              </a:rPr>
              <a:t>Reservation</a:t>
            </a:r>
            <a:r>
              <a:rPr sz="2800" spc="-45" dirty="0">
                <a:solidFill>
                  <a:srgbClr val="696464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696464"/>
                </a:solidFill>
                <a:latin typeface="Times New Roman"/>
                <a:cs typeface="Times New Roman"/>
              </a:rPr>
              <a:t>access</a:t>
            </a:r>
            <a:r>
              <a:rPr sz="2800" spc="-50" dirty="0">
                <a:solidFill>
                  <a:srgbClr val="696464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696464"/>
                </a:solidFill>
                <a:latin typeface="Times New Roman"/>
                <a:cs typeface="Times New Roman"/>
              </a:rPr>
              <a:t>method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575563"/>
            <a:ext cx="8008620" cy="35915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1180"/>
              </a:spcBef>
              <a:buSzPct val="97222"/>
              <a:buFont typeface="Wingdings"/>
              <a:buChar char=""/>
              <a:tabLst>
                <a:tab pos="180340" algn="l"/>
              </a:tabLst>
            </a:pPr>
            <a:r>
              <a:rPr sz="1800" dirty="0">
                <a:latin typeface="Arial MT"/>
                <a:cs typeface="Arial MT"/>
              </a:rPr>
              <a:t>Stations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take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turns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transmitting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single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frame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full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rate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)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bps</a:t>
            </a:r>
            <a:endParaRPr sz="1800">
              <a:latin typeface="Arial"/>
              <a:cs typeface="Arial"/>
            </a:endParaRPr>
          </a:p>
          <a:p>
            <a:pPr marL="176530" indent="-163830">
              <a:lnSpc>
                <a:spcPct val="100000"/>
              </a:lnSpc>
              <a:spcBef>
                <a:spcPts val="1080"/>
              </a:spcBef>
              <a:buSzPct val="97222"/>
              <a:buFont typeface="Wingdings"/>
              <a:buChar char=""/>
              <a:tabLst>
                <a:tab pos="176530" algn="l"/>
              </a:tabLst>
            </a:pPr>
            <a:r>
              <a:rPr sz="1800" spc="-10" dirty="0">
                <a:latin typeface="Arial MT"/>
                <a:cs typeface="Arial MT"/>
              </a:rPr>
              <a:t>Transmissions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organized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length</a:t>
            </a:r>
            <a:r>
              <a:rPr sz="1800" spc="-10" dirty="0">
                <a:latin typeface="Arial MT"/>
                <a:cs typeface="Arial MT"/>
              </a:rPr>
              <a:t> cycles</a:t>
            </a:r>
            <a:endParaRPr sz="1800">
              <a:latin typeface="Arial MT"/>
              <a:cs typeface="Arial MT"/>
            </a:endParaRPr>
          </a:p>
          <a:p>
            <a:pPr marL="12700" marR="336550" indent="-635">
              <a:lnSpc>
                <a:spcPct val="100000"/>
              </a:lnSpc>
              <a:spcBef>
                <a:spcPts val="1080"/>
              </a:spcBef>
              <a:buSzPct val="97222"/>
              <a:buFont typeface="Wingdings"/>
              <a:buChar char=""/>
              <a:tabLst>
                <a:tab pos="12700" algn="l"/>
                <a:tab pos="179705" algn="l"/>
              </a:tabLst>
            </a:pPr>
            <a:r>
              <a:rPr sz="1800" dirty="0">
                <a:latin typeface="Arial MT"/>
                <a:cs typeface="Arial MT"/>
              </a:rPr>
              <a:t>	Each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begins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reservation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interval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consists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(N)</a:t>
            </a:r>
            <a:r>
              <a:rPr sz="1800" spc="-10" dirty="0">
                <a:latin typeface="Arial MT"/>
                <a:cs typeface="Arial MT"/>
              </a:rPr>
              <a:t> minislots.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minislot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stations</a:t>
            </a:r>
            <a:endParaRPr sz="1800">
              <a:latin typeface="Arial MT"/>
              <a:cs typeface="Arial MT"/>
            </a:endParaRPr>
          </a:p>
          <a:p>
            <a:pPr marL="12700" marR="33020" indent="-10160">
              <a:lnSpc>
                <a:spcPct val="100000"/>
              </a:lnSpc>
              <a:spcBef>
                <a:spcPts val="1080"/>
              </a:spcBef>
              <a:buSzPct val="97222"/>
              <a:buFont typeface="Wingdings"/>
              <a:buChar char=""/>
              <a:tabLst>
                <a:tab pos="116839" algn="l"/>
              </a:tabLst>
            </a:pPr>
            <a:r>
              <a:rPr sz="1800" dirty="0">
                <a:latin typeface="Arial MT"/>
                <a:cs typeface="Arial MT"/>
              </a:rPr>
              <a:t>	When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frame,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reservation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own </a:t>
            </a:r>
            <a:r>
              <a:rPr sz="1800" spc="-10" dirty="0">
                <a:latin typeface="Arial MT"/>
                <a:cs typeface="Arial MT"/>
              </a:rPr>
              <a:t>minislot.</a:t>
            </a:r>
            <a:endParaRPr sz="1800">
              <a:latin typeface="Arial MT"/>
              <a:cs typeface="Arial MT"/>
            </a:endParaRPr>
          </a:p>
          <a:p>
            <a:pPr marL="12700" marR="5080" indent="-10160">
              <a:lnSpc>
                <a:spcPct val="100000"/>
              </a:lnSpc>
              <a:spcBef>
                <a:spcPts val="1080"/>
              </a:spcBef>
              <a:buSzPct val="97222"/>
              <a:buFont typeface="Wingdings"/>
              <a:buChar char=""/>
              <a:tabLst>
                <a:tab pos="116839" algn="l"/>
              </a:tabLst>
            </a:pPr>
            <a:r>
              <a:rPr sz="1800" dirty="0">
                <a:latin typeface="Arial MT"/>
                <a:cs typeface="Arial MT"/>
              </a:rPr>
              <a:t>	By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listening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reservation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interval,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stations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will </a:t>
            </a:r>
            <a:r>
              <a:rPr sz="1800" dirty="0">
                <a:latin typeface="Arial MT"/>
                <a:cs typeface="Arial MT"/>
              </a:rPr>
              <a:t>transfer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frames,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order.</a:t>
            </a:r>
            <a:endParaRPr sz="1800">
              <a:latin typeface="Arial MT"/>
              <a:cs typeface="Arial MT"/>
            </a:endParaRPr>
          </a:p>
          <a:p>
            <a:pPr marL="12700" marR="575945" indent="-10160">
              <a:lnSpc>
                <a:spcPct val="100000"/>
              </a:lnSpc>
              <a:spcBef>
                <a:spcPts val="1080"/>
              </a:spcBef>
              <a:buSzPct val="97222"/>
              <a:buFont typeface="Wingdings"/>
              <a:buChar char=""/>
              <a:tabLst>
                <a:tab pos="116839" algn="l"/>
              </a:tabLst>
            </a:pPr>
            <a:r>
              <a:rPr sz="1800" dirty="0">
                <a:latin typeface="Arial MT"/>
                <a:cs typeface="Arial MT"/>
              </a:rPr>
              <a:t>	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reservations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frames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reservation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frame.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513" y="4876800"/>
            <a:ext cx="7842640" cy="1828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" y="649223"/>
            <a:ext cx="2078735" cy="1118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781685"/>
            <a:ext cx="14420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212121"/>
                </a:solidFill>
              </a:rPr>
              <a:t>Polling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8526" y="1359696"/>
            <a:ext cx="8235315" cy="321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6350" indent="-27495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020" algn="l"/>
                <a:tab pos="643890" algn="l"/>
                <a:tab pos="1587500" algn="l"/>
                <a:tab pos="2317115" algn="l"/>
                <a:tab pos="3834129" algn="l"/>
                <a:tab pos="4235450" algn="l"/>
                <a:tab pos="5175250" algn="l"/>
                <a:tab pos="5799455" algn="l"/>
                <a:tab pos="6780530" algn="l"/>
                <a:tab pos="7132955" algn="l"/>
              </a:tabLst>
            </a:pPr>
            <a:r>
              <a:rPr sz="2400" spc="-25" dirty="0">
                <a:solidFill>
                  <a:srgbClr val="314004"/>
                </a:solidFill>
                <a:latin typeface="Georgia"/>
                <a:cs typeface="Georgia"/>
              </a:rPr>
              <a:t>It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works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with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topologies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25" dirty="0">
                <a:solidFill>
                  <a:srgbClr val="314004"/>
                </a:solidFill>
                <a:latin typeface="Georgia"/>
                <a:cs typeface="Georgia"/>
              </a:rPr>
              <a:t>in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which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25" dirty="0">
                <a:solidFill>
                  <a:srgbClr val="314004"/>
                </a:solidFill>
                <a:latin typeface="Georgia"/>
                <a:cs typeface="Georgia"/>
              </a:rPr>
              <a:t>one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device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25" dirty="0">
                <a:solidFill>
                  <a:srgbClr val="314004"/>
                </a:solidFill>
                <a:latin typeface="Georgia"/>
                <a:cs typeface="Georgia"/>
              </a:rPr>
              <a:t>is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primary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station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and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all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other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stations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are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secondary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stations</a:t>
            </a:r>
            <a:endParaRPr sz="2400">
              <a:latin typeface="Georgia"/>
              <a:cs typeface="Georgia"/>
            </a:endParaRPr>
          </a:p>
          <a:p>
            <a:pPr marL="287020" marR="5715" indent="-274955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020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All</a:t>
            </a:r>
            <a:r>
              <a:rPr sz="2400" spc="1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data</a:t>
            </a:r>
            <a:r>
              <a:rPr sz="2400" spc="2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exchanges</a:t>
            </a:r>
            <a:r>
              <a:rPr sz="2400" spc="2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must</a:t>
            </a:r>
            <a:r>
              <a:rPr sz="2400" spc="1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be</a:t>
            </a:r>
            <a:r>
              <a:rPr sz="2400" spc="2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made</a:t>
            </a:r>
            <a:r>
              <a:rPr sz="2400" spc="1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through</a:t>
            </a:r>
            <a:r>
              <a:rPr sz="2400" spc="2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r>
              <a:rPr sz="2400" spc="2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station,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even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when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ultimate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destinations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are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secondary</a:t>
            </a:r>
            <a:endParaRPr sz="2400">
              <a:latin typeface="Georgia"/>
              <a:cs typeface="Georgia"/>
            </a:endParaRPr>
          </a:p>
          <a:p>
            <a:pPr marL="287655" marR="5715" indent="-27559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r>
              <a:rPr sz="2400" spc="1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device</a:t>
            </a:r>
            <a:r>
              <a:rPr sz="2400" spc="1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controls</a:t>
            </a:r>
            <a:r>
              <a:rPr sz="2400" spc="1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the</a:t>
            </a:r>
            <a:r>
              <a:rPr sz="2400" spc="1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link,</a:t>
            </a:r>
            <a:r>
              <a:rPr sz="2400" spc="1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secondary</a:t>
            </a:r>
            <a:r>
              <a:rPr sz="2400" spc="1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device</a:t>
            </a:r>
            <a:r>
              <a:rPr sz="2400" spc="1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follows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its</a:t>
            </a:r>
            <a:r>
              <a:rPr sz="2400" spc="-2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instruction</a:t>
            </a:r>
            <a:endParaRPr sz="2400">
              <a:latin typeface="Georgia"/>
              <a:cs typeface="Georgia"/>
            </a:endParaRPr>
          </a:p>
          <a:p>
            <a:pPr marL="287655" marR="5080" indent="-27559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43750"/>
              <a:buFont typeface="Wingdings"/>
              <a:buChar char=""/>
              <a:tabLst>
                <a:tab pos="287655" algn="l"/>
                <a:tab pos="1571625" algn="l"/>
                <a:tab pos="2685415" algn="l"/>
                <a:tab pos="4387850" algn="l"/>
                <a:tab pos="5381625" algn="l"/>
                <a:tab pos="6495415" algn="l"/>
                <a:tab pos="7152640" algn="l"/>
                <a:tab pos="7792720" algn="l"/>
              </a:tabLst>
            </a:pP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station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determines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which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station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25" dirty="0">
                <a:solidFill>
                  <a:srgbClr val="314004"/>
                </a:solidFill>
                <a:latin typeface="Georgia"/>
                <a:cs typeface="Georgia"/>
              </a:rPr>
              <a:t>can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25" dirty="0">
                <a:solidFill>
                  <a:srgbClr val="314004"/>
                </a:solidFill>
                <a:latin typeface="Georgia"/>
                <a:cs typeface="Georgia"/>
              </a:rPr>
              <a:t>use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</a:t>
            </a:r>
            <a:r>
              <a:rPr sz="2400" spc="-25" dirty="0">
                <a:solidFill>
                  <a:srgbClr val="314004"/>
                </a:solidFill>
                <a:latin typeface="Georgia"/>
                <a:cs typeface="Georgia"/>
              </a:rPr>
              <a:t>the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channel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48017"/>
            <a:ext cx="6519671" cy="41326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" y="649223"/>
            <a:ext cx="2078735" cy="1118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781685"/>
            <a:ext cx="14420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212121"/>
                </a:solidFill>
              </a:rPr>
              <a:t>Polling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8526" y="1358172"/>
            <a:ext cx="8155305" cy="472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655" marR="60960" indent="-27559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SzPct val="44827"/>
              <a:buFont typeface="Wingdings"/>
              <a:buChar char=""/>
              <a:tabLst>
                <a:tab pos="287655" algn="l"/>
              </a:tabLst>
            </a:pP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When</a:t>
            </a:r>
            <a:r>
              <a:rPr sz="29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want</a:t>
            </a:r>
            <a:r>
              <a:rPr sz="2900" spc="-2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send</a:t>
            </a:r>
            <a:r>
              <a:rPr sz="29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or</a:t>
            </a:r>
            <a:r>
              <a:rPr sz="29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receive</a:t>
            </a:r>
            <a:r>
              <a:rPr sz="29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data,</a:t>
            </a:r>
            <a:r>
              <a:rPr sz="2900" spc="-2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it</a:t>
            </a:r>
            <a:r>
              <a:rPr sz="29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spc="-20" dirty="0">
                <a:solidFill>
                  <a:srgbClr val="314004"/>
                </a:solidFill>
                <a:latin typeface="Georgia"/>
                <a:cs typeface="Georgia"/>
              </a:rPr>
              <a:t>uses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Select</a:t>
            </a:r>
            <a:r>
              <a:rPr sz="29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function</a:t>
            </a:r>
            <a:r>
              <a:rPr sz="29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or</a:t>
            </a:r>
            <a:r>
              <a:rPr sz="29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dirty="0">
                <a:solidFill>
                  <a:srgbClr val="314004"/>
                </a:solidFill>
                <a:latin typeface="Georgia"/>
                <a:cs typeface="Georgia"/>
              </a:rPr>
              <a:t>Poll</a:t>
            </a:r>
            <a:r>
              <a:rPr sz="29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900" spc="-10" dirty="0">
                <a:solidFill>
                  <a:srgbClr val="314004"/>
                </a:solidFill>
                <a:latin typeface="Georgia"/>
                <a:cs typeface="Georgia"/>
              </a:rPr>
              <a:t>function</a:t>
            </a:r>
            <a:endParaRPr sz="2900">
              <a:latin typeface="Georgia"/>
              <a:cs typeface="Georgia"/>
            </a:endParaRPr>
          </a:p>
          <a:p>
            <a:pPr marL="287655" indent="-274955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SzPct val="44827"/>
              <a:buFont typeface="Wingdings"/>
              <a:buChar char=""/>
              <a:tabLst>
                <a:tab pos="287655" algn="l"/>
              </a:tabLst>
            </a:pPr>
            <a:r>
              <a:rPr sz="2900" spc="-10" dirty="0">
                <a:solidFill>
                  <a:srgbClr val="314004"/>
                </a:solidFill>
                <a:latin typeface="Georgia"/>
                <a:cs typeface="Georgia"/>
              </a:rPr>
              <a:t>Select</a:t>
            </a:r>
            <a:endParaRPr sz="2900">
              <a:latin typeface="Georgia"/>
              <a:cs typeface="Georgia"/>
            </a:endParaRPr>
          </a:p>
          <a:p>
            <a:pPr marL="579120" marR="113030" lvl="1" indent="-247650">
              <a:lnSpc>
                <a:spcPct val="100000"/>
              </a:lnSpc>
              <a:spcBef>
                <a:spcPts val="715"/>
              </a:spcBef>
              <a:buClr>
                <a:srgbClr val="000000"/>
              </a:buClr>
              <a:buFont typeface="Times New Roman"/>
              <a:buChar char="–"/>
              <a:tabLst>
                <a:tab pos="579120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This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function</a:t>
            </a:r>
            <a:r>
              <a:rPr sz="2400" spc="-6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is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used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when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r>
              <a:rPr sz="24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device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want</a:t>
            </a:r>
            <a:r>
              <a:rPr sz="24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to</a:t>
            </a:r>
            <a:r>
              <a:rPr sz="24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send data</a:t>
            </a:r>
            <a:endParaRPr sz="2400">
              <a:latin typeface="Georgia"/>
              <a:cs typeface="Georgia"/>
            </a:endParaRPr>
          </a:p>
          <a:p>
            <a:pPr marL="579120" marR="637540" lvl="1" indent="-247650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Font typeface="Times New Roman"/>
              <a:buChar char="–"/>
              <a:tabLst>
                <a:tab pos="579120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If</a:t>
            </a:r>
            <a:r>
              <a:rPr sz="2400" spc="-6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the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r>
              <a:rPr sz="24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is</a:t>
            </a:r>
            <a:r>
              <a:rPr sz="2400" spc="-6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neither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sending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nor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receiving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data,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medium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is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available.</a:t>
            </a:r>
            <a:r>
              <a:rPr sz="24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Since</a:t>
            </a:r>
            <a:r>
              <a:rPr sz="24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all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data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transmissions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happens</a:t>
            </a:r>
            <a:r>
              <a:rPr sz="2400" spc="-8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through</a:t>
            </a:r>
            <a:r>
              <a:rPr sz="2400" spc="-8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endParaRPr sz="2400">
              <a:latin typeface="Georgia"/>
              <a:cs typeface="Georgia"/>
            </a:endParaRPr>
          </a:p>
          <a:p>
            <a:pPr marL="579120" marR="5080" lvl="1" indent="-24765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9120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alerts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desired</a:t>
            </a:r>
            <a:r>
              <a:rPr sz="2400" spc="-6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secondary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by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sending</a:t>
            </a:r>
            <a:r>
              <a:rPr sz="2400" spc="-6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select(SEL) frame</a:t>
            </a:r>
            <a:endParaRPr sz="2400">
              <a:latin typeface="Georgia"/>
              <a:cs typeface="Georgia"/>
            </a:endParaRPr>
          </a:p>
          <a:p>
            <a:pPr marL="579120" lvl="1" indent="-247650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Font typeface="Times New Roman"/>
              <a:buChar char="–"/>
              <a:tabLst>
                <a:tab pos="579120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It</a:t>
            </a:r>
            <a:r>
              <a:rPr sz="2400" spc="-6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waits</a:t>
            </a:r>
            <a:r>
              <a:rPr sz="2400" spc="-6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for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acknowledgment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before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sending</a:t>
            </a:r>
            <a:r>
              <a:rPr sz="2400" spc="-7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data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" y="649223"/>
            <a:ext cx="2078735" cy="1118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4500" y="781685"/>
            <a:ext cx="14420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212121"/>
                </a:solidFill>
              </a:rPr>
              <a:t>Polling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8526" y="1248310"/>
            <a:ext cx="8182609" cy="395033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960"/>
              </a:spcBef>
              <a:buClr>
                <a:srgbClr val="000000"/>
              </a:buClr>
              <a:buSzPct val="44827"/>
              <a:buFont typeface="Wingdings"/>
              <a:buChar char=""/>
              <a:tabLst>
                <a:tab pos="287655" algn="l"/>
              </a:tabLst>
            </a:pPr>
            <a:r>
              <a:rPr sz="2900" spc="-20" dirty="0">
                <a:solidFill>
                  <a:srgbClr val="314004"/>
                </a:solidFill>
                <a:latin typeface="Georgia"/>
                <a:cs typeface="Georgia"/>
              </a:rPr>
              <a:t>Poll</a:t>
            </a:r>
            <a:endParaRPr sz="2900">
              <a:latin typeface="Georgia"/>
              <a:cs typeface="Georgia"/>
            </a:endParaRPr>
          </a:p>
          <a:p>
            <a:pPr marL="579120" marR="814069" lvl="1" indent="-24765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Times New Roman"/>
              <a:buChar char="–"/>
              <a:tabLst>
                <a:tab pos="579120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It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is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process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in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which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r>
              <a:rPr sz="2400" spc="-3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stations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asks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secondary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station,</a:t>
            </a:r>
            <a:r>
              <a:rPr sz="2400" spc="-6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whether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they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want</a:t>
            </a:r>
            <a:r>
              <a:rPr sz="2400" spc="-6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to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send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data</a:t>
            </a:r>
            <a:endParaRPr sz="2400">
              <a:latin typeface="Georgia"/>
              <a:cs typeface="Georgia"/>
            </a:endParaRPr>
          </a:p>
          <a:p>
            <a:pPr marL="579120" lvl="1" indent="-24765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9120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Primary</a:t>
            </a:r>
            <a:r>
              <a:rPr sz="24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Polls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all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secondary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stations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in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turn</a:t>
            </a:r>
            <a:endParaRPr sz="2400">
              <a:latin typeface="Georgia"/>
              <a:cs typeface="Georgia"/>
            </a:endParaRPr>
          </a:p>
          <a:p>
            <a:pPr marL="579120" marR="5080" lvl="1" indent="-247650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Font typeface="Times New Roman"/>
              <a:buChar char="–"/>
              <a:tabLst>
                <a:tab pos="579120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If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secondary</a:t>
            </a:r>
            <a:r>
              <a:rPr sz="24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want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to</a:t>
            </a:r>
            <a:r>
              <a:rPr sz="2400" spc="-4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send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data,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it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responds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with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data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frame</a:t>
            </a:r>
            <a:endParaRPr sz="2400">
              <a:latin typeface="Georgia"/>
              <a:cs typeface="Georgia"/>
            </a:endParaRPr>
          </a:p>
          <a:p>
            <a:pPr marL="579120" lvl="1" indent="-247650">
              <a:lnSpc>
                <a:spcPct val="100000"/>
              </a:lnSpc>
              <a:spcBef>
                <a:spcPts val="705"/>
              </a:spcBef>
              <a:buClr>
                <a:srgbClr val="000000"/>
              </a:buClr>
              <a:buFont typeface="Times New Roman"/>
              <a:buChar char="–"/>
              <a:tabLst>
                <a:tab pos="579120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Otherwise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responds</a:t>
            </a:r>
            <a:r>
              <a:rPr sz="2400" spc="-6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with</a:t>
            </a:r>
            <a:r>
              <a:rPr sz="2400" spc="-6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NAK</a:t>
            </a:r>
            <a:r>
              <a:rPr sz="2400" spc="-7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frame</a:t>
            </a:r>
            <a:endParaRPr sz="2400">
              <a:latin typeface="Georgia"/>
              <a:cs typeface="Georgia"/>
            </a:endParaRPr>
          </a:p>
          <a:p>
            <a:pPr marL="579120" marR="80645" lvl="1" indent="-24765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  <a:tabLst>
                <a:tab pos="579120" algn="l"/>
                <a:tab pos="2187575" algn="l"/>
              </a:tabLst>
            </a:pP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When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data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	is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received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from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secondary,</a:t>
            </a:r>
            <a:r>
              <a:rPr sz="2400" spc="-4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it</a:t>
            </a:r>
            <a:r>
              <a:rPr sz="2400" spc="-5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responds</a:t>
            </a:r>
            <a:r>
              <a:rPr sz="2400" spc="-50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314004"/>
                </a:solidFill>
                <a:latin typeface="Georgia"/>
                <a:cs typeface="Georgia"/>
              </a:rPr>
              <a:t>with </a:t>
            </a:r>
            <a:r>
              <a:rPr sz="2400" dirty="0">
                <a:solidFill>
                  <a:srgbClr val="314004"/>
                </a:solidFill>
                <a:latin typeface="Georgia"/>
                <a:cs typeface="Georgia"/>
              </a:rPr>
              <a:t>ACK</a:t>
            </a:r>
            <a:r>
              <a:rPr sz="2400" spc="-35" dirty="0">
                <a:solidFill>
                  <a:srgbClr val="314004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314004"/>
                </a:solidFill>
                <a:latin typeface="Georgia"/>
                <a:cs typeface="Georgia"/>
              </a:rPr>
              <a:t>frame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075" y="767397"/>
            <a:ext cx="59448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SELECT</a:t>
            </a:r>
            <a:r>
              <a:rPr spc="-105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spc="-45" dirty="0"/>
              <a:t>POLL</a:t>
            </a:r>
            <a:r>
              <a:rPr spc="-80" dirty="0"/>
              <a:t> </a:t>
            </a:r>
            <a:r>
              <a:rPr spc="-10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472" y="2260967"/>
            <a:ext cx="7691300" cy="2768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141" y="1837645"/>
            <a:ext cx="7043478" cy="38598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156" y="457200"/>
            <a:ext cx="7991129" cy="5669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130" y="1458287"/>
            <a:ext cx="6727113" cy="45614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680" y="115887"/>
            <a:ext cx="2479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latin typeface="Times New Roman"/>
                <a:cs typeface="Times New Roman"/>
              </a:rPr>
              <a:t>Token-</a:t>
            </a:r>
            <a:r>
              <a:rPr sz="1800" b="1" dirty="0">
                <a:latin typeface="Times New Roman"/>
                <a:cs typeface="Times New Roman"/>
              </a:rPr>
              <a:t>passing</a:t>
            </a:r>
            <a:r>
              <a:rPr sz="1800" b="1" spc="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procedure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6200" y="0"/>
            <a:ext cx="8593455" cy="6553200"/>
            <a:chOff x="76200" y="0"/>
            <a:chExt cx="8593455" cy="6553200"/>
          </a:xfrm>
        </p:grpSpPr>
        <p:sp>
          <p:nvSpPr>
            <p:cNvPr id="4" name="object 4"/>
            <p:cNvSpPr/>
            <p:nvPr/>
          </p:nvSpPr>
          <p:spPr>
            <a:xfrm>
              <a:off x="366522" y="108204"/>
              <a:ext cx="382905" cy="474980"/>
            </a:xfrm>
            <a:custGeom>
              <a:avLst/>
              <a:gdLst/>
              <a:ahLst/>
              <a:cxnLst/>
              <a:rect l="l" t="t" r="r" b="b"/>
              <a:pathLst>
                <a:path w="382905" h="474980">
                  <a:moveTo>
                    <a:pt x="0" y="474725"/>
                  </a:moveTo>
                  <a:lnTo>
                    <a:pt x="382524" y="474725"/>
                  </a:lnTo>
                  <a:lnTo>
                    <a:pt x="382524" y="0"/>
                  </a:lnTo>
                  <a:lnTo>
                    <a:pt x="0" y="0"/>
                  </a:lnTo>
                  <a:lnTo>
                    <a:pt x="0" y="474725"/>
                  </a:lnTo>
                  <a:close/>
                </a:path>
              </a:pathLst>
            </a:custGeom>
            <a:solidFill>
              <a:srgbClr val="9B2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045" y="108204"/>
              <a:ext cx="329184" cy="4747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0727" y="5303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7" y="0"/>
                  </a:moveTo>
                  <a:lnTo>
                    <a:pt x="0" y="0"/>
                  </a:lnTo>
                  <a:lnTo>
                    <a:pt x="0" y="474725"/>
                  </a:lnTo>
                  <a:lnTo>
                    <a:pt x="422147" y="474725"/>
                  </a:lnTo>
                  <a:lnTo>
                    <a:pt x="422147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298" y="530351"/>
              <a:ext cx="368808" cy="474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457200"/>
              <a:ext cx="560070" cy="4221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10946" y="0"/>
              <a:ext cx="32384" cy="1052830"/>
            </a:xfrm>
            <a:custGeom>
              <a:avLst/>
              <a:gdLst/>
              <a:ahLst/>
              <a:cxnLst/>
              <a:rect l="l" t="t" r="r" b="b"/>
              <a:pathLst>
                <a:path w="32384" h="1052830">
                  <a:moveTo>
                    <a:pt x="32004" y="565404"/>
                  </a:moveTo>
                  <a:lnTo>
                    <a:pt x="0" y="565404"/>
                  </a:lnTo>
                  <a:lnTo>
                    <a:pt x="0" y="1052322"/>
                  </a:lnTo>
                  <a:lnTo>
                    <a:pt x="32004" y="1052322"/>
                  </a:lnTo>
                  <a:lnTo>
                    <a:pt x="32004" y="565404"/>
                  </a:lnTo>
                  <a:close/>
                </a:path>
                <a:path w="32384" h="1052830">
                  <a:moveTo>
                    <a:pt x="32004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32004" y="533400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E9E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722" y="533400"/>
              <a:ext cx="8226552" cy="320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430" y="823722"/>
              <a:ext cx="6846569" cy="572947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6">
            <a:extLst>
              <a:ext uri="{FF2B5EF4-FFF2-40B4-BE49-F238E27FC236}">
                <a16:creationId xmlns:a16="http://schemas.microsoft.com/office/drawing/2014/main" xmlns="" id="{A9A0D2B1-6AA6-D3CA-89C1-CCB8B2C4D554}"/>
              </a:ext>
            </a:extLst>
          </p:cNvPr>
          <p:cNvSpPr txBox="1"/>
          <p:nvPr/>
        </p:nvSpPr>
        <p:spPr>
          <a:xfrm>
            <a:off x="993139" y="1404619"/>
            <a:ext cx="7614920" cy="342709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indent="-203200">
              <a:lnSpc>
                <a:spcPct val="90000"/>
              </a:lnSpc>
              <a:spcBef>
                <a:spcPts val="465"/>
              </a:spcBef>
              <a:buSzPct val="91666"/>
              <a:buFont typeface="Wingdings"/>
              <a:buChar char=""/>
              <a:tabLst>
                <a:tab pos="203200" algn="l"/>
              </a:tabLst>
            </a:pP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CHANNELIZATION</a:t>
            </a:r>
            <a:r>
              <a:rPr lang="en-US" sz="2000" b="0" i="0" spc="-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PROTOCOLS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5080" indent="-114935">
              <a:lnSpc>
                <a:spcPct val="90000"/>
              </a:lnSpc>
              <a:spcBef>
                <a:spcPts val="535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Channelization</a:t>
            </a:r>
            <a:r>
              <a:rPr lang="en-US" sz="2000" b="0" i="0" spc="19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(or</a:t>
            </a:r>
            <a:r>
              <a:rPr lang="en-US" sz="2000" b="0" i="0" spc="20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</a:t>
            </a:r>
            <a:r>
              <a:rPr lang="en-US" sz="2000" b="0" i="0" spc="20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partition)</a:t>
            </a:r>
            <a:r>
              <a:rPr lang="en-US" sz="2000" b="0" i="0" spc="1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000" b="0" i="0" spc="20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US" sz="2000" b="0" i="0" spc="2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multiple-access</a:t>
            </a:r>
            <a:r>
              <a:rPr lang="en-US" sz="2000" b="0" i="0" spc="20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method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sz="2000" b="0" i="0" spc="4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which</a:t>
            </a:r>
            <a:r>
              <a:rPr lang="en-US" sz="2000" b="0" i="0" spc="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48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available</a:t>
            </a:r>
            <a:r>
              <a:rPr lang="en-US" sz="2000" b="0" i="0" spc="4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bandwidth</a:t>
            </a:r>
            <a:r>
              <a:rPr lang="en-US" sz="2000" b="0" i="0" spc="4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000" b="0" i="0" spc="48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US" sz="2000" b="0" i="0" spc="49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link</a:t>
            </a:r>
            <a:r>
              <a:rPr lang="en-US" sz="2000" b="0" i="0" spc="4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000" b="0" i="0" spc="49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shared</a:t>
            </a:r>
            <a:r>
              <a:rPr lang="en-US" sz="2000" b="0" i="0" spc="4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sz="2000" b="0" i="0" spc="4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time, 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frequency,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or</a:t>
            </a:r>
            <a:r>
              <a:rPr lang="en-US" sz="2000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through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code,</a:t>
            </a:r>
            <a:r>
              <a:rPr lang="en-US" sz="2000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between</a:t>
            </a:r>
            <a:r>
              <a:rPr lang="en-US" sz="20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different</a:t>
            </a:r>
            <a:r>
              <a:rPr lang="en-US" sz="2000" b="0" i="0" spc="-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stations.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indent="-256540">
              <a:lnSpc>
                <a:spcPct val="90000"/>
              </a:lnSpc>
              <a:spcBef>
                <a:spcPts val="280"/>
              </a:spcBef>
              <a:buAutoNum type="arabicPeriod"/>
              <a:tabLst>
                <a:tab pos="256540" algn="l"/>
              </a:tabLst>
            </a:pP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Frequency-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Division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Multiple</a:t>
            </a:r>
            <a:r>
              <a:rPr lang="en-US" sz="2000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Access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(FDMA)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6985" lvl="1" indent="-114935">
              <a:lnSpc>
                <a:spcPct val="90000"/>
              </a:lnSpc>
              <a:spcBef>
                <a:spcPts val="53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409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available</a:t>
            </a:r>
            <a:r>
              <a:rPr lang="en-US" sz="2000" b="0" i="0" spc="409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bandwidth</a:t>
            </a:r>
            <a:r>
              <a:rPr lang="en-US" sz="2000" b="0" i="0" spc="4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000" b="0" i="0" spc="40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divided</a:t>
            </a:r>
            <a:r>
              <a:rPr lang="en-US" sz="2000" b="0" i="0" spc="4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into</a:t>
            </a:r>
            <a:r>
              <a:rPr lang="en-US" sz="2000" b="0" i="0" spc="409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frequency</a:t>
            </a:r>
            <a:r>
              <a:rPr lang="en-US" sz="2000" b="0" i="0" spc="4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bands.</a:t>
            </a:r>
            <a:r>
              <a:rPr lang="en-US" sz="2000" b="0" i="0" spc="4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Each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allocated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band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send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</a:t>
            </a:r>
            <a:r>
              <a:rPr lang="en-US" sz="20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6985" lvl="1" indent="-114935">
              <a:lnSpc>
                <a:spcPct val="90000"/>
              </a:lnSpc>
              <a:spcBef>
                <a:spcPts val="489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Each</a:t>
            </a:r>
            <a:r>
              <a:rPr lang="en-US" sz="2000" b="0" i="0" spc="1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band</a:t>
            </a:r>
            <a:r>
              <a:rPr lang="en-US" sz="2000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000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reserved</a:t>
            </a:r>
            <a:r>
              <a:rPr lang="en-US" sz="2000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for</a:t>
            </a:r>
            <a:r>
              <a:rPr lang="en-US" sz="20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US" sz="2000" b="0" i="0" spc="1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specific</a:t>
            </a:r>
            <a:r>
              <a:rPr lang="en-US" sz="2000" b="0" i="0" spc="1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station,</a:t>
            </a:r>
            <a:r>
              <a:rPr lang="en-US" sz="2000" b="0" i="0" spc="1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and</a:t>
            </a:r>
            <a:r>
              <a:rPr lang="en-US" sz="2000" b="0" i="0" spc="1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</a:t>
            </a:r>
            <a:r>
              <a:rPr lang="en-US" sz="2000" b="0" i="0" spc="1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belongs</a:t>
            </a:r>
            <a:r>
              <a:rPr lang="en-US" sz="2000" b="0" i="0" spc="1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1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all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time.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6350" lvl="1" indent="-114935">
              <a:lnSpc>
                <a:spcPct val="90000"/>
              </a:lnSpc>
              <a:spcBef>
                <a:spcPts val="495"/>
              </a:spcBef>
              <a:buFont typeface="Arial MT"/>
              <a:buChar char="•"/>
              <a:tabLst>
                <a:tab pos="114300" algn="l"/>
                <a:tab pos="16002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	Each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also</a:t>
            </a:r>
            <a:r>
              <a:rPr lang="en-US" sz="2000" b="0" i="0" spc="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uses</a:t>
            </a:r>
            <a:r>
              <a:rPr lang="en-US" sz="2000" b="0" i="0" spc="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US" sz="2000" b="0" i="0" spc="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band-pass</a:t>
            </a:r>
            <a:r>
              <a:rPr lang="en-US" sz="2000" b="0" i="0" spc="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filter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confine</a:t>
            </a:r>
            <a:r>
              <a:rPr lang="en-US" sz="2000" b="0" i="0" spc="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transmitter frequencies.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3509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7F4B21D-C3D9-661E-C671-8B615130F66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347550"/>
            <a:ext cx="7772400" cy="41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821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39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6616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chemeClr val="folHlink"/>
                </a:solidFill>
                <a:latin typeface="Times New Roman" pitchFamily="18" charset="0"/>
              </a:rPr>
              <a:t>Figure 12.21  </a:t>
            </a:r>
            <a:r>
              <a:rPr lang="en-US" b="1" i="1">
                <a:latin typeface="Times New Roman" pitchFamily="18" charset="0"/>
              </a:rPr>
              <a:t>Frequency-division multiple access (FDMA)</a:t>
            </a:r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994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2788" y="1231900"/>
            <a:ext cx="7212012" cy="478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9">
            <a:extLst>
              <a:ext uri="{FF2B5EF4-FFF2-40B4-BE49-F238E27FC236}">
                <a16:creationId xmlns:a16="http://schemas.microsoft.com/office/drawing/2014/main" xmlns="" id="{8678B77C-E59D-3681-D48B-194D2EAECD6B}"/>
              </a:ext>
            </a:extLst>
          </p:cNvPr>
          <p:cNvSpPr txBox="1"/>
          <p:nvPr/>
        </p:nvSpPr>
        <p:spPr>
          <a:xfrm>
            <a:off x="993139" y="1404619"/>
            <a:ext cx="7614920" cy="342709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marR="5080" indent="-114935">
              <a:lnSpc>
                <a:spcPct val="90000"/>
              </a:lnSpc>
              <a:spcBef>
                <a:spcPts val="31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FDMA</a:t>
            </a:r>
            <a:r>
              <a:rPr lang="en-US" sz="2200" b="0" i="0" spc="3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specifies</a:t>
            </a:r>
            <a:r>
              <a:rPr lang="en-US" sz="2200" b="0" i="0" spc="3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US" sz="2200" b="0" i="0" spc="3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predetermined</a:t>
            </a:r>
            <a:r>
              <a:rPr lang="en-US" sz="2200" b="0" i="0" spc="3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frequency</a:t>
            </a:r>
            <a:r>
              <a:rPr lang="en-US" sz="2200" b="0" i="0" spc="3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band</a:t>
            </a:r>
            <a:r>
              <a:rPr lang="en-US" sz="2200" b="0" i="0" spc="3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for</a:t>
            </a:r>
            <a:r>
              <a:rPr lang="en-US" sz="2200" b="0" i="0" spc="3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200" b="0" i="0" spc="3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entire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period</a:t>
            </a:r>
            <a:r>
              <a:rPr lang="en-US" sz="22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2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communication.</a:t>
            </a:r>
            <a:endParaRPr lang="en-US" sz="22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6985" indent="-114935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This</a:t>
            </a:r>
            <a:r>
              <a:rPr lang="en-US" sz="2200" b="0" i="0" spc="1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means</a:t>
            </a:r>
            <a:r>
              <a:rPr lang="en-US" sz="2200" b="0" i="0" spc="1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that</a:t>
            </a:r>
            <a:r>
              <a:rPr lang="en-US" sz="2200" b="0" i="0" spc="1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stream</a:t>
            </a:r>
            <a:r>
              <a:rPr lang="en-US" sz="2200" b="0" i="0" spc="1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200" b="0" i="0" spc="1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(a</a:t>
            </a:r>
            <a:r>
              <a:rPr lang="en-US" sz="2200" b="0" i="0" spc="1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continuous</a:t>
            </a:r>
            <a:r>
              <a:rPr lang="en-US" sz="2200" b="0" i="0" spc="1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flow</a:t>
            </a:r>
            <a:r>
              <a:rPr lang="en-US" sz="2200" b="0" i="0" spc="1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200" b="0" i="0" spc="1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200" b="0" i="0" spc="1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that</a:t>
            </a:r>
            <a:r>
              <a:rPr lang="en-US" sz="2200" b="0" i="0" spc="1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may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not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</a:t>
            </a:r>
            <a:r>
              <a:rPr lang="en-US" sz="22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packetized)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can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easily</a:t>
            </a:r>
            <a:r>
              <a:rPr lang="en-US" sz="22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used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with</a:t>
            </a:r>
            <a:r>
              <a:rPr lang="en-US" sz="22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FDMA.</a:t>
            </a:r>
            <a:endParaRPr lang="en-US" sz="22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indent="-114300">
              <a:lnSpc>
                <a:spcPct val="90000"/>
              </a:lnSpc>
              <a:spcBef>
                <a:spcPts val="28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This</a:t>
            </a:r>
            <a:r>
              <a:rPr lang="en-US" sz="22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feature</a:t>
            </a:r>
            <a:r>
              <a:rPr lang="en-US" sz="22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can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</a:t>
            </a:r>
            <a:r>
              <a:rPr lang="en-US" sz="22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used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 cellular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telephone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systems</a:t>
            </a:r>
            <a:endParaRPr lang="en-US" sz="22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>
              <a:lnSpc>
                <a:spcPct val="90000"/>
              </a:lnSpc>
              <a:spcBef>
                <a:spcPts val="315"/>
              </a:spcBef>
            </a:pP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2.</a:t>
            </a:r>
            <a:r>
              <a:rPr lang="en-US" sz="2200" b="0" i="0" spc="39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Time-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Division</a:t>
            </a:r>
            <a:r>
              <a:rPr lang="en-US" sz="22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Multiple</a:t>
            </a:r>
            <a:r>
              <a:rPr lang="en-US" sz="22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Access</a:t>
            </a:r>
            <a:r>
              <a:rPr lang="en-US" sz="2200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(TDMA)</a:t>
            </a:r>
            <a:endParaRPr lang="en-US" sz="22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indent="-114300">
              <a:lnSpc>
                <a:spcPct val="90000"/>
              </a:lnSpc>
              <a:spcBef>
                <a:spcPts val="30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2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stations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share</a:t>
            </a:r>
            <a:r>
              <a:rPr lang="en-US" sz="22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bandwidth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2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time.</a:t>
            </a:r>
            <a:endParaRPr lang="en-US" sz="22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indent="-114300">
              <a:lnSpc>
                <a:spcPct val="90000"/>
              </a:lnSpc>
              <a:spcBef>
                <a:spcPts val="31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Each</a:t>
            </a:r>
            <a:r>
              <a:rPr lang="en-US" sz="22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2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allocated</a:t>
            </a:r>
            <a:r>
              <a:rPr lang="en-US" sz="22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US" sz="22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time</a:t>
            </a:r>
            <a:r>
              <a:rPr lang="en-US" sz="22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slot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during</a:t>
            </a:r>
            <a:r>
              <a:rPr lang="en-US" sz="22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which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can</a:t>
            </a:r>
            <a:r>
              <a:rPr lang="en-US" sz="22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send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data.</a:t>
            </a:r>
            <a:endParaRPr lang="en-US" sz="22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indent="-114300">
              <a:lnSpc>
                <a:spcPct val="90000"/>
              </a:lnSpc>
              <a:spcBef>
                <a:spcPts val="315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Each</a:t>
            </a:r>
            <a:r>
              <a:rPr lang="en-US" sz="22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2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transmits</a:t>
            </a:r>
            <a:r>
              <a:rPr lang="en-US" sz="22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</a:t>
            </a:r>
            <a:r>
              <a:rPr lang="en-US" sz="22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2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sz="22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</a:t>
            </a:r>
            <a:r>
              <a:rPr lang="en-US" sz="22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assigned</a:t>
            </a:r>
            <a:r>
              <a:rPr lang="en-US" sz="22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time</a:t>
            </a:r>
            <a:r>
              <a:rPr lang="en-US" sz="2200" b="0" i="0" spc="-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2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slot.</a:t>
            </a:r>
            <a:endParaRPr lang="en-US" sz="22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5137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B3B2B03-B34C-3DAC-3098-289BACD7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1D1C858-D305-F67D-FC8E-D15D6436D40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392463"/>
            <a:ext cx="7772400" cy="407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28735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6">
            <a:extLst>
              <a:ext uri="{FF2B5EF4-FFF2-40B4-BE49-F238E27FC236}">
                <a16:creationId xmlns:a16="http://schemas.microsoft.com/office/drawing/2014/main" xmlns="" id="{257FE575-5C33-6917-9D28-707634272593}"/>
              </a:ext>
            </a:extLst>
          </p:cNvPr>
          <p:cNvSpPr txBox="1"/>
          <p:nvPr/>
        </p:nvSpPr>
        <p:spPr>
          <a:xfrm>
            <a:off x="993139" y="1404619"/>
            <a:ext cx="7614920" cy="342709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marR="5715" indent="-114935">
              <a:lnSpc>
                <a:spcPct val="90000"/>
              </a:lnSpc>
              <a:spcBef>
                <a:spcPts val="31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400" b="0" i="0" spc="3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main</a:t>
            </a:r>
            <a:r>
              <a:rPr lang="en-US" sz="2400" b="0" i="0" spc="3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problem</a:t>
            </a:r>
            <a:r>
              <a:rPr lang="en-US" sz="2400" b="0" i="0" spc="3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with</a:t>
            </a:r>
            <a:r>
              <a:rPr lang="en-US" sz="2400" b="0" i="0" spc="3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TDMA</a:t>
            </a:r>
            <a:r>
              <a:rPr lang="en-US" sz="2400" b="0" i="0" spc="3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lies</a:t>
            </a:r>
            <a:r>
              <a:rPr lang="en-US" sz="2400" b="0" i="0" spc="3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sz="2400" b="0" i="0" spc="3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achieving</a:t>
            </a:r>
            <a:r>
              <a:rPr lang="en-US" sz="2400" b="0" i="0" spc="3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synchronization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between</a:t>
            </a:r>
            <a:r>
              <a:rPr lang="en-US" sz="24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400" b="0" i="0" spc="-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different</a:t>
            </a:r>
            <a:r>
              <a:rPr lang="en-US" sz="2400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stations.</a:t>
            </a:r>
            <a:endParaRPr lang="en-US" sz="24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6350" indent="-114935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Each</a:t>
            </a:r>
            <a:r>
              <a:rPr lang="en-US" sz="2400" b="0" i="0" spc="4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400" b="0" i="0" spc="4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needs</a:t>
            </a:r>
            <a:r>
              <a:rPr lang="en-US" sz="2400" b="0" i="0" spc="4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400" b="0" i="0" spc="4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know</a:t>
            </a:r>
            <a:r>
              <a:rPr lang="en-US" sz="2400" b="0" i="0" spc="4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400" b="0" i="0" spc="4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beginning</a:t>
            </a:r>
            <a:r>
              <a:rPr lang="en-US" sz="2400" b="0" i="0" spc="4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400" b="0" i="0" spc="4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</a:t>
            </a:r>
            <a:r>
              <a:rPr lang="en-US" sz="2400" b="0" i="0" spc="4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slot</a:t>
            </a:r>
            <a:r>
              <a:rPr lang="en-US" sz="2400" b="0" i="0" spc="4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and</a:t>
            </a:r>
            <a:r>
              <a:rPr lang="en-US" sz="2400" b="0" i="0" spc="43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location</a:t>
            </a:r>
            <a:r>
              <a:rPr lang="en-US" sz="2400" b="0" i="0" spc="2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400" b="0" i="0" spc="2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</a:t>
            </a:r>
            <a:r>
              <a:rPr lang="en-US" sz="2400" b="0" i="0" spc="25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slot.</a:t>
            </a:r>
            <a:r>
              <a:rPr lang="en-US" sz="2400" b="0" i="0" spc="2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This</a:t>
            </a:r>
            <a:r>
              <a:rPr lang="en-US" sz="2400" b="0" i="0" spc="2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may</a:t>
            </a:r>
            <a:r>
              <a:rPr lang="en-US" sz="2400" b="0" i="0" spc="25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</a:t>
            </a:r>
            <a:r>
              <a:rPr lang="en-US" sz="2400" b="0" i="0" spc="2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difficult</a:t>
            </a:r>
            <a:r>
              <a:rPr lang="en-US" sz="2400" b="0" i="0" spc="25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because</a:t>
            </a:r>
            <a:r>
              <a:rPr lang="en-US" sz="2400" b="0" i="0" spc="2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400" b="0" i="0" spc="25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propagation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delays</a:t>
            </a:r>
            <a:r>
              <a:rPr lang="en-US" sz="24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introduced</a:t>
            </a:r>
            <a:r>
              <a:rPr lang="en-US" sz="2400" b="0" i="0" spc="1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sz="2400" b="0" i="0" spc="1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400" b="0" i="0" spc="1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system</a:t>
            </a:r>
            <a:r>
              <a:rPr lang="en-US" sz="2400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if</a:t>
            </a:r>
            <a:r>
              <a:rPr lang="en-US" sz="24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4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stations</a:t>
            </a:r>
            <a:r>
              <a:rPr lang="en-US" sz="2400" b="0" i="0" spc="1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are</a:t>
            </a:r>
            <a:r>
              <a:rPr lang="en-US" sz="24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spread</a:t>
            </a:r>
            <a:r>
              <a:rPr lang="en-US" sz="2400" b="0" i="0" spc="1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over</a:t>
            </a:r>
            <a:r>
              <a:rPr lang="en-US" sz="2400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 spc="-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large</a:t>
            </a:r>
            <a:r>
              <a:rPr lang="en-US" sz="2400" b="0" i="0" spc="-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area.</a:t>
            </a:r>
            <a:endParaRPr lang="en-US" sz="24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5080" indent="-114935">
              <a:lnSpc>
                <a:spcPct val="90000"/>
              </a:lnSpc>
              <a:spcBef>
                <a:spcPts val="495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400" b="0" i="0" spc="1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compensate</a:t>
            </a:r>
            <a:r>
              <a:rPr lang="en-US" sz="2400" b="0" i="0" spc="1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for</a:t>
            </a:r>
            <a:r>
              <a:rPr lang="en-US" sz="24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400" b="0" i="0" spc="1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delays,</a:t>
            </a:r>
            <a:r>
              <a:rPr lang="en-US" sz="2400" b="0" i="0" spc="1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we</a:t>
            </a:r>
            <a:r>
              <a:rPr lang="en-US" sz="2400" b="0" i="0" spc="1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can</a:t>
            </a:r>
            <a:r>
              <a:rPr lang="en-US" sz="2400" b="0" i="0" spc="1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insert</a:t>
            </a:r>
            <a:r>
              <a:rPr lang="en-US" sz="2400" b="0" i="0" spc="1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guard</a:t>
            </a:r>
            <a:r>
              <a:rPr lang="en-US" sz="2400" b="0" i="0" spc="1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times.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Synchronization</a:t>
            </a:r>
            <a:r>
              <a:rPr lang="en-US" sz="2400" b="0" i="0" spc="3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400" b="0" i="0" spc="3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normally</a:t>
            </a:r>
            <a:r>
              <a:rPr lang="en-US" sz="2400" b="0" i="0" spc="3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accomplished</a:t>
            </a:r>
            <a:r>
              <a:rPr lang="en-US" sz="2400" b="0" i="0" spc="3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by</a:t>
            </a:r>
            <a:r>
              <a:rPr lang="en-US" sz="2400" b="0" i="0" spc="3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having</a:t>
            </a:r>
            <a:r>
              <a:rPr lang="en-US" sz="2400" b="0" i="0" spc="3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sz="24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some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synchronization</a:t>
            </a:r>
            <a:r>
              <a:rPr lang="en-US" sz="2400" b="0" i="0" spc="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bits</a:t>
            </a:r>
            <a:r>
              <a:rPr lang="en-US" sz="2400" b="0" i="0" spc="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(normally</a:t>
            </a:r>
            <a:r>
              <a:rPr lang="en-US" sz="2400" b="0" i="0" spc="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referred</a:t>
            </a:r>
            <a:r>
              <a:rPr lang="en-US" sz="2400" b="0" i="0" spc="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400" b="0" i="0" spc="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as</a:t>
            </a:r>
            <a:r>
              <a:rPr lang="en-US" sz="2400" b="0" i="0" spc="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preamble</a:t>
            </a:r>
            <a:r>
              <a:rPr lang="en-US" sz="2400" b="0" i="0" spc="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bits)</a:t>
            </a:r>
            <a:r>
              <a:rPr lang="en-US" sz="2400" b="0" i="0" spc="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at</a:t>
            </a:r>
            <a:r>
              <a:rPr lang="en-US" sz="2400" b="0" i="0" spc="9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beginning of</a:t>
            </a:r>
            <a:r>
              <a:rPr lang="en-US" sz="24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each</a:t>
            </a:r>
            <a:r>
              <a:rPr lang="en-US" sz="24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4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slot.</a:t>
            </a:r>
            <a:endParaRPr lang="en-US" sz="24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2641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xmlns="" id="{6747C90F-8DA9-3017-25C7-4EDEBFA8D2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TDMA: Time Division Multiple Access</a:t>
            </a:r>
          </a:p>
          <a:p>
            <a:pPr lvl="1" eaLnBrk="1" hangingPunct="1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bandwidth capacity is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single channel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with its capacity shared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 time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stations</a:t>
            </a:r>
          </a:p>
          <a:p>
            <a:pPr lvl="1" eaLnBrk="1" hangingPunct="1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node must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always wait for its turn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until its slot time arrives even when it is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 node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with frames to send</a:t>
            </a:r>
          </a:p>
          <a:p>
            <a:pPr lvl="1" eaLnBrk="1" hangingPunct="1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node is limited to an average rate equal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R/M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(where M is number of nodes) even when it is the only node with frame to be sent</a:t>
            </a:r>
          </a:p>
          <a:p>
            <a:pPr eaLnBrk="1" hangingPunct="1"/>
            <a:endParaRPr lang="en-US" altLang="en-US"/>
          </a:p>
        </p:txBody>
      </p:sp>
      <p:sp>
        <p:nvSpPr>
          <p:cNvPr id="532483" name="Text Box 3">
            <a:extLst>
              <a:ext uri="{FF2B5EF4-FFF2-40B4-BE49-F238E27FC236}">
                <a16:creationId xmlns:a16="http://schemas.microsoft.com/office/drawing/2014/main" xmlns="" id="{13ABA136-0E77-BD6C-8711-B8051667A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6611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12-3   CHANNELIZATION - TDMA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2">
            <a:extLst>
              <a:ext uri="{FF2B5EF4-FFF2-40B4-BE49-F238E27FC236}">
                <a16:creationId xmlns:a16="http://schemas.microsoft.com/office/drawing/2014/main" xmlns="" id="{4894A33C-7843-10C2-38FE-64CDE6282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7" name="Line 3">
            <a:extLst>
              <a:ext uri="{FF2B5EF4-FFF2-40B4-BE49-F238E27FC236}">
                <a16:creationId xmlns:a16="http://schemas.microsoft.com/office/drawing/2014/main" xmlns="" id="{06F483F2-6CD9-77D6-1B29-EB085D9C3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xmlns="" id="{DE85159F-04A3-1B9C-8510-743CEF9AF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008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400" b="1">
                <a:solidFill>
                  <a:schemeClr val="folHlink"/>
                </a:solidFill>
                <a:latin typeface="Times New Roman" panose="02020603050405020304" pitchFamily="18" charset="0"/>
              </a:rPr>
              <a:t>Figure 12.22  </a:t>
            </a:r>
            <a:r>
              <a:rPr lang="en-US" altLang="en-US" b="1" i="1">
                <a:latin typeface="Times New Roman" panose="02020603050405020304" pitchFamily="18" charset="0"/>
              </a:rPr>
              <a:t>Time-division multiple access (TDMA)</a:t>
            </a:r>
          </a:p>
        </p:txBody>
      </p:sp>
      <p:sp>
        <p:nvSpPr>
          <p:cNvPr id="41989" name="Line 5">
            <a:extLst>
              <a:ext uri="{FF2B5EF4-FFF2-40B4-BE49-F238E27FC236}">
                <a16:creationId xmlns:a16="http://schemas.microsoft.com/office/drawing/2014/main" xmlns="" id="{5C3A19EC-AF44-788A-C3B1-44AE10221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1990" name="Picture 6">
            <a:extLst>
              <a:ext uri="{FF2B5EF4-FFF2-40B4-BE49-F238E27FC236}">
                <a16:creationId xmlns:a16="http://schemas.microsoft.com/office/drawing/2014/main" xmlns="" id="{F87254BE-454A-0BA6-2618-E9879F516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43013"/>
            <a:ext cx="7212013" cy="477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>
            <a:extLst>
              <a:ext uri="{FF2B5EF4-FFF2-40B4-BE49-F238E27FC236}">
                <a16:creationId xmlns:a16="http://schemas.microsoft.com/office/drawing/2014/main" xmlns="" id="{D7BDAFA0-4084-7BEA-3909-C99465C48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838200"/>
            <a:ext cx="7772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en-US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b="1">
                <a:latin typeface="Times New Roman" panose="02020603050405020304" pitchFamily="18" charset="0"/>
              </a:rPr>
              <a:t>CDMA: Code Division Multiple Access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>
                <a:latin typeface="Times New Roman" panose="02020603050405020304" pitchFamily="18" charset="0"/>
              </a:rPr>
              <a:t>In CDMA, </a:t>
            </a:r>
            <a:r>
              <a:rPr lang="en-US" altLang="en-US" sz="1800" b="1" u="sng">
                <a:latin typeface="Times New Roman" panose="02020603050405020304" pitchFamily="18" charset="0"/>
              </a:rPr>
              <a:t>one channel</a:t>
            </a:r>
            <a:r>
              <a:rPr lang="en-US" altLang="en-US" sz="1800" b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carries all transmissions </a:t>
            </a:r>
            <a:r>
              <a:rPr lang="en-US" altLang="en-US" sz="1800" b="1">
                <a:latin typeface="Times New Roman" panose="02020603050405020304" pitchFamily="18" charset="0"/>
              </a:rPr>
              <a:t>simultaneously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>
                <a:latin typeface="Times New Roman" panose="02020603050405020304" pitchFamily="18" charset="0"/>
              </a:rPr>
              <a:t>Each station codes its data signal by a specific codes before transmission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>
                <a:latin typeface="Times New Roman" panose="02020603050405020304" pitchFamily="18" charset="0"/>
              </a:rPr>
              <a:t>The stations receivers  use these codes to recover the data for the desired station</a:t>
            </a:r>
            <a:endParaRPr lang="en-US" altLang="en-US" sz="18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en-US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en-US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488454" name="Text Box 6">
            <a:extLst>
              <a:ext uri="{FF2B5EF4-FFF2-40B4-BE49-F238E27FC236}">
                <a16:creationId xmlns:a16="http://schemas.microsoft.com/office/drawing/2014/main" xmlns="" id="{780E2CA0-1BBB-476F-7C10-E6477103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66341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12-3   CHANNELIZATION - CDMA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xmlns="" id="{2DCC0A10-1FBF-F3A5-9714-748F8A8CE664}"/>
              </a:ext>
            </a:extLst>
          </p:cNvPr>
          <p:cNvSpPr txBox="1"/>
          <p:nvPr/>
        </p:nvSpPr>
        <p:spPr>
          <a:xfrm>
            <a:off x="993139" y="1404619"/>
            <a:ext cx="7614920" cy="342709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marR="5080" indent="-114935">
              <a:lnSpc>
                <a:spcPct val="90000"/>
              </a:lnSpc>
              <a:spcBef>
                <a:spcPts val="31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Let</a:t>
            </a:r>
            <a:r>
              <a:rPr lang="en-US" sz="2000" b="0" i="0" spc="1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us</a:t>
            </a:r>
            <a:r>
              <a:rPr lang="en-US" sz="2000" b="0" i="0" spc="11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assume</a:t>
            </a:r>
            <a:r>
              <a:rPr lang="en-US" sz="2000" b="0" i="0" spc="1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we</a:t>
            </a:r>
            <a:r>
              <a:rPr lang="en-US" sz="2000" b="0" i="0" spc="1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have</a:t>
            </a:r>
            <a:r>
              <a:rPr lang="en-US" sz="2000" b="0" i="0" spc="1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four</a:t>
            </a:r>
            <a:r>
              <a:rPr lang="en-US" sz="2000" b="0" i="0" spc="1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stations,</a:t>
            </a:r>
            <a:r>
              <a:rPr lang="en-US" sz="2000" b="0" i="0" spc="11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1,</a:t>
            </a:r>
            <a:r>
              <a:rPr lang="en-US" sz="2000" b="0" i="0" spc="1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2,</a:t>
            </a:r>
            <a:r>
              <a:rPr lang="en-US" sz="2000" b="0" i="0" spc="11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3,</a:t>
            </a:r>
            <a:r>
              <a:rPr lang="en-US" sz="2000" b="0" i="0" spc="1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and</a:t>
            </a:r>
            <a:r>
              <a:rPr lang="en-US" sz="2000" b="0" i="0" spc="1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4,</a:t>
            </a:r>
            <a:r>
              <a:rPr lang="en-US" sz="2000" b="0" i="0" spc="1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connected</a:t>
            </a:r>
            <a:r>
              <a:rPr lang="en-US" sz="2000" b="0" i="0" spc="1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3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same</a:t>
            </a:r>
            <a:r>
              <a:rPr lang="en-US" sz="2000" b="0" i="0" spc="3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channel.</a:t>
            </a:r>
            <a:r>
              <a:rPr lang="en-US" sz="2000" b="0" i="0" spc="3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3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000" b="0" i="0" spc="3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from</a:t>
            </a:r>
            <a:r>
              <a:rPr lang="en-US" sz="2000" b="0" i="0" spc="3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3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1</a:t>
            </a:r>
            <a:r>
              <a:rPr lang="en-US" sz="2000" b="0" i="0" spc="3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are</a:t>
            </a:r>
            <a:r>
              <a:rPr lang="en-US" sz="2000" b="0" i="0" spc="3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d1,</a:t>
            </a:r>
            <a:r>
              <a:rPr lang="en-US" sz="2000" b="0" i="0" spc="3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those</a:t>
            </a:r>
            <a:r>
              <a:rPr lang="en-US" sz="2000" b="0" i="0" spc="3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from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are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d2,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and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so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on.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5715" indent="-114935">
              <a:lnSpc>
                <a:spcPct val="90000"/>
              </a:lnSpc>
              <a:spcBef>
                <a:spcPts val="484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assigned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first</a:t>
            </a:r>
            <a:r>
              <a:rPr lang="en-US" sz="2000" b="0" i="0" spc="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000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c1,</a:t>
            </a:r>
            <a:r>
              <a:rPr lang="en-US" sz="2000" b="0" i="0" spc="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second</a:t>
            </a:r>
            <a:r>
              <a:rPr lang="en-US" sz="2000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000" b="0" i="0" spc="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c2,</a:t>
            </a:r>
            <a:r>
              <a:rPr lang="en-US" sz="2000" b="0" i="0" spc="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and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so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indent="-114300">
              <a:lnSpc>
                <a:spcPct val="90000"/>
              </a:lnSpc>
              <a:spcBef>
                <a:spcPts val="285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-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assigned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codes</a:t>
            </a:r>
            <a:r>
              <a:rPr lang="en-US" sz="20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have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two</a:t>
            </a:r>
            <a:r>
              <a:rPr lang="en-US" sz="2000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properties.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indent="-200025">
              <a:lnSpc>
                <a:spcPct val="90000"/>
              </a:lnSpc>
              <a:spcBef>
                <a:spcPts val="310"/>
              </a:spcBef>
              <a:buClr>
                <a:srgbClr val="702FA0"/>
              </a:buClr>
              <a:buAutoNum type="arabicPeriod"/>
              <a:tabLst>
                <a:tab pos="200025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If</a:t>
            </a:r>
            <a:r>
              <a:rPr lang="en-US" sz="2000" b="0" i="0" spc="-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we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multiply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each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by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another,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we</a:t>
            </a:r>
            <a:r>
              <a:rPr lang="en-US" sz="20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get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0.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5080" indent="252095">
              <a:lnSpc>
                <a:spcPct val="90000"/>
              </a:lnSpc>
              <a:spcBef>
                <a:spcPts val="520"/>
              </a:spcBef>
              <a:buClr>
                <a:srgbClr val="702FA0"/>
              </a:buClr>
              <a:buAutoNum type="arabicPeriod"/>
              <a:tabLst>
                <a:tab pos="252095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If</a:t>
            </a:r>
            <a:r>
              <a:rPr lang="en-US" sz="2000" b="0" i="0" spc="3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we</a:t>
            </a:r>
            <a:r>
              <a:rPr lang="en-US" sz="2000" b="0" i="0" spc="3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multiply</a:t>
            </a:r>
            <a:r>
              <a:rPr lang="en-US" sz="2000" b="0" i="0" spc="39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each</a:t>
            </a:r>
            <a:r>
              <a:rPr lang="en-US" sz="2000" b="0" i="0" spc="3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</a:t>
            </a:r>
            <a:r>
              <a:rPr lang="en-US" sz="2000" b="0" i="0" spc="4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by</a:t>
            </a:r>
            <a:r>
              <a:rPr lang="en-US" sz="2000" b="0" i="0" spc="3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itself,</a:t>
            </a:r>
            <a:r>
              <a:rPr lang="en-US" sz="2000" b="0" i="0" spc="39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we</a:t>
            </a:r>
            <a:r>
              <a:rPr lang="en-US" sz="2000" b="0" i="0" spc="3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get</a:t>
            </a:r>
            <a:r>
              <a:rPr lang="en-US" sz="2000" b="0" i="0" spc="4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4</a:t>
            </a:r>
            <a:r>
              <a:rPr lang="en-US" sz="2000" b="0" i="0" spc="4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(the</a:t>
            </a:r>
            <a:r>
              <a:rPr lang="en-US" sz="2000" b="0" i="0" spc="3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number</a:t>
            </a:r>
            <a:r>
              <a:rPr lang="en-US" sz="2000" b="0" i="0" spc="4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stations).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5080" lvl="1" indent="-114935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10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1</a:t>
            </a:r>
            <a:r>
              <a:rPr lang="en-US" sz="2000" b="0" i="0" spc="9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multiplies</a:t>
            </a:r>
            <a:r>
              <a:rPr lang="en-US" sz="2000" b="0" i="0" spc="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(a</a:t>
            </a:r>
            <a:r>
              <a:rPr lang="en-US" sz="2000" b="0" i="0" spc="1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special</a:t>
            </a:r>
            <a:r>
              <a:rPr lang="en-US" sz="2000" b="0" i="0" spc="10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kind</a:t>
            </a:r>
            <a:r>
              <a:rPr lang="en-US" sz="2000" b="0" i="0" spc="10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000" b="0" i="0" spc="10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multiplication)</a:t>
            </a:r>
            <a:r>
              <a:rPr lang="en-US" sz="2000" b="0" i="0" spc="1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</a:t>
            </a:r>
            <a:r>
              <a:rPr lang="en-US" sz="2000" b="0" i="0" spc="1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000" b="0" i="0" spc="1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by</a:t>
            </a:r>
            <a:r>
              <a:rPr lang="en-US" sz="2000" b="0" i="0" spc="1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get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d1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c1.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lvl="1" indent="-114300">
              <a:lnSpc>
                <a:spcPct val="90000"/>
              </a:lnSpc>
              <a:spcBef>
                <a:spcPts val="285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multiplies</a:t>
            </a:r>
            <a:r>
              <a:rPr lang="en-US" sz="20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 by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its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get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d2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c2, and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so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9710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xmlns="" id="{AC00751A-11B4-7DD6-3F2C-41C65126B323}"/>
              </a:ext>
            </a:extLst>
          </p:cNvPr>
          <p:cNvSpPr txBox="1"/>
          <p:nvPr/>
        </p:nvSpPr>
        <p:spPr>
          <a:xfrm>
            <a:off x="993139" y="1404619"/>
            <a:ext cx="7614920" cy="342709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indent="-256540">
              <a:lnSpc>
                <a:spcPct val="90000"/>
              </a:lnSpc>
              <a:spcBef>
                <a:spcPts val="220"/>
              </a:spcBef>
              <a:buAutoNum type="arabicPeriod" startAt="3"/>
              <a:tabLst>
                <a:tab pos="256540" algn="l"/>
              </a:tabLst>
            </a:pP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Code-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Division</a:t>
            </a:r>
            <a:r>
              <a:rPr lang="en-US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Multiple</a:t>
            </a:r>
            <a:r>
              <a:rPr lang="en-US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Access</a:t>
            </a:r>
            <a:r>
              <a:rPr lang="en-US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(CDMA)</a:t>
            </a:r>
            <a:endParaRPr lang="en-US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5080" lvl="1" indent="-114935">
              <a:lnSpc>
                <a:spcPct val="90000"/>
              </a:lnSpc>
              <a:spcBef>
                <a:spcPts val="505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CDMA</a:t>
            </a:r>
            <a:r>
              <a:rPr lang="en-US" b="0" i="0" spc="1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differs</a:t>
            </a:r>
            <a:r>
              <a:rPr lang="en-US" b="0" i="0" spc="1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from</a:t>
            </a:r>
            <a:r>
              <a:rPr lang="en-US" b="0" i="0" spc="1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FDMA</a:t>
            </a:r>
            <a:r>
              <a:rPr lang="en-US" b="0" i="0" spc="1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because</a:t>
            </a:r>
            <a:r>
              <a:rPr lang="en-US" b="0" i="0" spc="1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only</a:t>
            </a:r>
            <a:r>
              <a:rPr lang="en-US" b="0" i="0" spc="1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one</a:t>
            </a:r>
            <a:r>
              <a:rPr lang="en-US" b="0" i="0" spc="1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</a:t>
            </a:r>
            <a:r>
              <a:rPr lang="en-US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occupies</a:t>
            </a:r>
            <a:r>
              <a:rPr lang="en-US" b="0" i="0" spc="1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entire</a:t>
            </a:r>
            <a:r>
              <a:rPr lang="en-US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bandwidth</a:t>
            </a:r>
            <a:r>
              <a:rPr lang="en-US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link.</a:t>
            </a:r>
            <a:endParaRPr lang="en-US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6985" lvl="1" indent="-114935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</a:t>
            </a:r>
            <a:r>
              <a:rPr lang="en-US" b="0" i="0" spc="2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differs</a:t>
            </a:r>
            <a:r>
              <a:rPr lang="en-US" b="0" i="0" spc="2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from</a:t>
            </a:r>
            <a:r>
              <a:rPr lang="en-US" b="0" i="0" spc="2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TDMA</a:t>
            </a:r>
            <a:r>
              <a:rPr lang="en-US" b="0" i="0" spc="2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because</a:t>
            </a:r>
            <a:r>
              <a:rPr lang="en-US" b="0" i="0" spc="25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all</a:t>
            </a:r>
            <a:r>
              <a:rPr lang="en-US" b="0" i="0" spc="25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stations</a:t>
            </a:r>
            <a:r>
              <a:rPr lang="en-US" b="0" i="0" spc="25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can</a:t>
            </a:r>
            <a:r>
              <a:rPr lang="en-US" b="0" i="0" spc="2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send</a:t>
            </a:r>
            <a:r>
              <a:rPr lang="en-US" b="0" i="0" spc="2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simultaneously;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there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no</a:t>
            </a:r>
            <a:r>
              <a:rPr lang="en-US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time-sharing</a:t>
            </a:r>
            <a:endParaRPr lang="en-US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lvl="1" indent="-114300">
              <a:lnSpc>
                <a:spcPct val="90000"/>
              </a:lnSpc>
              <a:spcBef>
                <a:spcPts val="12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CDMA</a:t>
            </a:r>
            <a:r>
              <a:rPr lang="en-US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simply</a:t>
            </a:r>
            <a:r>
              <a:rPr lang="en-US" b="0" i="0" spc="-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means</a:t>
            </a:r>
            <a:r>
              <a:rPr lang="en-US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communication</a:t>
            </a:r>
            <a:r>
              <a:rPr lang="en-US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with</a:t>
            </a:r>
            <a:r>
              <a:rPr lang="en-US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different</a:t>
            </a:r>
            <a:r>
              <a:rPr lang="en-US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codes.</a:t>
            </a:r>
            <a:endParaRPr lang="en-US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6985" lvl="1" indent="-114935">
              <a:lnSpc>
                <a:spcPct val="90000"/>
              </a:lnSpc>
              <a:spcBef>
                <a:spcPts val="505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For</a:t>
            </a:r>
            <a:r>
              <a:rPr lang="en-US" b="0" i="0" spc="19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example,</a:t>
            </a:r>
            <a:r>
              <a:rPr lang="en-US" b="0" i="0" spc="1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b="0" i="0" spc="19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</a:t>
            </a:r>
            <a:r>
              <a:rPr lang="en-US" b="0" i="0" spc="204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large</a:t>
            </a:r>
            <a:r>
              <a:rPr lang="en-US" b="0" i="0" spc="1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room</a:t>
            </a:r>
            <a:r>
              <a:rPr lang="en-US" b="0" i="0" spc="1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with</a:t>
            </a:r>
            <a:r>
              <a:rPr lang="en-US" b="0" i="0" spc="19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many</a:t>
            </a:r>
            <a:r>
              <a:rPr lang="en-US" b="0" i="0" spc="2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people,</a:t>
            </a:r>
            <a:r>
              <a:rPr lang="en-US" b="0" i="0" spc="19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two</a:t>
            </a:r>
            <a:r>
              <a:rPr lang="en-US" b="0" i="0" spc="2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people</a:t>
            </a:r>
            <a:r>
              <a:rPr lang="en-US" b="0" i="0" spc="20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can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talk</a:t>
            </a:r>
            <a:r>
              <a:rPr lang="en-US" b="0" i="0" spc="30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b="0" i="0" spc="3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English</a:t>
            </a:r>
            <a:r>
              <a:rPr lang="en-US" b="0" i="0" spc="3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if</a:t>
            </a:r>
            <a:r>
              <a:rPr lang="en-US" b="0" i="0" spc="3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nobody</a:t>
            </a:r>
            <a:r>
              <a:rPr lang="en-US" b="0" i="0" spc="3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else</a:t>
            </a:r>
            <a:r>
              <a:rPr lang="en-US" b="0" i="0" spc="3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understands</a:t>
            </a:r>
            <a:r>
              <a:rPr lang="en-US" b="0" i="0" spc="3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English.</a:t>
            </a:r>
            <a:r>
              <a:rPr lang="en-US" b="0" i="0" spc="3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Another</a:t>
            </a:r>
            <a:r>
              <a:rPr lang="en-US" b="0" i="0" spc="3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two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people</a:t>
            </a:r>
            <a:r>
              <a:rPr lang="en-US" b="0" i="0" spc="1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can</a:t>
            </a:r>
            <a:r>
              <a:rPr lang="en-US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talk</a:t>
            </a:r>
            <a:r>
              <a:rPr lang="en-US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Chinese</a:t>
            </a:r>
            <a:r>
              <a:rPr lang="en-US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if</a:t>
            </a:r>
            <a:r>
              <a:rPr lang="en-US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they</a:t>
            </a:r>
            <a:r>
              <a:rPr lang="en-US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are</a:t>
            </a:r>
            <a:r>
              <a:rPr lang="en-US" b="0" i="0" spc="1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b="0" i="0" spc="1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only</a:t>
            </a:r>
            <a:r>
              <a:rPr lang="en-US" b="0" i="0" spc="1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ones</a:t>
            </a:r>
            <a:r>
              <a:rPr lang="en-US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 </a:t>
            </a:r>
            <a:r>
              <a:rPr lang="en-US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who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understand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Chinese,</a:t>
            </a:r>
            <a:r>
              <a:rPr lang="en-US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and</a:t>
            </a:r>
            <a:r>
              <a:rPr lang="en-US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so</a:t>
            </a:r>
            <a:r>
              <a:rPr lang="en-US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on.</a:t>
            </a:r>
            <a:endParaRPr lang="en-US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6350" lvl="1" indent="-114935">
              <a:lnSpc>
                <a:spcPct val="90000"/>
              </a:lnSpc>
              <a:spcBef>
                <a:spcPts val="49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other words,</a:t>
            </a:r>
            <a:r>
              <a:rPr lang="en-US" b="0" i="0" spc="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common</a:t>
            </a:r>
            <a:r>
              <a:rPr lang="en-US" b="0" i="0" spc="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channel,</a:t>
            </a:r>
            <a:r>
              <a:rPr lang="en-US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space</a:t>
            </a:r>
            <a:r>
              <a:rPr lang="en-US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room</a:t>
            </a:r>
            <a:r>
              <a:rPr lang="en-US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this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case,</a:t>
            </a:r>
            <a:r>
              <a:rPr lang="en-US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can</a:t>
            </a:r>
            <a:r>
              <a:rPr lang="en-US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easily</a:t>
            </a:r>
            <a:r>
              <a:rPr lang="en-US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allow</a:t>
            </a:r>
            <a:r>
              <a:rPr lang="en-US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communication</a:t>
            </a:r>
            <a:r>
              <a:rPr lang="en-US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between</a:t>
            </a:r>
            <a:r>
              <a:rPr lang="en-US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several</a:t>
            </a:r>
            <a:r>
              <a:rPr lang="en-US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couples,</a:t>
            </a:r>
            <a:r>
              <a:rPr lang="en-US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but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in</a:t>
            </a:r>
            <a:r>
              <a:rPr lang="en-US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different</a:t>
            </a:r>
            <a:r>
              <a:rPr lang="en-US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languages</a:t>
            </a:r>
            <a:r>
              <a:rPr lang="en-US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(codes).</a:t>
            </a:r>
            <a:endParaRPr lang="en-US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8348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716D88CC-0398-F133-D299-F581468818E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372768"/>
            <a:ext cx="7772400" cy="411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6738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1">
            <a:extLst>
              <a:ext uri="{FF2B5EF4-FFF2-40B4-BE49-F238E27FC236}">
                <a16:creationId xmlns:a16="http://schemas.microsoft.com/office/drawing/2014/main" xmlns="" id="{6617999B-6DD7-F7D2-9EBD-34827D64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imes New Roman" panose="02020603050405020304" pitchFamily="18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imes New Roman" panose="02020603050405020304" pitchFamily="18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imes New Roman" panose="02020603050405020304" pitchFamily="18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imes New Roman" panose="02020603050405020304" pitchFamily="18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imes New Roman" panose="02020603050405020304" pitchFamily="18" charset="0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imes New Roman" panose="02020603050405020304" pitchFamily="18" charset="0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imes New Roman" panose="02020603050405020304" pitchFamily="18" charset="0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imes New Roman" panose="02020603050405020304" pitchFamily="18" charset="0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Times New Roman" panose="02020603050405020304" pitchFamily="18" charset="0"/>
              </a:defRPr>
            </a:lvl9pPr>
          </a:lstStyle>
          <a:p>
            <a:pPr algn="l"/>
            <a:fld id="{90AB3A5A-5D08-B541-8AFE-0CF8692C47D8}" type="slidenum">
              <a:rPr lang="en-US" altLang="en-US" smtClean="0"/>
              <a:pPr algn="l"/>
              <a:t>53</a:t>
            </a:fld>
            <a:endParaRPr lang="en-US" altLang="en-US" sz="1400"/>
          </a:p>
        </p:txBody>
      </p:sp>
      <p:sp>
        <p:nvSpPr>
          <p:cNvPr id="45059" name="Line 2">
            <a:extLst>
              <a:ext uri="{FF2B5EF4-FFF2-40B4-BE49-F238E27FC236}">
                <a16:creationId xmlns:a16="http://schemas.microsoft.com/office/drawing/2014/main" xmlns="" id="{67B6F64B-9490-D63C-0A9E-2C2402116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0" name="Line 3">
            <a:extLst>
              <a:ext uri="{FF2B5EF4-FFF2-40B4-BE49-F238E27FC236}">
                <a16:creationId xmlns:a16="http://schemas.microsoft.com/office/drawing/2014/main" xmlns="" id="{0D091D94-E68B-4E74-E9B2-08D3788214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1" name="Text Box 4">
            <a:extLst>
              <a:ext uri="{FF2B5EF4-FFF2-40B4-BE49-F238E27FC236}">
                <a16:creationId xmlns:a16="http://schemas.microsoft.com/office/drawing/2014/main" xmlns="" id="{DD021E7A-A6C1-1A06-C067-37678E977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207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400">
                <a:solidFill>
                  <a:schemeClr val="folHlink"/>
                </a:solidFill>
              </a:rPr>
              <a:t>Figure 12.23  </a:t>
            </a:r>
            <a:r>
              <a:rPr lang="en-US" altLang="en-US"/>
              <a:t>Simple idea of communication with code</a:t>
            </a:r>
          </a:p>
        </p:txBody>
      </p:sp>
      <p:sp>
        <p:nvSpPr>
          <p:cNvPr id="45062" name="Line 5">
            <a:extLst>
              <a:ext uri="{FF2B5EF4-FFF2-40B4-BE49-F238E27FC236}">
                <a16:creationId xmlns:a16="http://schemas.microsoft.com/office/drawing/2014/main" xmlns="" id="{8D3C7733-8168-C750-CC92-659DCEC96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5063" name="Picture 7">
            <a:extLst>
              <a:ext uri="{FF2B5EF4-FFF2-40B4-BE49-F238E27FC236}">
                <a16:creationId xmlns:a16="http://schemas.microsoft.com/office/drawing/2014/main" xmlns="" id="{3857003E-5DB1-9102-A931-8522FDF94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38213" y="1338263"/>
            <a:ext cx="7258050" cy="430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6">
            <a:extLst>
              <a:ext uri="{FF2B5EF4-FFF2-40B4-BE49-F238E27FC236}">
                <a16:creationId xmlns:a16="http://schemas.microsoft.com/office/drawing/2014/main" xmlns="" id="{BF5A6BAA-BA5E-EEF0-5021-56BE54C552CB}"/>
              </a:ext>
            </a:extLst>
          </p:cNvPr>
          <p:cNvSpPr txBox="1"/>
          <p:nvPr/>
        </p:nvSpPr>
        <p:spPr>
          <a:xfrm>
            <a:off x="993139" y="1404619"/>
            <a:ext cx="7614920" cy="342709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indent="-114300">
              <a:lnSpc>
                <a:spcPct val="90000"/>
              </a:lnSpc>
              <a:spcBef>
                <a:spcPts val="40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that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go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are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sum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all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these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terms.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6985" indent="-114935">
              <a:lnSpc>
                <a:spcPct val="90000"/>
              </a:lnSpc>
              <a:spcBef>
                <a:spcPts val="515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Any</a:t>
            </a:r>
            <a:r>
              <a:rPr lang="en-US" sz="2000" b="0" i="0" spc="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that</a:t>
            </a:r>
            <a:r>
              <a:rPr lang="en-US" sz="2000" b="0" i="0" spc="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wants</a:t>
            </a:r>
            <a:r>
              <a:rPr lang="en-US" sz="2000" b="0" i="0" spc="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receive</a:t>
            </a:r>
            <a:r>
              <a:rPr lang="en-US" sz="2000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000" b="0" i="0" spc="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from</a:t>
            </a:r>
            <a:r>
              <a:rPr lang="en-US" sz="2000" b="0" i="0" spc="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one</a:t>
            </a:r>
            <a:r>
              <a:rPr lang="en-US" sz="2000" b="0" i="0" spc="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other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three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stations</a:t>
            </a:r>
            <a:r>
              <a:rPr lang="en-US" sz="2000" b="0" i="0" spc="3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multiplies</a:t>
            </a:r>
            <a:r>
              <a:rPr lang="en-US" sz="2000" b="0" i="0" spc="3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3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000" b="0" i="0" spc="3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</a:t>
            </a:r>
            <a:r>
              <a:rPr lang="en-US" sz="2000" b="0" i="0" spc="3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3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</a:t>
            </a:r>
            <a:r>
              <a:rPr lang="en-US" sz="2000" b="0" i="0" spc="3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by</a:t>
            </a:r>
            <a:r>
              <a:rPr lang="en-US" sz="2000" b="0" i="0" spc="3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3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</a:t>
            </a:r>
            <a:r>
              <a:rPr lang="en-US" sz="2000" b="0" i="0" spc="3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000" b="0" i="0" spc="3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sender.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5080" indent="-114935">
              <a:lnSpc>
                <a:spcPct val="90000"/>
              </a:lnSpc>
              <a:spcBef>
                <a:spcPts val="495"/>
              </a:spcBef>
              <a:buFont typeface="Arial MT"/>
              <a:buChar char="•"/>
              <a:tabLst>
                <a:tab pos="114300" algn="l"/>
                <a:tab pos="16002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	For</a:t>
            </a:r>
            <a:r>
              <a:rPr lang="en-US" sz="2000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example,</a:t>
            </a:r>
            <a:r>
              <a:rPr lang="en-US" sz="2000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suppose</a:t>
            </a:r>
            <a:r>
              <a:rPr lang="en-US" sz="2000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stations</a:t>
            </a:r>
            <a:r>
              <a:rPr lang="en-US" sz="2000" b="0" i="0" spc="19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1</a:t>
            </a:r>
            <a:r>
              <a:rPr lang="en-US" sz="2000" b="0" i="0" spc="1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and</a:t>
            </a:r>
            <a:r>
              <a:rPr lang="en-US" sz="20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en-US" sz="2000" b="0" i="0" spc="1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are</a:t>
            </a:r>
            <a:r>
              <a:rPr lang="en-US" sz="2000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talking</a:t>
            </a:r>
            <a:r>
              <a:rPr lang="en-US" sz="2000" b="0" i="0" spc="1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each</a:t>
            </a:r>
            <a:r>
              <a:rPr lang="en-US" sz="20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other.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1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en-US" sz="2000" b="0" i="0" spc="18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wants</a:t>
            </a:r>
            <a:r>
              <a:rPr lang="en-US" sz="2000" b="0" i="0" spc="1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hear</a:t>
            </a:r>
            <a:r>
              <a:rPr lang="en-US" sz="2000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what</a:t>
            </a:r>
            <a:r>
              <a:rPr lang="en-US" sz="2000" b="0" i="0" spc="16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1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1</a:t>
            </a:r>
            <a:r>
              <a:rPr lang="en-US" sz="2000" b="0" i="0" spc="16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000" b="0" i="0" spc="17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saying.</a:t>
            </a:r>
            <a:r>
              <a:rPr lang="en-US" sz="2000" b="0" i="0" spc="18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It</a:t>
            </a:r>
            <a:r>
              <a:rPr lang="en-US" sz="2000" b="0" i="0" spc="17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multiplies</a:t>
            </a:r>
            <a:r>
              <a:rPr lang="en-US" sz="2000" b="0" i="0" spc="1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on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channel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by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c1,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code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of</a:t>
            </a:r>
            <a:r>
              <a:rPr lang="en-US" sz="20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1.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5080" indent="-114935">
              <a:lnSpc>
                <a:spcPct val="90000"/>
              </a:lnSpc>
              <a:spcBef>
                <a:spcPts val="520"/>
              </a:spcBef>
              <a:buFont typeface="Arial MT"/>
              <a:buChar char="•"/>
              <a:tabLst>
                <a:tab pos="114300" algn="l"/>
              </a:tabLst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Because</a:t>
            </a:r>
            <a:r>
              <a:rPr lang="en-US" sz="2000" b="0" i="0" spc="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(c1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</a:t>
            </a:r>
            <a:r>
              <a:rPr lang="en-US" sz="2000" b="0" i="0" spc="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c1)</a:t>
            </a:r>
            <a:r>
              <a:rPr lang="en-US" sz="2000" b="0" i="0" spc="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is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4,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but</a:t>
            </a:r>
            <a:r>
              <a:rPr lang="en-US" sz="2000" b="0" i="0" spc="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(c2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</a:t>
            </a:r>
            <a:r>
              <a:rPr lang="en-US" sz="2000" b="0" i="0" spc="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c1),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(c3</a:t>
            </a:r>
            <a:r>
              <a:rPr lang="en-US" sz="2000" b="0" i="0" spc="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</a:t>
            </a:r>
            <a:r>
              <a:rPr lang="en-US" sz="2000" b="0" i="0" spc="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c1),</a:t>
            </a:r>
            <a:r>
              <a:rPr lang="en-US" sz="2000" b="0" i="0" spc="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and</a:t>
            </a:r>
            <a:r>
              <a:rPr lang="en-US" sz="2000" b="0" i="0" spc="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(c4</a:t>
            </a:r>
            <a:r>
              <a:rPr lang="en-US" sz="2000" b="0" i="0" spc="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</a:t>
            </a:r>
            <a:r>
              <a:rPr lang="en-US" sz="2000" b="0" i="0" spc="5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c1)</a:t>
            </a:r>
            <a:r>
              <a:rPr lang="en-US" sz="2000" b="0" i="0" spc="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are</a:t>
            </a:r>
            <a:r>
              <a:rPr lang="en-US" sz="2000" b="0" i="0" spc="4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all</a:t>
            </a:r>
            <a:r>
              <a:rPr lang="en-US" sz="2000" b="0" i="0" spc="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0s,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divides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-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result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by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4</a:t>
            </a:r>
            <a:r>
              <a:rPr lang="en-US" sz="2000" b="0" i="0" spc="-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to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get</a:t>
            </a:r>
            <a:r>
              <a:rPr lang="en-US" sz="2000" b="0" i="0" spc="-3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the</a:t>
            </a:r>
            <a:r>
              <a:rPr lang="en-US" sz="2000" b="0" i="0" spc="-4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from</a:t>
            </a:r>
            <a:r>
              <a:rPr lang="en-US" sz="2000" b="0" i="0" spc="-3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station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1.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 marR="103505" indent="-300355">
              <a:lnSpc>
                <a:spcPct val="90000"/>
              </a:lnSpc>
              <a:spcBef>
                <a:spcPts val="509"/>
              </a:spcBef>
            </a:pP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data</a:t>
            </a:r>
            <a:r>
              <a:rPr lang="en-US" sz="2000" b="0" i="0" spc="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=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[(d1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c1 +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d2 ⋅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c2 +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d3 ⋅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c3 +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d4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 c4)</a:t>
            </a:r>
            <a:r>
              <a:rPr lang="en-US" sz="2000" b="0" i="0" spc="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 c1]</a:t>
            </a:r>
            <a:r>
              <a:rPr lang="en-US" sz="2000" b="0" i="0" spc="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/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4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=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[d1</a:t>
            </a:r>
            <a:r>
              <a:rPr lang="en-US" sz="2000" b="0" i="0" spc="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 c1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</a:t>
            </a:r>
            <a:r>
              <a:rPr lang="en-US" sz="2000" b="0" i="0" spc="-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c1</a:t>
            </a:r>
            <a:r>
              <a:rPr lang="en-US" sz="2000" b="0" i="0" spc="1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 spc="-5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+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d2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 c2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 c1 +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d3 ⋅ c3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 c1 +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d4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 c4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⋅ c1]</a:t>
            </a:r>
            <a:r>
              <a:rPr lang="en-US" sz="2000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/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4 =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(4</a:t>
            </a:r>
            <a:r>
              <a:rPr lang="en-US" sz="2000" b="0" i="0" spc="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×</a:t>
            </a:r>
            <a:r>
              <a:rPr lang="en-US" sz="2000" b="0" i="0" spc="-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d1) /</a:t>
            </a:r>
            <a:r>
              <a:rPr lang="en-US" sz="2000" b="0" i="0" spc="-1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4</a:t>
            </a:r>
            <a:r>
              <a:rPr lang="en-US" sz="2000" b="0" i="0" spc="-2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= </a:t>
            </a:r>
            <a:r>
              <a:rPr lang="en-US" sz="2000" b="0" i="0" spc="-25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d1</a:t>
            </a:r>
            <a:endParaRPr lang="en-US" sz="2000" b="0" i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7322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968AE025085A4381B5FE55A4B7B3DB" ma:contentTypeVersion="7" ma:contentTypeDescription="Create a new document." ma:contentTypeScope="" ma:versionID="31de623e5626863d0b5c4090fe406d6f">
  <xsd:schema xmlns:xsd="http://www.w3.org/2001/XMLSchema" xmlns:xs="http://www.w3.org/2001/XMLSchema" xmlns:p="http://schemas.microsoft.com/office/2006/metadata/properties" xmlns:ns2="9491888e-085e-4340-beca-492653a9b978" targetNamespace="http://schemas.microsoft.com/office/2006/metadata/properties" ma:root="true" ma:fieldsID="26764ac781bc3413c846df6670963504" ns2:_="">
    <xsd:import namespace="9491888e-085e-4340-beca-492653a9b9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91888e-085e-4340-beca-492653a9b9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D75664-AA8A-42C4-8127-31279DED55DC}"/>
</file>

<file path=customXml/itemProps2.xml><?xml version="1.0" encoding="utf-8"?>
<ds:datastoreItem xmlns:ds="http://schemas.openxmlformats.org/officeDocument/2006/customXml" ds:itemID="{CFD76F24-451A-4B5B-8F7A-9B148133F7CC}"/>
</file>

<file path=customXml/itemProps3.xml><?xml version="1.0" encoding="utf-8"?>
<ds:datastoreItem xmlns:ds="http://schemas.openxmlformats.org/officeDocument/2006/customXml" ds:itemID="{66B52DF2-D510-48E1-BEC9-25DBA534496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1581</Words>
  <Application>Microsoft Office PowerPoint</Application>
  <PresentationFormat>On-screen Show (4:3)</PresentationFormat>
  <Paragraphs>202</Paragraphs>
  <Slides>54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Office Theme</vt:lpstr>
      <vt:lpstr>Slide 1</vt:lpstr>
      <vt:lpstr>Slide 2</vt:lpstr>
      <vt:lpstr>Slide 3</vt:lpstr>
      <vt:lpstr>Slide 4</vt:lpstr>
      <vt:lpstr>Slide 5</vt:lpstr>
      <vt:lpstr>Random Access Protocols(Contention)</vt:lpstr>
      <vt:lpstr>Random Access Protocols</vt:lpstr>
      <vt:lpstr>ALOHA</vt:lpstr>
      <vt:lpstr>Slide 9</vt:lpstr>
      <vt:lpstr>Slide 10</vt:lpstr>
      <vt:lpstr>Slotted ALOHA</vt:lpstr>
      <vt:lpstr>Slide 12</vt:lpstr>
      <vt:lpstr>Slide 13</vt:lpstr>
      <vt:lpstr>Slide 14</vt:lpstr>
      <vt:lpstr>Slotted ALOHA</vt:lpstr>
      <vt:lpstr>Carrier Sense Multiple Access</vt:lpstr>
      <vt:lpstr>What happens if station finds the medium is busy</vt:lpstr>
      <vt:lpstr>(3) P-persistent</vt:lpstr>
      <vt:lpstr>Slide 19</vt:lpstr>
      <vt:lpstr>Slide 20</vt:lpstr>
      <vt:lpstr>CSMA/CD</vt:lpstr>
      <vt:lpstr>Slide 22</vt:lpstr>
      <vt:lpstr>Maximum Propagation Delay</vt:lpstr>
      <vt:lpstr>Slide 24</vt:lpstr>
      <vt:lpstr>Exponential Backoff</vt:lpstr>
      <vt:lpstr>CSMA/CA</vt:lpstr>
      <vt:lpstr>Slide 27</vt:lpstr>
      <vt:lpstr>Slide 28</vt:lpstr>
      <vt:lpstr>Slide 29</vt:lpstr>
      <vt:lpstr>Controlled Access</vt:lpstr>
      <vt:lpstr>1-Reservation access method</vt:lpstr>
      <vt:lpstr>Polling</vt:lpstr>
      <vt:lpstr>Slide 33</vt:lpstr>
      <vt:lpstr>Polling</vt:lpstr>
      <vt:lpstr>Polling</vt:lpstr>
      <vt:lpstr>SELECT and POLL functions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 5 Mutiple access protocols</dc:title>
  <dc:creator>HP</dc:creator>
  <cp:lastModifiedBy>anupamakn</cp:lastModifiedBy>
  <cp:revision>8</cp:revision>
  <dcterms:created xsi:type="dcterms:W3CDTF">2025-03-10T03:54:31Z</dcterms:created>
  <dcterms:modified xsi:type="dcterms:W3CDTF">2025-03-26T04:00:09Z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2018-07-10T00:00:00Z</vt:filetime>
  </property>
  <property fmtid="{D5CDD505-2E9C-101B-9397-08002B2CF9AE}" pid="3" name="Creator">
    <vt:lpwstr>Acrobat PDFMaker 18 for PowerPoint</vt:lpwstr>
  </property>
  <property fmtid="{D5CDD505-2E9C-101B-9397-08002B2CF9AE}" pid="4" name="LastSaved">
    <vt:filetime>2025-03-10T00:00:00Z</vt:filetime>
  </property>
  <property fmtid="{D5CDD505-2E9C-101B-9397-08002B2CF9AE}" pid="5" name="Producer">
    <vt:lpwstr>Adobe PDF Library 15.0</vt:lpwstr>
  </property>
  <property fmtid="{D5CDD505-2E9C-101B-9397-08002B2CF9AE}" pid="6" name="ContentTypeId">
    <vt:lpwstr>0x01010082968AE025085A4381B5FE55A4B7B3DB</vt:lpwstr>
  </property>
</Properties>
</file>